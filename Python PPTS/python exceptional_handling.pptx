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7" r:id="rId2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754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3B1A7-D335-42BF-B7DC-83B49EF132CB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17C98-4782-4070-B033-BDEFF19E1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554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A17C98-4782-4070-B033-BDEFF19E19B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0705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06-04-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06-04-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06-04-</a:t>
            </a:r>
            <a:r>
              <a:rPr spc="-20" dirty="0"/>
              <a:t>2022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AF5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06-04-</a:t>
            </a:r>
            <a:r>
              <a:rPr spc="-20" dirty="0"/>
              <a:t>2022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06-04-</a:t>
            </a:r>
            <a:r>
              <a:rPr spc="-20" dirty="0"/>
              <a:t>2022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981"/>
            <a:ext cx="1035812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AF50"/>
                </a:solidFill>
                <a:latin typeface="Constantia"/>
                <a:cs typeface="Constant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305" y="1804161"/>
            <a:ext cx="10359389" cy="37763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6939" y="6464909"/>
            <a:ext cx="742314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/>
              <a:t>06-04-</a:t>
            </a:r>
            <a:r>
              <a:rPr spc="-20" dirty="0"/>
              <a:t>2022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068811" y="6464909"/>
            <a:ext cx="244475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0EB2D-B82A-9A91-7828-A1ACCD5A7801}"/>
              </a:ext>
            </a:extLst>
          </p:cNvPr>
          <p:cNvSpPr/>
          <p:nvPr userDrawn="1"/>
        </p:nvSpPr>
        <p:spPr>
          <a:xfrm>
            <a:off x="8610600" y="6377940"/>
            <a:ext cx="3581400" cy="480060"/>
          </a:xfrm>
          <a:prstGeom prst="rect">
            <a:avLst/>
          </a:prstGeom>
          <a:blipFill dpi="0" rotWithShape="1">
            <a:blip r:embed="rId7" cstate="print">
              <a:alphaModFix amt="97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sign with red and black text&#10;&#10;Description automatically generated">
            <a:extLst>
              <a:ext uri="{FF2B5EF4-FFF2-40B4-BE49-F238E27FC236}">
                <a16:creationId xmlns:a16="http://schemas.microsoft.com/office/drawing/2014/main" id="{2486CA12-C9AF-432E-D0A4-CBB41DBEDE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4300"/>
            <a:ext cx="9829800" cy="613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01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3600" y="2362200"/>
            <a:ext cx="10058399" cy="17034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l" rtl="0">
              <a:lnSpc>
                <a:spcPct val="90000"/>
              </a:lnSpc>
              <a:spcBef>
                <a:spcPct val="0"/>
              </a:spcBef>
            </a:pPr>
            <a:r>
              <a:rPr lang="en-US" sz="5200" kern="1200" spc="-1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Python</a:t>
            </a:r>
            <a:r>
              <a:rPr lang="en-US" sz="5200" kern="1200" spc="-305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r>
              <a:rPr lang="en-US" sz="5200" kern="1200" spc="-4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Exception</a:t>
            </a:r>
            <a:r>
              <a:rPr lang="en-US" sz="5200" kern="1200" spc="-29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 </a:t>
            </a:r>
            <a:r>
              <a:rPr lang="en-US" sz="5200" kern="1200" spc="-2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+mj-cs"/>
              </a:rPr>
              <a:t>handling</a:t>
            </a:r>
            <a:endParaRPr lang="en-US" sz="5200" kern="12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+mj-cs"/>
            </a:endParaRPr>
          </a:p>
        </p:txBody>
      </p:sp>
      <p:pic>
        <p:nvPicPr>
          <p:cNvPr id="6" name="Graphic 5" descr="User">
            <a:extLst>
              <a:ext uri="{FF2B5EF4-FFF2-40B4-BE49-F238E27FC236}">
                <a16:creationId xmlns:a16="http://schemas.microsoft.com/office/drawing/2014/main" id="{8DCE4E19-5C6D-D523-2AA4-4545E441C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7549" y="2776619"/>
            <a:ext cx="1289051" cy="1289051"/>
          </a:xfrm>
          <a:prstGeom prst="rect">
            <a:avLst/>
          </a:prstGeom>
        </p:spPr>
      </p:pic>
      <p:pic>
        <p:nvPicPr>
          <p:cNvPr id="8" name="Graphic 7" descr="User">
            <a:extLst>
              <a:ext uri="{FF2B5EF4-FFF2-40B4-BE49-F238E27FC236}">
                <a16:creationId xmlns:a16="http://schemas.microsoft.com/office/drawing/2014/main" id="{D166F46A-2873-4963-83F7-BB92EFE87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7815" y="716407"/>
            <a:ext cx="5411343" cy="54113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IN">
                <a:solidFill>
                  <a:srgbClr val="008000"/>
                </a:solidFill>
                <a:latin typeface="Times New Roman"/>
                <a:cs typeface="Times New Roman"/>
              </a:rPr>
              <a:t>Python</a:t>
            </a:r>
            <a:r>
              <a:rPr lang="en-IN" spc="-3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IN">
                <a:solidFill>
                  <a:srgbClr val="008000"/>
                </a:solidFill>
                <a:latin typeface="Times New Roman"/>
                <a:cs typeface="Times New Roman"/>
              </a:rPr>
              <a:t>Errors</a:t>
            </a:r>
            <a:r>
              <a:rPr lang="en-IN" spc="-55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IN">
                <a:solidFill>
                  <a:srgbClr val="008000"/>
                </a:solidFill>
                <a:latin typeface="Times New Roman"/>
                <a:cs typeface="Times New Roman"/>
              </a:rPr>
              <a:t>and</a:t>
            </a:r>
            <a:r>
              <a:rPr lang="en-IN" spc="-25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lang="en-IN" spc="-10">
                <a:solidFill>
                  <a:srgbClr val="008000"/>
                </a:solidFill>
                <a:latin typeface="Times New Roman"/>
                <a:cs typeface="Times New Roman"/>
              </a:rPr>
              <a:t>Exceptions</a:t>
            </a:r>
            <a:endParaRPr lang="en-IN" spc="-10" dirty="0">
              <a:solidFill>
                <a:srgbClr val="008000"/>
              </a:solidFill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10439400" y="6553200"/>
            <a:ext cx="835659" cy="1560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lang="en-IN" spc="-25" smtClean="0"/>
              <a:t>3</a:t>
            </a:fld>
            <a:endParaRPr lang="en-IN" spc="-25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923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2570" algn="l"/>
              </a:tabLst>
            </a:pPr>
            <a:r>
              <a:rPr dirty="0"/>
              <a:t>Encountering</a:t>
            </a:r>
            <a:r>
              <a:rPr spc="130" dirty="0"/>
              <a:t> </a:t>
            </a:r>
            <a:r>
              <a:rPr b="1" dirty="0">
                <a:latin typeface="Times New Roman"/>
                <a:cs typeface="Times New Roman"/>
              </a:rPr>
              <a:t>errors</a:t>
            </a:r>
            <a:r>
              <a:rPr b="1" spc="12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and</a:t>
            </a:r>
            <a:r>
              <a:rPr b="1" spc="135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exceptions</a:t>
            </a:r>
            <a:r>
              <a:rPr b="1" spc="150" dirty="0">
                <a:latin typeface="Times New Roman"/>
                <a:cs typeface="Times New Roman"/>
              </a:rPr>
              <a:t> </a:t>
            </a:r>
            <a:r>
              <a:rPr dirty="0"/>
              <a:t>can</a:t>
            </a:r>
            <a:r>
              <a:rPr spc="125" dirty="0"/>
              <a:t> </a:t>
            </a:r>
            <a:r>
              <a:rPr dirty="0"/>
              <a:t>be</a:t>
            </a:r>
            <a:r>
              <a:rPr spc="125" dirty="0"/>
              <a:t> </a:t>
            </a:r>
            <a:r>
              <a:rPr dirty="0"/>
              <a:t>very</a:t>
            </a:r>
            <a:r>
              <a:rPr spc="145" dirty="0"/>
              <a:t> </a:t>
            </a:r>
            <a:r>
              <a:rPr dirty="0"/>
              <a:t>frustrating</a:t>
            </a:r>
            <a:r>
              <a:rPr spc="135" dirty="0"/>
              <a:t> </a:t>
            </a:r>
            <a:r>
              <a:rPr dirty="0"/>
              <a:t>at</a:t>
            </a:r>
            <a:r>
              <a:rPr spc="135" dirty="0"/>
              <a:t> </a:t>
            </a:r>
            <a:r>
              <a:rPr spc="-10" dirty="0"/>
              <a:t>times, </a:t>
            </a:r>
            <a:r>
              <a:rPr dirty="0"/>
              <a:t>and</a:t>
            </a:r>
            <a:r>
              <a:rPr spc="-55" dirty="0"/>
              <a:t> </a:t>
            </a:r>
            <a:r>
              <a:rPr dirty="0"/>
              <a:t>can</a:t>
            </a:r>
            <a:r>
              <a:rPr spc="-55" dirty="0"/>
              <a:t> </a:t>
            </a:r>
            <a:r>
              <a:rPr dirty="0"/>
              <a:t>make</a:t>
            </a:r>
            <a:r>
              <a:rPr spc="-40" dirty="0"/>
              <a:t> </a:t>
            </a:r>
            <a:r>
              <a:rPr dirty="0"/>
              <a:t>coding</a:t>
            </a:r>
            <a:r>
              <a:rPr spc="-65" dirty="0"/>
              <a:t> </a:t>
            </a:r>
            <a:r>
              <a:rPr dirty="0"/>
              <a:t>feel</a:t>
            </a:r>
            <a:r>
              <a:rPr spc="-45" dirty="0"/>
              <a:t> </a:t>
            </a:r>
            <a:r>
              <a:rPr dirty="0"/>
              <a:t>like</a:t>
            </a:r>
            <a:r>
              <a:rPr spc="-7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hopeless</a:t>
            </a:r>
            <a:r>
              <a:rPr spc="-65" dirty="0"/>
              <a:t> </a:t>
            </a:r>
            <a:r>
              <a:rPr spc="-10" dirty="0"/>
              <a:t>endeavor.</a:t>
            </a:r>
          </a:p>
          <a:p>
            <a:pPr marL="241300" marR="5715" indent="-229235">
              <a:lnSpc>
                <a:spcPts val="3020"/>
              </a:lnSpc>
              <a:spcBef>
                <a:spcPts val="1015"/>
              </a:spcBef>
              <a:buFont typeface="Arial MT"/>
              <a:buChar char="•"/>
              <a:tabLst>
                <a:tab pos="242570" algn="l"/>
                <a:tab pos="1764030" algn="l"/>
                <a:tab pos="3922395" algn="l"/>
                <a:tab pos="4756150" algn="l"/>
                <a:tab pos="5334000" algn="l"/>
                <a:tab pos="6795770" algn="l"/>
                <a:tab pos="7731759" algn="l"/>
                <a:tab pos="8172450" algn="l"/>
                <a:tab pos="9255760" algn="l"/>
                <a:tab pos="9832340" algn="l"/>
              </a:tabLst>
            </a:pPr>
            <a:r>
              <a:rPr spc="-10" dirty="0"/>
              <a:t>However,</a:t>
            </a:r>
            <a:r>
              <a:rPr dirty="0"/>
              <a:t>	</a:t>
            </a:r>
            <a:r>
              <a:rPr spc="-10" dirty="0"/>
              <a:t>understanding</a:t>
            </a:r>
            <a:r>
              <a:rPr dirty="0"/>
              <a:t>	</a:t>
            </a:r>
            <a:r>
              <a:rPr spc="-20" dirty="0"/>
              <a:t>what</a:t>
            </a:r>
            <a:r>
              <a:rPr dirty="0"/>
              <a:t>	</a:t>
            </a:r>
            <a:r>
              <a:rPr spc="-25" dirty="0"/>
              <a:t>the</a:t>
            </a:r>
            <a:r>
              <a:rPr dirty="0"/>
              <a:t>	</a:t>
            </a:r>
            <a:r>
              <a:rPr b="1" spc="-10" dirty="0">
                <a:latin typeface="Times New Roman"/>
                <a:cs typeface="Times New Roman"/>
              </a:rPr>
              <a:t>different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types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25" dirty="0">
                <a:latin typeface="Times New Roman"/>
                <a:cs typeface="Times New Roman"/>
              </a:rPr>
              <a:t>of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b="1" spc="-10" dirty="0">
                <a:latin typeface="Times New Roman"/>
                <a:cs typeface="Times New Roman"/>
              </a:rPr>
              <a:t>errors</a:t>
            </a:r>
            <a:r>
              <a:rPr b="1" dirty="0">
                <a:latin typeface="Times New Roman"/>
                <a:cs typeface="Times New Roman"/>
              </a:rPr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25" dirty="0"/>
              <a:t>and </a:t>
            </a:r>
            <a:r>
              <a:rPr dirty="0"/>
              <a:t>when</a:t>
            </a:r>
            <a:r>
              <a:rPr spc="-40" dirty="0"/>
              <a:t> </a:t>
            </a:r>
            <a:r>
              <a:rPr dirty="0"/>
              <a:t>you</a:t>
            </a:r>
            <a:r>
              <a:rPr spc="-60" dirty="0"/>
              <a:t> </a:t>
            </a:r>
            <a:r>
              <a:rPr dirty="0"/>
              <a:t>are</a:t>
            </a:r>
            <a:r>
              <a:rPr spc="-45" dirty="0"/>
              <a:t> </a:t>
            </a:r>
            <a:r>
              <a:rPr dirty="0"/>
              <a:t>likely</a:t>
            </a:r>
            <a:r>
              <a:rPr spc="-70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dirty="0"/>
              <a:t>encounter</a:t>
            </a:r>
            <a:r>
              <a:rPr spc="-60" dirty="0"/>
              <a:t> </a:t>
            </a:r>
            <a:r>
              <a:rPr dirty="0"/>
              <a:t>them</a:t>
            </a:r>
            <a:r>
              <a:rPr spc="-55" dirty="0"/>
              <a:t> </a:t>
            </a:r>
            <a:r>
              <a:rPr dirty="0"/>
              <a:t>can</a:t>
            </a:r>
            <a:r>
              <a:rPr spc="-50" dirty="0"/>
              <a:t> </a:t>
            </a:r>
            <a:r>
              <a:rPr dirty="0"/>
              <a:t>help</a:t>
            </a:r>
            <a:r>
              <a:rPr spc="-5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spc="-20" dirty="0"/>
              <a:t>lot.</a:t>
            </a: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2570" algn="l"/>
              </a:tabLst>
            </a:pPr>
            <a:r>
              <a:rPr b="1" dirty="0">
                <a:solidFill>
                  <a:srgbClr val="008000"/>
                </a:solidFill>
                <a:latin typeface="Times New Roman"/>
                <a:cs typeface="Times New Roman"/>
              </a:rPr>
              <a:t>Python</a:t>
            </a:r>
            <a:r>
              <a:rPr b="1" spc="-6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8000"/>
                </a:solidFill>
                <a:latin typeface="Times New Roman"/>
                <a:cs typeface="Times New Roman"/>
              </a:rPr>
              <a:t>Errors</a:t>
            </a:r>
            <a:r>
              <a:rPr b="1" spc="-7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8000"/>
                </a:solidFill>
                <a:latin typeface="Times New Roman"/>
                <a:cs typeface="Times New Roman"/>
              </a:rPr>
              <a:t>can</a:t>
            </a:r>
            <a:r>
              <a:rPr b="1" spc="-7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8000"/>
                </a:solidFill>
                <a:latin typeface="Times New Roman"/>
                <a:cs typeface="Times New Roman"/>
              </a:rPr>
              <a:t>be</a:t>
            </a:r>
            <a:r>
              <a:rPr b="1" spc="-8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8000"/>
                </a:solidFill>
                <a:latin typeface="Times New Roman"/>
                <a:cs typeface="Times New Roman"/>
              </a:rPr>
              <a:t>of</a:t>
            </a:r>
            <a:r>
              <a:rPr b="1" spc="-7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b="1" dirty="0">
                <a:solidFill>
                  <a:srgbClr val="008000"/>
                </a:solidFill>
                <a:latin typeface="Times New Roman"/>
                <a:cs typeface="Times New Roman"/>
              </a:rPr>
              <a:t>three</a:t>
            </a:r>
            <a:r>
              <a:rPr b="1" spc="-8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b="1" spc="-10" dirty="0">
                <a:solidFill>
                  <a:srgbClr val="008000"/>
                </a:solidFill>
                <a:latin typeface="Times New Roman"/>
                <a:cs typeface="Times New Roman"/>
              </a:rPr>
              <a:t>types:</a:t>
            </a:r>
          </a:p>
          <a:p>
            <a:pPr marL="772795" lvl="1" indent="-268605">
              <a:lnSpc>
                <a:spcPct val="100000"/>
              </a:lnSpc>
              <a:spcBef>
                <a:spcPts val="660"/>
              </a:spcBef>
              <a:buSzPct val="96428"/>
              <a:buAutoNum type="arabicPeriod"/>
              <a:tabLst>
                <a:tab pos="774065" algn="l"/>
              </a:tabLst>
            </a:pPr>
            <a:r>
              <a:rPr sz="2800" dirty="0">
                <a:latin typeface="Times New Roman"/>
                <a:cs typeface="Times New Roman"/>
              </a:rPr>
              <a:t>Compile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(Syntax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errors)</a:t>
            </a:r>
            <a:endParaRPr sz="2800">
              <a:latin typeface="Times New Roman"/>
              <a:cs typeface="Times New Roman"/>
            </a:endParaRPr>
          </a:p>
          <a:p>
            <a:pPr marL="772795" lvl="1" indent="-268605">
              <a:lnSpc>
                <a:spcPct val="100000"/>
              </a:lnSpc>
              <a:spcBef>
                <a:spcPts val="670"/>
              </a:spcBef>
              <a:buSzPct val="96428"/>
              <a:buAutoNum type="arabicPeriod"/>
              <a:tabLst>
                <a:tab pos="774065" algn="l"/>
              </a:tabLst>
            </a:pPr>
            <a:r>
              <a:rPr sz="2800" dirty="0">
                <a:latin typeface="Times New Roman"/>
                <a:cs typeface="Times New Roman"/>
              </a:rPr>
              <a:t>Runtime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(Exceptions)</a:t>
            </a:r>
            <a:endParaRPr sz="2800">
              <a:latin typeface="Times New Roman"/>
              <a:cs typeface="Times New Roman"/>
            </a:endParaRPr>
          </a:p>
          <a:p>
            <a:pPr marL="772795" lvl="1" indent="-268605">
              <a:lnSpc>
                <a:spcPct val="100000"/>
              </a:lnSpc>
              <a:spcBef>
                <a:spcPts val="660"/>
              </a:spcBef>
              <a:buSzPct val="96428"/>
              <a:buAutoNum type="arabicPeriod"/>
              <a:tabLst>
                <a:tab pos="774065" algn="l"/>
              </a:tabLst>
            </a:pPr>
            <a:r>
              <a:rPr sz="2800" dirty="0">
                <a:latin typeface="Times New Roman"/>
                <a:cs typeface="Times New Roman"/>
              </a:rPr>
              <a:t>Logical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errors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992835" y="888390"/>
            <a:ext cx="10358120" cy="424688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Compile</a:t>
            </a:r>
            <a:r>
              <a:rPr sz="2800" b="1" spc="-8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time</a:t>
            </a:r>
            <a:r>
              <a:rPr sz="2800" b="1" spc="-8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errors</a:t>
            </a:r>
            <a:r>
              <a:rPr sz="2800" b="1" spc="-9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(Syntax</a:t>
            </a:r>
            <a:r>
              <a:rPr sz="2800" b="1" spc="-8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8000"/>
                </a:solidFill>
                <a:latin typeface="Times New Roman"/>
                <a:cs typeface="Times New Roman"/>
              </a:rPr>
              <a:t>errors)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20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caused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not</a:t>
            </a:r>
            <a:r>
              <a:rPr sz="2800" spc="1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following</a:t>
            </a:r>
            <a:r>
              <a:rPr sz="2800" spc="1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proper</a:t>
            </a:r>
            <a:r>
              <a:rPr sz="2800" b="1" spc="1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structure</a:t>
            </a:r>
            <a:r>
              <a:rPr sz="2800" b="1" spc="20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(syntax)</a:t>
            </a:r>
            <a:r>
              <a:rPr sz="2800" b="1" spc="2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20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language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syntax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parsing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errors.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40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buFont typeface="Arial MT"/>
              <a:buChar char="•"/>
              <a:tabLst>
                <a:tab pos="241300" algn="l"/>
              </a:tabLst>
            </a:pPr>
            <a:r>
              <a:rPr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Runtime</a:t>
            </a:r>
            <a:r>
              <a:rPr sz="2800" b="1" spc="-120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errors</a:t>
            </a:r>
            <a:r>
              <a:rPr sz="2800" b="1" spc="-12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8000"/>
                </a:solidFill>
                <a:latin typeface="Times New Roman"/>
                <a:cs typeface="Times New Roman"/>
              </a:rPr>
              <a:t>(Exceptions)</a:t>
            </a:r>
            <a:endParaRPr sz="2800">
              <a:latin typeface="Times New Roman"/>
              <a:cs typeface="Times New Roman"/>
            </a:endParaRPr>
          </a:p>
          <a:p>
            <a:pPr marL="241300" indent="-228600" algn="just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Times New Roman"/>
                <a:cs typeface="Times New Roman"/>
              </a:rPr>
              <a:t>Exceptions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during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run-time.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94"/>
              </a:spcBef>
              <a:buFont typeface="Arial MT"/>
              <a:buChar char="•"/>
              <a:tabLst>
                <a:tab pos="316230" algn="l"/>
              </a:tabLst>
            </a:pPr>
            <a:r>
              <a:rPr dirty="0"/>
              <a:t>	</a:t>
            </a:r>
            <a:r>
              <a:rPr sz="2800" dirty="0">
                <a:latin typeface="Times New Roman"/>
                <a:cs typeface="Times New Roman"/>
              </a:rPr>
              <a:t>Your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be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syntactically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correct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but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may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happen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that</a:t>
            </a:r>
            <a:r>
              <a:rPr sz="2800" spc="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during </a:t>
            </a:r>
            <a:r>
              <a:rPr sz="2800" spc="-20" dirty="0">
                <a:latin typeface="Times New Roman"/>
                <a:cs typeface="Times New Roman"/>
              </a:rPr>
              <a:t>run-</a:t>
            </a:r>
            <a:r>
              <a:rPr sz="2800" dirty="0">
                <a:latin typeface="Times New Roman"/>
                <a:cs typeface="Times New Roman"/>
              </a:rPr>
              <a:t>time</a:t>
            </a:r>
            <a:r>
              <a:rPr sz="2800" spc="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Python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encounters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something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which</a:t>
            </a:r>
            <a:r>
              <a:rPr sz="2800" b="1" spc="5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it</a:t>
            </a:r>
            <a:r>
              <a:rPr sz="2800" b="1" spc="6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can't</a:t>
            </a:r>
            <a:r>
              <a:rPr sz="2800" b="1" spc="7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handle</a:t>
            </a:r>
            <a:r>
              <a:rPr sz="2800" b="1" spc="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,</a:t>
            </a:r>
            <a:r>
              <a:rPr sz="2800" spc="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then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it </a:t>
            </a:r>
            <a:r>
              <a:rPr sz="2800" dirty="0">
                <a:latin typeface="Times New Roman"/>
                <a:cs typeface="Times New Roman"/>
              </a:rPr>
              <a:t>raises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exception.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916939" y="830541"/>
            <a:ext cx="10358120" cy="33521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b="1" dirty="0">
                <a:solidFill>
                  <a:srgbClr val="008000"/>
                </a:solidFill>
                <a:latin typeface="Times New Roman"/>
                <a:cs typeface="Times New Roman"/>
              </a:rPr>
              <a:t>Logical</a:t>
            </a:r>
            <a:r>
              <a:rPr sz="2800" b="1" spc="-105" dirty="0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8000"/>
                </a:solidFill>
                <a:latin typeface="Times New Roman"/>
                <a:cs typeface="Times New Roman"/>
              </a:rPr>
              <a:t>errors</a:t>
            </a:r>
            <a:endParaRPr sz="2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Times New Roman"/>
                <a:cs typeface="Times New Roman"/>
              </a:rPr>
              <a:t>Logical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most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difficult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fix.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  <a:tab pos="1130935" algn="l"/>
                <a:tab pos="2082164" algn="l"/>
                <a:tab pos="3012440" algn="l"/>
                <a:tab pos="3608070" algn="l"/>
                <a:tab pos="4973955" algn="l"/>
                <a:tab pos="5748020" algn="l"/>
                <a:tab pos="6996430" algn="l"/>
                <a:tab pos="8448675" algn="l"/>
                <a:tab pos="9063355" algn="l"/>
              </a:tabLst>
            </a:pPr>
            <a:r>
              <a:rPr sz="2800" spc="-20" dirty="0">
                <a:latin typeface="Times New Roman"/>
                <a:cs typeface="Times New Roman"/>
              </a:rPr>
              <a:t>They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occur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when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the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program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runs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without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crashing,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but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produces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incorrect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result.</a:t>
            </a:r>
            <a:endParaRPr sz="2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caused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mistake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program's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logic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  <a:p>
            <a:pPr marL="241300" marR="6985" indent="-229235">
              <a:lnSpc>
                <a:spcPts val="3020"/>
              </a:lnSpc>
              <a:spcBef>
                <a:spcPts val="1055"/>
              </a:spcBef>
              <a:buFont typeface="Arial MT"/>
              <a:buChar char="•"/>
              <a:tabLst>
                <a:tab pos="241935" algn="l"/>
                <a:tab pos="954405" algn="l"/>
                <a:tab pos="1865630" algn="l"/>
                <a:tab pos="2435860" algn="l"/>
                <a:tab pos="2907030" algn="l"/>
                <a:tab pos="3737610" algn="l"/>
                <a:tab pos="5162550" algn="l"/>
                <a:tab pos="6421755" algn="l"/>
                <a:tab pos="6913880" algn="l"/>
                <a:tab pos="7978140" algn="l"/>
                <a:tab pos="8410575" algn="l"/>
                <a:tab pos="9651365" algn="l"/>
              </a:tabLst>
            </a:pPr>
            <a:r>
              <a:rPr sz="2800" spc="-25" dirty="0">
                <a:latin typeface="Times New Roman"/>
                <a:cs typeface="Times New Roman"/>
              </a:rPr>
              <a:t>You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won't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get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an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0" dirty="0">
                <a:latin typeface="Times New Roman"/>
                <a:cs typeface="Times New Roman"/>
              </a:rPr>
              <a:t>error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message,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because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no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syntax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25" dirty="0">
                <a:latin typeface="Times New Roman"/>
                <a:cs typeface="Times New Roman"/>
              </a:rPr>
              <a:t>or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runtime</a:t>
            </a:r>
            <a:r>
              <a:rPr sz="2800" dirty="0">
                <a:latin typeface="Times New Roman"/>
                <a:cs typeface="Times New Roman"/>
              </a:rPr>
              <a:t>	</a:t>
            </a:r>
            <a:r>
              <a:rPr sz="2800" spc="-10" dirty="0">
                <a:latin typeface="Times New Roman"/>
                <a:cs typeface="Times New Roman"/>
              </a:rPr>
              <a:t>error </a:t>
            </a:r>
            <a:r>
              <a:rPr sz="2800" dirty="0">
                <a:latin typeface="Times New Roman"/>
                <a:cs typeface="Times New Roman"/>
              </a:rPr>
              <a:t>has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occurred.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Python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Exception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18586"/>
            <a:ext cx="10234295" cy="283908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try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block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lets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test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block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errors.</a:t>
            </a:r>
            <a:endParaRPr sz="2800">
              <a:latin typeface="Times New Roman"/>
              <a:cs typeface="Times New Roman"/>
            </a:endParaRPr>
          </a:p>
          <a:p>
            <a:pPr marL="241300" indent="-22923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except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block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lets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handle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error.</a:t>
            </a:r>
            <a:endParaRPr sz="2800">
              <a:latin typeface="Times New Roman"/>
              <a:cs typeface="Times New Roman"/>
            </a:endParaRPr>
          </a:p>
          <a:p>
            <a:pPr marL="241300" marR="95250" indent="-229235">
              <a:lnSpc>
                <a:spcPts val="3020"/>
              </a:lnSpc>
              <a:spcBef>
                <a:spcPts val="104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finally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block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lets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you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execute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code,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regardless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result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the </a:t>
            </a:r>
            <a:r>
              <a:rPr sz="2800" dirty="0">
                <a:latin typeface="Times New Roman"/>
                <a:cs typeface="Times New Roman"/>
              </a:rPr>
              <a:t>try-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except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blocks.</a:t>
            </a:r>
            <a:endParaRPr sz="2800">
              <a:latin typeface="Times New Roman"/>
              <a:cs typeface="Times New Roman"/>
            </a:endParaRPr>
          </a:p>
          <a:p>
            <a:pPr marL="241300" marR="5080" indent="-229235">
              <a:lnSpc>
                <a:spcPts val="3020"/>
              </a:lnSpc>
              <a:spcBef>
                <a:spcPts val="1005"/>
              </a:spcBef>
              <a:buFont typeface="Arial MT"/>
              <a:buChar char="•"/>
              <a:tabLst>
                <a:tab pos="241935" algn="l"/>
              </a:tabLst>
            </a:pPr>
            <a:r>
              <a:rPr sz="2800" dirty="0">
                <a:latin typeface="Times New Roman"/>
                <a:cs typeface="Times New Roman"/>
              </a:rPr>
              <a:t>When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occurs,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exception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it,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Python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will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normally </a:t>
            </a:r>
            <a:r>
              <a:rPr sz="2800" dirty="0">
                <a:latin typeface="Times New Roman"/>
                <a:cs typeface="Times New Roman"/>
              </a:rPr>
              <a:t>stop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generate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error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message.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Python</a:t>
            </a:r>
            <a:r>
              <a:rPr spc="-10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Exception</a:t>
            </a:r>
            <a:r>
              <a:rPr spc="-30" dirty="0">
                <a:latin typeface="Times New Roman"/>
                <a:cs typeface="Times New Roman"/>
              </a:rPr>
              <a:t> </a:t>
            </a:r>
            <a:r>
              <a:rPr spc="-10" dirty="0">
                <a:latin typeface="Times New Roman"/>
                <a:cs typeface="Times New Roman"/>
              </a:rPr>
              <a:t>Handling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8743" y="1504086"/>
            <a:ext cx="9721850" cy="3225165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These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exceptions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handled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try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statement: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10" dirty="0">
                <a:latin typeface="Calibri"/>
                <a:cs typeface="Calibri"/>
              </a:rPr>
              <a:t>Example</a:t>
            </a:r>
            <a:endParaRPr sz="28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block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will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generate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exception,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because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x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defined:</a:t>
            </a:r>
            <a:endParaRPr sz="2800">
              <a:latin typeface="Calibri"/>
              <a:cs typeface="Calibri"/>
            </a:endParaRPr>
          </a:p>
          <a:p>
            <a:pPr marL="1176655">
              <a:lnSpc>
                <a:spcPts val="3190"/>
              </a:lnSpc>
              <a:spcBef>
                <a:spcPts val="675"/>
              </a:spcBef>
            </a:pPr>
            <a:r>
              <a:rPr sz="2800" spc="-20" dirty="0">
                <a:solidFill>
                  <a:srgbClr val="0000CD"/>
                </a:solidFill>
                <a:latin typeface="Consolas"/>
                <a:cs typeface="Consolas"/>
              </a:rPr>
              <a:t>try</a:t>
            </a:r>
            <a:r>
              <a:rPr sz="2800" spc="-20" dirty="0">
                <a:latin typeface="Consolas"/>
                <a:cs typeface="Consolas"/>
              </a:rPr>
              <a:t>:</a:t>
            </a:r>
            <a:endParaRPr sz="2800">
              <a:latin typeface="Consolas"/>
              <a:cs typeface="Consolas"/>
            </a:endParaRPr>
          </a:p>
          <a:p>
            <a:pPr marL="1176655" marR="6584315" indent="389890">
              <a:lnSpc>
                <a:spcPts val="3030"/>
              </a:lnSpc>
              <a:spcBef>
                <a:spcPts val="204"/>
              </a:spcBef>
            </a:pPr>
            <a:r>
              <a:rPr sz="2800" spc="-10" dirty="0">
                <a:solidFill>
                  <a:srgbClr val="0000CD"/>
                </a:solidFill>
                <a:latin typeface="Consolas"/>
                <a:cs typeface="Consolas"/>
              </a:rPr>
              <a:t>print</a:t>
            </a:r>
            <a:r>
              <a:rPr sz="2800" spc="-10" dirty="0">
                <a:latin typeface="Consolas"/>
                <a:cs typeface="Consolas"/>
              </a:rPr>
              <a:t>(x) </a:t>
            </a:r>
            <a:r>
              <a:rPr sz="2800" spc="-10" dirty="0">
                <a:solidFill>
                  <a:srgbClr val="0000CD"/>
                </a:solidFill>
                <a:latin typeface="Consolas"/>
                <a:cs typeface="Consolas"/>
              </a:rPr>
              <a:t>except</a:t>
            </a:r>
            <a:r>
              <a:rPr sz="2800" spc="-10" dirty="0">
                <a:latin typeface="Consolas"/>
                <a:cs typeface="Consolas"/>
              </a:rPr>
              <a:t>:</a:t>
            </a:r>
            <a:endParaRPr sz="2800">
              <a:latin typeface="Consolas"/>
              <a:cs typeface="Consolas"/>
            </a:endParaRPr>
          </a:p>
          <a:p>
            <a:pPr marL="1567180">
              <a:lnSpc>
                <a:spcPts val="2975"/>
              </a:lnSpc>
            </a:pPr>
            <a:r>
              <a:rPr sz="2800" dirty="0">
                <a:solidFill>
                  <a:srgbClr val="0000CD"/>
                </a:solidFill>
                <a:latin typeface="Consolas"/>
                <a:cs typeface="Consolas"/>
              </a:rPr>
              <a:t>print</a:t>
            </a:r>
            <a:r>
              <a:rPr sz="2800" dirty="0">
                <a:latin typeface="Consolas"/>
                <a:cs typeface="Consolas"/>
              </a:rPr>
              <a:t>(</a:t>
            </a:r>
            <a:r>
              <a:rPr sz="2800" dirty="0">
                <a:solidFill>
                  <a:srgbClr val="A42A2A"/>
                </a:solidFill>
                <a:latin typeface="Consolas"/>
                <a:cs typeface="Consolas"/>
              </a:rPr>
              <a:t>"An</a:t>
            </a:r>
            <a:r>
              <a:rPr sz="2800" spc="-155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2800" dirty="0">
                <a:solidFill>
                  <a:srgbClr val="A42A2A"/>
                </a:solidFill>
                <a:latin typeface="Consolas"/>
                <a:cs typeface="Consolas"/>
              </a:rPr>
              <a:t>exception</a:t>
            </a:r>
            <a:r>
              <a:rPr sz="2800" spc="-150" dirty="0">
                <a:solidFill>
                  <a:srgbClr val="A42A2A"/>
                </a:solidFill>
                <a:latin typeface="Consolas"/>
                <a:cs typeface="Consolas"/>
              </a:rPr>
              <a:t> </a:t>
            </a:r>
            <a:r>
              <a:rPr sz="2800" spc="-10" dirty="0">
                <a:solidFill>
                  <a:srgbClr val="A42A2A"/>
                </a:solidFill>
                <a:latin typeface="Consolas"/>
                <a:cs typeface="Consolas"/>
              </a:rPr>
              <a:t>occurred"</a:t>
            </a:r>
            <a:r>
              <a:rPr sz="2800" spc="-10" dirty="0">
                <a:latin typeface="Consolas"/>
                <a:cs typeface="Consolas"/>
              </a:rPr>
              <a:t>)</a:t>
            </a:r>
            <a:endParaRPr sz="28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055624" y="1073022"/>
            <a:ext cx="9902825" cy="3655695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241300" marR="127000" indent="-228600">
              <a:lnSpc>
                <a:spcPts val="346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Since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try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raises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error,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except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be </a:t>
            </a:r>
            <a:r>
              <a:rPr sz="3200" spc="-10" dirty="0">
                <a:latin typeface="Calibri"/>
                <a:cs typeface="Calibri"/>
              </a:rPr>
              <a:t>executed.</a:t>
            </a:r>
            <a:endParaRPr sz="3200">
              <a:latin typeface="Calibri"/>
              <a:cs typeface="Calibri"/>
            </a:endParaRPr>
          </a:p>
          <a:p>
            <a:pPr marL="241300" marR="146685" indent="-228600">
              <a:lnSpc>
                <a:spcPts val="3460"/>
              </a:lnSpc>
              <a:spcBef>
                <a:spcPts val="990"/>
              </a:spcBef>
              <a:buFont typeface="Arial MT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Without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try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block,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program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2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crash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raise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an </a:t>
            </a:r>
            <a:r>
              <a:rPr sz="3200" spc="-10" dirty="0">
                <a:latin typeface="Calibri"/>
                <a:cs typeface="Calibri"/>
              </a:rPr>
              <a:t>error:</a:t>
            </a:r>
            <a:endParaRPr sz="3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sz="3200" spc="-10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endParaRPr sz="3200">
              <a:latin typeface="Calibri"/>
              <a:cs typeface="Calibri"/>
            </a:endParaRPr>
          </a:p>
          <a:p>
            <a:pPr marL="241300" marR="5080" indent="-228600">
              <a:lnSpc>
                <a:spcPct val="115900"/>
              </a:lnSpc>
              <a:spcBef>
                <a:spcPts val="10"/>
              </a:spcBef>
              <a:buFont typeface="Arial MT"/>
              <a:buChar char="•"/>
              <a:tabLst>
                <a:tab pos="927100" algn="l"/>
              </a:tabLst>
            </a:pPr>
            <a:r>
              <a:rPr sz="3200" dirty="0">
                <a:latin typeface="Calibri"/>
                <a:cs typeface="Calibri"/>
              </a:rPr>
              <a:t>This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statement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raise</a:t>
            </a:r>
            <a:r>
              <a:rPr sz="3200" spc="-5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spc="-35" dirty="0">
                <a:latin typeface="Calibri"/>
                <a:cs typeface="Calibri"/>
              </a:rPr>
              <a:t>error,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because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x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is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not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defined: 	</a:t>
            </a:r>
            <a:r>
              <a:rPr sz="3200" spc="-10" dirty="0">
                <a:solidFill>
                  <a:srgbClr val="0000CD"/>
                </a:solidFill>
                <a:latin typeface="Calibri"/>
                <a:cs typeface="Calibri"/>
              </a:rPr>
              <a:t>print</a:t>
            </a:r>
            <a:r>
              <a:rPr sz="3200" spc="-10" dirty="0">
                <a:latin typeface="Calibri"/>
                <a:cs typeface="Calibri"/>
              </a:rPr>
              <a:t>(x)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757809"/>
            <a:ext cx="1564005" cy="799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10" dirty="0">
                <a:solidFill>
                  <a:srgbClr val="C00000"/>
                </a:solidFill>
                <a:latin typeface="Calibri Light"/>
                <a:cs typeface="Calibri Light"/>
              </a:rPr>
              <a:t>Example:</a:t>
            </a:r>
            <a:endParaRPr sz="2800">
              <a:latin typeface="Calibri Light"/>
              <a:cs typeface="Calibri Light"/>
            </a:endParaRPr>
          </a:p>
          <a:p>
            <a:pPr marR="5080" algn="r">
              <a:lnSpc>
                <a:spcPct val="100000"/>
              </a:lnSpc>
              <a:spcBef>
                <a:spcPts val="95"/>
              </a:spcBef>
            </a:pPr>
            <a:r>
              <a:rPr sz="2200" b="0" spc="-20" dirty="0">
                <a:solidFill>
                  <a:srgbClr val="000000"/>
                </a:solidFill>
                <a:latin typeface="Calibri"/>
                <a:cs typeface="Calibri"/>
              </a:rPr>
              <a:t>try: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7978" y="1531391"/>
            <a:ext cx="4996180" cy="4366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 marR="5080">
              <a:lnSpc>
                <a:spcPct val="107700"/>
              </a:lnSpc>
              <a:spcBef>
                <a:spcPts val="100"/>
              </a:spcBef>
            </a:pPr>
            <a:r>
              <a:rPr sz="2200" spc="-10" dirty="0">
                <a:latin typeface="Calibri"/>
                <a:cs typeface="Calibri"/>
              </a:rPr>
              <a:t>a=int(input(“First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Number:”)) b=int(input(“Second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number”))</a:t>
            </a:r>
            <a:endParaRPr sz="2200">
              <a:latin typeface="Calibri"/>
              <a:cs typeface="Calibri"/>
            </a:endParaRPr>
          </a:p>
          <a:p>
            <a:pPr marL="1219835">
              <a:lnSpc>
                <a:spcPct val="100000"/>
              </a:lnSpc>
              <a:spcBef>
                <a:spcPts val="215"/>
              </a:spcBef>
            </a:pPr>
            <a:r>
              <a:rPr sz="2200" spc="-10" dirty="0">
                <a:latin typeface="Calibri"/>
                <a:cs typeface="Calibri"/>
              </a:rPr>
              <a:t>result=a/b</a:t>
            </a:r>
            <a:endParaRPr sz="2200">
              <a:latin typeface="Calibri"/>
              <a:cs typeface="Calibri"/>
            </a:endParaRPr>
          </a:p>
          <a:p>
            <a:pPr marL="1434465">
              <a:lnSpc>
                <a:spcPct val="100000"/>
              </a:lnSpc>
              <a:spcBef>
                <a:spcPts val="204"/>
              </a:spcBef>
            </a:pPr>
            <a:r>
              <a:rPr sz="2200" spc="-10" dirty="0">
                <a:latin typeface="Calibri"/>
                <a:cs typeface="Calibri"/>
              </a:rPr>
              <a:t>print(“Result=”,result)</a:t>
            </a:r>
            <a:endParaRPr sz="2200">
              <a:latin typeface="Calibri"/>
              <a:cs typeface="Calibri"/>
            </a:endParaRPr>
          </a:p>
          <a:p>
            <a:pPr marL="1434465" marR="835660" indent="-508000">
              <a:lnSpc>
                <a:spcPts val="2860"/>
              </a:lnSpc>
              <a:spcBef>
                <a:spcPts val="120"/>
              </a:spcBef>
            </a:pPr>
            <a:r>
              <a:rPr sz="2200" spc="-10" dirty="0">
                <a:latin typeface="Calibri"/>
                <a:cs typeface="Calibri"/>
              </a:rPr>
              <a:t>except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ZeroDivisionError: print(“Division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zero”)</a:t>
            </a:r>
            <a:endParaRPr sz="2200">
              <a:latin typeface="Calibri"/>
              <a:cs typeface="Calibri"/>
            </a:endParaRPr>
          </a:p>
          <a:p>
            <a:pPr marL="926465">
              <a:lnSpc>
                <a:spcPct val="100000"/>
              </a:lnSpc>
              <a:spcBef>
                <a:spcPts val="65"/>
              </a:spcBef>
            </a:pPr>
            <a:r>
              <a:rPr sz="2200" spc="-10" dirty="0">
                <a:latin typeface="Calibri"/>
                <a:cs typeface="Calibri"/>
              </a:rPr>
              <a:t>else:</a:t>
            </a:r>
            <a:endParaRPr sz="2200">
              <a:latin typeface="Calibri"/>
              <a:cs typeface="Calibri"/>
            </a:endParaRPr>
          </a:p>
          <a:p>
            <a:pPr marL="1434465">
              <a:lnSpc>
                <a:spcPct val="100000"/>
              </a:lnSpc>
              <a:spcBef>
                <a:spcPts val="204"/>
              </a:spcBef>
            </a:pPr>
            <a:r>
              <a:rPr sz="2200" spc="-10" dirty="0">
                <a:latin typeface="Calibri"/>
                <a:cs typeface="Calibri"/>
              </a:rPr>
              <a:t>print(“Successful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division”)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200" spc="-10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endParaRPr sz="2200">
              <a:latin typeface="Calibri"/>
              <a:cs typeface="Calibri"/>
            </a:endParaRPr>
          </a:p>
          <a:p>
            <a:pPr marL="12700" marR="2975610">
              <a:lnSpc>
                <a:spcPct val="107700"/>
              </a:lnSpc>
            </a:pP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Number:10 </a:t>
            </a:r>
            <a:r>
              <a:rPr sz="2200" dirty="0">
                <a:latin typeface="Calibri"/>
                <a:cs typeface="Calibri"/>
              </a:rPr>
              <a:t>Second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number:0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dirty="0">
                <a:latin typeface="Calibri"/>
                <a:cs typeface="Calibri"/>
              </a:rPr>
              <a:t>Division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by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zero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0" dirty="0"/>
              <a:t>Except</a:t>
            </a:r>
            <a:r>
              <a:rPr sz="3600" spc="-195" dirty="0"/>
              <a:t> </a:t>
            </a:r>
            <a:r>
              <a:rPr sz="3600" dirty="0"/>
              <a:t>clause</a:t>
            </a:r>
            <a:r>
              <a:rPr sz="3600" spc="-160" dirty="0"/>
              <a:t> </a:t>
            </a:r>
            <a:r>
              <a:rPr sz="3600" dirty="0"/>
              <a:t>with</a:t>
            </a:r>
            <a:r>
              <a:rPr sz="3600" spc="-75" dirty="0"/>
              <a:t> </a:t>
            </a:r>
            <a:r>
              <a:rPr sz="3600" dirty="0"/>
              <a:t>multiple</a:t>
            </a:r>
            <a:r>
              <a:rPr sz="3600" spc="-175" dirty="0"/>
              <a:t> </a:t>
            </a:r>
            <a:r>
              <a:rPr sz="3600" spc="-10" dirty="0"/>
              <a:t>exceptions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425066" y="1317250"/>
            <a:ext cx="5109845" cy="4728845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305"/>
              </a:spcBef>
            </a:pPr>
            <a:r>
              <a:rPr sz="2200" spc="-20" dirty="0">
                <a:latin typeface="Calibri"/>
                <a:cs typeface="Calibri"/>
              </a:rPr>
              <a:t>try:</a:t>
            </a:r>
            <a:endParaRPr sz="2200">
              <a:latin typeface="Calibri"/>
              <a:cs typeface="Calibri"/>
            </a:endParaRPr>
          </a:p>
          <a:p>
            <a:pPr marL="1434465" marR="21590">
              <a:lnSpc>
                <a:spcPct val="107700"/>
              </a:lnSpc>
              <a:spcBef>
                <a:spcPts val="5"/>
              </a:spcBef>
            </a:pPr>
            <a:r>
              <a:rPr sz="2200" spc="-10" dirty="0">
                <a:latin typeface="Calibri"/>
                <a:cs typeface="Calibri"/>
              </a:rPr>
              <a:t>a=int(input(“First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Number:”)) b=int(input(“Second</a:t>
            </a:r>
            <a:r>
              <a:rPr sz="2200" spc="-10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Number:”))</a:t>
            </a:r>
            <a:endParaRPr sz="2200">
              <a:latin typeface="Calibri"/>
              <a:cs typeface="Calibri"/>
            </a:endParaRPr>
          </a:p>
          <a:p>
            <a:pPr marL="1434465">
              <a:lnSpc>
                <a:spcPct val="100000"/>
              </a:lnSpc>
              <a:spcBef>
                <a:spcPts val="215"/>
              </a:spcBef>
            </a:pPr>
            <a:r>
              <a:rPr sz="2200" spc="-10" dirty="0">
                <a:latin typeface="Calibri"/>
                <a:cs typeface="Calibri"/>
              </a:rPr>
              <a:t>result=a/b</a:t>
            </a:r>
            <a:endParaRPr sz="2200">
              <a:latin typeface="Calibri"/>
              <a:cs typeface="Calibri"/>
            </a:endParaRPr>
          </a:p>
          <a:p>
            <a:pPr marL="1434465">
              <a:lnSpc>
                <a:spcPct val="100000"/>
              </a:lnSpc>
              <a:spcBef>
                <a:spcPts val="204"/>
              </a:spcBef>
            </a:pPr>
            <a:r>
              <a:rPr sz="2200" spc="-10" dirty="0">
                <a:latin typeface="Calibri"/>
                <a:cs typeface="Calibri"/>
              </a:rPr>
              <a:t>print(“Result=”,result)</a:t>
            </a:r>
            <a:endParaRPr sz="2200">
              <a:latin typeface="Calibri"/>
              <a:cs typeface="Calibri"/>
            </a:endParaRPr>
          </a:p>
          <a:p>
            <a:pPr marL="1434465" marR="5080" indent="-508000">
              <a:lnSpc>
                <a:spcPts val="2860"/>
              </a:lnSpc>
              <a:spcBef>
                <a:spcPts val="120"/>
              </a:spcBef>
            </a:pPr>
            <a:r>
              <a:rPr sz="2200" spc="-30" dirty="0">
                <a:latin typeface="Calibri"/>
                <a:cs typeface="Calibri"/>
              </a:rPr>
              <a:t>except(ZeroDivisionError,</a:t>
            </a:r>
            <a:r>
              <a:rPr sz="2200" spc="7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TypeError): print(“Error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occurred”)</a:t>
            </a:r>
            <a:endParaRPr sz="22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65"/>
              </a:spcBef>
            </a:pPr>
            <a:r>
              <a:rPr sz="2200" spc="-10" dirty="0">
                <a:latin typeface="Calibri"/>
                <a:cs typeface="Calibri"/>
              </a:rPr>
              <a:t>else:</a:t>
            </a:r>
            <a:endParaRPr sz="2200">
              <a:latin typeface="Calibri"/>
              <a:cs typeface="Calibri"/>
            </a:endParaRPr>
          </a:p>
          <a:p>
            <a:pPr marL="1434465">
              <a:lnSpc>
                <a:spcPct val="100000"/>
              </a:lnSpc>
              <a:spcBef>
                <a:spcPts val="204"/>
              </a:spcBef>
            </a:pPr>
            <a:r>
              <a:rPr sz="2200" spc="-10" dirty="0">
                <a:latin typeface="Calibri"/>
                <a:cs typeface="Calibri"/>
              </a:rPr>
              <a:t>print(“Successful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Division”)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endParaRPr sz="2200">
              <a:latin typeface="Calibri"/>
              <a:cs typeface="Calibri"/>
            </a:endParaRPr>
          </a:p>
          <a:p>
            <a:pPr marL="12700" marR="3054985">
              <a:lnSpc>
                <a:spcPct val="107700"/>
              </a:lnSpc>
            </a:pPr>
            <a:r>
              <a:rPr sz="2200" dirty="0">
                <a:latin typeface="Calibri"/>
                <a:cs typeface="Calibri"/>
              </a:rPr>
              <a:t>First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Number:10 </a:t>
            </a:r>
            <a:r>
              <a:rPr sz="2200" dirty="0">
                <a:latin typeface="Calibri"/>
                <a:cs typeface="Calibri"/>
              </a:rPr>
              <a:t>Second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Number:0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2200" dirty="0">
                <a:latin typeface="Calibri"/>
                <a:cs typeface="Calibri"/>
              </a:rPr>
              <a:t>Error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occured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7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0" dirty="0"/>
              <a:t>try......finally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916939" y="1414627"/>
            <a:ext cx="10154285" cy="4339590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470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finally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try </a:t>
            </a:r>
            <a:r>
              <a:rPr sz="2600" spc="-10" dirty="0">
                <a:latin typeface="Calibri"/>
                <a:cs typeface="Calibri"/>
              </a:rPr>
              <a:t>block</a:t>
            </a:r>
            <a:endParaRPr sz="2600">
              <a:latin typeface="Calibri"/>
              <a:cs typeface="Calibri"/>
            </a:endParaRPr>
          </a:p>
          <a:p>
            <a:pPr marL="241300" marR="568960" indent="-229235">
              <a:lnSpc>
                <a:spcPts val="2500"/>
              </a:lnSpc>
              <a:spcBef>
                <a:spcPts val="969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code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placed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block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executed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matter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Exception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is </a:t>
            </a:r>
            <a:r>
              <a:rPr sz="2600" dirty="0">
                <a:latin typeface="Calibri"/>
                <a:cs typeface="Calibri"/>
              </a:rPr>
              <a:t>caused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caught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40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We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cannot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except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clause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finally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clause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together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try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block</a:t>
            </a:r>
            <a:endParaRPr sz="2600">
              <a:latin typeface="Calibri"/>
              <a:cs typeface="Calibri"/>
            </a:endParaRPr>
          </a:p>
          <a:p>
            <a:pPr marL="12700" marR="5080" indent="229235">
              <a:lnSpc>
                <a:spcPct val="111900"/>
              </a:lnSpc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It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also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possible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else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clause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finally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together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try</a:t>
            </a:r>
            <a:r>
              <a:rPr sz="2600" spc="-10" dirty="0">
                <a:latin typeface="Calibri"/>
                <a:cs typeface="Calibri"/>
              </a:rPr>
              <a:t> block. Syntax:</a:t>
            </a:r>
            <a:endParaRPr sz="2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385"/>
              </a:spcBef>
            </a:pPr>
            <a:r>
              <a:rPr sz="2600" spc="-20" dirty="0">
                <a:latin typeface="Calibri"/>
                <a:cs typeface="Calibri"/>
              </a:rPr>
              <a:t>try:</a:t>
            </a:r>
            <a:endParaRPr sz="2600">
              <a:latin typeface="Calibri"/>
              <a:cs typeface="Calibri"/>
            </a:endParaRPr>
          </a:p>
          <a:p>
            <a:pPr marL="927100" marR="7954645" indent="522605">
              <a:lnSpc>
                <a:spcPct val="111900"/>
              </a:lnSpc>
            </a:pPr>
            <a:r>
              <a:rPr sz="2600" spc="-10" dirty="0">
                <a:latin typeface="Calibri"/>
                <a:cs typeface="Calibri"/>
              </a:rPr>
              <a:t>suite; finally:</a:t>
            </a:r>
            <a:endParaRPr sz="2600">
              <a:latin typeface="Calibri"/>
              <a:cs typeface="Calibri"/>
            </a:endParaRPr>
          </a:p>
          <a:p>
            <a:pPr marL="1524635">
              <a:lnSpc>
                <a:spcPct val="100000"/>
              </a:lnSpc>
              <a:spcBef>
                <a:spcPts val="385"/>
              </a:spcBef>
            </a:pPr>
            <a:r>
              <a:rPr sz="2600" dirty="0">
                <a:latin typeface="Calibri"/>
                <a:cs typeface="Calibri"/>
              </a:rPr>
              <a:t>finally_suite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#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Executed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always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after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try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block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524332"/>
            <a:ext cx="130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Example: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780" y="946759"/>
            <a:ext cx="5456555" cy="513207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375"/>
              </a:spcBef>
            </a:pPr>
            <a:r>
              <a:rPr sz="2000" spc="-20" dirty="0">
                <a:latin typeface="Calibri"/>
                <a:cs typeface="Calibri"/>
              </a:rPr>
              <a:t>try:</a:t>
            </a:r>
            <a:endParaRPr sz="20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275"/>
              </a:spcBef>
            </a:pPr>
            <a:r>
              <a:rPr sz="2000" dirty="0">
                <a:latin typeface="Calibri"/>
                <a:cs typeface="Calibri"/>
              </a:rPr>
              <a:t>a=int(input(“First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Number:”))</a:t>
            </a:r>
            <a:endParaRPr sz="20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290"/>
              </a:spcBef>
            </a:pPr>
            <a:r>
              <a:rPr sz="2000" dirty="0">
                <a:latin typeface="Calibri"/>
                <a:cs typeface="Calibri"/>
              </a:rPr>
              <a:t>b=int(input(“Second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number”))</a:t>
            </a:r>
            <a:endParaRPr sz="2000">
              <a:latin typeface="Calibri"/>
              <a:cs typeface="Calibri"/>
            </a:endParaRPr>
          </a:p>
          <a:p>
            <a:pPr marL="1097280">
              <a:lnSpc>
                <a:spcPct val="100000"/>
              </a:lnSpc>
              <a:spcBef>
                <a:spcPts val="275"/>
              </a:spcBef>
            </a:pPr>
            <a:r>
              <a:rPr sz="2000" spc="-10" dirty="0">
                <a:latin typeface="Calibri"/>
                <a:cs typeface="Calibri"/>
              </a:rPr>
              <a:t>result=a/b</a:t>
            </a:r>
            <a:endParaRPr sz="2000">
              <a:latin typeface="Calibri"/>
              <a:cs typeface="Calibri"/>
            </a:endParaRPr>
          </a:p>
          <a:p>
            <a:pPr marL="927100" marR="1805939" indent="457200">
              <a:lnSpc>
                <a:spcPts val="2690"/>
              </a:lnSpc>
              <a:spcBef>
                <a:spcPts val="125"/>
              </a:spcBef>
            </a:pPr>
            <a:r>
              <a:rPr sz="2000" spc="-20" dirty="0">
                <a:latin typeface="Calibri"/>
                <a:cs typeface="Calibri"/>
              </a:rPr>
              <a:t>print(“Result=”,result) </a:t>
            </a:r>
            <a:r>
              <a:rPr sz="2000" spc="-10" dirty="0">
                <a:latin typeface="Calibri"/>
                <a:cs typeface="Calibri"/>
              </a:rPr>
              <a:t>finally:</a:t>
            </a:r>
            <a:endParaRPr sz="2000">
              <a:latin typeface="Calibri"/>
              <a:cs typeface="Calibri"/>
            </a:endParaRPr>
          </a:p>
          <a:p>
            <a:pPr marL="1384300">
              <a:lnSpc>
                <a:spcPct val="100000"/>
              </a:lnSpc>
              <a:spcBef>
                <a:spcPts val="135"/>
              </a:spcBef>
            </a:pPr>
            <a:r>
              <a:rPr sz="2000" spc="-10" dirty="0">
                <a:latin typeface="Calibri"/>
                <a:cs typeface="Calibri"/>
              </a:rPr>
              <a:t>print(“Executed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always”)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2000" b="1" spc="-10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endParaRPr sz="2000">
              <a:latin typeface="Calibri"/>
              <a:cs typeface="Calibri"/>
            </a:endParaRPr>
          </a:p>
          <a:p>
            <a:pPr marL="12700" marR="3611879">
              <a:lnSpc>
                <a:spcPct val="111500"/>
              </a:lnSpc>
              <a:spcBef>
                <a:spcPts val="10"/>
              </a:spcBef>
            </a:pP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Number:20 </a:t>
            </a:r>
            <a:r>
              <a:rPr sz="2000" dirty="0">
                <a:latin typeface="Calibri"/>
                <a:cs typeface="Calibri"/>
              </a:rPr>
              <a:t>Second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number:0 </a:t>
            </a:r>
            <a:r>
              <a:rPr sz="2000" dirty="0">
                <a:latin typeface="Calibri"/>
                <a:cs typeface="Calibri"/>
              </a:rPr>
              <a:t>Executed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always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000" spc="-10" dirty="0">
                <a:latin typeface="Calibri"/>
                <a:cs typeface="Calibri"/>
              </a:rPr>
              <a:t>Traceback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(most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last):</a:t>
            </a:r>
            <a:endParaRPr sz="2000">
              <a:latin typeface="Calibri"/>
              <a:cs typeface="Calibri"/>
            </a:endParaRPr>
          </a:p>
          <a:p>
            <a:pPr marL="1326515" marR="982980" indent="-400050">
              <a:lnSpc>
                <a:spcPct val="111500"/>
              </a:lnSpc>
              <a:spcBef>
                <a:spcPts val="5"/>
              </a:spcBef>
            </a:pPr>
            <a:r>
              <a:rPr sz="2000" dirty="0">
                <a:latin typeface="Calibri"/>
                <a:cs typeface="Calibri"/>
              </a:rPr>
              <a:t>File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“main.py”,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5,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&lt;module&gt; result=a/b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000" spc="-10" dirty="0">
                <a:latin typeface="Calibri"/>
                <a:cs typeface="Calibri"/>
              </a:rPr>
              <a:t>ZeroDivisionError: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integer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division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modulo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zero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61542"/>
            <a:ext cx="9233535" cy="497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100" dirty="0">
                <a:latin typeface="Times New Roman"/>
                <a:cs typeface="Times New Roman"/>
              </a:rPr>
              <a:t>Some</a:t>
            </a:r>
            <a:r>
              <a:rPr sz="3100" spc="-5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of</a:t>
            </a:r>
            <a:r>
              <a:rPr sz="3100" spc="-6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the</a:t>
            </a:r>
            <a:r>
              <a:rPr sz="3100" spc="-6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common</a:t>
            </a:r>
            <a:r>
              <a:rPr sz="3100" spc="-40" dirty="0">
                <a:latin typeface="Times New Roman"/>
                <a:cs typeface="Times New Roman"/>
              </a:rPr>
              <a:t> </a:t>
            </a:r>
            <a:r>
              <a:rPr sz="3100" spc="-25" dirty="0">
                <a:latin typeface="Times New Roman"/>
                <a:cs typeface="Times New Roman"/>
              </a:rPr>
              <a:t>in-</a:t>
            </a:r>
            <a:r>
              <a:rPr sz="3100" dirty="0">
                <a:latin typeface="Times New Roman"/>
                <a:cs typeface="Times New Roman"/>
              </a:rPr>
              <a:t>built</a:t>
            </a:r>
            <a:r>
              <a:rPr sz="3100" spc="-4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exceptions</a:t>
            </a:r>
            <a:r>
              <a:rPr sz="3100" spc="-45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are</a:t>
            </a:r>
            <a:r>
              <a:rPr sz="3100" spc="-70" dirty="0">
                <a:latin typeface="Times New Roman"/>
                <a:cs typeface="Times New Roman"/>
              </a:rPr>
              <a:t> </a:t>
            </a:r>
            <a:r>
              <a:rPr sz="3100" dirty="0">
                <a:latin typeface="Times New Roman"/>
                <a:cs typeface="Times New Roman"/>
              </a:rPr>
              <a:t>as</a:t>
            </a:r>
            <a:r>
              <a:rPr sz="3100" spc="-55" dirty="0">
                <a:latin typeface="Times New Roman"/>
                <a:cs typeface="Times New Roman"/>
              </a:rPr>
              <a:t> </a:t>
            </a:r>
            <a:r>
              <a:rPr sz="3100" spc="-10" dirty="0">
                <a:latin typeface="Times New Roman"/>
                <a:cs typeface="Times New Roman"/>
              </a:rPr>
              <a:t>follows: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288567"/>
            <a:ext cx="10357485" cy="4557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9235">
              <a:lnSpc>
                <a:spcPct val="150100"/>
              </a:lnSpc>
              <a:spcBef>
                <a:spcPts val="100"/>
              </a:spcBef>
              <a:buSzPct val="95454"/>
              <a:buAutoNum type="arabicPeriod"/>
              <a:tabLst>
                <a:tab pos="246379" algn="l"/>
              </a:tabLst>
            </a:pPr>
            <a:r>
              <a:rPr sz="2200" b="1" dirty="0">
                <a:solidFill>
                  <a:srgbClr val="090C0F"/>
                </a:solidFill>
                <a:latin typeface="Arial"/>
                <a:cs typeface="Arial"/>
              </a:rPr>
              <a:t>ZeroDivisionError</a:t>
            </a:r>
            <a:r>
              <a:rPr sz="2200" b="1" spc="195" dirty="0">
                <a:solidFill>
                  <a:srgbClr val="090C0F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090C0F"/>
                </a:solidFill>
                <a:latin typeface="Arial MT"/>
                <a:cs typeface="Arial MT"/>
              </a:rPr>
              <a:t>-</a:t>
            </a:r>
            <a:r>
              <a:rPr sz="2200" dirty="0">
                <a:latin typeface="Arial MT"/>
                <a:cs typeface="Arial MT"/>
              </a:rPr>
              <a:t>Raised</a:t>
            </a:r>
            <a:r>
              <a:rPr sz="2200" spc="19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20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division</a:t>
            </a:r>
            <a:r>
              <a:rPr sz="2200" spc="20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modulo</a:t>
            </a:r>
            <a:r>
              <a:rPr sz="2200" spc="20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by</a:t>
            </a:r>
            <a:r>
              <a:rPr sz="2200" spc="18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zero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takes</a:t>
            </a:r>
            <a:r>
              <a:rPr sz="2200" spc="20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place</a:t>
            </a:r>
            <a:r>
              <a:rPr sz="2200" spc="204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for</a:t>
            </a:r>
            <a:r>
              <a:rPr sz="2200" spc="190" dirty="0">
                <a:latin typeface="Arial MT"/>
                <a:cs typeface="Arial MT"/>
              </a:rPr>
              <a:t> </a:t>
            </a:r>
            <a:r>
              <a:rPr sz="22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numeric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types.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90C0F"/>
              </a:buClr>
              <a:buFont typeface="Arial"/>
              <a:buAutoNum type="arabicPeriod"/>
            </a:pPr>
            <a:endParaRPr sz="2000">
              <a:latin typeface="Arial MT"/>
              <a:cs typeface="Arial MT"/>
            </a:endParaRPr>
          </a:p>
          <a:p>
            <a:pPr marL="245745" indent="-233679">
              <a:lnSpc>
                <a:spcPct val="100000"/>
              </a:lnSpc>
              <a:buSzPct val="95454"/>
              <a:buAutoNum type="arabicPeriod"/>
              <a:tabLst>
                <a:tab pos="246379" algn="l"/>
              </a:tabLst>
            </a:pPr>
            <a:r>
              <a:rPr sz="2200" b="1" dirty="0">
                <a:solidFill>
                  <a:srgbClr val="090C0F"/>
                </a:solidFill>
                <a:latin typeface="Arial"/>
                <a:cs typeface="Arial"/>
              </a:rPr>
              <a:t>NameError</a:t>
            </a:r>
            <a:r>
              <a:rPr sz="2200" b="1" spc="-60" dirty="0">
                <a:solidFill>
                  <a:srgbClr val="090C0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90C0F"/>
                </a:solidFill>
                <a:latin typeface="Arial MT"/>
                <a:cs typeface="Arial MT"/>
              </a:rPr>
              <a:t>-</a:t>
            </a:r>
            <a:r>
              <a:rPr sz="2200" spc="-55" dirty="0">
                <a:solidFill>
                  <a:srgbClr val="090C0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Raised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name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keywords,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identifiers..etc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are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wrong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90C0F"/>
              </a:buClr>
              <a:buFont typeface="Arial"/>
              <a:buAutoNum type="arabicPeriod"/>
            </a:pPr>
            <a:endParaRPr sz="2000">
              <a:latin typeface="Arial MT"/>
              <a:cs typeface="Arial MT"/>
            </a:endParaRPr>
          </a:p>
          <a:p>
            <a:pPr marL="245745" indent="-233679">
              <a:lnSpc>
                <a:spcPct val="100000"/>
              </a:lnSpc>
              <a:spcBef>
                <a:spcPts val="5"/>
              </a:spcBef>
              <a:buSzPct val="95454"/>
              <a:buAutoNum type="arabicPeriod"/>
              <a:tabLst>
                <a:tab pos="246379" algn="l"/>
              </a:tabLst>
            </a:pPr>
            <a:r>
              <a:rPr sz="2200" b="1" dirty="0">
                <a:solidFill>
                  <a:srgbClr val="090C0F"/>
                </a:solidFill>
                <a:latin typeface="Arial"/>
                <a:cs typeface="Arial"/>
              </a:rPr>
              <a:t>IndentationError</a:t>
            </a:r>
            <a:r>
              <a:rPr sz="2200" b="1" spc="-30" dirty="0">
                <a:solidFill>
                  <a:srgbClr val="090C0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90C0F"/>
                </a:solidFill>
                <a:latin typeface="Arial MT"/>
                <a:cs typeface="Arial MT"/>
              </a:rPr>
              <a:t>-</a:t>
            </a:r>
            <a:r>
              <a:rPr sz="2200" spc="-70" dirty="0">
                <a:solidFill>
                  <a:srgbClr val="090C0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Raised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-5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indentation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properly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given</a:t>
            </a:r>
            <a:endParaRPr sz="2200">
              <a:latin typeface="Arial MT"/>
              <a:cs typeface="Arial MT"/>
            </a:endParaRPr>
          </a:p>
          <a:p>
            <a:pPr marL="241300" marR="5080" indent="-229235">
              <a:lnSpc>
                <a:spcPct val="150000"/>
              </a:lnSpc>
              <a:spcBef>
                <a:spcPts val="994"/>
              </a:spcBef>
              <a:buSzPct val="95454"/>
              <a:buAutoNum type="arabicPeriod"/>
              <a:tabLst>
                <a:tab pos="246379" algn="l"/>
                <a:tab pos="1400810" algn="l"/>
                <a:tab pos="1675130" algn="l"/>
                <a:tab pos="2725420" algn="l"/>
                <a:tab pos="3573145" algn="l"/>
                <a:tab pos="4064000" algn="l"/>
                <a:tab pos="4927600" algn="l"/>
                <a:tab pos="5885180" algn="l"/>
                <a:tab pos="7230745" algn="l"/>
                <a:tab pos="7987030" algn="l"/>
                <a:tab pos="8758555" algn="l"/>
                <a:tab pos="9232265" algn="l"/>
                <a:tab pos="9801225" algn="l"/>
              </a:tabLst>
            </a:pPr>
            <a:r>
              <a:rPr sz="2200" b="1" spc="-10" dirty="0">
                <a:solidFill>
                  <a:srgbClr val="090C0F"/>
                </a:solidFill>
                <a:latin typeface="Arial"/>
                <a:cs typeface="Arial"/>
              </a:rPr>
              <a:t>IOError</a:t>
            </a:r>
            <a:r>
              <a:rPr sz="2200" b="1" dirty="0">
                <a:solidFill>
                  <a:srgbClr val="090C0F"/>
                </a:solidFill>
                <a:latin typeface="Arial"/>
                <a:cs typeface="Arial"/>
              </a:rPr>
              <a:t>	</a:t>
            </a:r>
            <a:r>
              <a:rPr sz="2200" spc="-50" dirty="0">
                <a:solidFill>
                  <a:srgbClr val="090C0F"/>
                </a:solidFill>
                <a:latin typeface="Arial MT"/>
                <a:cs typeface="Arial MT"/>
              </a:rPr>
              <a:t>-</a:t>
            </a:r>
            <a:r>
              <a:rPr sz="2200" dirty="0">
                <a:solidFill>
                  <a:srgbClr val="090C0F"/>
                </a:solidFill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Raised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when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an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input/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output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operation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fails,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0" dirty="0">
                <a:latin typeface="Arial MT"/>
                <a:cs typeface="Arial MT"/>
              </a:rPr>
              <a:t>such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as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25" dirty="0">
                <a:latin typeface="Arial MT"/>
                <a:cs typeface="Arial MT"/>
              </a:rPr>
              <a:t>the</a:t>
            </a:r>
            <a:r>
              <a:rPr sz="2200" dirty="0">
                <a:latin typeface="Arial MT"/>
                <a:cs typeface="Arial MT"/>
              </a:rPr>
              <a:t>	</a:t>
            </a:r>
            <a:r>
              <a:rPr sz="2200" spc="-10" dirty="0">
                <a:latin typeface="Arial MT"/>
                <a:cs typeface="Arial MT"/>
              </a:rPr>
              <a:t>print </a:t>
            </a:r>
            <a:r>
              <a:rPr sz="2200" dirty="0">
                <a:latin typeface="Arial MT"/>
                <a:cs typeface="Arial MT"/>
              </a:rPr>
              <a:t>statement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open()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function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-2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trying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to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open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</a:t>
            </a:r>
            <a:r>
              <a:rPr sz="2200" spc="-5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file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that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does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not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exist.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90C0F"/>
              </a:buClr>
              <a:buFont typeface="Arial"/>
              <a:buAutoNum type="arabicPeriod"/>
            </a:pPr>
            <a:endParaRPr sz="2000">
              <a:latin typeface="Arial MT"/>
              <a:cs typeface="Arial MT"/>
            </a:endParaRPr>
          </a:p>
          <a:p>
            <a:pPr marL="246379" indent="-234315">
              <a:lnSpc>
                <a:spcPct val="100000"/>
              </a:lnSpc>
              <a:spcBef>
                <a:spcPts val="5"/>
              </a:spcBef>
              <a:buSzPct val="95454"/>
              <a:buAutoNum type="arabicPeriod"/>
              <a:tabLst>
                <a:tab pos="247015" algn="l"/>
              </a:tabLst>
            </a:pPr>
            <a:r>
              <a:rPr sz="2200" b="1" dirty="0">
                <a:solidFill>
                  <a:srgbClr val="090C0F"/>
                </a:solidFill>
                <a:latin typeface="Arial"/>
                <a:cs typeface="Arial"/>
              </a:rPr>
              <a:t>EOFError</a:t>
            </a:r>
            <a:r>
              <a:rPr sz="2200" b="1" spc="155" dirty="0">
                <a:solidFill>
                  <a:srgbClr val="090C0F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090C0F"/>
                </a:solidFill>
                <a:latin typeface="Arial MT"/>
                <a:cs typeface="Arial MT"/>
              </a:rPr>
              <a:t>-</a:t>
            </a:r>
            <a:r>
              <a:rPr sz="2200" spc="165" dirty="0">
                <a:solidFill>
                  <a:srgbClr val="090C0F"/>
                </a:solidFill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Raised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when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there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no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input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from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either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16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raw_input()</a:t>
            </a:r>
            <a:r>
              <a:rPr sz="2200" spc="17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or</a:t>
            </a:r>
            <a:r>
              <a:rPr sz="2200" spc="1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input()</a:t>
            </a:r>
            <a:endParaRPr sz="22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  <a:spcBef>
                <a:spcPts val="1320"/>
              </a:spcBef>
            </a:pPr>
            <a:r>
              <a:rPr sz="2200" dirty="0">
                <a:latin typeface="Arial MT"/>
                <a:cs typeface="Arial MT"/>
              </a:rPr>
              <a:t>function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and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end</a:t>
            </a:r>
            <a:r>
              <a:rPr sz="2200" spc="-2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3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file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is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reached.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50341"/>
            <a:ext cx="51181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Times New Roman"/>
                <a:cs typeface="Times New Roman"/>
              </a:rPr>
              <a:t>Python</a:t>
            </a:r>
            <a:r>
              <a:rPr sz="3600" spc="-11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-</a:t>
            </a:r>
            <a:r>
              <a:rPr sz="3600" spc="-22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Assert</a:t>
            </a:r>
            <a:r>
              <a:rPr sz="3600" spc="-85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37031" y="1076020"/>
            <a:ext cx="10357485" cy="52095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>
              <a:lnSpc>
                <a:spcPts val="2350"/>
              </a:lnSpc>
              <a:spcBef>
                <a:spcPts val="105"/>
              </a:spcBef>
              <a:buFont typeface="Arial MT"/>
              <a:buChar char="•"/>
              <a:tabLst>
                <a:tab pos="241935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Python, 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assert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statement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used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continue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execute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if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given</a:t>
            </a:r>
            <a:r>
              <a:rPr sz="2300" spc="-10" dirty="0">
                <a:latin typeface="Calibri"/>
                <a:cs typeface="Calibri"/>
              </a:rPr>
              <a:t> condition</a:t>
            </a:r>
            <a:endParaRPr sz="2300">
              <a:latin typeface="Calibri"/>
              <a:cs typeface="Calibri"/>
            </a:endParaRPr>
          </a:p>
          <a:p>
            <a:pPr marL="241300">
              <a:lnSpc>
                <a:spcPts val="2350"/>
              </a:lnSpc>
            </a:pPr>
            <a:r>
              <a:rPr sz="2300" dirty="0">
                <a:latin typeface="Calibri"/>
                <a:cs typeface="Calibri"/>
              </a:rPr>
              <a:t>evaluates</a:t>
            </a:r>
            <a:r>
              <a:rPr sz="2300" spc="-7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True.</a:t>
            </a:r>
            <a:endParaRPr sz="2300">
              <a:latin typeface="Calibri"/>
              <a:cs typeface="Calibri"/>
            </a:endParaRPr>
          </a:p>
          <a:p>
            <a:pPr marL="241300" marR="635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300" dirty="0">
                <a:latin typeface="Calibri"/>
                <a:cs typeface="Calibri"/>
              </a:rPr>
              <a:t>If</a:t>
            </a:r>
            <a:r>
              <a:rPr sz="2300" spc="8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assert</a:t>
            </a:r>
            <a:r>
              <a:rPr sz="2300" spc="1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condition</a:t>
            </a:r>
            <a:r>
              <a:rPr sz="2300" spc="1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evaluates</a:t>
            </a:r>
            <a:r>
              <a:rPr sz="2300" spc="1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1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False,</a:t>
            </a:r>
            <a:r>
              <a:rPr sz="2300" spc="1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then</a:t>
            </a:r>
            <a:r>
              <a:rPr sz="2300" spc="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1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raises</a:t>
            </a:r>
            <a:r>
              <a:rPr sz="2300" spc="9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10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AssertionError</a:t>
            </a:r>
            <a:r>
              <a:rPr sz="2300" spc="9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exception </a:t>
            </a:r>
            <a:r>
              <a:rPr sz="2300" dirty="0">
                <a:latin typeface="Calibri"/>
                <a:cs typeface="Calibri"/>
              </a:rPr>
              <a:t>with the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specified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error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message.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300" b="1" spc="-10" dirty="0">
                <a:solidFill>
                  <a:srgbClr val="C00000"/>
                </a:solidFill>
                <a:latin typeface="Calibri"/>
                <a:cs typeface="Calibri"/>
              </a:rPr>
              <a:t>Syntax</a:t>
            </a:r>
            <a:endParaRPr sz="23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80"/>
              </a:spcBef>
            </a:pPr>
            <a:r>
              <a:rPr sz="2300" dirty="0">
                <a:latin typeface="Calibri"/>
                <a:cs typeface="Calibri"/>
              </a:rPr>
              <a:t>assert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condition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[,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Error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Message]</a:t>
            </a:r>
            <a:endParaRPr sz="23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241935" algn="l"/>
              </a:tabLst>
            </a:pPr>
            <a:r>
              <a:rPr sz="2300" dirty="0">
                <a:latin typeface="Calibri"/>
                <a:cs typeface="Calibri"/>
              </a:rPr>
              <a:t>The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following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example</a:t>
            </a:r>
            <a:r>
              <a:rPr sz="2300" spc="-3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demonstrates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simple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assert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statement.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2300" b="1" spc="-10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endParaRPr sz="23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80"/>
              </a:spcBef>
            </a:pPr>
            <a:r>
              <a:rPr sz="2300" dirty="0">
                <a:latin typeface="Calibri"/>
                <a:cs typeface="Calibri"/>
              </a:rPr>
              <a:t>x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=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25" dirty="0">
                <a:latin typeface="Calibri"/>
                <a:cs typeface="Calibri"/>
              </a:rPr>
              <a:t>10</a:t>
            </a:r>
            <a:endParaRPr sz="23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70"/>
              </a:spcBef>
            </a:pPr>
            <a:r>
              <a:rPr sz="2300" dirty="0">
                <a:latin typeface="Calibri"/>
                <a:cs typeface="Calibri"/>
              </a:rPr>
              <a:t>assert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x</a:t>
            </a:r>
            <a:r>
              <a:rPr sz="2300" spc="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&gt;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spc="-50" dirty="0">
                <a:latin typeface="Calibri"/>
                <a:cs typeface="Calibri"/>
              </a:rPr>
              <a:t>0</a:t>
            </a:r>
            <a:endParaRPr sz="23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70"/>
              </a:spcBef>
            </a:pPr>
            <a:r>
              <a:rPr sz="2300" dirty="0">
                <a:latin typeface="Calibri"/>
                <a:cs typeface="Calibri"/>
              </a:rPr>
              <a:t>print('x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positive</a:t>
            </a:r>
            <a:r>
              <a:rPr sz="2300" spc="-10" dirty="0">
                <a:latin typeface="Calibri"/>
                <a:cs typeface="Calibri"/>
              </a:rPr>
              <a:t> number.')</a:t>
            </a:r>
            <a:endParaRPr sz="2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2300" b="1" spc="-10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endParaRPr sz="23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170"/>
              </a:spcBef>
              <a:buFont typeface="Arial MT"/>
              <a:buChar char="•"/>
              <a:tabLst>
                <a:tab pos="241935" algn="l"/>
              </a:tabLst>
            </a:pPr>
            <a:r>
              <a:rPr sz="2300" dirty="0">
                <a:latin typeface="Calibri"/>
                <a:cs typeface="Calibri"/>
              </a:rPr>
              <a:t>x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positive</a:t>
            </a:r>
            <a:r>
              <a:rPr sz="2300" spc="-10" dirty="0">
                <a:latin typeface="Calibri"/>
                <a:cs typeface="Calibri"/>
              </a:rPr>
              <a:t> number.</a:t>
            </a:r>
            <a:endParaRPr sz="230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935" algn="l"/>
              </a:tabLst>
            </a:pPr>
            <a:r>
              <a:rPr sz="2300" dirty="0">
                <a:latin typeface="Calibri"/>
                <a:cs typeface="Calibri"/>
              </a:rPr>
              <a:t>In</a:t>
            </a:r>
            <a:r>
              <a:rPr sz="2300" spc="33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above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example,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assert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condition,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x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&gt;</a:t>
            </a:r>
            <a:r>
              <a:rPr sz="2300" spc="36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0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evaluates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3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be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True,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so</a:t>
            </a:r>
            <a:r>
              <a:rPr sz="2300" spc="3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it</a:t>
            </a:r>
            <a:r>
              <a:rPr sz="2300" spc="350" dirty="0">
                <a:latin typeface="Calibri"/>
                <a:cs typeface="Calibri"/>
              </a:rPr>
              <a:t> </a:t>
            </a:r>
            <a:r>
              <a:rPr sz="2300" spc="-20" dirty="0">
                <a:latin typeface="Calibri"/>
                <a:cs typeface="Calibri"/>
              </a:rPr>
              <a:t>will </a:t>
            </a:r>
            <a:r>
              <a:rPr sz="2300" dirty="0">
                <a:latin typeface="Calibri"/>
                <a:cs typeface="Calibri"/>
              </a:rPr>
              <a:t>continue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-5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execute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the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next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statement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without</a:t>
            </a:r>
            <a:r>
              <a:rPr sz="2300" spc="-4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any</a:t>
            </a:r>
            <a:r>
              <a:rPr sz="2300" spc="-45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error.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916939" y="565150"/>
            <a:ext cx="10359390" cy="51796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72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assert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statement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can</a:t>
            </a:r>
            <a:r>
              <a:rPr sz="2600" spc="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optionally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include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message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string,</a:t>
            </a:r>
            <a:r>
              <a:rPr sz="2600" spc="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which </a:t>
            </a:r>
            <a:r>
              <a:rPr sz="2600" dirty="0">
                <a:latin typeface="Calibri"/>
                <a:cs typeface="Calibri"/>
              </a:rPr>
              <a:t>gets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displayed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along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AssertionError.</a:t>
            </a:r>
            <a:endParaRPr sz="2600">
              <a:latin typeface="Calibri"/>
              <a:cs typeface="Calibri"/>
            </a:endParaRPr>
          </a:p>
          <a:p>
            <a:pPr marL="241300" indent="-229235">
              <a:lnSpc>
                <a:spcPct val="100000"/>
              </a:lnSpc>
              <a:spcBef>
                <a:spcPts val="375"/>
              </a:spcBef>
              <a:buFont typeface="Arial MT"/>
              <a:buChar char="•"/>
              <a:tabLst>
                <a:tab pos="241935" algn="l"/>
              </a:tabLst>
            </a:pPr>
            <a:r>
              <a:rPr sz="2600" dirty="0">
                <a:latin typeface="Calibri"/>
                <a:cs typeface="Calibri"/>
              </a:rPr>
              <a:t>Consider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following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assert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statement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message.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850">
              <a:latin typeface="Calibri"/>
              <a:cs typeface="Calibri"/>
            </a:endParaRPr>
          </a:p>
          <a:p>
            <a:pPr marL="927100" marR="4018279" indent="-915035">
              <a:lnSpc>
                <a:spcPct val="111900"/>
              </a:lnSpc>
            </a:pPr>
            <a:r>
              <a:rPr sz="2600" b="1" dirty="0">
                <a:solidFill>
                  <a:srgbClr val="C00000"/>
                </a:solidFill>
                <a:latin typeface="Calibri"/>
                <a:cs typeface="Calibri"/>
              </a:rPr>
              <a:t>Example:</a:t>
            </a:r>
            <a:r>
              <a:rPr sz="26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Assert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Statement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Error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Message </a:t>
            </a:r>
            <a:r>
              <a:rPr sz="2600" dirty="0">
                <a:latin typeface="Calibri"/>
                <a:cs typeface="Calibri"/>
              </a:rPr>
              <a:t>x =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50" dirty="0">
                <a:latin typeface="Calibri"/>
                <a:cs typeface="Calibri"/>
              </a:rPr>
              <a:t>0</a:t>
            </a:r>
            <a:endParaRPr sz="2600">
              <a:latin typeface="Calibri"/>
              <a:cs typeface="Calibri"/>
            </a:endParaRPr>
          </a:p>
          <a:p>
            <a:pPr marL="927100" marR="2967355">
              <a:lnSpc>
                <a:spcPct val="112000"/>
              </a:lnSpc>
              <a:spcBef>
                <a:spcPts val="10"/>
              </a:spcBef>
            </a:pPr>
            <a:r>
              <a:rPr sz="2600" dirty="0">
                <a:latin typeface="Calibri"/>
                <a:cs typeface="Calibri"/>
              </a:rPr>
              <a:t>assert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&gt;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'Only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allowed’ </a:t>
            </a:r>
            <a:r>
              <a:rPr sz="2600" dirty="0">
                <a:latin typeface="Calibri"/>
                <a:cs typeface="Calibri"/>
              </a:rPr>
              <a:t>print('x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number.')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2600" b="1" spc="-10" dirty="0">
                <a:solidFill>
                  <a:srgbClr val="C00000"/>
                </a:solidFill>
                <a:latin typeface="Calibri"/>
                <a:cs typeface="Calibri"/>
              </a:rPr>
              <a:t>Output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sz="2600" spc="-20" dirty="0">
                <a:latin typeface="Calibri"/>
                <a:cs typeface="Calibri"/>
              </a:rPr>
              <a:t>Traceback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(most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recent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last):</a:t>
            </a:r>
            <a:endParaRPr sz="2600">
              <a:latin typeface="Calibri"/>
              <a:cs typeface="Calibri"/>
            </a:endParaRPr>
          </a:p>
          <a:p>
            <a:pPr marL="12700" marR="3594100">
              <a:lnSpc>
                <a:spcPct val="111900"/>
              </a:lnSpc>
            </a:pPr>
            <a:r>
              <a:rPr sz="2600" dirty="0">
                <a:latin typeface="Calibri"/>
                <a:cs typeface="Calibri"/>
              </a:rPr>
              <a:t>assert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x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&gt;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0,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'Only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allowed' </a:t>
            </a:r>
            <a:r>
              <a:rPr sz="2600" dirty="0">
                <a:latin typeface="Calibri"/>
                <a:cs typeface="Calibri"/>
              </a:rPr>
              <a:t>AssertionError: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Only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positive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numbers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allowed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51484"/>
            <a:ext cx="8654415" cy="238125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Times New Roman"/>
                <a:cs typeface="Times New Roman"/>
              </a:rPr>
              <a:t>Python</a:t>
            </a:r>
            <a:r>
              <a:rPr sz="3600" spc="-75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Program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dirty="0">
                <a:latin typeface="Times New Roman"/>
                <a:cs typeface="Times New Roman"/>
              </a:rPr>
              <a:t>for</a:t>
            </a:r>
            <a:r>
              <a:rPr sz="3600" spc="-125" dirty="0">
                <a:latin typeface="Times New Roman"/>
                <a:cs typeface="Times New Roman"/>
              </a:rPr>
              <a:t> </a:t>
            </a:r>
            <a:r>
              <a:rPr sz="3600" spc="-45" dirty="0">
                <a:latin typeface="Times New Roman"/>
                <a:cs typeface="Times New Roman"/>
              </a:rPr>
              <a:t>User-</a:t>
            </a:r>
            <a:r>
              <a:rPr sz="3600" dirty="0">
                <a:latin typeface="Times New Roman"/>
                <a:cs typeface="Times New Roman"/>
              </a:rPr>
              <a:t>defined</a:t>
            </a:r>
            <a:r>
              <a:rPr sz="3600" spc="-60" dirty="0">
                <a:latin typeface="Times New Roman"/>
                <a:cs typeface="Times New Roman"/>
              </a:rPr>
              <a:t> </a:t>
            </a:r>
            <a:r>
              <a:rPr sz="3600" spc="-10" dirty="0">
                <a:latin typeface="Times New Roman"/>
                <a:cs typeface="Times New Roman"/>
              </a:rPr>
              <a:t>Exception Handling:</a:t>
            </a:r>
            <a:endParaRPr sz="3600">
              <a:latin typeface="Times New Roman"/>
              <a:cs typeface="Times New Roman"/>
            </a:endParaRPr>
          </a:p>
          <a:p>
            <a:pPr marL="904875" marR="4049395" indent="-523240" algn="r">
              <a:lnSpc>
                <a:spcPct val="102000"/>
              </a:lnSpc>
              <a:spcBef>
                <a:spcPts val="735"/>
              </a:spcBef>
              <a:tabLst>
                <a:tab pos="1741170" algn="l"/>
                <a:tab pos="2508250" algn="l"/>
              </a:tabLst>
            </a:pPr>
            <a:r>
              <a:rPr sz="2600" b="0" dirty="0">
                <a:solidFill>
                  <a:srgbClr val="000000"/>
                </a:solidFill>
                <a:latin typeface="Calibri"/>
                <a:cs typeface="Calibri"/>
              </a:rPr>
              <a:t>class</a:t>
            </a:r>
            <a:r>
              <a:rPr sz="26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spc="-20" dirty="0">
                <a:solidFill>
                  <a:srgbClr val="000000"/>
                </a:solidFill>
                <a:latin typeface="Calibri"/>
                <a:cs typeface="Calibri"/>
              </a:rPr>
              <a:t>YourException(Exception): </a:t>
            </a:r>
            <a:r>
              <a:rPr sz="2600" b="0" dirty="0">
                <a:solidFill>
                  <a:srgbClr val="000000"/>
                </a:solidFill>
                <a:latin typeface="Calibri"/>
                <a:cs typeface="Calibri"/>
              </a:rPr>
              <a:t>def </a:t>
            </a:r>
            <a:r>
              <a:rPr sz="2600" b="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600" b="0" spc="-20" dirty="0">
                <a:solidFill>
                  <a:srgbClr val="000000"/>
                </a:solidFill>
                <a:latin typeface="Calibri"/>
                <a:cs typeface="Calibri"/>
              </a:rPr>
              <a:t>init</a:t>
            </a:r>
            <a:r>
              <a:rPr sz="2600" b="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	</a:t>
            </a:r>
            <a:r>
              <a:rPr sz="2600" b="0" spc="-10" dirty="0">
                <a:solidFill>
                  <a:srgbClr val="000000"/>
                </a:solidFill>
                <a:latin typeface="Calibri"/>
                <a:cs typeface="Calibri"/>
              </a:rPr>
              <a:t>(self,</a:t>
            </a:r>
            <a:r>
              <a:rPr sz="2600" b="0" spc="-1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Calibri"/>
                <a:cs typeface="Calibri"/>
              </a:rPr>
              <a:t>message): self.message</a:t>
            </a:r>
            <a:r>
              <a:rPr sz="2600" b="0" spc="-9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dirty="0">
                <a:solidFill>
                  <a:srgbClr val="000000"/>
                </a:solidFill>
                <a:latin typeface="Calibri"/>
                <a:cs typeface="Calibri"/>
              </a:rPr>
              <a:t>=</a:t>
            </a:r>
            <a:r>
              <a:rPr sz="26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2600" b="0" spc="-10" dirty="0">
                <a:solidFill>
                  <a:srgbClr val="000000"/>
                </a:solidFill>
                <a:latin typeface="Calibri"/>
                <a:cs typeface="Calibri"/>
              </a:rPr>
              <a:t>message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86636" y="3219450"/>
            <a:ext cx="6868795" cy="24453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0" dirty="0">
                <a:latin typeface="Calibri"/>
                <a:cs typeface="Calibri"/>
              </a:rPr>
              <a:t>try:</a:t>
            </a:r>
            <a:endParaRPr sz="2600">
              <a:latin typeface="Calibri"/>
              <a:cs typeface="Calibri"/>
            </a:endParaRPr>
          </a:p>
          <a:p>
            <a:pPr marL="460375">
              <a:lnSpc>
                <a:spcPct val="100000"/>
              </a:lnSpc>
              <a:spcBef>
                <a:spcPts val="55"/>
              </a:spcBef>
            </a:pPr>
            <a:r>
              <a:rPr sz="2600" dirty="0">
                <a:latin typeface="Calibri"/>
                <a:cs typeface="Calibri"/>
              </a:rPr>
              <a:t>raise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YourException("Something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wrong")</a:t>
            </a:r>
            <a:endParaRPr sz="2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600" spc="-10" dirty="0">
                <a:latin typeface="Calibri"/>
                <a:cs typeface="Calibri"/>
              </a:rPr>
              <a:t>except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YourException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err:</a:t>
            </a:r>
            <a:endParaRPr sz="2600">
              <a:latin typeface="Calibri"/>
              <a:cs typeface="Calibri"/>
            </a:endParaRPr>
          </a:p>
          <a:p>
            <a:pPr marL="386080" marR="5080" indent="74295">
              <a:lnSpc>
                <a:spcPts val="3190"/>
              </a:lnSpc>
              <a:spcBef>
                <a:spcPts val="95"/>
              </a:spcBef>
            </a:pPr>
            <a:r>
              <a:rPr sz="2600" dirty="0">
                <a:latin typeface="Calibri"/>
                <a:cs typeface="Calibri"/>
              </a:rPr>
              <a:t>#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any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action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on</a:t>
            </a:r>
            <a:r>
              <a:rPr sz="2600" spc="-20" dirty="0">
                <a:latin typeface="Calibri"/>
                <a:cs typeface="Calibri"/>
              </a:rPr>
              <a:t> YourException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instance </a:t>
            </a:r>
            <a:r>
              <a:rPr sz="2600" dirty="0">
                <a:latin typeface="Calibri"/>
                <a:cs typeface="Calibri"/>
              </a:rPr>
              <a:t>print("Message:",</a:t>
            </a:r>
            <a:r>
              <a:rPr sz="2600" spc="-1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err.message)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478916"/>
            <a:ext cx="594931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30" dirty="0">
                <a:latin typeface="Times New Roman"/>
                <a:cs typeface="Times New Roman"/>
              </a:rPr>
              <a:t>User-</a:t>
            </a:r>
            <a:r>
              <a:rPr sz="3200" dirty="0">
                <a:latin typeface="Times New Roman"/>
                <a:cs typeface="Times New Roman"/>
              </a:rPr>
              <a:t>defined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Exception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Handling: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17851" y="1215644"/>
            <a:ext cx="4086860" cy="322008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sz="2400" b="1" spc="-10" dirty="0">
                <a:solidFill>
                  <a:srgbClr val="C00000"/>
                </a:solidFill>
                <a:latin typeface="Calibri"/>
                <a:cs typeface="Calibri"/>
              </a:rPr>
              <a:t>Example</a:t>
            </a:r>
            <a:endParaRPr sz="2400">
              <a:latin typeface="Calibri"/>
              <a:cs typeface="Calibri"/>
            </a:endParaRPr>
          </a:p>
          <a:p>
            <a:pPr marL="558165" marR="1259840" indent="-546100">
              <a:lnSpc>
                <a:spcPct val="124600"/>
              </a:lnSpc>
              <a:spcBef>
                <a:spcPts val="10"/>
              </a:spcBef>
            </a:pP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Error(Exception): </a:t>
            </a:r>
            <a:r>
              <a:rPr sz="2400" b="1" spc="-20" dirty="0"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  <a:p>
            <a:pPr marL="558165" marR="5080" indent="-546100">
              <a:lnSpc>
                <a:spcPts val="3600"/>
              </a:lnSpc>
              <a:spcBef>
                <a:spcPts val="229"/>
              </a:spcBef>
            </a:pP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1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ValueTooSmallError(Error): pass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sz="2400" b="1" dirty="0">
                <a:latin typeface="Calibri"/>
                <a:cs typeface="Calibri"/>
              </a:rPr>
              <a:t>class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ValueTooLargeError(Error):</a:t>
            </a:r>
            <a:endParaRPr sz="2400">
              <a:latin typeface="Calibri"/>
              <a:cs typeface="Calibri"/>
            </a:endParaRPr>
          </a:p>
          <a:p>
            <a:pPr marL="558165">
              <a:lnSpc>
                <a:spcPct val="100000"/>
              </a:lnSpc>
              <a:spcBef>
                <a:spcPts val="705"/>
              </a:spcBef>
            </a:pPr>
            <a:r>
              <a:rPr sz="2400" b="1" spc="-20" dirty="0">
                <a:latin typeface="Calibri"/>
                <a:cs typeface="Calibri"/>
              </a:rPr>
              <a:t>pass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2" name="object 2"/>
          <p:cNvSpPr txBox="1"/>
          <p:nvPr/>
        </p:nvSpPr>
        <p:spPr>
          <a:xfrm>
            <a:off x="1074216" y="78003"/>
            <a:ext cx="7839075" cy="581406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200" b="1" spc="-10" dirty="0">
                <a:solidFill>
                  <a:srgbClr val="C00000"/>
                </a:solidFill>
                <a:latin typeface="Calibri"/>
                <a:cs typeface="Calibri"/>
              </a:rPr>
              <a:t>Cont..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2200" b="1" dirty="0">
                <a:solidFill>
                  <a:srgbClr val="00AF50"/>
                </a:solidFill>
                <a:latin typeface="Calibri"/>
                <a:cs typeface="Calibri"/>
              </a:rPr>
              <a:t>#Main</a:t>
            </a:r>
            <a:r>
              <a:rPr sz="2200" b="1" spc="-75" dirty="0">
                <a:solidFill>
                  <a:srgbClr val="00AF50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00AF50"/>
                </a:solidFill>
                <a:latin typeface="Calibri"/>
                <a:cs typeface="Calibri"/>
              </a:rPr>
              <a:t>Program</a:t>
            </a:r>
            <a:endParaRPr sz="2200">
              <a:latin typeface="Calibri"/>
              <a:cs typeface="Calibri"/>
            </a:endParaRPr>
          </a:p>
          <a:p>
            <a:pPr marL="926465" marR="5568315">
              <a:lnSpc>
                <a:spcPts val="2860"/>
              </a:lnSpc>
              <a:spcBef>
                <a:spcPts val="114"/>
              </a:spcBef>
            </a:pPr>
            <a:r>
              <a:rPr sz="2200" b="1" spc="-10" dirty="0">
                <a:latin typeface="Calibri"/>
                <a:cs typeface="Calibri"/>
              </a:rPr>
              <a:t>number=10 </a:t>
            </a:r>
            <a:r>
              <a:rPr sz="2200" b="1" dirty="0">
                <a:latin typeface="Calibri"/>
                <a:cs typeface="Calibri"/>
              </a:rPr>
              <a:t>while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True:</a:t>
            </a:r>
            <a:endParaRPr sz="2200">
              <a:latin typeface="Calibri"/>
              <a:cs typeface="Calibri"/>
            </a:endParaRPr>
          </a:p>
          <a:p>
            <a:pPr marL="1307465">
              <a:lnSpc>
                <a:spcPct val="100000"/>
              </a:lnSpc>
              <a:spcBef>
                <a:spcPts val="65"/>
              </a:spcBef>
            </a:pPr>
            <a:r>
              <a:rPr sz="2200" b="1" spc="-20" dirty="0">
                <a:latin typeface="Calibri"/>
                <a:cs typeface="Calibri"/>
              </a:rPr>
              <a:t>try:</a:t>
            </a:r>
            <a:endParaRPr sz="2200">
              <a:latin typeface="Calibri"/>
              <a:cs typeface="Calibri"/>
            </a:endParaRPr>
          </a:p>
          <a:p>
            <a:pPr marL="1840864">
              <a:lnSpc>
                <a:spcPct val="100000"/>
              </a:lnSpc>
              <a:spcBef>
                <a:spcPts val="204"/>
              </a:spcBef>
            </a:pPr>
            <a:r>
              <a:rPr sz="2200" b="1" spc="-20" dirty="0">
                <a:latin typeface="Calibri"/>
                <a:cs typeface="Calibri"/>
              </a:rPr>
              <a:t>i_num=int(input(“Enter</a:t>
            </a:r>
            <a:r>
              <a:rPr sz="2200" b="1" spc="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a</a:t>
            </a:r>
            <a:r>
              <a:rPr sz="2200" b="1" spc="2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number:”))</a:t>
            </a:r>
            <a:endParaRPr sz="2200">
              <a:latin typeface="Calibri"/>
              <a:cs typeface="Calibri"/>
            </a:endParaRPr>
          </a:p>
          <a:p>
            <a:pPr marL="1840864">
              <a:lnSpc>
                <a:spcPct val="100000"/>
              </a:lnSpc>
              <a:spcBef>
                <a:spcPts val="220"/>
              </a:spcBef>
            </a:pPr>
            <a:r>
              <a:rPr sz="2200" b="1" dirty="0">
                <a:latin typeface="Calibri"/>
                <a:cs typeface="Calibri"/>
              </a:rPr>
              <a:t>if</a:t>
            </a:r>
            <a:r>
              <a:rPr sz="2200" b="1" spc="-10" dirty="0">
                <a:latin typeface="Calibri"/>
                <a:cs typeface="Calibri"/>
              </a:rPr>
              <a:t> i_num&lt;number:</a:t>
            </a:r>
            <a:endParaRPr sz="2200">
              <a:latin typeface="Calibri"/>
              <a:cs typeface="Calibri"/>
            </a:endParaRPr>
          </a:p>
          <a:p>
            <a:pPr marL="1840864" marR="2720975" indent="381000">
              <a:lnSpc>
                <a:spcPct val="107700"/>
              </a:lnSpc>
            </a:pPr>
            <a:r>
              <a:rPr sz="2200" b="1" dirty="0">
                <a:latin typeface="Calibri"/>
                <a:cs typeface="Calibri"/>
              </a:rPr>
              <a:t>raise</a:t>
            </a:r>
            <a:r>
              <a:rPr sz="2200" b="1" spc="-90" dirty="0">
                <a:latin typeface="Calibri"/>
                <a:cs typeface="Calibri"/>
              </a:rPr>
              <a:t> </a:t>
            </a:r>
            <a:r>
              <a:rPr sz="2200" b="1" spc="-30" dirty="0">
                <a:latin typeface="Calibri"/>
                <a:cs typeface="Calibri"/>
              </a:rPr>
              <a:t>ValueTooSmallError </a:t>
            </a:r>
            <a:r>
              <a:rPr sz="2200" b="1" dirty="0">
                <a:latin typeface="Calibri"/>
                <a:cs typeface="Calibri"/>
              </a:rPr>
              <a:t>elif</a:t>
            </a:r>
            <a:r>
              <a:rPr sz="2200" b="1" spc="-3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i_num&gt;number:</a:t>
            </a:r>
            <a:endParaRPr sz="2200">
              <a:latin typeface="Calibri"/>
              <a:cs typeface="Calibri"/>
            </a:endParaRPr>
          </a:p>
          <a:p>
            <a:pPr marL="2222500">
              <a:lnSpc>
                <a:spcPct val="100000"/>
              </a:lnSpc>
              <a:spcBef>
                <a:spcPts val="215"/>
              </a:spcBef>
            </a:pPr>
            <a:r>
              <a:rPr sz="2200" b="1" dirty="0">
                <a:latin typeface="Calibri"/>
                <a:cs typeface="Calibri"/>
              </a:rPr>
              <a:t>raise</a:t>
            </a:r>
            <a:r>
              <a:rPr sz="2200" b="1" spc="-9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ValueTooLargeError</a:t>
            </a:r>
            <a:endParaRPr sz="2200">
              <a:latin typeface="Calibri"/>
              <a:cs typeface="Calibri"/>
            </a:endParaRPr>
          </a:p>
          <a:p>
            <a:pPr marL="1840864">
              <a:lnSpc>
                <a:spcPct val="100000"/>
              </a:lnSpc>
              <a:spcBef>
                <a:spcPts val="209"/>
              </a:spcBef>
            </a:pPr>
            <a:r>
              <a:rPr sz="2200" b="1" spc="-10" dirty="0">
                <a:latin typeface="Calibri"/>
                <a:cs typeface="Calibri"/>
              </a:rPr>
              <a:t>break</a:t>
            </a:r>
            <a:endParaRPr sz="2200">
              <a:latin typeface="Calibri"/>
              <a:cs typeface="Calibri"/>
            </a:endParaRPr>
          </a:p>
          <a:p>
            <a:pPr marL="1307465">
              <a:lnSpc>
                <a:spcPct val="100000"/>
              </a:lnSpc>
              <a:spcBef>
                <a:spcPts val="200"/>
              </a:spcBef>
            </a:pPr>
            <a:r>
              <a:rPr sz="2200" b="1" spc="-10" dirty="0">
                <a:latin typeface="Calibri"/>
                <a:cs typeface="Calibri"/>
              </a:rPr>
              <a:t>except</a:t>
            </a:r>
            <a:r>
              <a:rPr sz="2200" b="1" spc="-9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ValueTooSmallError:</a:t>
            </a:r>
            <a:endParaRPr sz="2200">
              <a:latin typeface="Calibri"/>
              <a:cs typeface="Calibri"/>
            </a:endParaRPr>
          </a:p>
          <a:p>
            <a:pPr marL="1307465" marR="5080" indent="952500">
              <a:lnSpc>
                <a:spcPct val="107700"/>
              </a:lnSpc>
              <a:spcBef>
                <a:spcPts val="15"/>
              </a:spcBef>
            </a:pPr>
            <a:r>
              <a:rPr sz="2200" b="1" dirty="0">
                <a:latin typeface="Calibri"/>
                <a:cs typeface="Calibri"/>
              </a:rPr>
              <a:t>print(“This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value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too</a:t>
            </a:r>
            <a:r>
              <a:rPr sz="2200" b="1" spc="-3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small</a:t>
            </a:r>
            <a:r>
              <a:rPr sz="2200" b="1" spc="-5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!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Please</a:t>
            </a:r>
            <a:r>
              <a:rPr sz="2200" b="1" spc="-2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try</a:t>
            </a:r>
            <a:r>
              <a:rPr sz="2200" b="1" spc="-4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again”) except</a:t>
            </a:r>
            <a:r>
              <a:rPr sz="2200" b="1" spc="-9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ValueTooLargeError:</a:t>
            </a:r>
            <a:endParaRPr sz="2200">
              <a:latin typeface="Calibri"/>
              <a:cs typeface="Calibri"/>
            </a:endParaRPr>
          </a:p>
          <a:p>
            <a:pPr marL="926465" marR="110489" indent="1333500">
              <a:lnSpc>
                <a:spcPts val="2860"/>
              </a:lnSpc>
              <a:spcBef>
                <a:spcPts val="80"/>
              </a:spcBef>
            </a:pPr>
            <a:r>
              <a:rPr sz="2200" b="1" dirty="0">
                <a:latin typeface="Calibri"/>
                <a:cs typeface="Calibri"/>
              </a:rPr>
              <a:t>print(“This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value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is</a:t>
            </a:r>
            <a:r>
              <a:rPr sz="2200" b="1" spc="-6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too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large!</a:t>
            </a:r>
            <a:r>
              <a:rPr sz="2200" b="1" spc="-5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Please</a:t>
            </a:r>
            <a:r>
              <a:rPr sz="2200" b="1" spc="-4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try</a:t>
            </a:r>
            <a:r>
              <a:rPr sz="2200" b="1" spc="-60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again”) </a:t>
            </a:r>
            <a:r>
              <a:rPr sz="2200" b="1" spc="-25" dirty="0">
                <a:latin typeface="Calibri"/>
                <a:cs typeface="Calibri"/>
              </a:rPr>
              <a:t>print(“Congratulations…You</a:t>
            </a:r>
            <a:r>
              <a:rPr sz="2200" b="1" spc="10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guesses</a:t>
            </a:r>
            <a:r>
              <a:rPr sz="2200" b="1" spc="-15" dirty="0">
                <a:latin typeface="Calibri"/>
                <a:cs typeface="Calibri"/>
              </a:rPr>
              <a:t> </a:t>
            </a:r>
            <a:r>
              <a:rPr sz="2200" b="1" dirty="0">
                <a:latin typeface="Calibri"/>
                <a:cs typeface="Calibri"/>
              </a:rPr>
              <a:t>it</a:t>
            </a:r>
            <a:r>
              <a:rPr sz="2200" b="1" spc="-25" dirty="0">
                <a:latin typeface="Calibri"/>
                <a:cs typeface="Calibri"/>
              </a:rPr>
              <a:t> </a:t>
            </a:r>
            <a:r>
              <a:rPr sz="2200" b="1" spc="-10" dirty="0">
                <a:latin typeface="Calibri"/>
                <a:cs typeface="Calibri"/>
              </a:rPr>
              <a:t>correctly”)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Logging</a:t>
            </a:r>
            <a:r>
              <a:rPr spc="-45" dirty="0"/>
              <a:t> </a:t>
            </a:r>
            <a:r>
              <a:rPr dirty="0"/>
              <a:t>the</a:t>
            </a:r>
            <a:r>
              <a:rPr spc="-204" dirty="0"/>
              <a:t> </a:t>
            </a:r>
            <a:r>
              <a:rPr spc="-10" dirty="0"/>
              <a:t>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4859" y="1538096"/>
            <a:ext cx="9949180" cy="462597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241300" marR="5080" indent="-229235">
              <a:lnSpc>
                <a:spcPts val="2300"/>
              </a:lnSpc>
              <a:spcBef>
                <a:spcPts val="660"/>
              </a:spcBef>
              <a:buChar char="•"/>
              <a:tabLst>
                <a:tab pos="241935" algn="l"/>
              </a:tabLst>
            </a:pPr>
            <a:r>
              <a:rPr sz="2400" dirty="0">
                <a:latin typeface="Arial MT"/>
                <a:cs typeface="Arial MT"/>
              </a:rPr>
              <a:t>Logging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means 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tracking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events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happen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when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some</a:t>
            </a:r>
            <a:r>
              <a:rPr sz="2400" spc="-10" dirty="0">
                <a:latin typeface="Arial MT"/>
                <a:cs typeface="Arial MT"/>
              </a:rPr>
              <a:t> software runs.</a:t>
            </a:r>
            <a:endParaRPr sz="2400">
              <a:latin typeface="Arial MT"/>
              <a:cs typeface="Arial MT"/>
            </a:endParaRPr>
          </a:p>
          <a:p>
            <a:pPr marL="324485" indent="-312420">
              <a:lnSpc>
                <a:spcPct val="100000"/>
              </a:lnSpc>
              <a:spcBef>
                <a:spcPts val="445"/>
              </a:spcBef>
              <a:buChar char="•"/>
              <a:tabLst>
                <a:tab pos="324485" algn="l"/>
                <a:tab pos="325755" algn="l"/>
              </a:tabLst>
            </a:pPr>
            <a:r>
              <a:rPr sz="2400" dirty="0">
                <a:latin typeface="Arial MT"/>
                <a:cs typeface="Arial MT"/>
              </a:rPr>
              <a:t>Logging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is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important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software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developing,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debugging,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running.</a:t>
            </a:r>
            <a:endParaRPr sz="2400">
              <a:latin typeface="Arial MT"/>
              <a:cs typeface="Arial MT"/>
            </a:endParaRPr>
          </a:p>
          <a:p>
            <a:pPr marL="241300" marR="109220" indent="-229235">
              <a:lnSpc>
                <a:spcPts val="2300"/>
              </a:lnSpc>
              <a:spcBef>
                <a:spcPts val="980"/>
              </a:spcBef>
              <a:buChar char="•"/>
              <a:tabLst>
                <a:tab pos="241935" algn="l"/>
              </a:tabLst>
            </a:pPr>
            <a:r>
              <a:rPr sz="2400" spc="-114" dirty="0">
                <a:latin typeface="Arial MT"/>
                <a:cs typeface="Arial MT"/>
              </a:rPr>
              <a:t>To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 an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exception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in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Python we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use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b="1" dirty="0">
                <a:latin typeface="Arial"/>
                <a:cs typeface="Arial"/>
              </a:rPr>
              <a:t>logging</a:t>
            </a:r>
            <a:r>
              <a:rPr sz="2400" b="1" spc="-45" dirty="0">
                <a:latin typeface="Arial"/>
                <a:cs typeface="Arial"/>
              </a:rPr>
              <a:t> </a:t>
            </a:r>
            <a:r>
              <a:rPr sz="2400" dirty="0">
                <a:latin typeface="Arial MT"/>
                <a:cs typeface="Arial MT"/>
              </a:rPr>
              <a:t>module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through </a:t>
            </a:r>
            <a:r>
              <a:rPr sz="2400" dirty="0">
                <a:latin typeface="Arial MT"/>
                <a:cs typeface="Arial MT"/>
              </a:rPr>
              <a:t>that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we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can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log the </a:t>
            </a:r>
            <a:r>
              <a:rPr sz="2400" spc="-10" dirty="0">
                <a:latin typeface="Arial MT"/>
                <a:cs typeface="Arial MT"/>
              </a:rPr>
              <a:t>error.</a:t>
            </a:r>
            <a:endParaRPr sz="2400">
              <a:latin typeface="Arial MT"/>
              <a:cs typeface="Arial MT"/>
            </a:endParaRPr>
          </a:p>
          <a:p>
            <a:pPr marL="241300" marR="390525" indent="-229235">
              <a:lnSpc>
                <a:spcPts val="2300"/>
              </a:lnSpc>
              <a:spcBef>
                <a:spcPts val="1015"/>
              </a:spcBef>
              <a:buChar char="•"/>
              <a:tabLst>
                <a:tab pos="241935" algn="l"/>
              </a:tabLst>
            </a:pPr>
            <a:r>
              <a:rPr sz="2400" dirty="0">
                <a:latin typeface="Arial MT"/>
                <a:cs typeface="Arial MT"/>
              </a:rPr>
              <a:t>Logging</a:t>
            </a:r>
            <a:r>
              <a:rPr sz="2400" spc="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module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provides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</a:t>
            </a:r>
            <a:r>
              <a:rPr sz="2400" spc="-2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set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functions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for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simple logging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and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for </a:t>
            </a:r>
            <a:r>
              <a:rPr sz="2400" dirty="0">
                <a:latin typeface="Arial MT"/>
                <a:cs typeface="Arial MT"/>
              </a:rPr>
              <a:t>following </a:t>
            </a:r>
            <a:r>
              <a:rPr sz="2400" spc="-10" dirty="0">
                <a:latin typeface="Arial MT"/>
                <a:cs typeface="Arial MT"/>
              </a:rPr>
              <a:t>purposes</a:t>
            </a:r>
            <a:endParaRPr sz="2400">
              <a:latin typeface="Arial MT"/>
              <a:cs typeface="Arial MT"/>
            </a:endParaRPr>
          </a:p>
          <a:p>
            <a:pPr marL="1536700" lvl="1" indent="-229235">
              <a:lnSpc>
                <a:spcPct val="100000"/>
              </a:lnSpc>
              <a:spcBef>
                <a:spcPts val="450"/>
              </a:spcBef>
              <a:buChar char="•"/>
              <a:tabLst>
                <a:tab pos="1537335" algn="l"/>
              </a:tabLst>
            </a:pPr>
            <a:r>
              <a:rPr sz="2400" spc="-10" dirty="0">
                <a:latin typeface="Arial MT"/>
                <a:cs typeface="Arial MT"/>
              </a:rPr>
              <a:t>DEBUG</a:t>
            </a:r>
            <a:endParaRPr sz="2400">
              <a:latin typeface="Arial MT"/>
              <a:cs typeface="Arial MT"/>
            </a:endParaRPr>
          </a:p>
          <a:p>
            <a:pPr marL="1536700" lvl="1" indent="-229235">
              <a:lnSpc>
                <a:spcPct val="100000"/>
              </a:lnSpc>
              <a:spcBef>
                <a:spcPts val="420"/>
              </a:spcBef>
              <a:buChar char="•"/>
              <a:tabLst>
                <a:tab pos="1537335" algn="l"/>
              </a:tabLst>
            </a:pPr>
            <a:r>
              <a:rPr sz="2400" spc="-20" dirty="0">
                <a:latin typeface="Arial MT"/>
                <a:cs typeface="Arial MT"/>
              </a:rPr>
              <a:t>INFO</a:t>
            </a:r>
            <a:endParaRPr sz="2400">
              <a:latin typeface="Arial MT"/>
              <a:cs typeface="Arial MT"/>
            </a:endParaRPr>
          </a:p>
          <a:p>
            <a:pPr marL="1536700" lvl="1" indent="-229235">
              <a:lnSpc>
                <a:spcPct val="100000"/>
              </a:lnSpc>
              <a:spcBef>
                <a:spcPts val="430"/>
              </a:spcBef>
              <a:buChar char="•"/>
              <a:tabLst>
                <a:tab pos="1537335" algn="l"/>
              </a:tabLst>
            </a:pPr>
            <a:r>
              <a:rPr sz="2400" spc="-10" dirty="0">
                <a:latin typeface="Arial MT"/>
                <a:cs typeface="Arial MT"/>
              </a:rPr>
              <a:t>WARNING</a:t>
            </a:r>
            <a:endParaRPr sz="2400">
              <a:latin typeface="Arial MT"/>
              <a:cs typeface="Arial MT"/>
            </a:endParaRPr>
          </a:p>
          <a:p>
            <a:pPr marL="1536700" lvl="1" indent="-229235">
              <a:lnSpc>
                <a:spcPct val="100000"/>
              </a:lnSpc>
              <a:spcBef>
                <a:spcPts val="420"/>
              </a:spcBef>
              <a:buChar char="•"/>
              <a:tabLst>
                <a:tab pos="1537335" algn="l"/>
              </a:tabLst>
            </a:pPr>
            <a:r>
              <a:rPr sz="2400" spc="-10" dirty="0">
                <a:latin typeface="Arial MT"/>
                <a:cs typeface="Arial MT"/>
              </a:rPr>
              <a:t>ERROR</a:t>
            </a:r>
            <a:endParaRPr sz="2400">
              <a:latin typeface="Arial MT"/>
              <a:cs typeface="Arial MT"/>
            </a:endParaRPr>
          </a:p>
          <a:p>
            <a:pPr marL="1536700" lvl="1" indent="-229235">
              <a:lnSpc>
                <a:spcPct val="100000"/>
              </a:lnSpc>
              <a:spcBef>
                <a:spcPts val="420"/>
              </a:spcBef>
              <a:buChar char="•"/>
              <a:tabLst>
                <a:tab pos="1537335" algn="l"/>
              </a:tabLst>
            </a:pPr>
            <a:r>
              <a:rPr sz="2400" spc="-10" dirty="0">
                <a:latin typeface="Arial MT"/>
                <a:cs typeface="Arial MT"/>
              </a:rPr>
              <a:t>CRITICAL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981"/>
            <a:ext cx="55784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latin typeface="Constantia"/>
                <a:cs typeface="Constantia"/>
              </a:rPr>
              <a:t>Logging</a:t>
            </a:r>
            <a:r>
              <a:rPr b="0" spc="-30" dirty="0">
                <a:latin typeface="Constantia"/>
                <a:cs typeface="Constantia"/>
              </a:rPr>
              <a:t> </a:t>
            </a:r>
            <a:r>
              <a:rPr b="0" dirty="0">
                <a:latin typeface="Constantia"/>
                <a:cs typeface="Constantia"/>
              </a:rPr>
              <a:t>the</a:t>
            </a:r>
            <a:r>
              <a:rPr b="0" spc="-220" dirty="0">
                <a:latin typeface="Constantia"/>
                <a:cs typeface="Constantia"/>
              </a:rPr>
              <a:t> </a:t>
            </a:r>
            <a:r>
              <a:rPr b="0" spc="-10" dirty="0">
                <a:latin typeface="Constantia"/>
                <a:cs typeface="Constantia"/>
              </a:rPr>
              <a:t>exceptions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7210"/>
            <a:ext cx="10123170" cy="2870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431800" indent="-229235">
              <a:lnSpc>
                <a:spcPts val="3020"/>
              </a:lnSpc>
              <a:spcBef>
                <a:spcPts val="48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Arial MT"/>
                <a:cs typeface="Arial MT"/>
              </a:rPr>
              <a:t>Logging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exception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python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error</a:t>
            </a:r>
            <a:r>
              <a:rPr sz="2800" spc="-4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done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25" dirty="0">
                <a:latin typeface="Arial MT"/>
                <a:cs typeface="Arial MT"/>
              </a:rPr>
              <a:t>in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b="1" spc="-10" dirty="0">
                <a:latin typeface="Arial"/>
                <a:cs typeface="Arial"/>
              </a:rPr>
              <a:t>logging.exception() </a:t>
            </a:r>
            <a:r>
              <a:rPr sz="2800" spc="-10" dirty="0">
                <a:latin typeface="Arial MT"/>
                <a:cs typeface="Arial MT"/>
              </a:rPr>
              <a:t>method.</a:t>
            </a:r>
            <a:endParaRPr sz="28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620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function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logs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message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with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level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ERROR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logger.</a:t>
            </a:r>
            <a:endParaRPr sz="2800">
              <a:latin typeface="Arial MT"/>
              <a:cs typeface="Arial MT"/>
            </a:endParaRPr>
          </a:p>
          <a:p>
            <a:pPr marL="241300" indent="-229235">
              <a:lnSpc>
                <a:spcPct val="100000"/>
              </a:lnSpc>
              <a:spcBef>
                <a:spcPts val="675"/>
              </a:spcBef>
              <a:buChar char="•"/>
              <a:tabLst>
                <a:tab pos="241935" algn="l"/>
              </a:tabLst>
            </a:pP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arguments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are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interpreted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for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debug().</a:t>
            </a:r>
            <a:endParaRPr sz="2800">
              <a:latin typeface="Arial MT"/>
              <a:cs typeface="Arial MT"/>
            </a:endParaRPr>
          </a:p>
          <a:p>
            <a:pPr marL="340360" indent="-328295">
              <a:lnSpc>
                <a:spcPct val="100000"/>
              </a:lnSpc>
              <a:spcBef>
                <a:spcPts val="660"/>
              </a:spcBef>
              <a:buChar char="•"/>
              <a:tabLst>
                <a:tab pos="340360" algn="l"/>
                <a:tab pos="340995" algn="l"/>
              </a:tabLst>
            </a:pPr>
            <a:r>
              <a:rPr sz="2800" dirty="0">
                <a:latin typeface="Arial MT"/>
                <a:cs typeface="Arial MT"/>
              </a:rPr>
              <a:t>Exception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info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is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added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6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the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logging</a:t>
            </a:r>
            <a:r>
              <a:rPr sz="2800" spc="-45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message.</a:t>
            </a:r>
            <a:endParaRPr sz="2800">
              <a:latin typeface="Arial MT"/>
              <a:cs typeface="Arial MT"/>
            </a:endParaRPr>
          </a:p>
          <a:p>
            <a:pPr marL="332740" indent="-320675">
              <a:lnSpc>
                <a:spcPct val="100000"/>
              </a:lnSpc>
              <a:spcBef>
                <a:spcPts val="590"/>
              </a:spcBef>
              <a:buChar char="•"/>
              <a:tabLst>
                <a:tab pos="332740" algn="l"/>
                <a:tab pos="333375" algn="l"/>
              </a:tabLst>
            </a:pPr>
            <a:r>
              <a:rPr sz="2800" dirty="0">
                <a:latin typeface="Arial MT"/>
                <a:cs typeface="Arial MT"/>
              </a:rPr>
              <a:t>This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method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should</a:t>
            </a:r>
            <a:r>
              <a:rPr sz="2800" spc="-5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only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be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called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from</a:t>
            </a:r>
            <a:r>
              <a:rPr sz="2800" spc="-5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an</a:t>
            </a:r>
            <a:r>
              <a:rPr sz="2800" spc="-6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exception</a:t>
            </a:r>
            <a:r>
              <a:rPr sz="2800" spc="-70" dirty="0">
                <a:latin typeface="Arial MT"/>
                <a:cs typeface="Arial MT"/>
              </a:rPr>
              <a:t> </a:t>
            </a:r>
            <a:r>
              <a:rPr sz="2800" spc="-10" dirty="0">
                <a:latin typeface="Arial MT"/>
                <a:cs typeface="Arial MT"/>
              </a:rPr>
              <a:t>handler.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24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56361"/>
            <a:ext cx="13049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0" spc="-25" dirty="0">
                <a:solidFill>
                  <a:srgbClr val="C00000"/>
                </a:solidFill>
                <a:latin typeface="Calibri Light"/>
                <a:cs typeface="Calibri Light"/>
              </a:rPr>
              <a:t>Example: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60398" y="955294"/>
            <a:ext cx="9384030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8200"/>
                </a:solidFill>
                <a:latin typeface="Consolas"/>
                <a:cs typeface="Consolas"/>
              </a:rPr>
              <a:t>#</a:t>
            </a:r>
            <a:r>
              <a:rPr sz="2000" b="1" spc="-10" dirty="0">
                <a:solidFill>
                  <a:srgbClr val="0082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8200"/>
                </a:solidFill>
                <a:latin typeface="Consolas"/>
                <a:cs typeface="Consolas"/>
              </a:rPr>
              <a:t>importing</a:t>
            </a:r>
            <a:r>
              <a:rPr sz="2000" b="1" spc="-20" dirty="0">
                <a:solidFill>
                  <a:srgbClr val="008200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8200"/>
                </a:solidFill>
                <a:latin typeface="Consolas"/>
                <a:cs typeface="Consolas"/>
              </a:rPr>
              <a:t>the</a:t>
            </a:r>
            <a:r>
              <a:rPr sz="2000" b="1" spc="-5" dirty="0">
                <a:solidFill>
                  <a:srgbClr val="008200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8200"/>
                </a:solidFill>
                <a:latin typeface="Consolas"/>
                <a:cs typeface="Consolas"/>
              </a:rPr>
              <a:t>module</a:t>
            </a:r>
            <a:endParaRPr sz="20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solidFill>
                  <a:srgbClr val="006699"/>
                </a:solidFill>
                <a:latin typeface="Consolas"/>
                <a:cs typeface="Consolas"/>
              </a:rPr>
              <a:t>import</a:t>
            </a:r>
            <a:r>
              <a:rPr sz="2000" b="1" spc="-20" dirty="0">
                <a:solidFill>
                  <a:srgbClr val="006699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latin typeface="Consolas"/>
                <a:cs typeface="Consolas"/>
              </a:rPr>
              <a:t>logging</a:t>
            </a:r>
            <a:endParaRPr sz="2000">
              <a:latin typeface="Consolas"/>
              <a:cs typeface="Consolas"/>
            </a:endParaRPr>
          </a:p>
          <a:p>
            <a:pPr>
              <a:lnSpc>
                <a:spcPct val="100000"/>
              </a:lnSpc>
            </a:pPr>
            <a:endParaRPr sz="20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sz="2000" b="1" spc="-20" dirty="0">
                <a:solidFill>
                  <a:srgbClr val="006699"/>
                </a:solidFill>
                <a:latin typeface="Consolas"/>
                <a:cs typeface="Consolas"/>
              </a:rPr>
              <a:t>try</a:t>
            </a:r>
            <a:r>
              <a:rPr sz="2000" b="1" spc="-20" dirty="0">
                <a:latin typeface="Consolas"/>
                <a:cs typeface="Consolas"/>
              </a:rPr>
              <a:t>:</a:t>
            </a:r>
            <a:endParaRPr sz="2000">
              <a:latin typeface="Consolas"/>
              <a:cs typeface="Consolas"/>
            </a:endParaRPr>
          </a:p>
          <a:p>
            <a:pPr marL="12700" marR="5310505" indent="558800">
              <a:lnSpc>
                <a:spcPct val="100000"/>
              </a:lnSpc>
            </a:pPr>
            <a:r>
              <a:rPr sz="2000" b="1" dirty="0">
                <a:latin typeface="Consolas"/>
                <a:cs typeface="Consolas"/>
              </a:rPr>
              <a:t>printf(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“Good</a:t>
            </a:r>
            <a:r>
              <a:rPr sz="2000" b="1" spc="-4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Morning"</a:t>
            </a:r>
            <a:r>
              <a:rPr sz="2000" b="1" spc="-10" dirty="0">
                <a:latin typeface="Consolas"/>
                <a:cs typeface="Consolas"/>
              </a:rPr>
              <a:t>) </a:t>
            </a:r>
            <a:r>
              <a:rPr sz="2000" b="1" dirty="0">
                <a:solidFill>
                  <a:srgbClr val="006699"/>
                </a:solidFill>
                <a:latin typeface="Consolas"/>
                <a:cs typeface="Consolas"/>
              </a:rPr>
              <a:t>except</a:t>
            </a:r>
            <a:r>
              <a:rPr sz="2000" b="1" spc="-35" dirty="0">
                <a:solidFill>
                  <a:srgbClr val="006699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Exception</a:t>
            </a:r>
            <a:r>
              <a:rPr sz="2000" b="1" spc="-10" dirty="0">
                <a:latin typeface="Consolas"/>
                <a:cs typeface="Consolas"/>
              </a:rPr>
              <a:t> </a:t>
            </a:r>
            <a:r>
              <a:rPr sz="2000" b="1" dirty="0">
                <a:latin typeface="Consolas"/>
                <a:cs typeface="Consolas"/>
              </a:rPr>
              <a:t>as</a:t>
            </a:r>
            <a:r>
              <a:rPr sz="2000" b="1" spc="-10" dirty="0">
                <a:latin typeface="Consolas"/>
                <a:cs typeface="Consolas"/>
              </a:rPr>
              <a:t> Argument:</a:t>
            </a:r>
            <a:endParaRPr sz="2000">
              <a:latin typeface="Consolas"/>
              <a:cs typeface="Consolas"/>
            </a:endParaRPr>
          </a:p>
          <a:p>
            <a:pPr marL="571500">
              <a:lnSpc>
                <a:spcPct val="100000"/>
              </a:lnSpc>
            </a:pPr>
            <a:r>
              <a:rPr sz="2000" b="1" dirty="0">
                <a:latin typeface="Consolas"/>
                <a:cs typeface="Consolas"/>
              </a:rPr>
              <a:t>logging.exception(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"Error</a:t>
            </a:r>
            <a:r>
              <a:rPr sz="20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occurred</a:t>
            </a:r>
            <a:r>
              <a:rPr sz="2000" b="1" spc="-4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while</a:t>
            </a:r>
            <a:r>
              <a:rPr sz="2000" b="1" spc="-5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printing</a:t>
            </a:r>
            <a:r>
              <a:rPr sz="2000" b="1" spc="-35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dirty="0">
                <a:solidFill>
                  <a:srgbClr val="0000FF"/>
                </a:solidFill>
                <a:latin typeface="Consolas"/>
                <a:cs typeface="Consolas"/>
              </a:rPr>
              <a:t>Good</a:t>
            </a:r>
            <a:r>
              <a:rPr sz="2000" b="1" spc="-30" dirty="0">
                <a:solidFill>
                  <a:srgbClr val="0000FF"/>
                </a:solidFill>
                <a:latin typeface="Consolas"/>
                <a:cs typeface="Consolas"/>
              </a:rPr>
              <a:t> </a:t>
            </a:r>
            <a:r>
              <a:rPr sz="2000" b="1" spc="-10" dirty="0">
                <a:solidFill>
                  <a:srgbClr val="0000FF"/>
                </a:solidFill>
                <a:latin typeface="Consolas"/>
                <a:cs typeface="Consolas"/>
              </a:rPr>
              <a:t>Morning"</a:t>
            </a:r>
            <a:r>
              <a:rPr sz="2000" b="1" spc="-10" dirty="0">
                <a:latin typeface="Consolas"/>
                <a:cs typeface="Consolas"/>
              </a:rPr>
              <a:t>)</a:t>
            </a:r>
            <a:endParaRPr sz="20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B089790-F4B6-46A7-BB28-7B74A9A9EF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rectangular sign with blue text&#10;&#10;Description automatically generated">
            <a:extLst>
              <a:ext uri="{FF2B5EF4-FFF2-40B4-BE49-F238E27FC236}">
                <a16:creationId xmlns:a16="http://schemas.microsoft.com/office/drawing/2014/main" id="{CC37BE25-7973-C5B7-0AB4-680BE7F52C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6" b="10209"/>
          <a:stretch/>
        </p:blipFill>
        <p:spPr>
          <a:xfrm>
            <a:off x="-1" y="1"/>
            <a:ext cx="12192000" cy="524110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9DE3F54D-33BC-4382-A2AB-5E002F0F1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5029199"/>
            <a:ext cx="12228128" cy="1828800"/>
            <a:chOff x="-305" y="2987478"/>
            <a:chExt cx="12188952" cy="18288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798451A-4EC8-4869-8DFB-BCE4E00BE5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2987478"/>
              <a:ext cx="12188952" cy="1099712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0ECD12F-47FF-48FE-A827-069775A8AD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99381"/>
              <a:ext cx="12188952" cy="902694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8928757-970C-4B99-9F9C-0C07E4A945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01488"/>
              <a:ext cx="12188952" cy="641669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 useBgFill="1"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13505B-6136-49EC-951C-1FDA2A6C5B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14750"/>
              <a:ext cx="12188952" cy="1201528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7" name="Picture 6" descr="A black and red text&#10;&#10;Description automatically generated">
            <a:extLst>
              <a:ext uri="{FF2B5EF4-FFF2-40B4-BE49-F238E27FC236}">
                <a16:creationId xmlns:a16="http://schemas.microsoft.com/office/drawing/2014/main" id="{641E6808-A745-C673-F522-DFAEEA2ADF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0" y="6431018"/>
            <a:ext cx="3607698" cy="426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537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888888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1323</Words>
  <Application>Microsoft Office PowerPoint</Application>
  <PresentationFormat>Widescreen</PresentationFormat>
  <Paragraphs>177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MT</vt:lpstr>
      <vt:lpstr>Calibri</vt:lpstr>
      <vt:lpstr>Calibri Light</vt:lpstr>
      <vt:lpstr>Consolas</vt:lpstr>
      <vt:lpstr>Constantia</vt:lpstr>
      <vt:lpstr>Times New Roman</vt:lpstr>
      <vt:lpstr>Verdana</vt:lpstr>
      <vt:lpstr>Office Theme</vt:lpstr>
      <vt:lpstr>PowerPoint Presentation</vt:lpstr>
      <vt:lpstr>Python Exception handling</vt:lpstr>
      <vt:lpstr>Python Errors and Exceptions</vt:lpstr>
      <vt:lpstr>PowerPoint Presentation</vt:lpstr>
      <vt:lpstr>PowerPoint Presentation</vt:lpstr>
      <vt:lpstr>Python Exception Handling</vt:lpstr>
      <vt:lpstr>Python Exception Handling</vt:lpstr>
      <vt:lpstr>PowerPoint Presentation</vt:lpstr>
      <vt:lpstr>Example: try:</vt:lpstr>
      <vt:lpstr>Except clause with multiple exceptions</vt:lpstr>
      <vt:lpstr>try......finally</vt:lpstr>
      <vt:lpstr>Example:</vt:lpstr>
      <vt:lpstr>Some of the common in-built exceptions are as follows:</vt:lpstr>
      <vt:lpstr>Python - Assert Statement</vt:lpstr>
      <vt:lpstr>PowerPoint Presentation</vt:lpstr>
      <vt:lpstr>Python Program for User-defined Exception Handling: class YourException(Exception): def  init (self, message): self.message = message</vt:lpstr>
      <vt:lpstr>User-defined Exception Handling:</vt:lpstr>
      <vt:lpstr>PowerPoint Presentation</vt:lpstr>
      <vt:lpstr>Logging the exceptions</vt:lpstr>
      <vt:lpstr>Logging the exceptions</vt:lpstr>
      <vt:lpstr>Example: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kamal korlakunta</cp:lastModifiedBy>
  <cp:revision>1</cp:revision>
  <dcterms:created xsi:type="dcterms:W3CDTF">2023-10-02T16:48:21Z</dcterms:created>
  <dcterms:modified xsi:type="dcterms:W3CDTF">2023-10-02T16:58:03Z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2022-04-06T00:00:00Z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2023-10-02T00:00:00Z</vt:filetime>
  </property>
  <property fmtid="{D5CDD505-2E9C-101B-9397-08002B2CF9AE}" pid="5" name="Producer">
    <vt:lpwstr>Microsoft® PowerPoint® 2013</vt:lpwstr>
  </property>
</Properties>
</file>