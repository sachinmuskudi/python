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6.jpg" ContentType="image/jpg"/>
  <Override PartName="/ppt/media/image7.jpg" ContentType="image/jpg"/>
  <Override PartName="/ppt/media/image8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4" r:id="rId4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24B0E1-890C-4116-B7D2-C3CBEE9510A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56B7664-42E2-4C8A-A63B-009313404D24}">
      <dgm:prSet/>
      <dgm:spPr/>
      <dgm:t>
        <a:bodyPr/>
        <a:lstStyle/>
        <a:p>
          <a:r>
            <a:rPr lang="en-US"/>
            <a:t>Matplotlib is an amazing visualization library in Python for 2D plots of  arrays</a:t>
          </a:r>
        </a:p>
      </dgm:t>
    </dgm:pt>
    <dgm:pt modelId="{E5442640-106F-4EDF-91A9-E9B6EF00CC6C}" type="parTrans" cxnId="{D169875A-CB97-44A1-A539-34EBE4366627}">
      <dgm:prSet/>
      <dgm:spPr/>
      <dgm:t>
        <a:bodyPr/>
        <a:lstStyle/>
        <a:p>
          <a:endParaRPr lang="en-US"/>
        </a:p>
      </dgm:t>
    </dgm:pt>
    <dgm:pt modelId="{510C0824-6BAC-4962-A340-7495CBBA6B35}" type="sibTrans" cxnId="{D169875A-CB97-44A1-A539-34EBE4366627}">
      <dgm:prSet/>
      <dgm:spPr/>
      <dgm:t>
        <a:bodyPr/>
        <a:lstStyle/>
        <a:p>
          <a:endParaRPr lang="en-US"/>
        </a:p>
      </dgm:t>
    </dgm:pt>
    <dgm:pt modelId="{E9866BCE-E4F0-4920-A28E-A019068F8D6C}">
      <dgm:prSet/>
      <dgm:spPr/>
      <dgm:t>
        <a:bodyPr/>
        <a:lstStyle/>
        <a:p>
          <a:r>
            <a:rPr lang="en-US"/>
            <a:t>Matplotlib is a multi-platform data visualization library built on  NumPy arrays and designed to work with the broader SciPy  stack. It was introduced by John Hunter in the year 2002.</a:t>
          </a:r>
        </a:p>
      </dgm:t>
    </dgm:pt>
    <dgm:pt modelId="{CC7F567F-876B-4C34-8776-67E1CFEBB9EF}" type="parTrans" cxnId="{ABE0C71F-2A46-4C6F-99EC-43DC8BFD8400}">
      <dgm:prSet/>
      <dgm:spPr/>
      <dgm:t>
        <a:bodyPr/>
        <a:lstStyle/>
        <a:p>
          <a:endParaRPr lang="en-US"/>
        </a:p>
      </dgm:t>
    </dgm:pt>
    <dgm:pt modelId="{EB7F3616-94F8-4F76-B471-464D8EA11A6B}" type="sibTrans" cxnId="{ABE0C71F-2A46-4C6F-99EC-43DC8BFD8400}">
      <dgm:prSet/>
      <dgm:spPr/>
      <dgm:t>
        <a:bodyPr/>
        <a:lstStyle/>
        <a:p>
          <a:endParaRPr lang="en-US"/>
        </a:p>
      </dgm:t>
    </dgm:pt>
    <dgm:pt modelId="{E8D4CE96-96F2-4FAD-97A4-FF2B6AAEB5E9}">
      <dgm:prSet/>
      <dgm:spPr/>
      <dgm:t>
        <a:bodyPr/>
        <a:lstStyle/>
        <a:p>
          <a:r>
            <a:rPr lang="en-US"/>
            <a:t>One of the greatest benefits of visualization is that it allows us  visual access to huge amounts of data in easily digestible  visuals.</a:t>
          </a:r>
        </a:p>
      </dgm:t>
    </dgm:pt>
    <dgm:pt modelId="{DD80B155-D880-4C20-A209-6851A2534A9F}" type="parTrans" cxnId="{37FABEEE-66B8-489E-82E1-1E04A5FAA633}">
      <dgm:prSet/>
      <dgm:spPr/>
      <dgm:t>
        <a:bodyPr/>
        <a:lstStyle/>
        <a:p>
          <a:endParaRPr lang="en-US"/>
        </a:p>
      </dgm:t>
    </dgm:pt>
    <dgm:pt modelId="{5AA16D4D-6391-41C1-B02F-8BE525CED8AF}" type="sibTrans" cxnId="{37FABEEE-66B8-489E-82E1-1E04A5FAA633}">
      <dgm:prSet/>
      <dgm:spPr/>
      <dgm:t>
        <a:bodyPr/>
        <a:lstStyle/>
        <a:p>
          <a:endParaRPr lang="en-US"/>
        </a:p>
      </dgm:t>
    </dgm:pt>
    <dgm:pt modelId="{1B9C685C-5DDC-4BC2-9202-535DDB1C779A}">
      <dgm:prSet/>
      <dgm:spPr/>
      <dgm:t>
        <a:bodyPr/>
        <a:lstStyle/>
        <a:p>
          <a:r>
            <a:rPr lang="en-US"/>
            <a:t>Matplotlib consists of several plots like line, bar, scatter,  histogram etc</a:t>
          </a:r>
        </a:p>
      </dgm:t>
    </dgm:pt>
    <dgm:pt modelId="{9CA6E7D6-77E6-46EF-97A4-801016EF8923}" type="parTrans" cxnId="{8022E33E-6D29-45AE-97FB-67F22C3281AB}">
      <dgm:prSet/>
      <dgm:spPr/>
      <dgm:t>
        <a:bodyPr/>
        <a:lstStyle/>
        <a:p>
          <a:endParaRPr lang="en-US"/>
        </a:p>
      </dgm:t>
    </dgm:pt>
    <dgm:pt modelId="{F15C918E-664E-437B-AF24-E20A9F60F6C3}" type="sibTrans" cxnId="{8022E33E-6D29-45AE-97FB-67F22C3281AB}">
      <dgm:prSet/>
      <dgm:spPr/>
      <dgm:t>
        <a:bodyPr/>
        <a:lstStyle/>
        <a:p>
          <a:endParaRPr lang="en-US"/>
        </a:p>
      </dgm:t>
    </dgm:pt>
    <dgm:pt modelId="{2957D66D-B034-4113-A728-D9489CF6B1D5}" type="pres">
      <dgm:prSet presAssocID="{3D24B0E1-890C-4116-B7D2-C3CBEE9510A1}" presName="linear" presStyleCnt="0">
        <dgm:presLayoutVars>
          <dgm:animLvl val="lvl"/>
          <dgm:resizeHandles val="exact"/>
        </dgm:presLayoutVars>
      </dgm:prSet>
      <dgm:spPr/>
    </dgm:pt>
    <dgm:pt modelId="{AED50263-7FBA-4A96-BE6F-C56BE440C3F6}" type="pres">
      <dgm:prSet presAssocID="{A56B7664-42E2-4C8A-A63B-009313404D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DB56F34-4EE5-42F2-8454-77FE71CDF344}" type="pres">
      <dgm:prSet presAssocID="{510C0824-6BAC-4962-A340-7495CBBA6B35}" presName="spacer" presStyleCnt="0"/>
      <dgm:spPr/>
    </dgm:pt>
    <dgm:pt modelId="{E863BDEE-D41B-4D37-AEBE-56D67E1A64D8}" type="pres">
      <dgm:prSet presAssocID="{E9866BCE-E4F0-4920-A28E-A019068F8D6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B73BF41-6F7E-4C0F-AA32-6BE7A05F03AF}" type="pres">
      <dgm:prSet presAssocID="{EB7F3616-94F8-4F76-B471-464D8EA11A6B}" presName="spacer" presStyleCnt="0"/>
      <dgm:spPr/>
    </dgm:pt>
    <dgm:pt modelId="{13F4BA60-305D-43B4-99E1-83A7F32FB703}" type="pres">
      <dgm:prSet presAssocID="{E8D4CE96-96F2-4FAD-97A4-FF2B6AAEB5E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7382BFC-D12D-49FF-B13E-12B555F16EBA}" type="pres">
      <dgm:prSet presAssocID="{E8D4CE96-96F2-4FAD-97A4-FF2B6AAEB5E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BE0C71F-2A46-4C6F-99EC-43DC8BFD8400}" srcId="{3D24B0E1-890C-4116-B7D2-C3CBEE9510A1}" destId="{E9866BCE-E4F0-4920-A28E-A019068F8D6C}" srcOrd="1" destOrd="0" parTransId="{CC7F567F-876B-4C34-8776-67E1CFEBB9EF}" sibTransId="{EB7F3616-94F8-4F76-B471-464D8EA11A6B}"/>
    <dgm:cxn modelId="{463DD02C-C68C-4C31-82EE-4A1BA328C9EC}" type="presOf" srcId="{A56B7664-42E2-4C8A-A63B-009313404D24}" destId="{AED50263-7FBA-4A96-BE6F-C56BE440C3F6}" srcOrd="0" destOrd="0" presId="urn:microsoft.com/office/officeart/2005/8/layout/vList2"/>
    <dgm:cxn modelId="{8022E33E-6D29-45AE-97FB-67F22C3281AB}" srcId="{E8D4CE96-96F2-4FAD-97A4-FF2B6AAEB5E9}" destId="{1B9C685C-5DDC-4BC2-9202-535DDB1C779A}" srcOrd="0" destOrd="0" parTransId="{9CA6E7D6-77E6-46EF-97A4-801016EF8923}" sibTransId="{F15C918E-664E-437B-AF24-E20A9F60F6C3}"/>
    <dgm:cxn modelId="{52271973-E99F-455E-A82B-3486413E8039}" type="presOf" srcId="{E9866BCE-E4F0-4920-A28E-A019068F8D6C}" destId="{E863BDEE-D41B-4D37-AEBE-56D67E1A64D8}" srcOrd="0" destOrd="0" presId="urn:microsoft.com/office/officeart/2005/8/layout/vList2"/>
    <dgm:cxn modelId="{BDEE5A5A-7127-434D-99C5-5123DEAC44CE}" type="presOf" srcId="{1B9C685C-5DDC-4BC2-9202-535DDB1C779A}" destId="{D7382BFC-D12D-49FF-B13E-12B555F16EBA}" srcOrd="0" destOrd="0" presId="urn:microsoft.com/office/officeart/2005/8/layout/vList2"/>
    <dgm:cxn modelId="{D169875A-CB97-44A1-A539-34EBE4366627}" srcId="{3D24B0E1-890C-4116-B7D2-C3CBEE9510A1}" destId="{A56B7664-42E2-4C8A-A63B-009313404D24}" srcOrd="0" destOrd="0" parTransId="{E5442640-106F-4EDF-91A9-E9B6EF00CC6C}" sibTransId="{510C0824-6BAC-4962-A340-7495CBBA6B35}"/>
    <dgm:cxn modelId="{44800487-8C25-4C29-B888-DDF9DA038793}" type="presOf" srcId="{E8D4CE96-96F2-4FAD-97A4-FF2B6AAEB5E9}" destId="{13F4BA60-305D-43B4-99E1-83A7F32FB703}" srcOrd="0" destOrd="0" presId="urn:microsoft.com/office/officeart/2005/8/layout/vList2"/>
    <dgm:cxn modelId="{179DA289-811D-4E57-A05B-EBE4DA7540C8}" type="presOf" srcId="{3D24B0E1-890C-4116-B7D2-C3CBEE9510A1}" destId="{2957D66D-B034-4113-A728-D9489CF6B1D5}" srcOrd="0" destOrd="0" presId="urn:microsoft.com/office/officeart/2005/8/layout/vList2"/>
    <dgm:cxn modelId="{37FABEEE-66B8-489E-82E1-1E04A5FAA633}" srcId="{3D24B0E1-890C-4116-B7D2-C3CBEE9510A1}" destId="{E8D4CE96-96F2-4FAD-97A4-FF2B6AAEB5E9}" srcOrd="2" destOrd="0" parTransId="{DD80B155-D880-4C20-A209-6851A2534A9F}" sibTransId="{5AA16D4D-6391-41C1-B02F-8BE525CED8AF}"/>
    <dgm:cxn modelId="{05F4EB5A-35F4-4C09-AADD-E96007277E2E}" type="presParOf" srcId="{2957D66D-B034-4113-A728-D9489CF6B1D5}" destId="{AED50263-7FBA-4A96-BE6F-C56BE440C3F6}" srcOrd="0" destOrd="0" presId="urn:microsoft.com/office/officeart/2005/8/layout/vList2"/>
    <dgm:cxn modelId="{436436DA-2D68-4D18-91B2-8B6A122BEAB0}" type="presParOf" srcId="{2957D66D-B034-4113-A728-D9489CF6B1D5}" destId="{BDB56F34-4EE5-42F2-8454-77FE71CDF344}" srcOrd="1" destOrd="0" presId="urn:microsoft.com/office/officeart/2005/8/layout/vList2"/>
    <dgm:cxn modelId="{92ED208F-C1EA-471C-A160-318F6F2A4A98}" type="presParOf" srcId="{2957D66D-B034-4113-A728-D9489CF6B1D5}" destId="{E863BDEE-D41B-4D37-AEBE-56D67E1A64D8}" srcOrd="2" destOrd="0" presId="urn:microsoft.com/office/officeart/2005/8/layout/vList2"/>
    <dgm:cxn modelId="{18DE0CF1-61C8-44AC-BCC2-5CBCAF1F4242}" type="presParOf" srcId="{2957D66D-B034-4113-A728-D9489CF6B1D5}" destId="{2B73BF41-6F7E-4C0F-AA32-6BE7A05F03AF}" srcOrd="3" destOrd="0" presId="urn:microsoft.com/office/officeart/2005/8/layout/vList2"/>
    <dgm:cxn modelId="{A901691E-E882-4C6F-9503-321CC42F6907}" type="presParOf" srcId="{2957D66D-B034-4113-A728-D9489CF6B1D5}" destId="{13F4BA60-305D-43B4-99E1-83A7F32FB703}" srcOrd="4" destOrd="0" presId="urn:microsoft.com/office/officeart/2005/8/layout/vList2"/>
    <dgm:cxn modelId="{9C1F7CD4-83F7-4AA0-A24D-355E859F5051}" type="presParOf" srcId="{2957D66D-B034-4113-A728-D9489CF6B1D5}" destId="{D7382BFC-D12D-49FF-B13E-12B555F16EB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50263-7FBA-4A96-BE6F-C56BE440C3F6}">
      <dsp:nvSpPr>
        <dsp:cNvPr id="0" name=""/>
        <dsp:cNvSpPr/>
      </dsp:nvSpPr>
      <dsp:spPr>
        <a:xfrm>
          <a:off x="0" y="57936"/>
          <a:ext cx="4977578" cy="10628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Matplotlib is an amazing visualization library in Python for 2D plots of  arrays</a:t>
          </a:r>
        </a:p>
      </dsp:txBody>
      <dsp:txXfrm>
        <a:off x="51885" y="109821"/>
        <a:ext cx="4873808" cy="959101"/>
      </dsp:txXfrm>
    </dsp:sp>
    <dsp:sp modelId="{E863BDEE-D41B-4D37-AEBE-56D67E1A64D8}">
      <dsp:nvSpPr>
        <dsp:cNvPr id="0" name=""/>
        <dsp:cNvSpPr/>
      </dsp:nvSpPr>
      <dsp:spPr>
        <a:xfrm>
          <a:off x="0" y="1164008"/>
          <a:ext cx="4977578" cy="106287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Matplotlib is a multi-platform data visualization library built on  NumPy arrays and designed to work with the broader SciPy  stack. It was introduced by John Hunter in the year 2002.</a:t>
          </a:r>
        </a:p>
      </dsp:txBody>
      <dsp:txXfrm>
        <a:off x="51885" y="1215893"/>
        <a:ext cx="4873808" cy="959101"/>
      </dsp:txXfrm>
    </dsp:sp>
    <dsp:sp modelId="{13F4BA60-305D-43B4-99E1-83A7F32FB703}">
      <dsp:nvSpPr>
        <dsp:cNvPr id="0" name=""/>
        <dsp:cNvSpPr/>
      </dsp:nvSpPr>
      <dsp:spPr>
        <a:xfrm>
          <a:off x="0" y="2270080"/>
          <a:ext cx="4977578" cy="106287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One of the greatest benefits of visualization is that it allows us  visual access to huge amounts of data in easily digestible  visuals.</a:t>
          </a:r>
        </a:p>
      </dsp:txBody>
      <dsp:txXfrm>
        <a:off x="51885" y="2321965"/>
        <a:ext cx="4873808" cy="959101"/>
      </dsp:txXfrm>
    </dsp:sp>
    <dsp:sp modelId="{D7382BFC-D12D-49FF-B13E-12B555F16EBA}">
      <dsp:nvSpPr>
        <dsp:cNvPr id="0" name=""/>
        <dsp:cNvSpPr/>
      </dsp:nvSpPr>
      <dsp:spPr>
        <a:xfrm>
          <a:off x="0" y="3332952"/>
          <a:ext cx="4977578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038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Matplotlib consists of several plots like line, bar, scatter,  histogram etc</a:t>
          </a:r>
        </a:p>
      </dsp:txBody>
      <dsp:txXfrm>
        <a:off x="0" y="3332952"/>
        <a:ext cx="4977578" cy="248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58489" y="1665554"/>
            <a:ext cx="5875020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03273" y="3579367"/>
            <a:ext cx="8585453" cy="720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7889" y="1388447"/>
            <a:ext cx="5321935" cy="4721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EE4A6E-BA0D-C0AA-489E-5BB0F7BE6C8C}"/>
              </a:ext>
            </a:extLst>
          </p:cNvPr>
          <p:cNvSpPr/>
          <p:nvPr userDrawn="1"/>
        </p:nvSpPr>
        <p:spPr>
          <a:xfrm>
            <a:off x="9372600" y="6381750"/>
            <a:ext cx="2804160" cy="476250"/>
          </a:xfrm>
          <a:prstGeom prst="rect">
            <a:avLst/>
          </a:prstGeom>
          <a:blipFill dpi="0" rotWithShape="1">
            <a:blip r:embed="rId7" cstate="print">
              <a:alphaModFix amt="9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0B33B-971A-6FC2-67C7-6C6AB315C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92EC9096-96A8-288B-04D3-C580C137D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33400"/>
            <a:ext cx="10972800" cy="579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6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2221F00F-FC3E-1684-A4B0-B2243DF43B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79" r="14656" b="-2"/>
          <a:stretch/>
        </p:blipFill>
        <p:spPr>
          <a:xfrm>
            <a:off x="-9527" y="3725"/>
            <a:ext cx="5846165" cy="685054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9527" y="-6558"/>
            <a:ext cx="6254832" cy="687476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094105" y="802955"/>
            <a:ext cx="4977976" cy="1454051"/>
          </a:xfrm>
          <a:prstGeom prst="rect">
            <a:avLst/>
          </a:prstGeom>
        </p:spPr>
        <p:txBody>
          <a:bodyPr vert="horz" lIns="0" tIns="116205" rIns="0" bIns="0" rtlCol="0" anchor="b">
            <a:normAutofit/>
          </a:bodyPr>
          <a:lstStyle/>
          <a:p>
            <a:pPr marL="1024255" marR="5080" indent="-1012190">
              <a:spcBef>
                <a:spcPts val="915"/>
              </a:spcBef>
            </a:pPr>
            <a:r>
              <a:rPr lang="en-IN" sz="3600" spc="-10">
                <a:solidFill>
                  <a:schemeClr val="tx2"/>
                </a:solidFill>
              </a:rPr>
              <a:t>INTRODUCTION</a:t>
            </a:r>
            <a:r>
              <a:rPr lang="en-IN" sz="3600" spc="-65">
                <a:solidFill>
                  <a:schemeClr val="tx2"/>
                </a:solidFill>
              </a:rPr>
              <a:t> </a:t>
            </a:r>
            <a:r>
              <a:rPr lang="en-IN" sz="3600" spc="-95">
                <a:solidFill>
                  <a:schemeClr val="tx2"/>
                </a:solidFill>
              </a:rPr>
              <a:t>TO </a:t>
            </a:r>
            <a:r>
              <a:rPr lang="en-IN" sz="3600" spc="-1345">
                <a:solidFill>
                  <a:schemeClr val="tx2"/>
                </a:solidFill>
              </a:rPr>
              <a:t> </a:t>
            </a:r>
            <a:r>
              <a:rPr lang="en-IN" sz="3600" spc="-85">
                <a:solidFill>
                  <a:schemeClr val="tx2"/>
                </a:solidFill>
              </a:rPr>
              <a:t>MATPLOTLIB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919220" marR="5080" indent="-3907154">
              <a:lnSpc>
                <a:spcPts val="2590"/>
              </a:lnSpc>
              <a:spcBef>
                <a:spcPts val="425"/>
              </a:spcBef>
            </a:pPr>
            <a:r>
              <a:rPr spc="-5" dirty="0"/>
              <a:t>Matplotlib </a:t>
            </a:r>
            <a:r>
              <a:rPr dirty="0"/>
              <a:t>is an amazing </a:t>
            </a:r>
            <a:r>
              <a:rPr spc="-10" dirty="0"/>
              <a:t>visualization </a:t>
            </a:r>
            <a:r>
              <a:rPr spc="-5" dirty="0"/>
              <a:t>library </a:t>
            </a:r>
            <a:r>
              <a:rPr dirty="0"/>
              <a:t>in Python </a:t>
            </a:r>
            <a:r>
              <a:rPr spc="-20" dirty="0"/>
              <a:t>for </a:t>
            </a:r>
            <a:r>
              <a:rPr spc="-5" dirty="0"/>
              <a:t>2D plots of </a:t>
            </a:r>
            <a:r>
              <a:rPr spc="-530" dirty="0"/>
              <a:t> </a:t>
            </a:r>
            <a:r>
              <a:rPr spc="-20" dirty="0"/>
              <a:t>arrays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F6D43-974A-339B-951D-CD7C9EDF42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54" r="20581" b="-2"/>
          <a:stretch/>
        </p:blipFill>
        <p:spPr>
          <a:xfrm>
            <a:off x="-9527" y="3725"/>
            <a:ext cx="5846165" cy="685054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9527" y="-6558"/>
            <a:ext cx="6254832" cy="687476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C53A4ABE-EAB8-3AC5-1190-2FD7A86FDA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6442822"/>
              </p:ext>
            </p:extLst>
          </p:nvPr>
        </p:nvGraphicFramePr>
        <p:xfrm>
          <a:off x="6090574" y="2415756"/>
          <a:ext cx="4977578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48533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Importing</a:t>
            </a:r>
            <a:r>
              <a:rPr spc="-130" dirty="0"/>
              <a:t> </a:t>
            </a:r>
            <a:r>
              <a:rPr spc="-35" dirty="0"/>
              <a:t>matplotlib</a:t>
            </a:r>
            <a:r>
              <a:rPr spc="-135" dirty="0"/>
              <a:t> </a:t>
            </a:r>
            <a:r>
              <a:rPr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583819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matplotlib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pyplot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or</a:t>
            </a:r>
            <a:endParaRPr sz="2800">
              <a:latin typeface="Calibri"/>
              <a:cs typeface="Calibri"/>
            </a:endParaRPr>
          </a:p>
          <a:p>
            <a:pPr marL="321945" indent="-30988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sz="2800" spc="-10" dirty="0">
                <a:latin typeface="Calibri"/>
                <a:cs typeface="Calibri"/>
              </a:rPr>
              <a:t>import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matplotlib.pyplot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plt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55714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Basic</a:t>
            </a:r>
            <a:r>
              <a:rPr spc="-90" dirty="0"/>
              <a:t> </a:t>
            </a:r>
            <a:r>
              <a:rPr spc="-25" dirty="0"/>
              <a:t>plots</a:t>
            </a:r>
            <a:r>
              <a:rPr spc="-95" dirty="0"/>
              <a:t> </a:t>
            </a:r>
            <a:r>
              <a:rPr spc="-10" dirty="0"/>
              <a:t>in</a:t>
            </a:r>
            <a:r>
              <a:rPr spc="-80" dirty="0"/>
              <a:t> </a:t>
            </a:r>
            <a:r>
              <a:rPr spc="-40" dirty="0"/>
              <a:t>Matplotlib</a:t>
            </a:r>
            <a:r>
              <a:rPr spc="-95" dirty="0"/>
              <a:t> </a:t>
            </a:r>
            <a:r>
              <a:rPr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167620" cy="19443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Matplotlib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wide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variety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plots.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Plots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helps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understand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trends,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patterns,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make</a:t>
            </a:r>
            <a:r>
              <a:rPr sz="2800" spc="-10" dirty="0">
                <a:latin typeface="Calibri"/>
                <a:cs typeface="Calibri"/>
              </a:rPr>
              <a:t> correlations.</a:t>
            </a:r>
            <a:endParaRPr sz="2800">
              <a:latin typeface="Calibri"/>
              <a:cs typeface="Calibri"/>
            </a:endParaRPr>
          </a:p>
          <a:p>
            <a:pPr marL="241300" marR="927100" indent="-22923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10" dirty="0">
                <a:latin typeface="Calibri"/>
                <a:cs typeface="Calibri"/>
              </a:rPr>
              <a:t>They’re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typically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instruments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reasoning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about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quantitative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information.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1977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20"/>
              <a:t>Line</a:t>
            </a:r>
            <a:r>
              <a:rPr lang="en-IN" spc="-140"/>
              <a:t> </a:t>
            </a:r>
            <a:r>
              <a:rPr lang="en-IN" spc="-25"/>
              <a:t>plot</a:t>
            </a:r>
            <a:r>
              <a:rPr lang="en-IN" spc="-114"/>
              <a:t> </a:t>
            </a:r>
            <a:r>
              <a:rPr lang="en-IN"/>
              <a:t>:</a:t>
            </a:r>
            <a:endParaRPr lang="en-IN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405431"/>
              </p:ext>
            </p:extLst>
          </p:nvPr>
        </p:nvGraphicFramePr>
        <p:xfrm>
          <a:off x="897889" y="1388447"/>
          <a:ext cx="5320664" cy="4721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6272">
                <a:tc gridSpan="2">
                  <a:txBody>
                    <a:bodyPr/>
                    <a:lstStyle/>
                    <a:p>
                      <a:pPr marL="260350" indent="-229235">
                        <a:lnSpc>
                          <a:spcPts val="2215"/>
                        </a:lnSpc>
                        <a:buFont typeface="Arial MT"/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importing</a:t>
                      </a:r>
                      <a:r>
                        <a:rPr sz="20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matplotlib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260350" indent="-229235">
                        <a:lnSpc>
                          <a:spcPct val="100000"/>
                        </a:lnSpc>
                        <a:spcBef>
                          <a:spcPts val="275"/>
                        </a:spcBef>
                        <a:buFont typeface="Arial MT"/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from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matplotlib</a:t>
                      </a:r>
                      <a:r>
                        <a:rPr sz="20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import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215"/>
                        </a:lnSpc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module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pyplot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as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plt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57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14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x-axis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values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x</a:t>
                      </a:r>
                      <a:r>
                        <a:rPr sz="20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[5,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2,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9,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4,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 7]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381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94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Y-axis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values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y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[10,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5,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8,</a:t>
                      </a:r>
                      <a:r>
                        <a:rPr sz="200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4,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2]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381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147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Function</a:t>
                      </a:r>
                      <a:r>
                        <a:rPr sz="20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to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plot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latin typeface="Consolas"/>
                          <a:cs typeface="Consolas"/>
                        </a:rPr>
                        <a:t>plt.plot(x,y)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381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50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#</a:t>
                      </a:r>
                      <a:r>
                        <a:rPr sz="20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function</a:t>
                      </a:r>
                      <a:r>
                        <a:rPr sz="20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to</a:t>
                      </a:r>
                      <a:r>
                        <a:rPr sz="20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dirty="0">
                          <a:latin typeface="Consolas"/>
                          <a:cs typeface="Consolas"/>
                        </a:rPr>
                        <a:t>show</a:t>
                      </a:r>
                      <a:r>
                        <a:rPr sz="2000" spc="-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000" spc="-5" dirty="0">
                          <a:latin typeface="Consolas"/>
                          <a:cs typeface="Consolas"/>
                        </a:rPr>
                        <a:t>the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plt.show()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3810" marB="0"/>
                </a:tc>
                <a:tc gridSpan="3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dirty="0">
                          <a:latin typeface="Consolas"/>
                          <a:cs typeface="Consolas"/>
                        </a:rPr>
                        <a:t>plot</a:t>
                      </a:r>
                      <a:endParaRPr sz="2000">
                        <a:latin typeface="Consolas"/>
                        <a:cs typeface="Consolas"/>
                      </a:endParaRPr>
                    </a:p>
                  </a:txBody>
                  <a:tcPr marL="0" marR="0" marT="38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0332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Bar</a:t>
            </a:r>
            <a:r>
              <a:rPr spc="-110" dirty="0"/>
              <a:t> </a:t>
            </a:r>
            <a:r>
              <a:rPr spc="-25" dirty="0"/>
              <a:t>plot</a:t>
            </a:r>
            <a:r>
              <a:rPr spc="-120" dirty="0"/>
              <a:t> </a:t>
            </a:r>
            <a:r>
              <a:rPr dirty="0"/>
              <a:t>: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7889" y="3487676"/>
          <a:ext cx="3371849" cy="9523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5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430"/>
                        </a:lnSpc>
                        <a:buFont typeface="Arial MT"/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#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Y-axis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430"/>
                        </a:lnSpc>
                      </a:pPr>
                      <a:r>
                        <a:rPr sz="2200" spc="5" dirty="0">
                          <a:latin typeface="Consolas"/>
                          <a:cs typeface="Consolas"/>
                        </a:rPr>
                        <a:t>values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575"/>
                        </a:lnSpc>
                        <a:buFont typeface="Arial MT"/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y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5"/>
                        </a:lnSpc>
                      </a:pPr>
                      <a:r>
                        <a:rPr sz="2200" spc="-5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22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200" dirty="0">
                          <a:latin typeface="Consolas"/>
                          <a:cs typeface="Consolas"/>
                        </a:rPr>
                        <a:t>[10,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75"/>
                        </a:lnSpc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5,</a:t>
                      </a:r>
                      <a:r>
                        <a:rPr sz="22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200" dirty="0">
                          <a:latin typeface="Consolas"/>
                          <a:cs typeface="Consolas"/>
                        </a:rPr>
                        <a:t>8,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5"/>
                        </a:lnSpc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4,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75"/>
                        </a:lnSpc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2]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6939" y="1251689"/>
            <a:ext cx="5796280" cy="50888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onsolas"/>
                <a:cs typeface="Consolas"/>
              </a:rPr>
              <a:t># </a:t>
            </a:r>
            <a:r>
              <a:rPr sz="2200" dirty="0">
                <a:latin typeface="Consolas"/>
                <a:cs typeface="Consolas"/>
              </a:rPr>
              <a:t>importing</a:t>
            </a:r>
            <a:r>
              <a:rPr sz="2200" spc="-10" dirty="0">
                <a:latin typeface="Consolas"/>
                <a:cs typeface="Consolas"/>
              </a:rPr>
              <a:t> </a:t>
            </a:r>
            <a:r>
              <a:rPr sz="2200" spc="-5" dirty="0">
                <a:latin typeface="Consolas"/>
                <a:cs typeface="Consolas"/>
              </a:rPr>
              <a:t>matplotlib</a:t>
            </a:r>
            <a:r>
              <a:rPr sz="2200" dirty="0">
                <a:latin typeface="Consolas"/>
                <a:cs typeface="Consolas"/>
              </a:rPr>
              <a:t> </a:t>
            </a:r>
            <a:r>
              <a:rPr sz="2200" spc="-5" dirty="0">
                <a:latin typeface="Consolas"/>
                <a:cs typeface="Consolas"/>
              </a:rPr>
              <a:t>module</a:t>
            </a:r>
            <a:endParaRPr sz="2200">
              <a:latin typeface="Consolas"/>
              <a:cs typeface="Consolas"/>
            </a:endParaRPr>
          </a:p>
          <a:p>
            <a:pPr marL="241300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onsolas"/>
                <a:cs typeface="Consolas"/>
              </a:rPr>
              <a:t>from</a:t>
            </a:r>
            <a:r>
              <a:rPr sz="2200" dirty="0">
                <a:latin typeface="Consolas"/>
                <a:cs typeface="Consolas"/>
              </a:rPr>
              <a:t> </a:t>
            </a:r>
            <a:r>
              <a:rPr sz="2200" spc="-5" dirty="0">
                <a:latin typeface="Consolas"/>
                <a:cs typeface="Consolas"/>
              </a:rPr>
              <a:t>matplotlib</a:t>
            </a:r>
            <a:r>
              <a:rPr sz="2200" spc="10" dirty="0">
                <a:latin typeface="Consolas"/>
                <a:cs typeface="Consolas"/>
              </a:rPr>
              <a:t> </a:t>
            </a:r>
            <a:r>
              <a:rPr sz="2200" spc="-5" dirty="0">
                <a:latin typeface="Consolas"/>
                <a:cs typeface="Consolas"/>
              </a:rPr>
              <a:t>import</a:t>
            </a:r>
            <a:r>
              <a:rPr sz="2200" spc="5" dirty="0">
                <a:latin typeface="Consolas"/>
                <a:cs typeface="Consolas"/>
              </a:rPr>
              <a:t> </a:t>
            </a:r>
            <a:r>
              <a:rPr sz="2200" spc="-5" dirty="0">
                <a:latin typeface="Consolas"/>
                <a:cs typeface="Consolas"/>
              </a:rPr>
              <a:t>pyplot</a:t>
            </a:r>
            <a:r>
              <a:rPr sz="2200" spc="1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as</a:t>
            </a:r>
            <a:r>
              <a:rPr sz="2200" spc="5" dirty="0">
                <a:latin typeface="Consolas"/>
                <a:cs typeface="Consolas"/>
              </a:rPr>
              <a:t> </a:t>
            </a:r>
            <a:r>
              <a:rPr sz="2200" spc="-5" dirty="0">
                <a:latin typeface="Consolas"/>
                <a:cs typeface="Consolas"/>
              </a:rPr>
              <a:t>plt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spc="-5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onsolas"/>
                <a:cs typeface="Consolas"/>
              </a:rPr>
              <a:t>#</a:t>
            </a:r>
            <a:r>
              <a:rPr sz="2200" spc="-3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x-axis</a:t>
            </a:r>
            <a:r>
              <a:rPr sz="2200" spc="-2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values</a:t>
            </a:r>
            <a:endParaRPr sz="2200">
              <a:latin typeface="Consolas"/>
              <a:cs typeface="Consolas"/>
            </a:endParaRPr>
          </a:p>
          <a:p>
            <a:pPr marL="241300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onsolas"/>
                <a:cs typeface="Consolas"/>
              </a:rPr>
              <a:t>x</a:t>
            </a:r>
            <a:r>
              <a:rPr sz="2200" spc="-10" dirty="0">
                <a:latin typeface="Consolas"/>
                <a:cs typeface="Consolas"/>
              </a:rPr>
              <a:t> </a:t>
            </a:r>
            <a:r>
              <a:rPr sz="2200" spc="-5" dirty="0">
                <a:latin typeface="Consolas"/>
                <a:cs typeface="Consolas"/>
              </a:rPr>
              <a:t>=</a:t>
            </a:r>
            <a:r>
              <a:rPr sz="2200" spc="-1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[5,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2,</a:t>
            </a:r>
            <a:r>
              <a:rPr sz="2200" spc="-1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9,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4,</a:t>
            </a:r>
            <a:r>
              <a:rPr sz="2200" spc="-1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7]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spc="-5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onsolas"/>
                <a:cs typeface="Consolas"/>
              </a:rPr>
              <a:t>#</a:t>
            </a:r>
            <a:r>
              <a:rPr sz="2200" spc="-1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Function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to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plot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the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bar</a:t>
            </a:r>
            <a:endParaRPr sz="2200">
              <a:latin typeface="Consolas"/>
              <a:cs typeface="Consolas"/>
            </a:endParaRPr>
          </a:p>
          <a:p>
            <a:pPr marL="241300" indent="-229235">
              <a:lnSpc>
                <a:spcPct val="100000"/>
              </a:lnSpc>
              <a:spcBef>
                <a:spcPts val="21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onsolas"/>
                <a:cs typeface="Consolas"/>
              </a:rPr>
              <a:t>plt.bar(x,y)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spc="-5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onsolas"/>
                <a:cs typeface="Consolas"/>
              </a:rPr>
              <a:t>#</a:t>
            </a:r>
            <a:r>
              <a:rPr sz="2200" spc="-1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function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to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show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the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plot</a:t>
            </a:r>
            <a:endParaRPr sz="2200">
              <a:latin typeface="Consolas"/>
              <a:cs typeface="Consolas"/>
            </a:endParaRPr>
          </a:p>
          <a:p>
            <a:pPr marL="241300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onsolas"/>
                <a:cs typeface="Consolas"/>
              </a:rPr>
              <a:t>plt.show()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552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Histogram</a:t>
            </a:r>
            <a:r>
              <a:rPr spc="-190" dirty="0"/>
              <a:t> </a:t>
            </a:r>
            <a:r>
              <a:rPr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07457"/>
            <a:ext cx="6771640" cy="490918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onsolas"/>
                <a:cs typeface="Consolas"/>
              </a:rPr>
              <a:t>#</a:t>
            </a:r>
            <a:r>
              <a:rPr sz="2600" spc="-15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importing</a:t>
            </a:r>
            <a:r>
              <a:rPr sz="2600" spc="-15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matplotlib</a:t>
            </a:r>
            <a:r>
              <a:rPr sz="2600" spc="-15" dirty="0">
                <a:latin typeface="Consolas"/>
                <a:cs typeface="Consolas"/>
              </a:rPr>
              <a:t> </a:t>
            </a:r>
            <a:r>
              <a:rPr sz="2600" spc="-5" dirty="0">
                <a:latin typeface="Consolas"/>
                <a:cs typeface="Consolas"/>
              </a:rPr>
              <a:t>module</a:t>
            </a:r>
            <a:endParaRPr sz="2600">
              <a:latin typeface="Consolas"/>
              <a:cs typeface="Consolas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5" dirty="0">
                <a:latin typeface="Consolas"/>
                <a:cs typeface="Consolas"/>
              </a:rPr>
              <a:t>from</a:t>
            </a:r>
            <a:r>
              <a:rPr sz="2600" spc="-35" dirty="0">
                <a:latin typeface="Consolas"/>
                <a:cs typeface="Consolas"/>
              </a:rPr>
              <a:t> </a:t>
            </a:r>
            <a:r>
              <a:rPr sz="2600" spc="-5" dirty="0">
                <a:latin typeface="Consolas"/>
                <a:cs typeface="Consolas"/>
              </a:rPr>
              <a:t>matplotlib</a:t>
            </a:r>
            <a:r>
              <a:rPr sz="2600" spc="-30" dirty="0">
                <a:latin typeface="Consolas"/>
                <a:cs typeface="Consolas"/>
              </a:rPr>
              <a:t> </a:t>
            </a:r>
            <a:r>
              <a:rPr sz="2600" spc="-5" dirty="0">
                <a:latin typeface="Consolas"/>
                <a:cs typeface="Consolas"/>
              </a:rPr>
              <a:t>import</a:t>
            </a:r>
            <a:r>
              <a:rPr sz="2600" spc="-15" dirty="0">
                <a:latin typeface="Consolas"/>
                <a:cs typeface="Consolas"/>
              </a:rPr>
              <a:t> </a:t>
            </a:r>
            <a:r>
              <a:rPr sz="2600" spc="-5" dirty="0">
                <a:latin typeface="Consolas"/>
                <a:cs typeface="Consolas"/>
              </a:rPr>
              <a:t>pyplot</a:t>
            </a:r>
            <a:r>
              <a:rPr sz="2600" spc="-25" dirty="0">
                <a:latin typeface="Consolas"/>
                <a:cs typeface="Consolas"/>
              </a:rPr>
              <a:t> </a:t>
            </a:r>
            <a:r>
              <a:rPr sz="2600" dirty="0">
                <a:latin typeface="Consolas"/>
                <a:cs typeface="Consolas"/>
              </a:rPr>
              <a:t>as</a:t>
            </a:r>
            <a:r>
              <a:rPr sz="2600" spc="-30" dirty="0">
                <a:latin typeface="Consolas"/>
                <a:cs typeface="Consolas"/>
              </a:rPr>
              <a:t> </a:t>
            </a:r>
            <a:r>
              <a:rPr sz="2600" spc="-5" dirty="0">
                <a:latin typeface="Consolas"/>
                <a:cs typeface="Consolas"/>
              </a:rPr>
              <a:t>plt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onsolas"/>
                <a:cs typeface="Consolas"/>
              </a:rPr>
              <a:t>#</a:t>
            </a:r>
            <a:r>
              <a:rPr sz="2600" spc="-45" dirty="0">
                <a:latin typeface="Consolas"/>
                <a:cs typeface="Consolas"/>
              </a:rPr>
              <a:t> </a:t>
            </a:r>
            <a:r>
              <a:rPr sz="2600" spc="-5" dirty="0">
                <a:latin typeface="Consolas"/>
                <a:cs typeface="Consolas"/>
              </a:rPr>
              <a:t>Y-axis</a:t>
            </a:r>
            <a:r>
              <a:rPr sz="2600" spc="-45" dirty="0">
                <a:latin typeface="Consolas"/>
                <a:cs typeface="Consolas"/>
              </a:rPr>
              <a:t> </a:t>
            </a:r>
            <a:r>
              <a:rPr sz="2600" spc="-5" dirty="0">
                <a:latin typeface="Consolas"/>
                <a:cs typeface="Consolas"/>
              </a:rPr>
              <a:t>values</a:t>
            </a:r>
            <a:endParaRPr sz="2600">
              <a:latin typeface="Consolas"/>
              <a:cs typeface="Consolas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onsolas"/>
                <a:cs typeface="Consolas"/>
              </a:rPr>
              <a:t>y</a:t>
            </a:r>
            <a:r>
              <a:rPr sz="2600" spc="-15" dirty="0">
                <a:latin typeface="Consolas"/>
                <a:cs typeface="Consolas"/>
              </a:rPr>
              <a:t> </a:t>
            </a:r>
            <a:r>
              <a:rPr sz="2600" dirty="0">
                <a:latin typeface="Consolas"/>
                <a:cs typeface="Consolas"/>
              </a:rPr>
              <a:t>=</a:t>
            </a:r>
            <a:r>
              <a:rPr sz="2600" spc="-15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[10,</a:t>
            </a:r>
            <a:r>
              <a:rPr sz="2600" spc="-25" dirty="0">
                <a:latin typeface="Consolas"/>
                <a:cs typeface="Consolas"/>
              </a:rPr>
              <a:t> </a:t>
            </a:r>
            <a:r>
              <a:rPr sz="2600" spc="-5" dirty="0">
                <a:latin typeface="Consolas"/>
                <a:cs typeface="Consolas"/>
              </a:rPr>
              <a:t>5,</a:t>
            </a:r>
            <a:r>
              <a:rPr sz="2600" spc="-15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8, 4,</a:t>
            </a:r>
            <a:r>
              <a:rPr sz="2600" spc="-15" dirty="0">
                <a:latin typeface="Consolas"/>
                <a:cs typeface="Consolas"/>
              </a:rPr>
              <a:t> </a:t>
            </a:r>
            <a:r>
              <a:rPr sz="2600" dirty="0">
                <a:latin typeface="Consolas"/>
                <a:cs typeface="Consolas"/>
              </a:rPr>
              <a:t>2]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onsolas"/>
                <a:cs typeface="Consolas"/>
              </a:rPr>
              <a:t>#</a:t>
            </a:r>
            <a:r>
              <a:rPr sz="2600" spc="-5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Function</a:t>
            </a:r>
            <a:r>
              <a:rPr sz="2600" spc="-5" dirty="0">
                <a:latin typeface="Consolas"/>
                <a:cs typeface="Consolas"/>
              </a:rPr>
              <a:t> to</a:t>
            </a:r>
            <a:r>
              <a:rPr sz="2600" spc="-15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plot</a:t>
            </a:r>
            <a:r>
              <a:rPr sz="2600" spc="-5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histogram</a:t>
            </a:r>
            <a:endParaRPr sz="2600">
              <a:latin typeface="Consolas"/>
              <a:cs typeface="Consolas"/>
            </a:endParaRPr>
          </a:p>
          <a:p>
            <a:pPr marL="241300" indent="-229235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10" dirty="0">
                <a:latin typeface="Consolas"/>
                <a:cs typeface="Consolas"/>
              </a:rPr>
              <a:t>plt.hist(y)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onsolas"/>
                <a:cs typeface="Consolas"/>
              </a:rPr>
              <a:t>#</a:t>
            </a:r>
            <a:r>
              <a:rPr sz="2600" spc="-10" dirty="0">
                <a:latin typeface="Consolas"/>
                <a:cs typeface="Consolas"/>
              </a:rPr>
              <a:t> Function</a:t>
            </a:r>
            <a:r>
              <a:rPr sz="2600" spc="-5" dirty="0">
                <a:latin typeface="Consolas"/>
                <a:cs typeface="Consolas"/>
              </a:rPr>
              <a:t> to</a:t>
            </a:r>
            <a:r>
              <a:rPr sz="2600" spc="-20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show</a:t>
            </a:r>
            <a:r>
              <a:rPr sz="2600" spc="-5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the plot</a:t>
            </a:r>
            <a:endParaRPr sz="2600">
              <a:latin typeface="Consolas"/>
              <a:cs typeface="Consolas"/>
            </a:endParaRPr>
          </a:p>
          <a:p>
            <a:pPr marL="241300" indent="-229235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10" dirty="0">
                <a:latin typeface="Consolas"/>
                <a:cs typeface="Consolas"/>
              </a:rPr>
              <a:t>plt.show()</a:t>
            </a:r>
            <a:endParaRPr sz="2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8232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Scatter</a:t>
            </a:r>
            <a:r>
              <a:rPr spc="-114" dirty="0"/>
              <a:t> </a:t>
            </a:r>
            <a:r>
              <a:rPr spc="-25" dirty="0"/>
              <a:t>Plot</a:t>
            </a:r>
            <a:r>
              <a:rPr spc="-105" dirty="0"/>
              <a:t> </a:t>
            </a:r>
            <a:r>
              <a:rPr dirty="0"/>
              <a:t>: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7889" y="1416941"/>
          <a:ext cx="5832475" cy="685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430"/>
                        </a:lnSpc>
                        <a:buFont typeface="Arial MT"/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200" spc="-5" dirty="0">
                          <a:latin typeface="Consolas"/>
                          <a:cs typeface="Consolas"/>
                        </a:rPr>
                        <a:t>#</a:t>
                      </a:r>
                      <a:r>
                        <a:rPr sz="22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200" dirty="0">
                          <a:latin typeface="Consolas"/>
                          <a:cs typeface="Consolas"/>
                        </a:rPr>
                        <a:t>importing</a:t>
                      </a:r>
                      <a:r>
                        <a:rPr sz="2200" spc="-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200" spc="-5" dirty="0">
                          <a:latin typeface="Consolas"/>
                          <a:cs typeface="Consolas"/>
                        </a:rPr>
                        <a:t>matplotlib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430"/>
                        </a:lnSpc>
                      </a:pPr>
                      <a:r>
                        <a:rPr sz="2200" spc="-5" dirty="0">
                          <a:latin typeface="Consolas"/>
                          <a:cs typeface="Consolas"/>
                        </a:rPr>
                        <a:t>module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575"/>
                        </a:lnSpc>
                        <a:buFont typeface="Arial MT"/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from</a:t>
                      </a:r>
                      <a:r>
                        <a:rPr sz="22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200" spc="-5" dirty="0">
                          <a:latin typeface="Consolas"/>
                          <a:cs typeface="Consolas"/>
                        </a:rPr>
                        <a:t>matplotlib</a:t>
                      </a:r>
                      <a:r>
                        <a:rPr sz="2200" spc="-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200" dirty="0">
                          <a:latin typeface="Consolas"/>
                          <a:cs typeface="Consolas"/>
                        </a:rPr>
                        <a:t>import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575"/>
                        </a:lnSpc>
                      </a:pPr>
                      <a:r>
                        <a:rPr sz="2200" spc="-5" dirty="0">
                          <a:latin typeface="Consolas"/>
                          <a:cs typeface="Consolas"/>
                        </a:rPr>
                        <a:t>pyplot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75"/>
                        </a:lnSpc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as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575"/>
                        </a:lnSpc>
                      </a:pPr>
                      <a:r>
                        <a:rPr sz="2200" spc="-5" dirty="0">
                          <a:latin typeface="Consolas"/>
                          <a:cs typeface="Consolas"/>
                        </a:rPr>
                        <a:t>plt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97889" y="3587371"/>
          <a:ext cx="3371849" cy="9523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5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430"/>
                        </a:lnSpc>
                        <a:buFont typeface="Arial MT"/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#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Y-axis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430"/>
                        </a:lnSpc>
                      </a:pPr>
                      <a:r>
                        <a:rPr sz="2200" spc="5" dirty="0">
                          <a:latin typeface="Consolas"/>
                          <a:cs typeface="Consolas"/>
                        </a:rPr>
                        <a:t>values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713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575"/>
                        </a:lnSpc>
                        <a:buFont typeface="Arial MT"/>
                        <a:buChar char="•"/>
                        <a:tabLst>
                          <a:tab pos="260350" algn="l"/>
                          <a:tab pos="260985" algn="l"/>
                        </a:tabLst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y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5"/>
                        </a:lnSpc>
                      </a:pPr>
                      <a:r>
                        <a:rPr sz="2200" spc="-5" dirty="0">
                          <a:latin typeface="Consolas"/>
                          <a:cs typeface="Consolas"/>
                        </a:rPr>
                        <a:t>=</a:t>
                      </a:r>
                      <a:r>
                        <a:rPr sz="22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200" dirty="0">
                          <a:latin typeface="Consolas"/>
                          <a:cs typeface="Consolas"/>
                        </a:rPr>
                        <a:t>[10,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75"/>
                        </a:lnSpc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5,</a:t>
                      </a:r>
                      <a:r>
                        <a:rPr sz="22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200" dirty="0">
                          <a:latin typeface="Consolas"/>
                          <a:cs typeface="Consolas"/>
                        </a:rPr>
                        <a:t>8,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5"/>
                        </a:lnSpc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4,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75"/>
                        </a:lnSpc>
                      </a:pPr>
                      <a:r>
                        <a:rPr sz="2200" dirty="0">
                          <a:latin typeface="Consolas"/>
                          <a:cs typeface="Consolas"/>
                        </a:rPr>
                        <a:t>2]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29639" y="2072156"/>
            <a:ext cx="4386580" cy="43681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r>
              <a:rPr sz="2200" spc="-5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  <a:p>
            <a:pPr marL="228600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28600" algn="l"/>
                <a:tab pos="229235" algn="l"/>
              </a:tabLst>
            </a:pPr>
            <a:r>
              <a:rPr sz="2200" spc="-5" dirty="0">
                <a:latin typeface="Consolas"/>
                <a:cs typeface="Consolas"/>
              </a:rPr>
              <a:t>#</a:t>
            </a:r>
            <a:r>
              <a:rPr sz="2200" spc="-3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x-axis</a:t>
            </a:r>
            <a:r>
              <a:rPr sz="2200" spc="-2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values</a:t>
            </a:r>
            <a:endParaRPr sz="2200">
              <a:latin typeface="Consolas"/>
              <a:cs typeface="Consolas"/>
            </a:endParaRPr>
          </a:p>
          <a:p>
            <a:pPr marL="228600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28600" algn="l"/>
                <a:tab pos="229235" algn="l"/>
              </a:tabLst>
            </a:pPr>
            <a:r>
              <a:rPr sz="2200" spc="-5" dirty="0">
                <a:latin typeface="Consolas"/>
                <a:cs typeface="Consolas"/>
              </a:rPr>
              <a:t>x =</a:t>
            </a:r>
            <a:r>
              <a:rPr sz="2200" dirty="0">
                <a:latin typeface="Consolas"/>
                <a:cs typeface="Consolas"/>
              </a:rPr>
              <a:t> </a:t>
            </a:r>
            <a:r>
              <a:rPr sz="2200" spc="-5" dirty="0">
                <a:latin typeface="Consolas"/>
                <a:cs typeface="Consolas"/>
              </a:rPr>
              <a:t>[5, 2,</a:t>
            </a:r>
            <a:r>
              <a:rPr sz="2200" dirty="0">
                <a:latin typeface="Consolas"/>
                <a:cs typeface="Consolas"/>
              </a:rPr>
              <a:t> </a:t>
            </a:r>
            <a:r>
              <a:rPr sz="2200" spc="-5" dirty="0">
                <a:latin typeface="Consolas"/>
                <a:cs typeface="Consolas"/>
              </a:rPr>
              <a:t>9, 4,</a:t>
            </a:r>
            <a:r>
              <a:rPr sz="2200" dirty="0">
                <a:latin typeface="Consolas"/>
                <a:cs typeface="Consolas"/>
              </a:rPr>
              <a:t> </a:t>
            </a:r>
            <a:r>
              <a:rPr sz="2200" spc="-5" dirty="0">
                <a:latin typeface="Consolas"/>
                <a:cs typeface="Consolas"/>
              </a:rPr>
              <a:t>7]</a:t>
            </a:r>
            <a:endParaRPr sz="2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r>
              <a:rPr sz="2200" spc="-5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  <a:p>
            <a:pPr marL="228600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228600" algn="l"/>
                <a:tab pos="229235" algn="l"/>
              </a:tabLst>
            </a:pPr>
            <a:r>
              <a:rPr sz="2200" spc="-5" dirty="0">
                <a:latin typeface="Consolas"/>
                <a:cs typeface="Consolas"/>
              </a:rPr>
              <a:t>#</a:t>
            </a:r>
            <a:r>
              <a:rPr sz="2200" spc="-1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Function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to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plot</a:t>
            </a:r>
            <a:r>
              <a:rPr sz="2200" spc="-1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scatter</a:t>
            </a:r>
            <a:endParaRPr sz="2200">
              <a:latin typeface="Consolas"/>
              <a:cs typeface="Consolas"/>
            </a:endParaRPr>
          </a:p>
          <a:p>
            <a:pPr marL="228600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28600" algn="l"/>
                <a:tab pos="229235" algn="l"/>
              </a:tabLst>
            </a:pPr>
            <a:r>
              <a:rPr sz="2200" spc="-5" dirty="0">
                <a:latin typeface="Consolas"/>
                <a:cs typeface="Consolas"/>
              </a:rPr>
              <a:t>plt.scatter(x,</a:t>
            </a:r>
            <a:r>
              <a:rPr sz="2200" spc="-2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y)</a:t>
            </a:r>
            <a:endParaRPr sz="2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2200" spc="-5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  <a:p>
            <a:pPr marL="228600" indent="-22923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228600" algn="l"/>
                <a:tab pos="229235" algn="l"/>
              </a:tabLst>
            </a:pPr>
            <a:r>
              <a:rPr sz="2200" spc="-5" dirty="0">
                <a:latin typeface="Consolas"/>
                <a:cs typeface="Consolas"/>
              </a:rPr>
              <a:t># </a:t>
            </a:r>
            <a:r>
              <a:rPr sz="2200" dirty="0">
                <a:latin typeface="Consolas"/>
                <a:cs typeface="Consolas"/>
              </a:rPr>
              <a:t>function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to show</a:t>
            </a:r>
            <a:r>
              <a:rPr sz="2200" spc="-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the plot</a:t>
            </a:r>
            <a:endParaRPr sz="2200">
              <a:latin typeface="Consolas"/>
              <a:cs typeface="Consolas"/>
            </a:endParaRPr>
          </a:p>
          <a:p>
            <a:pPr marL="228600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28600" algn="l"/>
                <a:tab pos="229235" algn="l"/>
              </a:tabLst>
            </a:pPr>
            <a:r>
              <a:rPr sz="2200" spc="-5" dirty="0">
                <a:latin typeface="Consolas"/>
                <a:cs typeface="Consolas"/>
              </a:rPr>
              <a:t>plt.show()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194" y="582168"/>
            <a:ext cx="9553193" cy="55946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867" y="961644"/>
            <a:ext cx="9975921" cy="49867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0013" y="336245"/>
            <a:ext cx="4084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Functional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spc="-5" dirty="0">
                <a:latin typeface="Calibri"/>
                <a:cs typeface="Calibri"/>
              </a:rPr>
              <a:t>Approach: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59" y="589787"/>
            <a:ext cx="10254996" cy="55374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4403" y="595375"/>
            <a:ext cx="10313035" cy="43630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ct val="88800"/>
              </a:lnSpc>
              <a:spcBef>
                <a:spcPts val="470"/>
              </a:spcBef>
            </a:pPr>
            <a:r>
              <a:rPr sz="2800" spc="-5" dirty="0">
                <a:latin typeface="Arial MT"/>
                <a:cs typeface="Arial MT"/>
              </a:rPr>
              <a:t>Matplotlib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allows</a:t>
            </a:r>
            <a:r>
              <a:rPr sz="2800" dirty="0">
                <a:latin typeface="Arial MT"/>
                <a:cs typeface="Arial MT"/>
              </a:rPr>
              <a:t> us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easily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create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multi-plots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on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same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figure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using the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.subplot()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method.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This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.subplot()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method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takes</a:t>
            </a:r>
            <a:r>
              <a:rPr sz="2800" spc="-5" dirty="0">
                <a:latin typeface="Arial MT"/>
                <a:cs typeface="Arial MT"/>
              </a:rPr>
              <a:t> in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three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parameters,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namely:</a:t>
            </a:r>
            <a:endParaRPr sz="2800">
              <a:latin typeface="Arial MT"/>
              <a:cs typeface="Arial MT"/>
            </a:endParaRPr>
          </a:p>
          <a:p>
            <a:pPr marL="100330" marR="5279390">
              <a:lnSpc>
                <a:spcPct val="100000"/>
              </a:lnSpc>
              <a:spcBef>
                <a:spcPts val="1785"/>
              </a:spcBef>
              <a:buSzPct val="96875"/>
              <a:buChar char="•"/>
              <a:tabLst>
                <a:tab pos="243840" algn="l"/>
              </a:tabLst>
            </a:pPr>
            <a:r>
              <a:rPr sz="3200" dirty="0">
                <a:latin typeface="Arial MT"/>
                <a:cs typeface="Arial MT"/>
              </a:rPr>
              <a:t>nrows: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number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rows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Figure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should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have.</a:t>
            </a:r>
            <a:endParaRPr sz="3200">
              <a:latin typeface="Arial MT"/>
              <a:cs typeface="Arial MT"/>
            </a:endParaRPr>
          </a:p>
          <a:p>
            <a:pPr marL="100330" marR="4759960">
              <a:lnSpc>
                <a:spcPct val="100000"/>
              </a:lnSpc>
              <a:spcBef>
                <a:spcPts val="5"/>
              </a:spcBef>
              <a:buSzPct val="96875"/>
              <a:buChar char="•"/>
              <a:tabLst>
                <a:tab pos="243840" algn="l"/>
              </a:tabLst>
            </a:pPr>
            <a:r>
              <a:rPr sz="3200" dirty="0">
                <a:latin typeface="Arial MT"/>
                <a:cs typeface="Arial MT"/>
              </a:rPr>
              <a:t>ncols: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number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columns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Figure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should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have.</a:t>
            </a:r>
            <a:endParaRPr sz="3200">
              <a:latin typeface="Arial MT"/>
              <a:cs typeface="Arial MT"/>
            </a:endParaRPr>
          </a:p>
          <a:p>
            <a:pPr marL="100330" marR="3023235">
              <a:lnSpc>
                <a:spcPct val="100000"/>
              </a:lnSpc>
              <a:buSzPct val="96875"/>
              <a:buChar char="•"/>
              <a:tabLst>
                <a:tab pos="243840" algn="l"/>
              </a:tabLst>
            </a:pPr>
            <a:r>
              <a:rPr sz="3200" spc="-5" dirty="0">
                <a:latin typeface="Arial MT"/>
                <a:cs typeface="Arial MT"/>
              </a:rPr>
              <a:t>plot_number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: </a:t>
            </a:r>
            <a:r>
              <a:rPr sz="3200" spc="-5" dirty="0">
                <a:latin typeface="Arial MT"/>
                <a:cs typeface="Arial MT"/>
              </a:rPr>
              <a:t>which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refers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 </a:t>
            </a:r>
            <a:r>
              <a:rPr sz="3200" spc="-5" dirty="0">
                <a:latin typeface="Arial MT"/>
                <a:cs typeface="Arial MT"/>
              </a:rPr>
              <a:t>specific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</a:t>
            </a:r>
            <a:r>
              <a:rPr sz="3200" spc="-15" dirty="0">
                <a:latin typeface="Arial MT"/>
                <a:cs typeface="Arial MT"/>
              </a:rPr>
              <a:t>o</a:t>
            </a:r>
            <a:r>
              <a:rPr sz="3200" dirty="0">
                <a:latin typeface="Arial MT"/>
                <a:cs typeface="Arial MT"/>
              </a:rPr>
              <a:t>t in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</a:t>
            </a:r>
            <a:r>
              <a:rPr sz="3200" spc="-1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Fi</a:t>
            </a:r>
            <a:r>
              <a:rPr sz="3200" spc="-10" dirty="0">
                <a:latin typeface="Arial MT"/>
                <a:cs typeface="Arial MT"/>
              </a:rPr>
              <a:t>g</a:t>
            </a:r>
            <a:r>
              <a:rPr sz="3200" dirty="0">
                <a:latin typeface="Arial MT"/>
                <a:cs typeface="Arial MT"/>
              </a:rPr>
              <a:t>ur</a:t>
            </a:r>
            <a:r>
              <a:rPr sz="3200" spc="-10" dirty="0">
                <a:latin typeface="Arial MT"/>
                <a:cs typeface="Arial MT"/>
              </a:rPr>
              <a:t>e</a:t>
            </a:r>
            <a:r>
              <a:rPr sz="1500" dirty="0">
                <a:latin typeface="Arial MT"/>
                <a:cs typeface="Arial MT"/>
              </a:rPr>
              <a:t>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301" y="792861"/>
            <a:ext cx="9899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Using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.subplot()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will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create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 two</a:t>
            </a:r>
            <a:r>
              <a:rPr sz="2800" dirty="0">
                <a:latin typeface="Arial MT"/>
                <a:cs typeface="Arial MT"/>
              </a:rPr>
              <a:t> plots </a:t>
            </a:r>
            <a:r>
              <a:rPr sz="2800" spc="-5" dirty="0">
                <a:latin typeface="Arial MT"/>
                <a:cs typeface="Arial MT"/>
              </a:rPr>
              <a:t>on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same</a:t>
            </a:r>
            <a:r>
              <a:rPr sz="2800" spc="5" dirty="0">
                <a:latin typeface="Arial MT"/>
                <a:cs typeface="Arial MT"/>
              </a:rPr>
              <a:t> canvas</a:t>
            </a:r>
            <a:r>
              <a:rPr sz="1500" spc="5" dirty="0">
                <a:latin typeface="Arial MT"/>
                <a:cs typeface="Arial MT"/>
              </a:rPr>
              <a:t>: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460" y="1554480"/>
            <a:ext cx="9187719" cy="48365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5720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Object</a:t>
            </a:r>
            <a:r>
              <a:rPr spc="-100" dirty="0"/>
              <a:t> </a:t>
            </a:r>
            <a:r>
              <a:rPr spc="-40" dirty="0"/>
              <a:t>oriented</a:t>
            </a:r>
            <a:r>
              <a:rPr spc="-114" dirty="0"/>
              <a:t> </a:t>
            </a:r>
            <a:r>
              <a:rPr spc="-50" dirty="0"/>
              <a:t>Interface: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301" y="2320289"/>
            <a:ext cx="1005586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This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best</a:t>
            </a:r>
            <a:r>
              <a:rPr sz="2800" spc="-10" dirty="0">
                <a:latin typeface="Arial MT"/>
                <a:cs typeface="Arial MT"/>
              </a:rPr>
              <a:t> way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 create</a:t>
            </a:r>
            <a:r>
              <a:rPr sz="2800" dirty="0">
                <a:latin typeface="Arial MT"/>
                <a:cs typeface="Arial MT"/>
              </a:rPr>
              <a:t> plots.</a:t>
            </a:r>
            <a:endParaRPr sz="2800">
              <a:latin typeface="Arial MT"/>
              <a:cs typeface="Arial MT"/>
            </a:endParaRPr>
          </a:p>
          <a:p>
            <a:pPr marL="111760" marR="5080" indent="-99060">
              <a:lnSpc>
                <a:spcPct val="100000"/>
              </a:lnSpc>
            </a:pP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idea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here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 create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Figure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objects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call </a:t>
            </a:r>
            <a:r>
              <a:rPr sz="2800" spc="-5" dirty="0">
                <a:latin typeface="Arial MT"/>
                <a:cs typeface="Arial MT"/>
              </a:rPr>
              <a:t>methods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5" dirty="0">
                <a:latin typeface="Arial MT"/>
                <a:cs typeface="Arial MT"/>
              </a:rPr>
              <a:t>off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it.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15" dirty="0">
                <a:latin typeface="Arial MT"/>
                <a:cs typeface="Arial MT"/>
              </a:rPr>
              <a:t>Let’s</a:t>
            </a:r>
            <a:r>
              <a:rPr sz="2800" spc="-5" dirty="0">
                <a:latin typeface="Arial MT"/>
                <a:cs typeface="Arial MT"/>
              </a:rPr>
              <a:t> create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blank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Figure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using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.figure()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method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996" y="4557591"/>
            <a:ext cx="10336719" cy="8370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1532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Next</a:t>
            </a:r>
            <a:r>
              <a:rPr spc="-65" dirty="0"/>
              <a:t> </a:t>
            </a:r>
            <a:r>
              <a:rPr spc="-30" dirty="0"/>
              <a:t>step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9639" y="1707918"/>
            <a:ext cx="5073015" cy="20707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286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29235" algn="l"/>
              </a:tabLst>
            </a:pPr>
            <a:r>
              <a:rPr sz="2800" spc="-10" dirty="0">
                <a:latin typeface="Calibri"/>
                <a:cs typeface="Calibri"/>
              </a:rPr>
              <a:t>Now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set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30" dirty="0">
                <a:latin typeface="Calibri"/>
                <a:cs typeface="Calibri"/>
              </a:rPr>
              <a:t>axes</a:t>
            </a:r>
            <a:endParaRPr sz="2800">
              <a:latin typeface="Calibri"/>
              <a:cs typeface="Calibri"/>
            </a:endParaRPr>
          </a:p>
          <a:p>
            <a:pPr marL="2286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29235" algn="l"/>
              </a:tabLst>
            </a:pPr>
            <a:r>
              <a:rPr sz="2800" spc="-15" dirty="0">
                <a:latin typeface="Calibri"/>
                <a:cs typeface="Calibri"/>
              </a:rPr>
              <a:t>.add_axes()</a:t>
            </a:r>
            <a:endParaRPr sz="2800">
              <a:latin typeface="Calibri"/>
              <a:cs typeface="Calibri"/>
            </a:endParaRPr>
          </a:p>
          <a:p>
            <a:pPr marL="2286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29235" algn="l"/>
              </a:tabLst>
            </a:pPr>
            <a:r>
              <a:rPr sz="2800" spc="-10" dirty="0">
                <a:latin typeface="Calibri"/>
                <a:cs typeface="Calibri"/>
              </a:rPr>
              <a:t>(left,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bottom,</a:t>
            </a:r>
            <a:r>
              <a:rPr sz="2800" spc="-5" dirty="0">
                <a:latin typeface="Calibri"/>
                <a:cs typeface="Calibri"/>
              </a:rPr>
              <a:t> width,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height)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498348"/>
            <a:ext cx="11058144" cy="50048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708" y="365759"/>
            <a:ext cx="9878568" cy="59262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690116"/>
            <a:ext cx="9593580" cy="30815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86264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Something</a:t>
            </a:r>
            <a:r>
              <a:rPr spc="-10" dirty="0"/>
              <a:t> </a:t>
            </a:r>
            <a:r>
              <a:rPr spc="-20" dirty="0"/>
              <a:t>interesting</a:t>
            </a:r>
            <a:r>
              <a:rPr spc="-5" dirty="0"/>
              <a:t> </a:t>
            </a:r>
            <a:r>
              <a:rPr dirty="0"/>
              <a:t>,</a:t>
            </a:r>
            <a:r>
              <a:rPr spc="-5" dirty="0"/>
              <a:t> </a:t>
            </a:r>
            <a:r>
              <a:rPr spc="-10" dirty="0"/>
              <a:t>figure</a:t>
            </a:r>
            <a:r>
              <a:rPr spc="-3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spc="-10" dirty="0"/>
              <a:t>figure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528997"/>
            <a:ext cx="9369552" cy="507144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" y="278891"/>
            <a:ext cx="10501884" cy="61952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80" dirty="0"/>
              <a:t>We</a:t>
            </a:r>
            <a:r>
              <a:rPr spc="-10" dirty="0"/>
              <a:t> </a:t>
            </a:r>
            <a:r>
              <a:rPr spc="-15" dirty="0"/>
              <a:t>can</a:t>
            </a:r>
            <a:r>
              <a:rPr spc="15" dirty="0"/>
              <a:t> </a:t>
            </a:r>
            <a:r>
              <a:rPr spc="-30" dirty="0"/>
              <a:t>create</a:t>
            </a:r>
            <a:r>
              <a:rPr spc="-5" dirty="0"/>
              <a:t> </a:t>
            </a:r>
            <a:r>
              <a:rPr dirty="0"/>
              <a:t>a </a:t>
            </a:r>
            <a:r>
              <a:rPr spc="-10" dirty="0"/>
              <a:t>matrix</a:t>
            </a:r>
            <a:r>
              <a:rPr spc="10" dirty="0"/>
              <a:t> </a:t>
            </a:r>
            <a:r>
              <a:rPr spc="-10" dirty="0"/>
              <a:t>of</a:t>
            </a:r>
            <a:r>
              <a:rPr dirty="0"/>
              <a:t> subplot </a:t>
            </a:r>
            <a:r>
              <a:rPr spc="-35" dirty="0"/>
              <a:t>for</a:t>
            </a:r>
            <a:r>
              <a:rPr spc="-5" dirty="0"/>
              <a:t> </a:t>
            </a:r>
            <a:r>
              <a:rPr spc="-25" dirty="0"/>
              <a:t>example </a:t>
            </a:r>
            <a:r>
              <a:rPr spc="-980" dirty="0"/>
              <a:t> </a:t>
            </a:r>
            <a:r>
              <a:rPr dirty="0"/>
              <a:t>3*3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495044"/>
            <a:ext cx="9348216" cy="51876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407987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5" dirty="0"/>
              <a:t>Add </a:t>
            </a:r>
            <a:r>
              <a:rPr dirty="0"/>
              <a:t>, </a:t>
            </a:r>
            <a:r>
              <a:rPr spc="5" dirty="0"/>
              <a:t> </a:t>
            </a:r>
            <a:r>
              <a:rPr dirty="0"/>
              <a:t>plot</a:t>
            </a:r>
            <a:r>
              <a:rPr spc="-90" dirty="0"/>
              <a:t>.</a:t>
            </a:r>
            <a:r>
              <a:rPr dirty="0"/>
              <a:t>tig</a:t>
            </a:r>
            <a:r>
              <a:rPr spc="-50" dirty="0"/>
              <a:t>h</a:t>
            </a:r>
            <a:r>
              <a:rPr dirty="0"/>
              <a:t>t_l</a:t>
            </a:r>
            <a:r>
              <a:rPr spc="-80" dirty="0"/>
              <a:t>a</a:t>
            </a:r>
            <a:r>
              <a:rPr spc="-50" dirty="0"/>
              <a:t>y</a:t>
            </a:r>
            <a:r>
              <a:rPr spc="-5" dirty="0"/>
              <a:t>ou</a:t>
            </a:r>
            <a:r>
              <a:rPr dirty="0"/>
              <a:t>t()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5434" y="1998040"/>
            <a:ext cx="916305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 marR="333375" indent="-1270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MT"/>
                <a:cs typeface="Arial MT"/>
              </a:rPr>
              <a:t>The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only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difference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between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plt.figure()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and </a:t>
            </a:r>
            <a:r>
              <a:rPr sz="3600" spc="-98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plt.subplots()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is</a:t>
            </a:r>
            <a:r>
              <a:rPr sz="3600" dirty="0">
                <a:latin typeface="Arial MT"/>
                <a:cs typeface="Arial MT"/>
              </a:rPr>
              <a:t> that</a:t>
            </a:r>
            <a:endParaRPr sz="3600">
              <a:latin typeface="Arial MT"/>
              <a:cs typeface="Arial MT"/>
            </a:endParaRPr>
          </a:p>
          <a:p>
            <a:pPr marL="139065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latin typeface="Arial MT"/>
                <a:cs typeface="Arial MT"/>
              </a:rPr>
              <a:t>plt.subplots()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automatically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does</a:t>
            </a:r>
            <a:endParaRPr sz="3600">
              <a:latin typeface="Arial MT"/>
              <a:cs typeface="Arial MT"/>
            </a:endParaRPr>
          </a:p>
          <a:p>
            <a:pPr marL="12700" marR="1012825">
              <a:lnSpc>
                <a:spcPct val="100000"/>
              </a:lnSpc>
            </a:pPr>
            <a:r>
              <a:rPr sz="3600" dirty="0">
                <a:latin typeface="Arial MT"/>
                <a:cs typeface="Arial MT"/>
              </a:rPr>
              <a:t>what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the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.add_axes()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method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.figure() </a:t>
            </a:r>
            <a:r>
              <a:rPr sz="3600" spc="-98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will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do</a:t>
            </a:r>
            <a:r>
              <a:rPr sz="3600" dirty="0">
                <a:latin typeface="Arial MT"/>
                <a:cs typeface="Arial MT"/>
              </a:rPr>
              <a:t> for </a:t>
            </a:r>
            <a:r>
              <a:rPr sz="3600" spc="-5" dirty="0">
                <a:latin typeface="Arial MT"/>
                <a:cs typeface="Arial MT"/>
              </a:rPr>
              <a:t>you</a:t>
            </a:r>
            <a:r>
              <a:rPr sz="3600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based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off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600" spc="-5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number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rows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and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columns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you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35" dirty="0">
                <a:latin typeface="Arial MT"/>
                <a:cs typeface="Arial MT"/>
              </a:rPr>
              <a:t>specify.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691" y="434340"/>
            <a:ext cx="8843772" cy="61035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94900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Figure</a:t>
            </a:r>
            <a:r>
              <a:rPr spc="-105" dirty="0"/>
              <a:t> </a:t>
            </a:r>
            <a:r>
              <a:rPr spc="-40" dirty="0"/>
              <a:t>size,</a:t>
            </a:r>
            <a:r>
              <a:rPr spc="-85" dirty="0"/>
              <a:t> </a:t>
            </a:r>
            <a:r>
              <a:rPr spc="-30" dirty="0"/>
              <a:t>aspect</a:t>
            </a:r>
            <a:r>
              <a:rPr spc="-85" dirty="0"/>
              <a:t> </a:t>
            </a:r>
            <a:r>
              <a:rPr spc="-60" dirty="0"/>
              <a:t>ratio,</a:t>
            </a:r>
            <a:r>
              <a:rPr spc="-85" dirty="0"/>
              <a:t> </a:t>
            </a:r>
            <a:r>
              <a:rPr spc="-25" dirty="0"/>
              <a:t>and</a:t>
            </a:r>
            <a:r>
              <a:rPr spc="-95" dirty="0"/>
              <a:t> </a:t>
            </a:r>
            <a:r>
              <a:rPr spc="-20" dirty="0"/>
              <a:t>DPI</a:t>
            </a:r>
            <a:r>
              <a:rPr spc="-80" dirty="0"/>
              <a:t> </a:t>
            </a:r>
            <a:r>
              <a:rPr spc="-5" dirty="0"/>
              <a:t>IN</a:t>
            </a:r>
            <a:r>
              <a:rPr spc="-110" dirty="0"/>
              <a:t> </a:t>
            </a:r>
            <a:r>
              <a:rPr spc="-30" dirty="0"/>
              <a:t>FIGURE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067" y="1791093"/>
            <a:ext cx="10060156" cy="35342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9279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IN</a:t>
            </a:r>
            <a:r>
              <a:rPr spc="-65" dirty="0"/>
              <a:t> </a:t>
            </a:r>
            <a:r>
              <a:rPr spc="-35" dirty="0"/>
              <a:t>SUBPLOTS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565901"/>
            <a:ext cx="9067800" cy="480546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91515"/>
            <a:ext cx="4091940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5" dirty="0">
                <a:latin typeface="Calibri Light"/>
                <a:cs typeface="Calibri Light"/>
              </a:rPr>
              <a:t>THE</a:t>
            </a:r>
            <a:r>
              <a:rPr sz="2000" spc="-30" dirty="0">
                <a:latin typeface="Calibri Light"/>
                <a:cs typeface="Calibri Light"/>
              </a:rPr>
              <a:t> </a:t>
            </a:r>
            <a:r>
              <a:rPr sz="2000" spc="-15" dirty="0">
                <a:latin typeface="Calibri Light"/>
                <a:cs typeface="Calibri Light"/>
              </a:rPr>
              <a:t>BROTHER </a:t>
            </a:r>
            <a:r>
              <a:rPr sz="2000" spc="-5" dirty="0">
                <a:latin typeface="Calibri Light"/>
                <a:cs typeface="Calibri Light"/>
              </a:rPr>
              <a:t>CAN</a:t>
            </a:r>
            <a:r>
              <a:rPr sz="2000" spc="-10" dirty="0">
                <a:latin typeface="Calibri Light"/>
                <a:cs typeface="Calibri Light"/>
              </a:rPr>
              <a:t> </a:t>
            </a:r>
            <a:r>
              <a:rPr sz="2000" spc="-25" dirty="0">
                <a:latin typeface="Calibri Light"/>
                <a:cs typeface="Calibri Light"/>
              </a:rPr>
              <a:t>SAVE</a:t>
            </a:r>
            <a:r>
              <a:rPr sz="2000" spc="-3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PICTURE</a:t>
            </a:r>
            <a:r>
              <a:rPr sz="2000" spc="40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ALSO </a:t>
            </a:r>
            <a:r>
              <a:rPr sz="2000" spc="-434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VIA</a:t>
            </a:r>
            <a:endParaRPr sz="2000">
              <a:latin typeface="Calibri Light"/>
              <a:cs typeface="Calibri Light"/>
            </a:endParaRPr>
          </a:p>
          <a:p>
            <a:pPr marL="12700">
              <a:lnSpc>
                <a:spcPts val="2130"/>
              </a:lnSpc>
            </a:pPr>
            <a:r>
              <a:rPr sz="2000" spc="-10" dirty="0">
                <a:solidFill>
                  <a:srgbClr val="FF0000"/>
                </a:solidFill>
                <a:latin typeface="Calibri Light"/>
                <a:cs typeface="Calibri Light"/>
              </a:rPr>
              <a:t>FIG.SAVEFIG(‘NAME.PNG’)</a:t>
            </a:r>
            <a:endParaRPr sz="2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223" y="1421655"/>
            <a:ext cx="9735216" cy="50294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09981"/>
            <a:ext cx="10125075" cy="4257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0" dirty="0">
                <a:latin typeface="Calibri Light"/>
                <a:cs typeface="Calibri Light"/>
              </a:rPr>
              <a:t>Legends</a:t>
            </a:r>
            <a:endParaRPr sz="4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Calibri Light"/>
              <a:cs typeface="Calibri Light"/>
            </a:endParaRPr>
          </a:p>
          <a:p>
            <a:pPr marL="241300" marR="5080" indent="-229235">
              <a:lnSpc>
                <a:spcPct val="9000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sz="4400" spc="-10" dirty="0">
                <a:latin typeface="Calibri"/>
                <a:cs typeface="Calibri"/>
              </a:rPr>
              <a:t>Legends</a:t>
            </a:r>
            <a:r>
              <a:rPr sz="4400" spc="-15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allows</a:t>
            </a:r>
            <a:r>
              <a:rPr sz="4400" spc="1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us </a:t>
            </a:r>
            <a:r>
              <a:rPr sz="4400" spc="-25" dirty="0">
                <a:latin typeface="Calibri"/>
                <a:cs typeface="Calibri"/>
              </a:rPr>
              <a:t>to</a:t>
            </a:r>
            <a:r>
              <a:rPr sz="4400" spc="1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distinguish</a:t>
            </a:r>
            <a:r>
              <a:rPr sz="440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between </a:t>
            </a:r>
            <a:r>
              <a:rPr sz="4400" spc="-5" dirty="0">
                <a:latin typeface="Calibri"/>
                <a:cs typeface="Calibri"/>
              </a:rPr>
              <a:t> plots.</a:t>
            </a:r>
            <a:r>
              <a:rPr sz="4400" dirty="0">
                <a:latin typeface="Calibri"/>
                <a:cs typeface="Calibri"/>
              </a:rPr>
              <a:t> With </a:t>
            </a:r>
            <a:r>
              <a:rPr sz="4400" spc="-5" dirty="0">
                <a:latin typeface="Calibri"/>
                <a:cs typeface="Calibri"/>
              </a:rPr>
              <a:t>Legends,</a:t>
            </a:r>
            <a:r>
              <a:rPr sz="4400" spc="-15" dirty="0">
                <a:latin typeface="Calibri"/>
                <a:cs typeface="Calibri"/>
              </a:rPr>
              <a:t> </a:t>
            </a:r>
            <a:r>
              <a:rPr sz="4400" spc="-20" dirty="0">
                <a:latin typeface="Calibri"/>
                <a:cs typeface="Calibri"/>
              </a:rPr>
              <a:t>you</a:t>
            </a:r>
            <a:r>
              <a:rPr sz="4400" spc="-5" dirty="0">
                <a:latin typeface="Calibri"/>
                <a:cs typeface="Calibri"/>
              </a:rPr>
              <a:t> </a:t>
            </a:r>
            <a:r>
              <a:rPr sz="4400" spc="-15" dirty="0">
                <a:latin typeface="Calibri"/>
                <a:cs typeface="Calibri"/>
              </a:rPr>
              <a:t>can</a:t>
            </a:r>
            <a:r>
              <a:rPr sz="440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use</a:t>
            </a:r>
            <a:r>
              <a:rPr sz="4400" spc="5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label</a:t>
            </a:r>
            <a:r>
              <a:rPr sz="4400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texts </a:t>
            </a:r>
            <a:r>
              <a:rPr sz="4400" spc="-980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to </a:t>
            </a:r>
            <a:r>
              <a:rPr sz="4400" dirty="0">
                <a:latin typeface="Calibri"/>
                <a:cs typeface="Calibri"/>
              </a:rPr>
              <a:t>identify </a:t>
            </a:r>
            <a:r>
              <a:rPr sz="4400" spc="-5" dirty="0">
                <a:latin typeface="Calibri"/>
                <a:cs typeface="Calibri"/>
              </a:rPr>
              <a:t>or </a:t>
            </a:r>
            <a:r>
              <a:rPr sz="4400" spc="-25" dirty="0">
                <a:latin typeface="Calibri"/>
                <a:cs typeface="Calibri"/>
              </a:rPr>
              <a:t>differentiate </a:t>
            </a:r>
            <a:r>
              <a:rPr sz="4400" spc="-5" dirty="0">
                <a:latin typeface="Calibri"/>
                <a:cs typeface="Calibri"/>
              </a:rPr>
              <a:t>one plot </a:t>
            </a:r>
            <a:r>
              <a:rPr sz="4400" spc="-20" dirty="0">
                <a:latin typeface="Calibri"/>
                <a:cs typeface="Calibri"/>
              </a:rPr>
              <a:t>from </a:t>
            </a:r>
            <a:r>
              <a:rPr sz="4400" spc="-15" dirty="0">
                <a:latin typeface="Calibri"/>
                <a:cs typeface="Calibri"/>
              </a:rPr>
              <a:t> </a:t>
            </a:r>
            <a:r>
              <a:rPr sz="4400" spc="-55" dirty="0">
                <a:latin typeface="Calibri"/>
                <a:cs typeface="Calibri"/>
              </a:rPr>
              <a:t>another.</a:t>
            </a:r>
            <a:r>
              <a:rPr sz="4400" spc="-5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For</a:t>
            </a:r>
            <a:r>
              <a:rPr sz="4400" spc="-5" dirty="0">
                <a:latin typeface="Calibri"/>
                <a:cs typeface="Calibri"/>
              </a:rPr>
              <a:t> </a:t>
            </a:r>
            <a:r>
              <a:rPr sz="4400" spc="-20" dirty="0">
                <a:latin typeface="Calibri"/>
                <a:cs typeface="Calibri"/>
              </a:rPr>
              <a:t>example,</a:t>
            </a:r>
            <a:r>
              <a:rPr sz="4400" spc="-25" dirty="0">
                <a:latin typeface="Calibri"/>
                <a:cs typeface="Calibri"/>
              </a:rPr>
              <a:t> </a:t>
            </a:r>
            <a:r>
              <a:rPr sz="4400" spc="-30" dirty="0">
                <a:latin typeface="Calibri"/>
                <a:cs typeface="Calibri"/>
              </a:rPr>
              <a:t>say</a:t>
            </a:r>
            <a:r>
              <a:rPr sz="4400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we</a:t>
            </a:r>
            <a:r>
              <a:rPr sz="4400" spc="10" dirty="0">
                <a:latin typeface="Calibri"/>
                <a:cs typeface="Calibri"/>
              </a:rPr>
              <a:t> </a:t>
            </a:r>
            <a:r>
              <a:rPr sz="4400" spc="-30" dirty="0">
                <a:latin typeface="Calibri"/>
                <a:cs typeface="Calibri"/>
              </a:rPr>
              <a:t>have</a:t>
            </a:r>
            <a:r>
              <a:rPr sz="4400" spc="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</a:t>
            </a:r>
            <a:r>
              <a:rPr sz="4400" spc="5" dirty="0">
                <a:latin typeface="Calibri"/>
                <a:cs typeface="Calibri"/>
              </a:rPr>
              <a:t> </a:t>
            </a:r>
            <a:r>
              <a:rPr sz="4400" spc="-15" dirty="0">
                <a:latin typeface="Calibri"/>
                <a:cs typeface="Calibri"/>
              </a:rPr>
              <a:t>figure </a:t>
            </a:r>
            <a:r>
              <a:rPr sz="4400" spc="-10" dirty="0">
                <a:latin typeface="Calibri"/>
                <a:cs typeface="Calibri"/>
              </a:rPr>
              <a:t> </a:t>
            </a:r>
            <a:r>
              <a:rPr sz="4400" spc="-15" dirty="0">
                <a:latin typeface="Calibri"/>
                <a:cs typeface="Calibri"/>
              </a:rPr>
              <a:t>having</a:t>
            </a:r>
            <a:r>
              <a:rPr sz="4400" spc="-5" dirty="0">
                <a:latin typeface="Calibri"/>
                <a:cs typeface="Calibri"/>
              </a:rPr>
              <a:t> </a:t>
            </a:r>
            <a:r>
              <a:rPr sz="4400" spc="-15" dirty="0">
                <a:latin typeface="Calibri"/>
                <a:cs typeface="Calibri"/>
              </a:rPr>
              <a:t>two</a:t>
            </a:r>
            <a:r>
              <a:rPr sz="4400" spc="-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plots </a:t>
            </a:r>
            <a:r>
              <a:rPr sz="4400" spc="-35" dirty="0">
                <a:latin typeface="Calibri"/>
                <a:cs typeface="Calibri"/>
              </a:rPr>
              <a:t>like</a:t>
            </a:r>
            <a:r>
              <a:rPr sz="4400" spc="-5" dirty="0">
                <a:latin typeface="Calibri"/>
                <a:cs typeface="Calibri"/>
              </a:rPr>
              <a:t> below: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926" y="303226"/>
            <a:ext cx="9566233" cy="575168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363" y="258478"/>
            <a:ext cx="9581187" cy="59112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0383" y="609981"/>
            <a:ext cx="2267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Plot</a:t>
            </a:r>
            <a:r>
              <a:rPr spc="-155" dirty="0"/>
              <a:t> </a:t>
            </a:r>
            <a:r>
              <a:rPr spc="-8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178415" cy="14338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0" dirty="0">
                <a:latin typeface="Calibri"/>
                <a:cs typeface="Calibri"/>
              </a:rPr>
              <a:t>HISTOGRAM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HELPS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UNDERSTAND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DISTRIBUTION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NUMERIC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VALUE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A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20" dirty="0">
                <a:latin typeface="Calibri"/>
                <a:cs typeface="Calibri"/>
              </a:rPr>
              <a:t>WAY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THAT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YOU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NOT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MEDIAN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3647" y="467770"/>
            <a:ext cx="10204704" cy="569985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4872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Time</a:t>
            </a:r>
            <a:r>
              <a:rPr spc="-95" dirty="0"/>
              <a:t> </a:t>
            </a:r>
            <a:r>
              <a:rPr spc="-25" dirty="0"/>
              <a:t>series</a:t>
            </a:r>
            <a:r>
              <a:rPr spc="-95" dirty="0"/>
              <a:t> </a:t>
            </a:r>
            <a:r>
              <a:rPr spc="-25" dirty="0"/>
              <a:t>(Line</a:t>
            </a:r>
            <a:r>
              <a:rPr spc="-110" dirty="0"/>
              <a:t> </a:t>
            </a:r>
            <a:r>
              <a:rPr spc="-25" dirty="0"/>
              <a:t>Plot)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1"/>
            <a:ext cx="9911715" cy="35052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1300" marR="452120" indent="-229235" algn="just">
              <a:lnSpc>
                <a:spcPts val="4320"/>
              </a:lnSpc>
              <a:spcBef>
                <a:spcPts val="640"/>
              </a:spcBef>
              <a:buFont typeface="Arial MT"/>
              <a:buChar char="•"/>
              <a:tabLst>
                <a:tab pos="241935" algn="l"/>
              </a:tabLst>
            </a:pPr>
            <a:r>
              <a:rPr sz="4000" spc="-5" dirty="0">
                <a:latin typeface="Calibri"/>
                <a:cs typeface="Calibri"/>
              </a:rPr>
              <a:t>is a chart </a:t>
            </a:r>
            <a:r>
              <a:rPr sz="4000" spc="-10" dirty="0">
                <a:latin typeface="Calibri"/>
                <a:cs typeface="Calibri"/>
              </a:rPr>
              <a:t>that </a:t>
            </a:r>
            <a:r>
              <a:rPr sz="4000" spc="-15" dirty="0">
                <a:latin typeface="Calibri"/>
                <a:cs typeface="Calibri"/>
              </a:rPr>
              <a:t>shows </a:t>
            </a:r>
            <a:r>
              <a:rPr sz="4000" spc="-5" dirty="0">
                <a:latin typeface="Calibri"/>
                <a:cs typeface="Calibri"/>
              </a:rPr>
              <a:t>a </a:t>
            </a:r>
            <a:r>
              <a:rPr sz="4000" spc="-15" dirty="0">
                <a:latin typeface="Calibri"/>
                <a:cs typeface="Calibri"/>
              </a:rPr>
              <a:t>trend </a:t>
            </a:r>
            <a:r>
              <a:rPr sz="4000" spc="-20" dirty="0">
                <a:latin typeface="Calibri"/>
                <a:cs typeface="Calibri"/>
              </a:rPr>
              <a:t>over </a:t>
            </a:r>
            <a:r>
              <a:rPr sz="4000" spc="-5" dirty="0">
                <a:latin typeface="Calibri"/>
                <a:cs typeface="Calibri"/>
              </a:rPr>
              <a:t>a </a:t>
            </a:r>
            <a:r>
              <a:rPr sz="4000" spc="-10" dirty="0">
                <a:latin typeface="Calibri"/>
                <a:cs typeface="Calibri"/>
              </a:rPr>
              <a:t>period of </a:t>
            </a:r>
            <a:r>
              <a:rPr sz="4000" spc="-89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time.</a:t>
            </a:r>
            <a:endParaRPr sz="40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90000"/>
              </a:lnSpc>
              <a:spcBef>
                <a:spcPts val="935"/>
              </a:spcBef>
              <a:buFont typeface="Arial MT"/>
              <a:buChar char="•"/>
              <a:tabLst>
                <a:tab pos="241935" algn="l"/>
              </a:tabLst>
            </a:pPr>
            <a:r>
              <a:rPr sz="4000" spc="-5" dirty="0">
                <a:latin typeface="Calibri"/>
                <a:cs typeface="Calibri"/>
              </a:rPr>
              <a:t>It </a:t>
            </a:r>
            <a:r>
              <a:rPr sz="4000" spc="-15" dirty="0">
                <a:latin typeface="Calibri"/>
                <a:cs typeface="Calibri"/>
              </a:rPr>
              <a:t>allows </a:t>
            </a:r>
            <a:r>
              <a:rPr sz="4000" spc="-25" dirty="0">
                <a:latin typeface="Calibri"/>
                <a:cs typeface="Calibri"/>
              </a:rPr>
              <a:t>you </a:t>
            </a:r>
            <a:r>
              <a:rPr sz="4000" spc="-15" dirty="0">
                <a:latin typeface="Calibri"/>
                <a:cs typeface="Calibri"/>
              </a:rPr>
              <a:t>to </a:t>
            </a:r>
            <a:r>
              <a:rPr sz="4000" spc="-30" dirty="0">
                <a:latin typeface="Calibri"/>
                <a:cs typeface="Calibri"/>
              </a:rPr>
              <a:t>test </a:t>
            </a:r>
            <a:r>
              <a:rPr sz="4000" spc="-15" dirty="0">
                <a:latin typeface="Calibri"/>
                <a:cs typeface="Calibri"/>
              </a:rPr>
              <a:t>various </a:t>
            </a:r>
            <a:r>
              <a:rPr sz="4000" spc="-10" dirty="0">
                <a:latin typeface="Calibri"/>
                <a:cs typeface="Calibri"/>
              </a:rPr>
              <a:t>hypotheses under 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certain conditions, </a:t>
            </a:r>
            <a:r>
              <a:rPr sz="4000" spc="-45" dirty="0">
                <a:latin typeface="Calibri"/>
                <a:cs typeface="Calibri"/>
              </a:rPr>
              <a:t>like </a:t>
            </a:r>
            <a:r>
              <a:rPr sz="4000" spc="-15" dirty="0">
                <a:latin typeface="Calibri"/>
                <a:cs typeface="Calibri"/>
              </a:rPr>
              <a:t>what </a:t>
            </a:r>
            <a:r>
              <a:rPr sz="4000" spc="-10" dirty="0">
                <a:latin typeface="Calibri"/>
                <a:cs typeface="Calibri"/>
              </a:rPr>
              <a:t>happens </a:t>
            </a:r>
            <a:r>
              <a:rPr sz="4000" spc="-30" dirty="0">
                <a:latin typeface="Calibri"/>
                <a:cs typeface="Calibri"/>
              </a:rPr>
              <a:t>different </a:t>
            </a:r>
            <a:r>
              <a:rPr sz="4000" spc="-25" dirty="0">
                <a:latin typeface="Calibri"/>
                <a:cs typeface="Calibri"/>
              </a:rPr>
              <a:t> </a:t>
            </a:r>
            <a:r>
              <a:rPr sz="4000" spc="-30" dirty="0">
                <a:latin typeface="Calibri"/>
                <a:cs typeface="Calibri"/>
              </a:rPr>
              <a:t>days </a:t>
            </a:r>
            <a:r>
              <a:rPr sz="4000" spc="-5" dirty="0">
                <a:latin typeface="Calibri"/>
                <a:cs typeface="Calibri"/>
              </a:rPr>
              <a:t>of the </a:t>
            </a:r>
            <a:r>
              <a:rPr sz="4000" spc="-15" dirty="0">
                <a:latin typeface="Calibri"/>
                <a:cs typeface="Calibri"/>
              </a:rPr>
              <a:t>week </a:t>
            </a:r>
            <a:r>
              <a:rPr sz="4000" spc="-5" dirty="0">
                <a:latin typeface="Calibri"/>
                <a:cs typeface="Calibri"/>
              </a:rPr>
              <a:t>or </a:t>
            </a:r>
            <a:r>
              <a:rPr sz="4000" spc="-15" dirty="0">
                <a:latin typeface="Calibri"/>
                <a:cs typeface="Calibri"/>
              </a:rPr>
              <a:t>between </a:t>
            </a:r>
            <a:r>
              <a:rPr sz="4000" spc="-30" dirty="0">
                <a:latin typeface="Calibri"/>
                <a:cs typeface="Calibri"/>
              </a:rPr>
              <a:t>different </a:t>
            </a:r>
            <a:r>
              <a:rPr sz="4000" spc="-5" dirty="0">
                <a:latin typeface="Calibri"/>
                <a:cs typeface="Calibri"/>
              </a:rPr>
              <a:t>times </a:t>
            </a:r>
            <a:r>
              <a:rPr sz="4000" spc="-10" dirty="0">
                <a:latin typeface="Calibri"/>
                <a:cs typeface="Calibri"/>
              </a:rPr>
              <a:t>of </a:t>
            </a:r>
            <a:r>
              <a:rPr sz="4000" spc="-89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the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spc="-90" dirty="0">
                <a:latin typeface="Calibri"/>
                <a:cs typeface="Calibri"/>
              </a:rPr>
              <a:t>day.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1596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633983"/>
            <a:ext cx="8305800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779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Scatter</a:t>
            </a:r>
            <a:r>
              <a:rPr spc="-140" dirty="0"/>
              <a:t> </a:t>
            </a:r>
            <a:r>
              <a:rPr spc="-25" dirty="0"/>
              <a:t>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10177780" cy="27425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Char char="•"/>
              <a:tabLst>
                <a:tab pos="241935" algn="l"/>
              </a:tabLst>
            </a:pPr>
            <a:r>
              <a:rPr sz="2800" spc="-10" dirty="0">
                <a:latin typeface="Arial MT"/>
                <a:cs typeface="Arial MT"/>
              </a:rPr>
              <a:t>offer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convenient</a:t>
            </a:r>
            <a:r>
              <a:rPr sz="2800" spc="-5" dirty="0">
                <a:latin typeface="Arial MT"/>
                <a:cs typeface="Arial MT"/>
              </a:rPr>
              <a:t> way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 visualize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how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two numeric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values are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related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data.</a:t>
            </a:r>
            <a:endParaRPr sz="2800">
              <a:latin typeface="Arial MT"/>
              <a:cs typeface="Arial MT"/>
            </a:endParaRPr>
          </a:p>
          <a:p>
            <a:pPr marL="241300" marR="1181100" indent="-229235">
              <a:lnSpc>
                <a:spcPts val="3020"/>
              </a:lnSpc>
              <a:spcBef>
                <a:spcPts val="1005"/>
              </a:spcBef>
              <a:buChar char="•"/>
              <a:tabLst>
                <a:tab pos="241935" algn="l"/>
              </a:tabLst>
            </a:pPr>
            <a:r>
              <a:rPr sz="2800" spc="-5" dirty="0">
                <a:latin typeface="Arial MT"/>
                <a:cs typeface="Arial MT"/>
              </a:rPr>
              <a:t>It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helps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understanding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relationships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between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multiple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variables.</a:t>
            </a:r>
            <a:endParaRPr sz="2800">
              <a:latin typeface="Arial MT"/>
              <a:cs typeface="Arial MT"/>
            </a:endParaRPr>
          </a:p>
          <a:p>
            <a:pPr marL="340360" indent="-328295">
              <a:lnSpc>
                <a:spcPct val="100000"/>
              </a:lnSpc>
              <a:spcBef>
                <a:spcPts val="550"/>
              </a:spcBef>
              <a:buChar char="•"/>
              <a:tabLst>
                <a:tab pos="340360" algn="l"/>
                <a:tab pos="340995" algn="l"/>
              </a:tabLst>
            </a:pPr>
            <a:r>
              <a:rPr sz="2800" spc="-5" dirty="0">
                <a:latin typeface="Arial MT"/>
                <a:cs typeface="Arial MT"/>
              </a:rPr>
              <a:t>Using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5" dirty="0">
                <a:latin typeface="Calibri"/>
                <a:cs typeface="Calibri"/>
              </a:rPr>
              <a:t>.scatter()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5" dirty="0">
                <a:latin typeface="Arial MT"/>
                <a:cs typeface="Arial MT"/>
              </a:rPr>
              <a:t>method, we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can </a:t>
            </a:r>
            <a:r>
              <a:rPr sz="2800" dirty="0">
                <a:latin typeface="Arial MT"/>
                <a:cs typeface="Arial MT"/>
              </a:rPr>
              <a:t>create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 scatter</a:t>
            </a:r>
            <a:r>
              <a:rPr sz="2800" spc="-5" dirty="0">
                <a:latin typeface="Arial MT"/>
                <a:cs typeface="Arial MT"/>
              </a:rPr>
              <a:t> plot:</a:t>
            </a:r>
            <a:endParaRPr sz="28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Char char="•"/>
              <a:tabLst>
                <a:tab pos="241935" algn="l"/>
              </a:tabLst>
            </a:pPr>
            <a:r>
              <a:rPr sz="2800" spc="-5" dirty="0">
                <a:latin typeface="Arial MT"/>
                <a:cs typeface="Arial MT"/>
              </a:rPr>
              <a:t>EXAMPLE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460515"/>
            <a:ext cx="9474708" cy="556690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2374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Bar</a:t>
            </a:r>
            <a:r>
              <a:rPr spc="-150" dirty="0"/>
              <a:t> </a:t>
            </a:r>
            <a:r>
              <a:rPr spc="-45" dirty="0"/>
              <a:t>graphs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10286365" cy="8255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41300" marR="5080" indent="-229235">
              <a:lnSpc>
                <a:spcPts val="2940"/>
              </a:lnSpc>
              <a:spcBef>
                <a:spcPts val="540"/>
              </a:spcBef>
              <a:buChar char="•"/>
              <a:tabLst>
                <a:tab pos="241935" algn="l"/>
              </a:tabLst>
            </a:pPr>
            <a:r>
              <a:rPr sz="2800" spc="-5" dirty="0">
                <a:latin typeface="Arial MT"/>
                <a:cs typeface="Arial MT"/>
              </a:rPr>
              <a:t>are</a:t>
            </a:r>
            <a:r>
              <a:rPr sz="2800" dirty="0">
                <a:latin typeface="Arial MT"/>
                <a:cs typeface="Arial MT"/>
              </a:rPr>
              <a:t> convenient for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comparing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numeric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values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several </a:t>
            </a:r>
            <a:r>
              <a:rPr sz="2800" spc="-5" dirty="0">
                <a:latin typeface="Arial MT"/>
                <a:cs typeface="Arial MT"/>
              </a:rPr>
              <a:t>groups.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Using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Calibri"/>
                <a:cs typeface="Calibri"/>
              </a:rPr>
              <a:t>.bar()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-5" dirty="0">
                <a:latin typeface="Arial MT"/>
                <a:cs typeface="Arial MT"/>
              </a:rPr>
              <a:t>method, we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can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create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bar </a:t>
            </a:r>
            <a:r>
              <a:rPr sz="2800" dirty="0">
                <a:latin typeface="Arial MT"/>
                <a:cs typeface="Arial MT"/>
              </a:rPr>
              <a:t>graph: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504" y="365759"/>
            <a:ext cx="10363295" cy="533355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white rectangular sign with blue text">
            <a:extLst>
              <a:ext uri="{FF2B5EF4-FFF2-40B4-BE49-F238E27FC236}">
                <a16:creationId xmlns:a16="http://schemas.microsoft.com/office/drawing/2014/main" id="{980EAE92-5554-CA37-2E0A-A976E10DF9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8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853</Words>
  <Application>Microsoft Office PowerPoint</Application>
  <PresentationFormat>Widescreen</PresentationFormat>
  <Paragraphs>147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 MT</vt:lpstr>
      <vt:lpstr>Calibri</vt:lpstr>
      <vt:lpstr>Calibri Light</vt:lpstr>
      <vt:lpstr>Consolas</vt:lpstr>
      <vt:lpstr>Times New Roman</vt:lpstr>
      <vt:lpstr>Office Theme</vt:lpstr>
      <vt:lpstr>PowerPoint Presentation</vt:lpstr>
      <vt:lpstr>INTRODUCTION TO  MATPLOTLIB</vt:lpstr>
      <vt:lpstr>PowerPoint Presentation</vt:lpstr>
      <vt:lpstr>Importing matplotlib :</vt:lpstr>
      <vt:lpstr>Basic plots in Matplotlib :</vt:lpstr>
      <vt:lpstr>Line plot :</vt:lpstr>
      <vt:lpstr>Bar plot :</vt:lpstr>
      <vt:lpstr>Histogram :</vt:lpstr>
      <vt:lpstr>Scatter Plot :</vt:lpstr>
      <vt:lpstr>PowerPoint Presentation</vt:lpstr>
      <vt:lpstr>Functional Approach:</vt:lpstr>
      <vt:lpstr>PowerPoint Presentation</vt:lpstr>
      <vt:lpstr>PowerPoint Presentation</vt:lpstr>
      <vt:lpstr>Using .subplot() we will create a two plots on the same canvas:</vt:lpstr>
      <vt:lpstr>Object oriented Interface:</vt:lpstr>
      <vt:lpstr>Next step</vt:lpstr>
      <vt:lpstr>PowerPoint Presentation</vt:lpstr>
      <vt:lpstr>PowerPoint Presentation</vt:lpstr>
      <vt:lpstr>PowerPoint Presentation</vt:lpstr>
      <vt:lpstr>Something interesting , figure in figure</vt:lpstr>
      <vt:lpstr>PowerPoint Presentation</vt:lpstr>
      <vt:lpstr>We can create a matrix of subplot for example  3*3</vt:lpstr>
      <vt:lpstr>Add ,  plot.tight_layout()</vt:lpstr>
      <vt:lpstr>PowerPoint Presentation</vt:lpstr>
      <vt:lpstr>Figure size, aspect ratio, and DPI IN FIGURE</vt:lpstr>
      <vt:lpstr>IN SUBPLOTS</vt:lpstr>
      <vt:lpstr>PowerPoint Presentation</vt:lpstr>
      <vt:lpstr>PowerPoint Presentation</vt:lpstr>
      <vt:lpstr>PowerPoint Presentation</vt:lpstr>
      <vt:lpstr>PowerPoint Presentation</vt:lpstr>
      <vt:lpstr>Plot Types</vt:lpstr>
      <vt:lpstr>PowerPoint Presentation</vt:lpstr>
      <vt:lpstr>Time series (Line Plot)</vt:lpstr>
      <vt:lpstr>EXAMPLE</vt:lpstr>
      <vt:lpstr>Scatter plots</vt:lpstr>
      <vt:lpstr>PowerPoint Presentation</vt:lpstr>
      <vt:lpstr>Bar graphs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kamal korlakunta</cp:lastModifiedBy>
  <cp:revision>1</cp:revision>
  <dcterms:created xsi:type="dcterms:W3CDTF">2023-10-03T02:15:48Z</dcterms:created>
  <dcterms:modified xsi:type="dcterms:W3CDTF">2023-10-03T02:21:03Z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2019-06-15T00:00:00Z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2023-10-03T00:00:00Z</vt:filetime>
  </property>
</Properties>
</file>