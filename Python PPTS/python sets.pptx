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30.jpg" ContentType="image/jpg"/>
  <Override PartName="/ppt/media/image31.jpg" ContentType="image/jpg"/>
  <Override PartName="/ppt/media/image32.jpg" ContentType="image/jpg"/>
  <Override PartName="/ppt/media/image33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5FF2A-91CF-4CEF-9937-BDF52312CABC}" type="datetimeFigureOut">
              <a:rPr lang="en-IN" smtClean="0"/>
              <a:t>02-10-2023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669FEB-4E3B-40BB-B532-E98FE0F14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622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69FEB-4E3B-40BB-B532-E98FE0F1409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785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417259"/>
            <a:ext cx="9144000" cy="10375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436750"/>
            <a:ext cx="9144000" cy="44450"/>
          </a:xfrm>
          <a:custGeom>
            <a:avLst/>
            <a:gdLst/>
            <a:ahLst/>
            <a:cxnLst/>
            <a:rect l="l" t="t" r="r" b="b"/>
            <a:pathLst>
              <a:path w="9144000" h="44450">
                <a:moveTo>
                  <a:pt x="9144000" y="0"/>
                </a:moveTo>
                <a:lnTo>
                  <a:pt x="0" y="0"/>
                </a:lnTo>
                <a:lnTo>
                  <a:pt x="0" y="44450"/>
                </a:lnTo>
                <a:lnTo>
                  <a:pt x="9144000" y="444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1433830"/>
          </a:xfrm>
          <a:custGeom>
            <a:avLst/>
            <a:gdLst/>
            <a:ahLst/>
            <a:cxnLst/>
            <a:rect l="l" t="t" r="r" b="b"/>
            <a:pathLst>
              <a:path w="9144000" h="1433830">
                <a:moveTo>
                  <a:pt x="9144000" y="0"/>
                </a:moveTo>
                <a:lnTo>
                  <a:pt x="0" y="0"/>
                </a:lnTo>
                <a:lnTo>
                  <a:pt x="0" y="1433576"/>
                </a:lnTo>
                <a:lnTo>
                  <a:pt x="9144000" y="1433576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5836" y="1519173"/>
            <a:ext cx="8212327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www.programiz.com/python-programming/list" TargetMode="External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hyperlink" Target="https://www.programiz.com/python-programming/dictionary" TargetMode="External"/><Relationship Id="rId9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jpe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hyperlink" Target="https://www.programiz.com/python-programming/tuple" TargetMode="External"/><Relationship Id="rId7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s://www.programiz.com/python-programming/string" TargetMode="External"/><Relationship Id="rId9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e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7" Type="http://schemas.openxmlformats.org/officeDocument/2006/relationships/image" Target="../media/image6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ign with red and black text&#10;&#10;Description automatically generated">
            <a:extLst>
              <a:ext uri="{FF2B5EF4-FFF2-40B4-BE49-F238E27FC236}">
                <a16:creationId xmlns:a16="http://schemas.microsoft.com/office/drawing/2014/main" id="{C419BACB-3049-B17C-E5BA-8DA43CB69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433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32004"/>
            <a:ext cx="9144000" cy="6890004"/>
            <a:chOff x="0" y="-32004"/>
            <a:chExt cx="9144000" cy="689000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-32004"/>
              <a:ext cx="9144000" cy="5135880"/>
            </a:xfrm>
            <a:custGeom>
              <a:avLst/>
              <a:gdLst/>
              <a:ahLst/>
              <a:cxnLst/>
              <a:rect l="l" t="t" r="r" b="b"/>
              <a:pathLst>
                <a:path w="9144000" h="5135880">
                  <a:moveTo>
                    <a:pt x="9144000" y="0"/>
                  </a:moveTo>
                  <a:lnTo>
                    <a:pt x="0" y="0"/>
                  </a:lnTo>
                  <a:lnTo>
                    <a:pt x="0" y="5135626"/>
                  </a:lnTo>
                  <a:lnTo>
                    <a:pt x="9144000" y="513562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103876"/>
              <a:ext cx="9144000" cy="112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7561"/>
              <a:ext cx="9144000" cy="46355"/>
            </a:xfrm>
            <a:custGeom>
              <a:avLst/>
              <a:gdLst/>
              <a:ahLst/>
              <a:cxnLst/>
              <a:rect l="l" t="t" r="r" b="b"/>
              <a:pathLst>
                <a:path w="9144000" h="46354">
                  <a:moveTo>
                    <a:pt x="9144000" y="0"/>
                  </a:moveTo>
                  <a:lnTo>
                    <a:pt x="0" y="0"/>
                  </a:lnTo>
                  <a:lnTo>
                    <a:pt x="0" y="46037"/>
                  </a:lnTo>
                  <a:lnTo>
                    <a:pt x="9144000" y="4603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6908" y="3163824"/>
              <a:ext cx="3602736" cy="914400"/>
            </a:xfrm>
            <a:prstGeom prst="rect">
              <a:avLst/>
            </a:prstGeom>
          </p:spPr>
        </p:pic>
      </p:grpSp>
      <p:pic>
        <p:nvPicPr>
          <p:cNvPr id="8" name="Picture 7" descr="A black and red text&#10;&#10;Description automatically generated">
            <a:extLst>
              <a:ext uri="{FF2B5EF4-FFF2-40B4-BE49-F238E27FC236}">
                <a16:creationId xmlns:a16="http://schemas.microsoft.com/office/drawing/2014/main" id="{17B478DC-1113-91C0-ABC2-0730CFE998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4844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256031"/>
            <a:ext cx="3547872" cy="877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834134"/>
            <a:ext cx="756221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dirty="0">
                <a:latin typeface="Corbel"/>
                <a:cs typeface="Corbel"/>
              </a:rPr>
              <a:t>A </a:t>
            </a:r>
            <a:r>
              <a:rPr sz="2400" spc="-5" dirty="0">
                <a:latin typeface="Corbel"/>
                <a:cs typeface="Corbel"/>
              </a:rPr>
              <a:t>set </a:t>
            </a:r>
            <a:r>
              <a:rPr sz="2400" dirty="0">
                <a:latin typeface="Corbel"/>
                <a:cs typeface="Corbel"/>
              </a:rPr>
              <a:t>is an unordered </a:t>
            </a:r>
            <a:r>
              <a:rPr sz="2400" spc="-5" dirty="0">
                <a:latin typeface="Corbel"/>
                <a:cs typeface="Corbel"/>
              </a:rPr>
              <a:t>collection of items. Every </a:t>
            </a:r>
            <a:r>
              <a:rPr sz="2400" dirty="0">
                <a:latin typeface="Corbel"/>
                <a:cs typeface="Corbel"/>
              </a:rPr>
              <a:t>element is </a:t>
            </a:r>
            <a:r>
              <a:rPr sz="2400" spc="-47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unique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and</a:t>
            </a:r>
            <a:r>
              <a:rPr sz="2400" dirty="0">
                <a:latin typeface="Corbel"/>
                <a:cs typeface="Corbel"/>
              </a:rPr>
              <a:t> must </a:t>
            </a:r>
            <a:r>
              <a:rPr sz="2400" spc="-5" dirty="0">
                <a:latin typeface="Corbel"/>
                <a:cs typeface="Corbel"/>
              </a:rPr>
              <a:t>be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immutable.</a:t>
            </a:r>
            <a:endParaRPr sz="2400">
              <a:latin typeface="Corbel"/>
              <a:cs typeface="Corbel"/>
            </a:endParaRPr>
          </a:p>
          <a:p>
            <a:pPr marL="332105" marR="133985" indent="-320040">
              <a:lnSpc>
                <a:spcPct val="100000"/>
              </a:lnSpc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dirty="0">
                <a:latin typeface="Corbel"/>
                <a:cs typeface="Corbel"/>
              </a:rPr>
              <a:t>H</a:t>
            </a:r>
            <a:r>
              <a:rPr sz="2400" spc="-5" dirty="0">
                <a:latin typeface="Corbel"/>
                <a:cs typeface="Corbel"/>
              </a:rPr>
              <a:t>owe</a:t>
            </a:r>
            <a:r>
              <a:rPr sz="2400" spc="-15" dirty="0">
                <a:latin typeface="Corbel"/>
                <a:cs typeface="Corbel"/>
              </a:rPr>
              <a:t>v</a:t>
            </a:r>
            <a:r>
              <a:rPr sz="2400" dirty="0">
                <a:latin typeface="Corbel"/>
                <a:cs typeface="Corbel"/>
              </a:rPr>
              <a:t>e</a:t>
            </a:r>
            <a:r>
              <a:rPr sz="2400" spc="-114" dirty="0">
                <a:latin typeface="Corbel"/>
                <a:cs typeface="Corbel"/>
              </a:rPr>
              <a:t>r</a:t>
            </a:r>
            <a:r>
              <a:rPr sz="2400" dirty="0">
                <a:latin typeface="Corbel"/>
                <a:cs typeface="Corbel"/>
              </a:rPr>
              <a:t>,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</a:t>
            </a:r>
            <a:r>
              <a:rPr sz="2400" spc="-10" dirty="0">
                <a:latin typeface="Corbel"/>
                <a:cs typeface="Corbel"/>
              </a:rPr>
              <a:t>h</a:t>
            </a:r>
            <a:r>
              <a:rPr sz="2400" dirty="0">
                <a:latin typeface="Corbel"/>
                <a:cs typeface="Corbel"/>
              </a:rPr>
              <a:t>e set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</a:t>
            </a:r>
            <a:r>
              <a:rPr sz="2400" spc="-10" dirty="0">
                <a:latin typeface="Corbel"/>
                <a:cs typeface="Corbel"/>
              </a:rPr>
              <a:t>t</a:t>
            </a:r>
            <a:r>
              <a:rPr sz="2400" spc="-5" dirty="0">
                <a:latin typeface="Corbel"/>
                <a:cs typeface="Corbel"/>
              </a:rPr>
              <a:t>sel</a:t>
            </a:r>
            <a:r>
              <a:rPr sz="2400" dirty="0">
                <a:latin typeface="Corbel"/>
                <a:cs typeface="Corbel"/>
              </a:rPr>
              <a:t>f</a:t>
            </a:r>
            <a:r>
              <a:rPr sz="2400" spc="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is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mutable.</a:t>
            </a:r>
            <a:r>
              <a:rPr sz="2400" spc="-130" dirty="0">
                <a:latin typeface="Corbel"/>
                <a:cs typeface="Corbel"/>
              </a:rPr>
              <a:t> </a:t>
            </a:r>
            <a:r>
              <a:rPr sz="2400" spc="-90" dirty="0">
                <a:latin typeface="Corbel"/>
                <a:cs typeface="Corbel"/>
              </a:rPr>
              <a:t>W</a:t>
            </a:r>
            <a:r>
              <a:rPr sz="2400" dirty="0">
                <a:latin typeface="Corbel"/>
                <a:cs typeface="Corbel"/>
              </a:rPr>
              <a:t>e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ca</a:t>
            </a:r>
            <a:r>
              <a:rPr sz="2400" dirty="0">
                <a:latin typeface="Corbel"/>
                <a:cs typeface="Corbel"/>
              </a:rPr>
              <a:t>n</a:t>
            </a:r>
            <a:r>
              <a:rPr sz="2400" spc="-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add </a:t>
            </a:r>
            <a:r>
              <a:rPr sz="2400" spc="-5" dirty="0">
                <a:latin typeface="Corbel"/>
                <a:cs typeface="Corbel"/>
              </a:rPr>
              <a:t>o</a:t>
            </a:r>
            <a:r>
              <a:rPr sz="2400" dirty="0">
                <a:latin typeface="Corbel"/>
                <a:cs typeface="Corbel"/>
              </a:rPr>
              <a:t>r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rem</a:t>
            </a:r>
            <a:r>
              <a:rPr sz="2400" spc="-5" dirty="0">
                <a:latin typeface="Corbel"/>
                <a:cs typeface="Corbel"/>
              </a:rPr>
              <a:t>ove  items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from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it.</a:t>
            </a:r>
            <a:endParaRPr sz="2400">
              <a:latin typeface="Corbel"/>
              <a:cs typeface="Corbel"/>
            </a:endParaRPr>
          </a:p>
          <a:p>
            <a:pPr marL="332105" marR="52705" indent="-320040">
              <a:lnSpc>
                <a:spcPct val="100000"/>
              </a:lnSpc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dirty="0">
                <a:latin typeface="Corbel"/>
                <a:cs typeface="Corbel"/>
              </a:rPr>
              <a:t>Sets </a:t>
            </a:r>
            <a:r>
              <a:rPr sz="2400" spc="-5" dirty="0">
                <a:latin typeface="Corbel"/>
                <a:cs typeface="Corbel"/>
              </a:rPr>
              <a:t>can </a:t>
            </a:r>
            <a:r>
              <a:rPr sz="2400" dirty="0">
                <a:latin typeface="Corbel"/>
                <a:cs typeface="Corbel"/>
              </a:rPr>
              <a:t>be </a:t>
            </a:r>
            <a:r>
              <a:rPr sz="2400" spc="-5" dirty="0">
                <a:latin typeface="Corbel"/>
                <a:cs typeface="Corbel"/>
              </a:rPr>
              <a:t>used to perform mathematical set operations </a:t>
            </a:r>
            <a:r>
              <a:rPr sz="2400" spc="-470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like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union,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intersection,</a:t>
            </a:r>
            <a:r>
              <a:rPr sz="2400" spc="2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symmetric difference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etc.</a:t>
            </a:r>
            <a:endParaRPr sz="2400">
              <a:latin typeface="Corbel"/>
              <a:cs typeface="Corbel"/>
            </a:endParaRPr>
          </a:p>
        </p:txBody>
      </p:sp>
      <p:pic>
        <p:nvPicPr>
          <p:cNvPr id="4" name="Picture 3" descr="A black and red text&#10;&#10;Description automatically generated">
            <a:extLst>
              <a:ext uri="{FF2B5EF4-FFF2-40B4-BE49-F238E27FC236}">
                <a16:creationId xmlns:a16="http://schemas.microsoft.com/office/drawing/2014/main" id="{F8FB1E18-2410-E6A7-4BD0-44AB56CC93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4844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256031"/>
            <a:ext cx="4169664" cy="877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747774"/>
            <a:ext cx="7844155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227329" indent="-320040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80000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created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placing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elements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inside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curly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braces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{},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separated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built-in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set().</a:t>
            </a:r>
            <a:endParaRPr sz="2000">
              <a:latin typeface="Arial MT"/>
              <a:cs typeface="Arial MT"/>
            </a:endParaRPr>
          </a:p>
          <a:p>
            <a:pPr marL="332105" marR="209550" indent="-320040">
              <a:lnSpc>
                <a:spcPct val="100000"/>
              </a:lnSpc>
              <a:buClr>
                <a:srgbClr val="EFAC00"/>
              </a:buClr>
              <a:buSzPct val="80000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elements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different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types </a:t>
            </a:r>
            <a:r>
              <a:rPr sz="2000" spc="-10" dirty="0">
                <a:latin typeface="Arial MT"/>
                <a:cs typeface="Arial MT"/>
              </a:rPr>
              <a:t>(integer,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float,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tuple,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string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etc.).</a:t>
            </a:r>
            <a:endParaRPr sz="2000">
              <a:latin typeface="Arial MT"/>
              <a:cs typeface="Arial MT"/>
            </a:endParaRPr>
          </a:p>
          <a:p>
            <a:pPr marL="332105" marR="5080" indent="-320040">
              <a:lnSpc>
                <a:spcPct val="100000"/>
              </a:lnSpc>
              <a:buClr>
                <a:srgbClr val="EFAC00"/>
              </a:buClr>
              <a:buSzPct val="80000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cannot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 mutable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element,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like</a:t>
            </a:r>
            <a:r>
              <a:rPr sz="2000" spc="10" dirty="0">
                <a:solidFill>
                  <a:srgbClr val="168AB9"/>
                </a:solidFill>
                <a:latin typeface="Arial MT"/>
                <a:cs typeface="Arial MT"/>
              </a:rPr>
              <a:t> </a:t>
            </a:r>
            <a:r>
              <a:rPr sz="2000" u="heavy" dirty="0">
                <a:solidFill>
                  <a:srgbClr val="168AB9"/>
                </a:solidFill>
                <a:uFill>
                  <a:solidFill>
                    <a:srgbClr val="168AB9"/>
                  </a:solidFill>
                </a:uFill>
                <a:latin typeface="Arial MT"/>
                <a:cs typeface="Arial MT"/>
                <a:hlinkClick r:id="rId3"/>
              </a:rPr>
              <a:t>list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5" dirty="0">
                <a:solidFill>
                  <a:srgbClr val="168AB9"/>
                </a:solidFill>
                <a:latin typeface="Arial MT"/>
                <a:cs typeface="Arial MT"/>
              </a:rPr>
              <a:t> </a:t>
            </a:r>
            <a:r>
              <a:rPr sz="2000" u="heavy" spc="-15" dirty="0">
                <a:solidFill>
                  <a:srgbClr val="168AB9"/>
                </a:solidFill>
                <a:uFill>
                  <a:solidFill>
                    <a:srgbClr val="168AB9"/>
                  </a:solidFill>
                </a:uFill>
                <a:latin typeface="Arial MT"/>
                <a:cs typeface="Arial MT"/>
                <a:hlinkClick r:id="rId4"/>
              </a:rPr>
              <a:t>dictionary</a:t>
            </a:r>
            <a:r>
              <a:rPr sz="2000" spc="-15" dirty="0">
                <a:latin typeface="Arial MT"/>
                <a:cs typeface="Arial MT"/>
              </a:rPr>
              <a:t>,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element.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9100" y="3810000"/>
            <a:ext cx="5057775" cy="25431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57900" y="3971925"/>
            <a:ext cx="1304925" cy="1809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29325" y="4733925"/>
            <a:ext cx="1514475" cy="1333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91225" y="5591175"/>
            <a:ext cx="1409700" cy="133350"/>
          </a:xfrm>
          <a:prstGeom prst="rect">
            <a:avLst/>
          </a:prstGeom>
        </p:spPr>
      </p:pic>
      <p:pic>
        <p:nvPicPr>
          <p:cNvPr id="8" name="Picture 7" descr="A black and red text&#10;&#10;Description automatically generated">
            <a:extLst>
              <a:ext uri="{FF2B5EF4-FFF2-40B4-BE49-F238E27FC236}">
                <a16:creationId xmlns:a16="http://schemas.microsoft.com/office/drawing/2014/main" id="{4E1A5399-B29E-5F22-5277-49C7912EE2B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4844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5836" y="1519173"/>
            <a:ext cx="5846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60" dirty="0"/>
              <a:t> </a:t>
            </a:r>
            <a:r>
              <a:rPr dirty="0"/>
              <a:t>set </a:t>
            </a:r>
            <a:r>
              <a:rPr spc="-5" dirty="0"/>
              <a:t>can</a:t>
            </a:r>
            <a:r>
              <a:rPr dirty="0"/>
              <a:t> </a:t>
            </a:r>
            <a:r>
              <a:rPr spc="-5" dirty="0"/>
              <a:t>contain</a:t>
            </a:r>
            <a:r>
              <a:rPr spc="15" dirty="0"/>
              <a:t> </a:t>
            </a:r>
            <a:r>
              <a:rPr spc="-5" dirty="0"/>
              <a:t>elements</a:t>
            </a:r>
            <a:r>
              <a:rPr spc="5" dirty="0"/>
              <a:t> </a:t>
            </a:r>
            <a:r>
              <a:rPr spc="-5" dirty="0"/>
              <a:t>of</a:t>
            </a:r>
            <a:r>
              <a:rPr dirty="0"/>
              <a:t> </a:t>
            </a:r>
            <a:r>
              <a:rPr spc="-10" dirty="0"/>
              <a:t>different</a:t>
            </a:r>
            <a:r>
              <a:rPr spc="15" dirty="0"/>
              <a:t> </a:t>
            </a:r>
            <a:r>
              <a:rPr dirty="0"/>
              <a:t>type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2925" y="1981200"/>
            <a:ext cx="4019550" cy="12001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515" y="3979328"/>
            <a:ext cx="3611709" cy="12539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5836" y="3348354"/>
            <a:ext cx="3462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 </a:t>
            </a:r>
            <a:r>
              <a:rPr sz="2400" spc="-5" dirty="0">
                <a:latin typeface="Arial MT"/>
                <a:cs typeface="Arial MT"/>
              </a:rPr>
              <a:t>c</a:t>
            </a:r>
            <a:r>
              <a:rPr sz="2400" spc="-15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nn</a:t>
            </a:r>
            <a:r>
              <a:rPr sz="2400" spc="-15" dirty="0">
                <a:latin typeface="Arial MT"/>
                <a:cs typeface="Arial MT"/>
              </a:rPr>
              <a:t>o</a:t>
            </a:r>
            <a:r>
              <a:rPr sz="2400" dirty="0">
                <a:latin typeface="Arial MT"/>
                <a:cs typeface="Arial MT"/>
              </a:rPr>
              <a:t>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conta</a:t>
            </a:r>
            <a:r>
              <a:rPr sz="2400" spc="-15" dirty="0">
                <a:latin typeface="Arial MT"/>
                <a:cs typeface="Arial MT"/>
              </a:rPr>
              <a:t>i</a:t>
            </a:r>
            <a:r>
              <a:rPr sz="2400" spc="-5" dirty="0">
                <a:latin typeface="Arial MT"/>
                <a:cs typeface="Arial MT"/>
              </a:rPr>
              <a:t>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</a:t>
            </a:r>
            <a:r>
              <a:rPr sz="2400" spc="-15" dirty="0">
                <a:latin typeface="Arial MT"/>
                <a:cs typeface="Arial MT"/>
              </a:rPr>
              <a:t>i</a:t>
            </a:r>
            <a:r>
              <a:rPr sz="2400" dirty="0">
                <a:latin typeface="Arial MT"/>
                <a:cs typeface="Arial MT"/>
              </a:rPr>
              <a:t>sts.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09871" y="3348354"/>
            <a:ext cx="36760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675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We </a:t>
            </a: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convert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list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using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5" dirty="0">
                <a:latin typeface="Arial MT"/>
                <a:cs typeface="Arial MT"/>
              </a:rPr>
              <a:t> function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8854" y="4157546"/>
            <a:ext cx="3974795" cy="1613674"/>
          </a:xfrm>
          <a:prstGeom prst="rect">
            <a:avLst/>
          </a:prstGeom>
        </p:spPr>
      </p:pic>
      <p:pic>
        <p:nvPicPr>
          <p:cNvPr id="8" name="Picture 7" descr="A black and red text&#10;&#10;Description automatically generated">
            <a:extLst>
              <a:ext uri="{FF2B5EF4-FFF2-40B4-BE49-F238E27FC236}">
                <a16:creationId xmlns:a16="http://schemas.microsoft.com/office/drawing/2014/main" id="{130BB96A-8436-CEC4-F746-CD358A49EBC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4844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0804" y="1872233"/>
            <a:ext cx="60007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latin typeface="Corbel"/>
                <a:cs typeface="Corbel"/>
              </a:rPr>
              <a:t>LIST</a:t>
            </a:r>
            <a:endParaRPr sz="23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236" y="2508884"/>
            <a:ext cx="12947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dirty="0">
                <a:latin typeface="Corbel"/>
                <a:cs typeface="Corbel"/>
              </a:rPr>
              <a:t>append</a:t>
            </a:r>
            <a:endParaRPr sz="2400">
              <a:latin typeface="Corbel"/>
              <a:cs typeface="Corbel"/>
            </a:endParaRPr>
          </a:p>
          <a:p>
            <a:pPr marL="332740" indent="-320040">
              <a:lnSpc>
                <a:spcPct val="100000"/>
              </a:lnSpc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dirty="0">
                <a:latin typeface="Corbel"/>
                <a:cs typeface="Corbel"/>
              </a:rPr>
              <a:t>extend</a:t>
            </a:r>
            <a:endParaRPr sz="2400">
              <a:latin typeface="Corbel"/>
              <a:cs typeface="Corbel"/>
            </a:endParaRPr>
          </a:p>
          <a:p>
            <a:pPr marL="332740" indent="-320040">
              <a:lnSpc>
                <a:spcPct val="100000"/>
              </a:lnSpc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dirty="0">
                <a:latin typeface="Corbel"/>
                <a:cs typeface="Corbel"/>
              </a:rPr>
              <a:t>Insert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236" y="3972305"/>
            <a:ext cx="13074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spc="-40" dirty="0">
                <a:latin typeface="Corbel"/>
                <a:cs typeface="Corbel"/>
              </a:rPr>
              <a:t>Pop</a:t>
            </a:r>
            <a:endParaRPr sz="2400">
              <a:latin typeface="Corbel"/>
              <a:cs typeface="Corbel"/>
            </a:endParaRPr>
          </a:p>
          <a:p>
            <a:pPr marL="332740" indent="-320040">
              <a:lnSpc>
                <a:spcPct val="100000"/>
              </a:lnSpc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dirty="0">
                <a:latin typeface="Corbel"/>
                <a:cs typeface="Corbel"/>
              </a:rPr>
              <a:t>rem</a:t>
            </a:r>
            <a:r>
              <a:rPr sz="2400" spc="-5" dirty="0">
                <a:latin typeface="Corbel"/>
                <a:cs typeface="Corbel"/>
              </a:rPr>
              <a:t>ove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9390" y="1872233"/>
            <a:ext cx="89598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300" b="1" spc="-5" dirty="0">
                <a:latin typeface="Corbel"/>
                <a:cs typeface="Corbel"/>
              </a:rPr>
              <a:t>Sets</a:t>
            </a:r>
            <a:endParaRPr sz="2300" dirty="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06822" y="2508884"/>
            <a:ext cx="14687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dirty="0">
                <a:latin typeface="Corbel"/>
                <a:cs typeface="Corbel"/>
              </a:rPr>
              <a:t>add</a:t>
            </a:r>
            <a:endParaRPr sz="2400">
              <a:latin typeface="Corbel"/>
              <a:cs typeface="Corbel"/>
            </a:endParaRPr>
          </a:p>
          <a:p>
            <a:pPr marL="332740" indent="-320040">
              <a:lnSpc>
                <a:spcPct val="100000"/>
              </a:lnSpc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spc="-5" dirty="0">
                <a:latin typeface="Corbel"/>
                <a:cs typeface="Corbel"/>
              </a:rPr>
              <a:t>Update</a:t>
            </a:r>
            <a:endParaRPr sz="2400">
              <a:latin typeface="Corbel"/>
              <a:cs typeface="Corbel"/>
            </a:endParaRPr>
          </a:p>
          <a:p>
            <a:pPr marL="332740" indent="-320040">
              <a:lnSpc>
                <a:spcPct val="100000"/>
              </a:lnSpc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spc="5" dirty="0">
                <a:latin typeface="Corbel"/>
                <a:cs typeface="Corbel"/>
              </a:rPr>
              <a:t>-----------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06822" y="3972305"/>
            <a:ext cx="156845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dirty="0">
                <a:latin typeface="Corbel"/>
                <a:cs typeface="Corbel"/>
              </a:rPr>
              <a:t>------------</a:t>
            </a:r>
            <a:endParaRPr sz="2400">
              <a:latin typeface="Corbel"/>
              <a:cs typeface="Corbel"/>
            </a:endParaRPr>
          </a:p>
          <a:p>
            <a:pPr marL="332740" indent="-320040">
              <a:lnSpc>
                <a:spcPct val="100000"/>
              </a:lnSpc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spc="-5" dirty="0">
                <a:latin typeface="Corbel"/>
                <a:cs typeface="Corbel"/>
              </a:rPr>
              <a:t>remove</a:t>
            </a:r>
            <a:endParaRPr sz="2400">
              <a:latin typeface="Corbel"/>
              <a:cs typeface="Corbel"/>
            </a:endParaRPr>
          </a:p>
          <a:p>
            <a:pPr marL="332740" indent="-320040">
              <a:lnSpc>
                <a:spcPct val="100000"/>
              </a:lnSpc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dirty="0">
                <a:latin typeface="Corbel"/>
                <a:cs typeface="Corbel"/>
              </a:rPr>
              <a:t>discard</a:t>
            </a:r>
            <a:endParaRPr sz="2400">
              <a:latin typeface="Corbel"/>
              <a:cs typeface="Corbel"/>
            </a:endParaRPr>
          </a:p>
        </p:txBody>
      </p:sp>
      <p:pic>
        <p:nvPicPr>
          <p:cNvPr id="8" name="Picture 7" descr="A black and red text&#10;&#10;Description automatically generated">
            <a:extLst>
              <a:ext uri="{FF2B5EF4-FFF2-40B4-BE49-F238E27FC236}">
                <a16:creationId xmlns:a16="http://schemas.microsoft.com/office/drawing/2014/main" id="{7E48F2D7-1179-5D63-C5F2-19A751CD30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4844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256031"/>
            <a:ext cx="6423659" cy="877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662430"/>
            <a:ext cx="7754620" cy="246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619125" indent="-320040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80000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000" dirty="0">
                <a:latin typeface="Corbel"/>
                <a:cs typeface="Corbel"/>
              </a:rPr>
              <a:t>Sets are </a:t>
            </a:r>
            <a:r>
              <a:rPr sz="2000" spc="-5" dirty="0">
                <a:latin typeface="Corbel"/>
                <a:cs typeface="Corbel"/>
              </a:rPr>
              <a:t>mutable. But </a:t>
            </a:r>
            <a:r>
              <a:rPr sz="2000" dirty="0">
                <a:latin typeface="Corbel"/>
                <a:cs typeface="Corbel"/>
              </a:rPr>
              <a:t>since </a:t>
            </a:r>
            <a:r>
              <a:rPr sz="2000" spc="-5" dirty="0">
                <a:latin typeface="Corbel"/>
                <a:cs typeface="Corbel"/>
              </a:rPr>
              <a:t>they </a:t>
            </a:r>
            <a:r>
              <a:rPr sz="2000" dirty="0">
                <a:latin typeface="Corbel"/>
                <a:cs typeface="Corbel"/>
              </a:rPr>
              <a:t>are </a:t>
            </a:r>
            <a:r>
              <a:rPr sz="2000" spc="-5" dirty="0">
                <a:latin typeface="Corbel"/>
                <a:cs typeface="Corbel"/>
              </a:rPr>
              <a:t>unordered, </a:t>
            </a:r>
            <a:r>
              <a:rPr sz="2000" dirty="0">
                <a:latin typeface="Corbel"/>
                <a:cs typeface="Corbel"/>
              </a:rPr>
              <a:t>indexing </a:t>
            </a:r>
            <a:r>
              <a:rPr sz="2000" spc="-5" dirty="0">
                <a:latin typeface="Corbel"/>
                <a:cs typeface="Corbel"/>
              </a:rPr>
              <a:t>have no </a:t>
            </a:r>
            <a:r>
              <a:rPr sz="2000" spc="-39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meaning.</a:t>
            </a:r>
            <a:endParaRPr sz="2000">
              <a:latin typeface="Corbel"/>
              <a:cs typeface="Corbel"/>
            </a:endParaRPr>
          </a:p>
          <a:p>
            <a:pPr marL="332740" indent="-320040">
              <a:lnSpc>
                <a:spcPct val="100000"/>
              </a:lnSpc>
              <a:buClr>
                <a:srgbClr val="EFAC00"/>
              </a:buClr>
              <a:buSzPct val="80000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000" spc="-40" dirty="0">
                <a:latin typeface="Corbel"/>
                <a:cs typeface="Corbel"/>
              </a:rPr>
              <a:t>We</a:t>
            </a:r>
            <a:r>
              <a:rPr sz="2000" spc="-2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cannot</a:t>
            </a:r>
            <a:r>
              <a:rPr sz="2000" spc="-15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access or change</a:t>
            </a:r>
            <a:r>
              <a:rPr sz="2000" spc="-2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an</a:t>
            </a:r>
            <a:r>
              <a:rPr sz="2000" spc="-1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element</a:t>
            </a:r>
            <a:r>
              <a:rPr sz="2000" spc="5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of set</a:t>
            </a:r>
            <a:r>
              <a:rPr sz="2000" spc="1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using</a:t>
            </a:r>
            <a:r>
              <a:rPr sz="2000" spc="-1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indexing</a:t>
            </a:r>
            <a:r>
              <a:rPr sz="2000" spc="-1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or slicing.</a:t>
            </a:r>
            <a:endParaRPr sz="2000">
              <a:latin typeface="Corbel"/>
              <a:cs typeface="Corbel"/>
            </a:endParaRPr>
          </a:p>
          <a:p>
            <a:pPr marL="332105" marR="730885" indent="-320040">
              <a:lnSpc>
                <a:spcPct val="100000"/>
              </a:lnSpc>
              <a:buClr>
                <a:srgbClr val="EFAC00"/>
              </a:buClr>
              <a:buSzPct val="80000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000" spc="-40" dirty="0">
                <a:latin typeface="Corbel"/>
                <a:cs typeface="Corbel"/>
              </a:rPr>
              <a:t>We </a:t>
            </a:r>
            <a:r>
              <a:rPr sz="2000" spc="-5" dirty="0">
                <a:latin typeface="Corbel"/>
                <a:cs typeface="Corbel"/>
              </a:rPr>
              <a:t>can </a:t>
            </a:r>
            <a:r>
              <a:rPr sz="2000" dirty="0">
                <a:latin typeface="Corbel"/>
                <a:cs typeface="Corbel"/>
              </a:rPr>
              <a:t>add single element using </a:t>
            </a:r>
            <a:r>
              <a:rPr sz="2000" spc="-5" dirty="0">
                <a:latin typeface="Corbel"/>
                <a:cs typeface="Corbel"/>
              </a:rPr>
              <a:t>the </a:t>
            </a:r>
            <a:r>
              <a:rPr sz="2000" b="1" dirty="0">
                <a:latin typeface="Corbel"/>
                <a:cs typeface="Corbel"/>
              </a:rPr>
              <a:t>add() </a:t>
            </a:r>
            <a:r>
              <a:rPr sz="2000" spc="-5" dirty="0">
                <a:latin typeface="Corbel"/>
                <a:cs typeface="Corbel"/>
              </a:rPr>
              <a:t>method </a:t>
            </a:r>
            <a:r>
              <a:rPr sz="2000" dirty="0">
                <a:latin typeface="Corbel"/>
                <a:cs typeface="Corbel"/>
              </a:rPr>
              <a:t>and </a:t>
            </a:r>
            <a:r>
              <a:rPr sz="2000" spc="-5" dirty="0">
                <a:latin typeface="Corbel"/>
                <a:cs typeface="Corbel"/>
              </a:rPr>
              <a:t>multiple </a:t>
            </a:r>
            <a:r>
              <a:rPr sz="2000" spc="-39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elements</a:t>
            </a:r>
            <a:r>
              <a:rPr sz="2000" spc="-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using</a:t>
            </a:r>
            <a:r>
              <a:rPr sz="2000" spc="-1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the </a:t>
            </a:r>
            <a:r>
              <a:rPr sz="2000" b="1" dirty="0">
                <a:latin typeface="Corbel"/>
                <a:cs typeface="Corbel"/>
              </a:rPr>
              <a:t>update()</a:t>
            </a:r>
            <a:r>
              <a:rPr sz="2000" b="1" spc="-4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method.</a:t>
            </a:r>
            <a:endParaRPr sz="2000">
              <a:latin typeface="Corbel"/>
              <a:cs typeface="Corbel"/>
            </a:endParaRPr>
          </a:p>
          <a:p>
            <a:pPr marL="332105" marR="256540" indent="-320040">
              <a:lnSpc>
                <a:spcPct val="100000"/>
              </a:lnSpc>
              <a:buClr>
                <a:srgbClr val="EFAC00"/>
              </a:buClr>
              <a:buSzPct val="80000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000" spc="-5" dirty="0">
                <a:latin typeface="Corbel"/>
                <a:cs typeface="Corbel"/>
              </a:rPr>
              <a:t>The </a:t>
            </a:r>
            <a:r>
              <a:rPr sz="2000" dirty="0">
                <a:latin typeface="Corbel"/>
                <a:cs typeface="Corbel"/>
              </a:rPr>
              <a:t>update()</a:t>
            </a:r>
            <a:r>
              <a:rPr sz="2000" spc="5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method</a:t>
            </a:r>
            <a:r>
              <a:rPr sz="200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can</a:t>
            </a:r>
            <a:r>
              <a:rPr sz="2000" spc="-15" dirty="0">
                <a:latin typeface="Corbel"/>
                <a:cs typeface="Corbel"/>
              </a:rPr>
              <a:t> take</a:t>
            </a:r>
            <a:r>
              <a:rPr sz="2000" spc="10" dirty="0">
                <a:solidFill>
                  <a:srgbClr val="168AB9"/>
                </a:solidFill>
                <a:latin typeface="Corbel"/>
                <a:cs typeface="Corbel"/>
              </a:rPr>
              <a:t> </a:t>
            </a:r>
            <a:r>
              <a:rPr sz="2000" u="heavy" spc="-5" dirty="0">
                <a:solidFill>
                  <a:srgbClr val="168AB9"/>
                </a:solidFill>
                <a:uFill>
                  <a:solidFill>
                    <a:srgbClr val="168AB9"/>
                  </a:solidFill>
                </a:uFill>
                <a:latin typeface="Corbel"/>
                <a:cs typeface="Corbel"/>
                <a:hlinkClick r:id="rId3"/>
              </a:rPr>
              <a:t>tuples</a:t>
            </a:r>
            <a:r>
              <a:rPr sz="2000" spc="-5" dirty="0">
                <a:latin typeface="Corbel"/>
                <a:cs typeface="Corbel"/>
              </a:rPr>
              <a:t>,</a:t>
            </a:r>
            <a:r>
              <a:rPr sz="2000" spc="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lists,</a:t>
            </a:r>
            <a:r>
              <a:rPr sz="2000" spc="-10" dirty="0">
                <a:solidFill>
                  <a:srgbClr val="168AB9"/>
                </a:solidFill>
                <a:latin typeface="Corbel"/>
                <a:cs typeface="Corbel"/>
              </a:rPr>
              <a:t> </a:t>
            </a:r>
            <a:r>
              <a:rPr sz="2000" u="heavy" spc="-5" dirty="0">
                <a:solidFill>
                  <a:srgbClr val="168AB9"/>
                </a:solidFill>
                <a:uFill>
                  <a:solidFill>
                    <a:srgbClr val="168AB9"/>
                  </a:solidFill>
                </a:uFill>
                <a:latin typeface="Corbel"/>
                <a:cs typeface="Corbel"/>
                <a:hlinkClick r:id="rId4"/>
              </a:rPr>
              <a:t>strings</a:t>
            </a:r>
            <a:r>
              <a:rPr sz="2000" dirty="0">
                <a:solidFill>
                  <a:srgbClr val="168AB9"/>
                </a:solidFill>
                <a:latin typeface="Corbel"/>
                <a:cs typeface="Corbel"/>
                <a:hlinkClick r:id="rId4"/>
              </a:rPr>
              <a:t> </a:t>
            </a:r>
            <a:r>
              <a:rPr sz="2000" spc="-5" dirty="0">
                <a:latin typeface="Corbel"/>
                <a:cs typeface="Corbel"/>
              </a:rPr>
              <a:t>or</a:t>
            </a:r>
            <a:r>
              <a:rPr sz="200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other</a:t>
            </a:r>
            <a:r>
              <a:rPr sz="2000" dirty="0">
                <a:latin typeface="Corbel"/>
                <a:cs typeface="Corbel"/>
              </a:rPr>
              <a:t> sets</a:t>
            </a:r>
            <a:r>
              <a:rPr sz="2000" spc="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as</a:t>
            </a:r>
            <a:r>
              <a:rPr sz="2000" spc="-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its </a:t>
            </a:r>
            <a:r>
              <a:rPr sz="2000" spc="-385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argument.</a:t>
            </a:r>
            <a:endParaRPr sz="2000">
              <a:latin typeface="Corbel"/>
              <a:cs typeface="Corbel"/>
            </a:endParaRPr>
          </a:p>
          <a:p>
            <a:pPr marL="332740" indent="-320040">
              <a:lnSpc>
                <a:spcPct val="100000"/>
              </a:lnSpc>
              <a:spcBef>
                <a:spcPts val="5"/>
              </a:spcBef>
              <a:buClr>
                <a:srgbClr val="EFAC00"/>
              </a:buClr>
              <a:buSzPct val="80000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000" dirty="0">
                <a:latin typeface="Corbel"/>
                <a:cs typeface="Corbel"/>
              </a:rPr>
              <a:t>In</a:t>
            </a:r>
            <a:r>
              <a:rPr sz="2000" spc="-3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all</a:t>
            </a:r>
            <a:r>
              <a:rPr sz="2000" spc="-15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cases,</a:t>
            </a:r>
            <a:r>
              <a:rPr sz="2000" spc="-2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duplicates </a:t>
            </a:r>
            <a:r>
              <a:rPr sz="2000" dirty="0">
                <a:latin typeface="Corbel"/>
                <a:cs typeface="Corbel"/>
              </a:rPr>
              <a:t>are</a:t>
            </a:r>
            <a:r>
              <a:rPr sz="2000" spc="-1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avoided.</a:t>
            </a:r>
            <a:endParaRPr sz="2000">
              <a:latin typeface="Corbel"/>
              <a:cs typeface="Corbel"/>
            </a:endParaRPr>
          </a:p>
        </p:txBody>
      </p: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6250" y="4314825"/>
            <a:ext cx="3552825" cy="16097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1000" y="6391275"/>
            <a:ext cx="5810250" cy="18097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114800" y="4295775"/>
            <a:ext cx="4152900" cy="1752600"/>
            <a:chOff x="4114800" y="4295775"/>
            <a:chExt cx="4152900" cy="1752600"/>
          </a:xfrm>
        </p:grpSpPr>
        <p:pic>
          <p:nvPicPr>
            <p:cNvPr id="7" name="object 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91000" y="4295775"/>
              <a:ext cx="4076700" cy="6667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14800" y="4953000"/>
              <a:ext cx="2552700" cy="1095375"/>
            </a:xfrm>
            <a:prstGeom prst="rect">
              <a:avLst/>
            </a:prstGeom>
          </p:spPr>
        </p:pic>
      </p:grpSp>
      <p:pic>
        <p:nvPicPr>
          <p:cNvPr id="9" name="Picture 8" descr="A black and red text&#10;&#10;Description automatically generated">
            <a:extLst>
              <a:ext uri="{FF2B5EF4-FFF2-40B4-BE49-F238E27FC236}">
                <a16:creationId xmlns:a16="http://schemas.microsoft.com/office/drawing/2014/main" id="{83761783-E5C0-341C-7BAB-29020DFD673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6164844"/>
            <a:ext cx="28194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256031"/>
            <a:ext cx="7717535" cy="877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595374"/>
            <a:ext cx="7155180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1445260" indent="-320040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80000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particular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item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removed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methods,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discard()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remove().</a:t>
            </a:r>
            <a:endParaRPr sz="2000">
              <a:latin typeface="Arial MT"/>
              <a:cs typeface="Arial MT"/>
            </a:endParaRPr>
          </a:p>
          <a:p>
            <a:pPr marL="332740" indent="-320040">
              <a:lnSpc>
                <a:spcPct val="100000"/>
              </a:lnSpc>
              <a:buClr>
                <a:srgbClr val="EFAC00"/>
              </a:buClr>
              <a:buSzPct val="80000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discard()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item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exist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 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remains</a:t>
            </a:r>
            <a:endParaRPr sz="2000">
              <a:latin typeface="Arial MT"/>
              <a:cs typeface="Arial MT"/>
            </a:endParaRPr>
          </a:p>
          <a:p>
            <a:pPr marL="33210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unchanged.</a:t>
            </a:r>
            <a:endParaRPr sz="2000">
              <a:latin typeface="Arial MT"/>
              <a:cs typeface="Arial MT"/>
            </a:endParaRPr>
          </a:p>
          <a:p>
            <a:pPr marL="332740" indent="-320040">
              <a:lnSpc>
                <a:spcPct val="100000"/>
              </a:lnSpc>
              <a:buClr>
                <a:srgbClr val="EFAC00"/>
              </a:buClr>
              <a:buSzPct val="80000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remove()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 raise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error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 such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condition.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3171825"/>
            <a:ext cx="4076700" cy="35147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43500" y="3657600"/>
            <a:ext cx="3571875" cy="1600200"/>
          </a:xfrm>
          <a:prstGeom prst="rect">
            <a:avLst/>
          </a:prstGeom>
        </p:spPr>
      </p:pic>
      <p:pic>
        <p:nvPicPr>
          <p:cNvPr id="6" name="Picture 5" descr="A black and red text&#10;&#10;Description automatically generated">
            <a:extLst>
              <a:ext uri="{FF2B5EF4-FFF2-40B4-BE49-F238E27FC236}">
                <a16:creationId xmlns:a16="http://schemas.microsoft.com/office/drawing/2014/main" id="{28D0BB17-B8D1-B8BD-CC0F-53529061EF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4844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256031"/>
            <a:ext cx="5870448" cy="877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590801"/>
            <a:ext cx="7284084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79687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3200" spc="-30" dirty="0">
                <a:latin typeface="Arial MT"/>
                <a:cs typeface="Arial MT"/>
              </a:rPr>
              <a:t>We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can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test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if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item </a:t>
            </a:r>
            <a:r>
              <a:rPr sz="3200" dirty="0">
                <a:latin typeface="Arial MT"/>
                <a:cs typeface="Arial MT"/>
              </a:rPr>
              <a:t>exists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set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or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not,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using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the </a:t>
            </a:r>
            <a:r>
              <a:rPr sz="3200" b="1" dirty="0">
                <a:latin typeface="Arial"/>
                <a:cs typeface="Arial"/>
              </a:rPr>
              <a:t>in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spc="-25" dirty="0">
                <a:latin typeface="Arial MT"/>
                <a:cs typeface="Arial MT"/>
              </a:rPr>
              <a:t>operator.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873" y="2681351"/>
            <a:ext cx="3599726" cy="3679927"/>
          </a:xfrm>
          <a:prstGeom prst="rect">
            <a:avLst/>
          </a:prstGeom>
        </p:spPr>
      </p:pic>
      <p:pic>
        <p:nvPicPr>
          <p:cNvPr id="5" name="Picture 4" descr="A black and red text&#10;&#10;Description automatically generated">
            <a:extLst>
              <a:ext uri="{FF2B5EF4-FFF2-40B4-BE49-F238E27FC236}">
                <a16:creationId xmlns:a16="http://schemas.microsoft.com/office/drawing/2014/main" id="{F279154F-48FC-86CD-FD10-94D9CD21EC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4844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236" y="1828038"/>
            <a:ext cx="655828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79687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3200" dirty="0">
                <a:latin typeface="Corbel"/>
                <a:cs typeface="Corbel"/>
              </a:rPr>
              <a:t>Given</a:t>
            </a:r>
            <a:r>
              <a:rPr sz="3200" spc="-4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an</a:t>
            </a:r>
            <a:r>
              <a:rPr sz="3200" spc="-3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list</a:t>
            </a:r>
            <a:r>
              <a:rPr sz="3200" spc="-5" dirty="0">
                <a:latin typeface="Corbel"/>
                <a:cs typeface="Corbel"/>
              </a:rPr>
              <a:t> of</a:t>
            </a:r>
            <a:r>
              <a:rPr sz="3200" spc="-1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elements,</a:t>
            </a:r>
            <a:r>
              <a:rPr sz="3200" spc="-30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remove</a:t>
            </a:r>
            <a:r>
              <a:rPr sz="3200" spc="-25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the </a:t>
            </a:r>
            <a:r>
              <a:rPr sz="3200" spc="-62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duplicate</a:t>
            </a:r>
            <a:r>
              <a:rPr sz="3200" spc="-6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element.</a:t>
            </a:r>
            <a:endParaRPr sz="3200">
              <a:latin typeface="Corbel"/>
              <a:cs typeface="Corbel"/>
            </a:endParaRPr>
          </a:p>
        </p:txBody>
      </p:sp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4FFE2217-1830-2066-CF1B-6ECA73BE25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4844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36" y="1670049"/>
            <a:ext cx="728853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95"/>
              </a:spcBef>
              <a:buClr>
                <a:srgbClr val="EFAC00"/>
              </a:buClr>
              <a:buSzPct val="80357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800" spc="-5" dirty="0">
                <a:latin typeface="Arial MT"/>
                <a:cs typeface="Arial MT"/>
              </a:rPr>
              <a:t>Read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string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and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find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number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 unique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characters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it.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037" y="3048000"/>
            <a:ext cx="7562850" cy="3581400"/>
          </a:xfrm>
          <a:prstGeom prst="rect">
            <a:avLst/>
          </a:prstGeom>
        </p:spPr>
      </p:pic>
      <p:pic>
        <p:nvPicPr>
          <p:cNvPr id="4" name="Picture 3" descr="A black and red text&#10;&#10;Description automatically generated">
            <a:extLst>
              <a:ext uri="{FF2B5EF4-FFF2-40B4-BE49-F238E27FC236}">
                <a16:creationId xmlns:a16="http://schemas.microsoft.com/office/drawing/2014/main" id="{3757D9AB-17D8-D596-EFDA-9BE05C586C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6400800"/>
            <a:ext cx="22860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256031"/>
            <a:ext cx="6309360" cy="877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659382"/>
            <a:ext cx="79736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dirty="0">
                <a:latin typeface="Corbel"/>
                <a:cs typeface="Corbel"/>
              </a:rPr>
              <a:t>Sets </a:t>
            </a:r>
            <a:r>
              <a:rPr sz="2400" spc="-5" dirty="0">
                <a:latin typeface="Corbel"/>
                <a:cs typeface="Corbel"/>
              </a:rPr>
              <a:t>can </a:t>
            </a:r>
            <a:r>
              <a:rPr sz="2400" dirty="0">
                <a:latin typeface="Corbel"/>
                <a:cs typeface="Corbel"/>
              </a:rPr>
              <a:t>be </a:t>
            </a:r>
            <a:r>
              <a:rPr sz="2400" spc="-5" dirty="0">
                <a:latin typeface="Corbel"/>
                <a:cs typeface="Corbel"/>
              </a:rPr>
              <a:t>used to carry </a:t>
            </a:r>
            <a:r>
              <a:rPr sz="2400" dirty="0">
                <a:latin typeface="Corbel"/>
                <a:cs typeface="Corbel"/>
              </a:rPr>
              <a:t>out </a:t>
            </a:r>
            <a:r>
              <a:rPr sz="2400" spc="-5" dirty="0">
                <a:latin typeface="Corbel"/>
                <a:cs typeface="Corbel"/>
              </a:rPr>
              <a:t>mathematical set operations 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like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union,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intersection,</a:t>
            </a:r>
            <a:r>
              <a:rPr sz="2400" spc="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difference</a:t>
            </a:r>
            <a:r>
              <a:rPr sz="2400" spc="-5" dirty="0">
                <a:latin typeface="Corbel"/>
                <a:cs typeface="Corbel"/>
              </a:rPr>
              <a:t> and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symmetric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difference.</a:t>
            </a:r>
            <a:endParaRPr sz="2400">
              <a:latin typeface="Corbel"/>
              <a:cs typeface="Corbel"/>
            </a:endParaRPr>
          </a:p>
          <a:p>
            <a:pPr marL="332740" indent="-320040">
              <a:lnSpc>
                <a:spcPct val="100000"/>
              </a:lnSpc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spc="-45" dirty="0">
                <a:latin typeface="Corbel"/>
                <a:cs typeface="Corbel"/>
              </a:rPr>
              <a:t>We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can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do</a:t>
            </a:r>
            <a:r>
              <a:rPr sz="2400" spc="-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this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with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operators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or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methods.</a:t>
            </a:r>
            <a:endParaRPr sz="2400">
              <a:latin typeface="Corbel"/>
              <a:cs typeface="Corbe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0850" y="3041650"/>
          <a:ext cx="7543800" cy="29844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Method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FAC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Operator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FA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FA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00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union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|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531"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orbel"/>
                          <a:cs typeface="Corbel"/>
                        </a:rPr>
                        <a:t>intersection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&amp;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difference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-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242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orbel"/>
                          <a:cs typeface="Corbel"/>
                        </a:rPr>
                        <a:t>symmetric_difference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^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38800" y="3494570"/>
            <a:ext cx="1066800" cy="62022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638800" y="4191000"/>
            <a:ext cx="2227580" cy="1828800"/>
            <a:chOff x="5638800" y="4191000"/>
            <a:chExt cx="2227580" cy="18288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9400" y="4191000"/>
              <a:ext cx="1036637" cy="609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38800" y="4800663"/>
              <a:ext cx="1066800" cy="62706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0" y="5410200"/>
              <a:ext cx="1008062" cy="609600"/>
            </a:xfrm>
            <a:prstGeom prst="rect">
              <a:avLst/>
            </a:prstGeom>
          </p:spPr>
        </p:pic>
      </p:grpSp>
      <p:pic>
        <p:nvPicPr>
          <p:cNvPr id="10" name="Picture 9" descr="A black and red text&#10;&#10;Description automatically generated">
            <a:extLst>
              <a:ext uri="{FF2B5EF4-FFF2-40B4-BE49-F238E27FC236}">
                <a16:creationId xmlns:a16="http://schemas.microsoft.com/office/drawing/2014/main" id="{6D00D079-5EE4-9092-02EF-B302CC2CECB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4844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1828800"/>
            <a:ext cx="3819525" cy="18573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150" y="4724400"/>
            <a:ext cx="4391025" cy="895350"/>
          </a:xfrm>
          <a:prstGeom prst="rect">
            <a:avLst/>
          </a:prstGeom>
        </p:spPr>
      </p:pic>
      <p:pic>
        <p:nvPicPr>
          <p:cNvPr id="4" name="Picture 3" descr="A black and red text&#10;&#10;Description automatically generated">
            <a:extLst>
              <a:ext uri="{FF2B5EF4-FFF2-40B4-BE49-F238E27FC236}">
                <a16:creationId xmlns:a16="http://schemas.microsoft.com/office/drawing/2014/main" id="{16CE2E4A-4D62-3C93-30CE-367C738350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4844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3734" y="1697732"/>
            <a:ext cx="8928100" cy="4127500"/>
            <a:chOff x="173734" y="1697732"/>
            <a:chExt cx="8928100" cy="4127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734" y="1697732"/>
              <a:ext cx="8927595" cy="4126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600" y="1752599"/>
              <a:ext cx="8763000" cy="3962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9550" y="1733549"/>
              <a:ext cx="8801100" cy="4000500"/>
            </a:xfrm>
            <a:custGeom>
              <a:avLst/>
              <a:gdLst/>
              <a:ahLst/>
              <a:cxnLst/>
              <a:rect l="l" t="t" r="r" b="b"/>
              <a:pathLst>
                <a:path w="8801100" h="4000500">
                  <a:moveTo>
                    <a:pt x="0" y="4000500"/>
                  </a:moveTo>
                  <a:lnTo>
                    <a:pt x="8801100" y="4000500"/>
                  </a:lnTo>
                  <a:lnTo>
                    <a:pt x="8801100" y="0"/>
                  </a:lnTo>
                  <a:lnTo>
                    <a:pt x="0" y="0"/>
                  </a:lnTo>
                  <a:lnTo>
                    <a:pt x="0" y="400050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Picture 5" descr="A black and red text&#10;&#10;Description automatically generated">
            <a:extLst>
              <a:ext uri="{FF2B5EF4-FFF2-40B4-BE49-F238E27FC236}">
                <a16:creationId xmlns:a16="http://schemas.microsoft.com/office/drawing/2014/main" id="{1ED19D8D-4C11-9C91-D78F-293EAC2FB9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4844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2334" y="1697732"/>
            <a:ext cx="8374380" cy="4127500"/>
            <a:chOff x="402334" y="1697732"/>
            <a:chExt cx="8374380" cy="4127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2334" y="1697732"/>
              <a:ext cx="8374383" cy="4126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199" y="1752599"/>
              <a:ext cx="8210677" cy="3962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38149" y="1733549"/>
              <a:ext cx="8249284" cy="4000500"/>
            </a:xfrm>
            <a:custGeom>
              <a:avLst/>
              <a:gdLst/>
              <a:ahLst/>
              <a:cxnLst/>
              <a:rect l="l" t="t" r="r" b="b"/>
              <a:pathLst>
                <a:path w="8249284" h="4000500">
                  <a:moveTo>
                    <a:pt x="0" y="4000500"/>
                  </a:moveTo>
                  <a:lnTo>
                    <a:pt x="8248777" y="4000500"/>
                  </a:lnTo>
                  <a:lnTo>
                    <a:pt x="8248777" y="0"/>
                  </a:lnTo>
                  <a:lnTo>
                    <a:pt x="0" y="0"/>
                  </a:lnTo>
                  <a:lnTo>
                    <a:pt x="0" y="400050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Picture 5" descr="A black and red text&#10;&#10;Description automatically generated">
            <a:extLst>
              <a:ext uri="{FF2B5EF4-FFF2-40B4-BE49-F238E27FC236}">
                <a16:creationId xmlns:a16="http://schemas.microsoft.com/office/drawing/2014/main" id="{CE3A502E-70F1-F681-C849-73F536D8B6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4844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905000"/>
            <a:ext cx="7164162" cy="2819400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79D01F4E-80D2-EE93-FC36-09DCA78AB4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4844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256031"/>
            <a:ext cx="6803135" cy="877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9636" y="1662430"/>
            <a:ext cx="815530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80000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000" spc="-40" dirty="0">
                <a:latin typeface="Corbel"/>
                <a:cs typeface="Corbel"/>
              </a:rPr>
              <a:t>We</a:t>
            </a:r>
            <a:r>
              <a:rPr sz="2000" spc="-2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have</a:t>
            </a:r>
            <a:r>
              <a:rPr sz="200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seen the</a:t>
            </a:r>
            <a:r>
              <a:rPr sz="2000" spc="1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applications</a:t>
            </a:r>
            <a:r>
              <a:rPr sz="2000" spc="-5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of</a:t>
            </a:r>
            <a:r>
              <a:rPr sz="2000" spc="25" dirty="0">
                <a:latin typeface="Corbel"/>
                <a:cs typeface="Corbel"/>
              </a:rPr>
              <a:t> </a:t>
            </a:r>
            <a:r>
              <a:rPr sz="2000" i="1" spc="-5" dirty="0">
                <a:latin typeface="Corbel"/>
                <a:cs typeface="Corbel"/>
              </a:rPr>
              <a:t>union,</a:t>
            </a:r>
            <a:r>
              <a:rPr sz="2000" i="1" dirty="0">
                <a:latin typeface="Corbel"/>
                <a:cs typeface="Corbel"/>
              </a:rPr>
              <a:t> </a:t>
            </a:r>
            <a:r>
              <a:rPr sz="2000" i="1" spc="-5" dirty="0">
                <a:latin typeface="Corbel"/>
                <a:cs typeface="Corbel"/>
              </a:rPr>
              <a:t>intersection,</a:t>
            </a:r>
            <a:endParaRPr sz="2000">
              <a:latin typeface="Corbel"/>
              <a:cs typeface="Corbel"/>
            </a:endParaRPr>
          </a:p>
          <a:p>
            <a:pPr marL="332740" marR="5080">
              <a:lnSpc>
                <a:spcPct val="100000"/>
              </a:lnSpc>
            </a:pPr>
            <a:r>
              <a:rPr sz="2000" i="1" spc="-5" dirty="0">
                <a:latin typeface="Corbel"/>
                <a:cs typeface="Corbel"/>
              </a:rPr>
              <a:t>difference </a:t>
            </a:r>
            <a:r>
              <a:rPr sz="2000" dirty="0">
                <a:latin typeface="Corbel"/>
                <a:cs typeface="Corbel"/>
              </a:rPr>
              <a:t>and </a:t>
            </a:r>
            <a:r>
              <a:rPr sz="2000" i="1" dirty="0">
                <a:latin typeface="Corbel"/>
                <a:cs typeface="Corbel"/>
              </a:rPr>
              <a:t>symmetric </a:t>
            </a:r>
            <a:r>
              <a:rPr sz="2000" i="1" spc="-5" dirty="0">
                <a:latin typeface="Corbel"/>
                <a:cs typeface="Corbel"/>
              </a:rPr>
              <a:t>difference </a:t>
            </a:r>
            <a:r>
              <a:rPr sz="2000" spc="-5" dirty="0">
                <a:latin typeface="Corbel"/>
                <a:cs typeface="Corbel"/>
              </a:rPr>
              <a:t>operations, but these operations do not </a:t>
            </a:r>
            <a:r>
              <a:rPr sz="2000" spc="-390" dirty="0">
                <a:latin typeface="Corbel"/>
                <a:cs typeface="Corbel"/>
              </a:rPr>
              <a:t> </a:t>
            </a:r>
            <a:r>
              <a:rPr sz="2000" spc="-10" dirty="0">
                <a:latin typeface="Corbel"/>
                <a:cs typeface="Corbel"/>
              </a:rPr>
              <a:t>make</a:t>
            </a:r>
            <a:r>
              <a:rPr sz="2000" spc="-2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any </a:t>
            </a:r>
            <a:r>
              <a:rPr sz="2000" spc="-5" dirty="0">
                <a:latin typeface="Corbel"/>
                <a:cs typeface="Corbel"/>
              </a:rPr>
              <a:t>changes</a:t>
            </a:r>
            <a:r>
              <a:rPr sz="2000" spc="-25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or mutations</a:t>
            </a:r>
            <a:r>
              <a:rPr sz="200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to</a:t>
            </a:r>
            <a:r>
              <a:rPr sz="2000" spc="-15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the set.</a:t>
            </a:r>
            <a:endParaRPr sz="2000">
              <a:latin typeface="Corbel"/>
              <a:cs typeface="Corbel"/>
            </a:endParaRPr>
          </a:p>
          <a:p>
            <a:pPr marL="332740" indent="-320040">
              <a:lnSpc>
                <a:spcPct val="100000"/>
              </a:lnSpc>
              <a:buClr>
                <a:srgbClr val="EFAC00"/>
              </a:buClr>
              <a:buSzPct val="80000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000" b="1" spc="-35" dirty="0">
                <a:latin typeface="Corbel"/>
                <a:cs typeface="Corbel"/>
              </a:rPr>
              <a:t>We</a:t>
            </a:r>
            <a:r>
              <a:rPr sz="2000" b="1" spc="-15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can</a:t>
            </a:r>
            <a:r>
              <a:rPr sz="2000" b="1" spc="-10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use</a:t>
            </a:r>
            <a:r>
              <a:rPr sz="2000" b="1" spc="-10" dirty="0">
                <a:latin typeface="Corbel"/>
                <a:cs typeface="Corbel"/>
              </a:rPr>
              <a:t> </a:t>
            </a:r>
            <a:r>
              <a:rPr sz="2000" b="1" spc="-5" dirty="0">
                <a:latin typeface="Corbel"/>
                <a:cs typeface="Corbel"/>
              </a:rPr>
              <a:t>the</a:t>
            </a:r>
            <a:r>
              <a:rPr sz="2000" b="1" spc="20" dirty="0">
                <a:latin typeface="Corbel"/>
                <a:cs typeface="Corbel"/>
              </a:rPr>
              <a:t> </a:t>
            </a:r>
            <a:r>
              <a:rPr sz="2000" b="1" spc="-5" dirty="0">
                <a:latin typeface="Corbel"/>
                <a:cs typeface="Corbel"/>
              </a:rPr>
              <a:t>following</a:t>
            </a:r>
            <a:r>
              <a:rPr sz="2000" b="1" spc="5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operations </a:t>
            </a:r>
            <a:r>
              <a:rPr sz="2000" b="1" spc="-5" dirty="0">
                <a:latin typeface="Corbel"/>
                <a:cs typeface="Corbel"/>
              </a:rPr>
              <a:t>to</a:t>
            </a:r>
            <a:r>
              <a:rPr sz="2000" b="1" spc="15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create</a:t>
            </a:r>
            <a:r>
              <a:rPr sz="2000" b="1" spc="-15" dirty="0">
                <a:latin typeface="Corbel"/>
                <a:cs typeface="Corbel"/>
              </a:rPr>
              <a:t> </a:t>
            </a:r>
            <a:r>
              <a:rPr sz="2000" b="1" spc="-5" dirty="0">
                <a:latin typeface="Corbel"/>
                <a:cs typeface="Corbel"/>
              </a:rPr>
              <a:t>mutations</a:t>
            </a:r>
            <a:r>
              <a:rPr sz="2000" b="1" spc="5" dirty="0">
                <a:latin typeface="Corbel"/>
                <a:cs typeface="Corbel"/>
              </a:rPr>
              <a:t> </a:t>
            </a:r>
            <a:r>
              <a:rPr sz="2000" b="1" spc="-5" dirty="0">
                <a:latin typeface="Corbel"/>
                <a:cs typeface="Corbel"/>
              </a:rPr>
              <a:t>to</a:t>
            </a:r>
            <a:r>
              <a:rPr sz="2000" b="1" dirty="0">
                <a:latin typeface="Corbel"/>
                <a:cs typeface="Corbel"/>
              </a:rPr>
              <a:t> a set:</a:t>
            </a:r>
            <a:endParaRPr sz="2000">
              <a:latin typeface="Corbel"/>
              <a:cs typeface="Corbe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8450" y="3041650"/>
          <a:ext cx="8610599" cy="35416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7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Method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FAC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Operator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FA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FA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00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orbel"/>
                          <a:cs typeface="Corbel"/>
                        </a:rPr>
                        <a:t>update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orbel"/>
                          <a:cs typeface="Corbel"/>
                        </a:rPr>
                        <a:t>|=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orbel"/>
                          <a:cs typeface="Corbel"/>
                        </a:rPr>
                        <a:t>Update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set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 by adding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elements</a:t>
                      </a:r>
                      <a:endParaRPr sz="1800">
                        <a:latin typeface="Corbel"/>
                        <a:cs typeface="Corbe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from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an</a:t>
                      </a:r>
                      <a:r>
                        <a:rPr sz="1800" spc="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iterable/another</a:t>
                      </a:r>
                      <a:r>
                        <a:rPr sz="1800" spc="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set.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latin typeface="Corbel"/>
                          <a:cs typeface="Corbel"/>
                        </a:rPr>
                        <a:t>intersection_update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orbel"/>
                          <a:cs typeface="Corbel"/>
                        </a:rPr>
                        <a:t>&amp;=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683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orbel"/>
                          <a:cs typeface="Corbel"/>
                        </a:rPr>
                        <a:t>Update the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set by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keeping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only the </a:t>
                      </a:r>
                      <a:r>
                        <a:rPr sz="1800" spc="-35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elements found in it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and an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iterable/another</a:t>
                      </a:r>
                      <a:r>
                        <a:rPr sz="1800" spc="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set.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6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orbel"/>
                          <a:cs typeface="Corbel"/>
                        </a:rPr>
                        <a:t>Difference_update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-=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0223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orbel"/>
                          <a:cs typeface="Corbel"/>
                        </a:rPr>
                        <a:t>Update the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set by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removing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elements </a:t>
                      </a:r>
                      <a:r>
                        <a:rPr sz="1800" spc="-35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found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in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an</a:t>
                      </a:r>
                      <a:r>
                        <a:rPr sz="1800" spc="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iterable/another</a:t>
                      </a:r>
                      <a:r>
                        <a:rPr sz="1800" spc="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set.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12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orbel"/>
                          <a:cs typeface="Corbel"/>
                        </a:rPr>
                        <a:t>symmetric_difference_update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^=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171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orbel"/>
                          <a:cs typeface="Corbel"/>
                        </a:rPr>
                        <a:t>Update the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set by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only keeping the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 elements</a:t>
                      </a:r>
                      <a:r>
                        <a:rPr sz="18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found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in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either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 set,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but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not </a:t>
                      </a:r>
                      <a:r>
                        <a:rPr sz="1800" spc="-34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in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both.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236" y="1828038"/>
            <a:ext cx="7813675" cy="2952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79687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3200" dirty="0">
                <a:latin typeface="Corbel"/>
                <a:cs typeface="Corbel"/>
              </a:rPr>
              <a:t>Isdisjoin</a:t>
            </a:r>
            <a:r>
              <a:rPr sz="3200" spc="-65" dirty="0">
                <a:latin typeface="Corbel"/>
                <a:cs typeface="Corbel"/>
              </a:rPr>
              <a:t>t</a:t>
            </a:r>
            <a:r>
              <a:rPr sz="3200" dirty="0">
                <a:latin typeface="Corbel"/>
                <a:cs typeface="Corbel"/>
              </a:rPr>
              <a:t>–</a:t>
            </a:r>
            <a:r>
              <a:rPr sz="3200" spc="-250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Thi</a:t>
            </a:r>
            <a:r>
              <a:rPr sz="3200" dirty="0">
                <a:latin typeface="Corbel"/>
                <a:cs typeface="Corbel"/>
              </a:rPr>
              <a:t>s</a:t>
            </a:r>
            <a:r>
              <a:rPr sz="3200" spc="-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method</a:t>
            </a:r>
            <a:r>
              <a:rPr sz="3200" spc="-2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will</a:t>
            </a:r>
            <a:r>
              <a:rPr sz="3200" spc="-3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retu</a:t>
            </a:r>
            <a:r>
              <a:rPr sz="3200" spc="-10" dirty="0">
                <a:latin typeface="Corbel"/>
                <a:cs typeface="Corbel"/>
              </a:rPr>
              <a:t>r</a:t>
            </a:r>
            <a:r>
              <a:rPr sz="3200" dirty="0">
                <a:latin typeface="Corbel"/>
                <a:cs typeface="Corbel"/>
              </a:rPr>
              <a:t>n</a:t>
            </a:r>
            <a:r>
              <a:rPr sz="3200" spc="-220" dirty="0">
                <a:latin typeface="Corbel"/>
                <a:cs typeface="Corbel"/>
              </a:rPr>
              <a:t> </a:t>
            </a:r>
            <a:r>
              <a:rPr sz="3200" spc="-210" dirty="0">
                <a:latin typeface="Corbel"/>
                <a:cs typeface="Corbel"/>
              </a:rPr>
              <a:t>T</a:t>
            </a:r>
            <a:r>
              <a:rPr sz="3200" dirty="0">
                <a:latin typeface="Corbel"/>
                <a:cs typeface="Corbel"/>
              </a:rPr>
              <a:t>rue if</a:t>
            </a:r>
            <a:r>
              <a:rPr sz="3200" spc="-20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two  set</a:t>
            </a:r>
            <a:r>
              <a:rPr sz="3200" spc="-35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have</a:t>
            </a:r>
            <a:r>
              <a:rPr sz="3200" spc="-3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a</a:t>
            </a:r>
            <a:r>
              <a:rPr sz="3200" spc="-15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null</a:t>
            </a:r>
            <a:r>
              <a:rPr sz="3200" spc="-2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intersection</a:t>
            </a:r>
            <a:endParaRPr sz="3200">
              <a:latin typeface="Corbel"/>
              <a:cs typeface="Corbel"/>
            </a:endParaRPr>
          </a:p>
          <a:p>
            <a:pPr marL="332105" marR="880744" indent="-320040">
              <a:lnSpc>
                <a:spcPct val="100000"/>
              </a:lnSpc>
              <a:buClr>
                <a:srgbClr val="EFAC00"/>
              </a:buClr>
              <a:buSzPct val="79687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3200" dirty="0">
                <a:latin typeface="Corbel"/>
                <a:cs typeface="Corbel"/>
              </a:rPr>
              <a:t>Issubset</a:t>
            </a:r>
            <a:r>
              <a:rPr sz="3200" spc="-2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–</a:t>
            </a:r>
            <a:r>
              <a:rPr sz="3200" spc="-229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Thi</a:t>
            </a:r>
            <a:r>
              <a:rPr sz="3200" dirty="0">
                <a:latin typeface="Corbel"/>
                <a:cs typeface="Corbel"/>
              </a:rPr>
              <a:t>s</a:t>
            </a:r>
            <a:r>
              <a:rPr sz="3200" spc="-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method</a:t>
            </a:r>
            <a:r>
              <a:rPr sz="3200" spc="-2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repo</a:t>
            </a:r>
            <a:r>
              <a:rPr sz="3200" spc="-15" dirty="0">
                <a:latin typeface="Corbel"/>
                <a:cs typeface="Corbel"/>
              </a:rPr>
              <a:t>r</a:t>
            </a:r>
            <a:r>
              <a:rPr sz="3200" spc="-5" dirty="0">
                <a:latin typeface="Corbel"/>
                <a:cs typeface="Corbel"/>
              </a:rPr>
              <a:t>t</a:t>
            </a:r>
            <a:r>
              <a:rPr sz="3200" dirty="0">
                <a:latin typeface="Corbel"/>
                <a:cs typeface="Corbel"/>
              </a:rPr>
              <a:t>s</a:t>
            </a:r>
            <a:r>
              <a:rPr sz="3200" spc="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whether  another</a:t>
            </a:r>
            <a:r>
              <a:rPr sz="3200" spc="-35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set</a:t>
            </a:r>
            <a:r>
              <a:rPr sz="3200" spc="-15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contains</a:t>
            </a:r>
            <a:r>
              <a:rPr sz="3200" spc="-20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this</a:t>
            </a:r>
            <a:r>
              <a:rPr sz="3200" spc="-20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set</a:t>
            </a:r>
            <a:endParaRPr sz="3200">
              <a:latin typeface="Corbel"/>
              <a:cs typeface="Corbel"/>
            </a:endParaRPr>
          </a:p>
          <a:p>
            <a:pPr marL="332105" marR="58419" indent="-320040">
              <a:lnSpc>
                <a:spcPct val="100000"/>
              </a:lnSpc>
              <a:buClr>
                <a:srgbClr val="EFAC00"/>
              </a:buClr>
              <a:buSzPct val="79687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3200" dirty="0">
                <a:latin typeface="Corbel"/>
                <a:cs typeface="Corbel"/>
              </a:rPr>
              <a:t>Issuperset</a:t>
            </a:r>
            <a:r>
              <a:rPr sz="3200" spc="-4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–</a:t>
            </a:r>
            <a:r>
              <a:rPr sz="3200" spc="-229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Thi</a:t>
            </a:r>
            <a:r>
              <a:rPr sz="3200" dirty="0">
                <a:latin typeface="Corbel"/>
                <a:cs typeface="Corbel"/>
              </a:rPr>
              <a:t>s</a:t>
            </a:r>
            <a:r>
              <a:rPr sz="3200" spc="-2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meth</a:t>
            </a:r>
            <a:r>
              <a:rPr sz="3200" spc="-10" dirty="0">
                <a:latin typeface="Corbel"/>
                <a:cs typeface="Corbel"/>
              </a:rPr>
              <a:t>o</a:t>
            </a:r>
            <a:r>
              <a:rPr sz="3200" dirty="0">
                <a:latin typeface="Corbel"/>
                <a:cs typeface="Corbel"/>
              </a:rPr>
              <a:t>d</a:t>
            </a:r>
            <a:r>
              <a:rPr sz="3200" spc="-2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will</a:t>
            </a:r>
            <a:r>
              <a:rPr sz="3200" spc="-2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rep</a:t>
            </a:r>
            <a:r>
              <a:rPr sz="3200" spc="-10" dirty="0">
                <a:latin typeface="Corbel"/>
                <a:cs typeface="Corbel"/>
              </a:rPr>
              <a:t>o</a:t>
            </a:r>
            <a:r>
              <a:rPr sz="3200" dirty="0">
                <a:latin typeface="Corbel"/>
                <a:cs typeface="Corbel"/>
              </a:rPr>
              <a:t>rt </a:t>
            </a:r>
            <a:r>
              <a:rPr sz="3200" spc="-10" dirty="0">
                <a:latin typeface="Corbel"/>
                <a:cs typeface="Corbel"/>
              </a:rPr>
              <a:t>w</a:t>
            </a:r>
            <a:r>
              <a:rPr sz="3200" spc="-5" dirty="0">
                <a:latin typeface="Corbel"/>
                <a:cs typeface="Corbel"/>
              </a:rPr>
              <a:t>hether  this</a:t>
            </a:r>
            <a:r>
              <a:rPr sz="3200" spc="-30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set contains</a:t>
            </a:r>
            <a:r>
              <a:rPr sz="3200" spc="-3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another</a:t>
            </a:r>
            <a:r>
              <a:rPr sz="3200" spc="-15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set</a:t>
            </a:r>
            <a:endParaRPr sz="3200">
              <a:latin typeface="Corbel"/>
              <a:cs typeface="Corbel"/>
            </a:endParaRPr>
          </a:p>
        </p:txBody>
      </p:sp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C2ED76A7-BB4D-5C6B-C776-B075F52336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4844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350" y="2023998"/>
            <a:ext cx="7991475" cy="2714625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28B5B20F-DC89-45E5-2DBA-F2C57F68BA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4844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hank you text with stars&#10;&#10;Description automatically generated">
            <a:extLst>
              <a:ext uri="{FF2B5EF4-FFF2-40B4-BE49-F238E27FC236}">
                <a16:creationId xmlns:a16="http://schemas.microsoft.com/office/drawing/2014/main" id="{A706B870-BEE4-9C40-F9AA-87C401ECBF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286000"/>
            <a:ext cx="6324600" cy="3581400"/>
          </a:xfrm>
          <a:prstGeom prst="rect">
            <a:avLst/>
          </a:prstGeom>
        </p:spPr>
      </p:pic>
      <p:pic>
        <p:nvPicPr>
          <p:cNvPr id="4" name="Picture 3" descr="A black and red text&#10;&#10;Description automatically generated">
            <a:extLst>
              <a:ext uri="{FF2B5EF4-FFF2-40B4-BE49-F238E27FC236}">
                <a16:creationId xmlns:a16="http://schemas.microsoft.com/office/drawing/2014/main" id="{76E24538-780D-0D88-CAF6-CA46A51E4A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4844"/>
            <a:ext cx="3048000" cy="69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978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68AB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514</Words>
  <Application>Microsoft Office PowerPoint</Application>
  <PresentationFormat>On-screen Show (4:3)</PresentationFormat>
  <Paragraphs>68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Arial MT</vt:lpstr>
      <vt:lpstr>Calibri</vt:lpstr>
      <vt:lpstr>Cambria</vt:lpstr>
      <vt:lpstr>Corbel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A set can contain elements of different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mohammed.sikander</dc:creator>
  <cp:lastModifiedBy>kamal korlakunta</cp:lastModifiedBy>
  <cp:revision>1</cp:revision>
  <dcterms:created xsi:type="dcterms:W3CDTF">2023-10-02T16:13:49Z</dcterms:created>
  <dcterms:modified xsi:type="dcterms:W3CDTF">2023-10-02T16:21:39Z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2019-02-15T00:00:00Z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2023-10-02T00:00:00Z</vt:filetime>
  </property>
</Properties>
</file>