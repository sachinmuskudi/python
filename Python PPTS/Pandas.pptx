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pc="-10" dirty="0"/>
              <a:t>Visit </a:t>
            </a:r>
            <a:r>
              <a:rPr dirty="0"/>
              <a:t>: </a:t>
            </a:r>
            <a:r>
              <a:rPr spc="-10" dirty="0"/>
              <a:t>python.mykvs.in </a:t>
            </a:r>
            <a:r>
              <a:rPr spc="-15" dirty="0"/>
              <a:t>for </a:t>
            </a:r>
            <a:r>
              <a:rPr spc="-10" dirty="0"/>
              <a:t>regular</a:t>
            </a:r>
            <a:r>
              <a:rPr spc="-35" dirty="0"/>
              <a:t> </a:t>
            </a:r>
            <a:r>
              <a:rPr spc="-10" dirty="0"/>
              <a:t>updates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3842" y="50038"/>
            <a:ext cx="9171685" cy="57404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 u="heavy">
                <a:solidFill>
                  <a:srgbClr val="E36C0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pc="-10" dirty="0"/>
              <a:t>Visit </a:t>
            </a:r>
            <a:r>
              <a:rPr dirty="0"/>
              <a:t>: </a:t>
            </a:r>
            <a:r>
              <a:rPr spc="-10" dirty="0"/>
              <a:t>python.mykvs.in </a:t>
            </a:r>
            <a:r>
              <a:rPr spc="-15" dirty="0"/>
              <a:t>for </a:t>
            </a:r>
            <a:r>
              <a:rPr spc="-10" dirty="0"/>
              <a:t>regular</a:t>
            </a:r>
            <a:r>
              <a:rPr spc="-35" dirty="0"/>
              <a:t> </a:t>
            </a:r>
            <a:r>
              <a:rPr spc="-10" dirty="0"/>
              <a:t>updates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3842" y="50038"/>
            <a:ext cx="9171685" cy="57404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 u="heavy">
                <a:solidFill>
                  <a:srgbClr val="E36C0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pc="-10" dirty="0"/>
              <a:t>Visit </a:t>
            </a:r>
            <a:r>
              <a:rPr dirty="0"/>
              <a:t>: </a:t>
            </a:r>
            <a:r>
              <a:rPr spc="-10" dirty="0"/>
              <a:t>python.mykvs.in </a:t>
            </a:r>
            <a:r>
              <a:rPr spc="-15" dirty="0"/>
              <a:t>for </a:t>
            </a:r>
            <a:r>
              <a:rPr spc="-10" dirty="0"/>
              <a:t>regular</a:t>
            </a:r>
            <a:r>
              <a:rPr spc="-35" dirty="0"/>
              <a:t> </a:t>
            </a:r>
            <a:r>
              <a:rPr spc="-10" dirty="0"/>
              <a:t>updates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3842" y="50038"/>
            <a:ext cx="9171685" cy="574040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0" i="0" u="heavy">
                <a:solidFill>
                  <a:srgbClr val="E36C0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pc="-10" dirty="0"/>
              <a:t>Visit </a:t>
            </a:r>
            <a:r>
              <a:rPr dirty="0"/>
              <a:t>: </a:t>
            </a:r>
            <a:r>
              <a:rPr spc="-10" dirty="0"/>
              <a:t>python.mykvs.in </a:t>
            </a:r>
            <a:r>
              <a:rPr spc="-15" dirty="0"/>
              <a:t>for </a:t>
            </a:r>
            <a:r>
              <a:rPr spc="-10" dirty="0"/>
              <a:t>regular</a:t>
            </a:r>
            <a:r>
              <a:rPr spc="-35" dirty="0"/>
              <a:t> </a:t>
            </a:r>
            <a:r>
              <a:rPr spc="-10" dirty="0"/>
              <a:t>updates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7381875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837944" y="4728971"/>
            <a:ext cx="7306056" cy="1641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637153" y="5422646"/>
            <a:ext cx="2879090" cy="0"/>
          </a:xfrm>
          <a:custGeom>
            <a:avLst/>
            <a:gdLst/>
            <a:ahLst/>
            <a:cxnLst/>
            <a:rect l="l" t="t" r="r" b="b"/>
            <a:pathLst>
              <a:path w="2879090">
                <a:moveTo>
                  <a:pt x="0" y="0"/>
                </a:moveTo>
                <a:lnTo>
                  <a:pt x="2878836" y="0"/>
                </a:lnTo>
              </a:path>
            </a:pathLst>
          </a:custGeom>
          <a:ln w="80772">
            <a:solidFill>
              <a:srgbClr val="BD7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6656196" y="5422646"/>
            <a:ext cx="2257425" cy="0"/>
          </a:xfrm>
          <a:custGeom>
            <a:avLst/>
            <a:gdLst/>
            <a:ahLst/>
            <a:cxnLst/>
            <a:rect l="l" t="t" r="r" b="b"/>
            <a:pathLst>
              <a:path w="2257425">
                <a:moveTo>
                  <a:pt x="0" y="0"/>
                </a:moveTo>
                <a:lnTo>
                  <a:pt x="2257044" y="0"/>
                </a:lnTo>
              </a:path>
            </a:pathLst>
          </a:custGeom>
          <a:ln w="80772">
            <a:solidFill>
              <a:srgbClr val="BD7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pc="-10" dirty="0"/>
              <a:t>Visit </a:t>
            </a:r>
            <a:r>
              <a:rPr dirty="0"/>
              <a:t>: </a:t>
            </a:r>
            <a:r>
              <a:rPr spc="-10" dirty="0"/>
              <a:t>python.mykvs.in </a:t>
            </a:r>
            <a:r>
              <a:rPr spc="-15" dirty="0"/>
              <a:t>for </a:t>
            </a:r>
            <a:r>
              <a:rPr spc="-10" dirty="0"/>
              <a:t>regular</a:t>
            </a:r>
            <a:r>
              <a:rPr spc="-35" dirty="0"/>
              <a:t> </a:t>
            </a:r>
            <a:r>
              <a:rPr spc="-10" dirty="0"/>
              <a:t>updates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14" y="1261618"/>
            <a:ext cx="7129780" cy="3900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99461" y="6537680"/>
            <a:ext cx="4484370" cy="280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2005"/>
              </a:lnSpc>
            </a:pPr>
            <a:r>
              <a:rPr spc="-10" dirty="0"/>
              <a:t>Visit </a:t>
            </a:r>
            <a:r>
              <a:rPr dirty="0"/>
              <a:t>: </a:t>
            </a:r>
            <a:r>
              <a:rPr spc="-10" dirty="0"/>
              <a:t>python.mykvs.in </a:t>
            </a:r>
            <a:r>
              <a:rPr spc="-15" dirty="0"/>
              <a:t>for </a:t>
            </a:r>
            <a:r>
              <a:rPr spc="-10" dirty="0"/>
              <a:t>regular</a:t>
            </a:r>
            <a:r>
              <a:rPr spc="-35" dirty="0"/>
              <a:t> </a:t>
            </a:r>
            <a:r>
              <a:rPr spc="-10" dirty="0"/>
              <a:t>updates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AC0099-B8B6-4BA6-A7BF-7D58C92D8578}"/>
              </a:ext>
            </a:extLst>
          </p:cNvPr>
          <p:cNvSpPr/>
          <p:nvPr userDrawn="1"/>
        </p:nvSpPr>
        <p:spPr>
          <a:xfrm>
            <a:off x="6583680" y="6324600"/>
            <a:ext cx="2560320" cy="493114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dissolve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" TargetMode="External"/><Relationship Id="rId2" Type="http://schemas.openxmlformats.org/officeDocument/2006/relationships/hyperlink" Target="http://www.numpy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anaconda.com/download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C94BB-D92F-2929-69C2-191F77FE4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B79917AB-6CBC-23AE-8E0E-C1E09D060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76200"/>
            <a:ext cx="9210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4290"/>
      </p:ext>
    </p:extLst>
  </p:cSld>
  <p:clrMapOvr>
    <a:masterClrMapping/>
  </p:clrMapOvr>
  <p:transition spd="slow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 txBox="1"/>
          <p:nvPr/>
        </p:nvSpPr>
        <p:spPr>
          <a:xfrm>
            <a:off x="816610" y="1015873"/>
            <a:ext cx="8327390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Python Library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Pandas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It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is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a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most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famous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Python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package for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data science, </a:t>
            </a:r>
            <a:r>
              <a:rPr sz="2000" b="1" spc="10" dirty="0">
                <a:solidFill>
                  <a:srgbClr val="001F5F"/>
                </a:solidFill>
                <a:latin typeface="Arial"/>
                <a:cs typeface="Arial"/>
              </a:rPr>
              <a:t>which</a:t>
            </a:r>
            <a:r>
              <a:rPr sz="2000" b="1" spc="57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offers 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powerful and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flexible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data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structures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that make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data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analysis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and 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manipulation </a:t>
            </a:r>
            <a:r>
              <a:rPr sz="2000" b="1" spc="-30" dirty="0">
                <a:solidFill>
                  <a:srgbClr val="001F5F"/>
                </a:solidFill>
                <a:latin typeface="Arial"/>
                <a:cs typeface="Arial"/>
              </a:rPr>
              <a:t>easy.Pandas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makes data importing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and data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analyzing 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much </a:t>
            </a:r>
            <a:r>
              <a:rPr sz="2000" b="1" spc="-40" dirty="0">
                <a:solidFill>
                  <a:srgbClr val="001F5F"/>
                </a:solidFill>
                <a:latin typeface="Arial"/>
                <a:cs typeface="Arial"/>
              </a:rPr>
              <a:t>easier.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Pandas builds on packages </a:t>
            </a:r>
            <a:r>
              <a:rPr sz="2000" b="1" spc="-10" dirty="0">
                <a:solidFill>
                  <a:srgbClr val="001F5F"/>
                </a:solidFill>
                <a:latin typeface="Arial"/>
                <a:cs typeface="Arial"/>
              </a:rPr>
              <a:t>like </a:t>
            </a:r>
            <a:r>
              <a:rPr sz="2000" b="1" u="heavy" dirty="0">
                <a:solidFill>
                  <a:srgbClr val="0000FF"/>
                </a:solidFill>
                <a:uFill>
                  <a:solidFill>
                    <a:srgbClr val="FFCC80"/>
                  </a:solidFill>
                </a:uFill>
                <a:latin typeface="Arial"/>
                <a:cs typeface="Arial"/>
                <a:hlinkClick r:id="rId2"/>
              </a:rPr>
              <a:t>NumPy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and </a:t>
            </a:r>
            <a:r>
              <a:rPr sz="2000" b="1" u="heavy" spc="-5" dirty="0">
                <a:solidFill>
                  <a:srgbClr val="0000FF"/>
                </a:solidFill>
                <a:uFill>
                  <a:solidFill>
                    <a:srgbClr val="FFCC80"/>
                  </a:solidFill>
                </a:uFill>
                <a:latin typeface="Arial"/>
                <a:cs typeface="Arial"/>
                <a:hlinkClick r:id="rId3"/>
              </a:rPr>
              <a:t>matplotlib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to </a:t>
            </a:r>
            <a:r>
              <a:rPr sz="2000" b="1" spc="-20" dirty="0">
                <a:solidFill>
                  <a:srgbClr val="001F5F"/>
                </a:solidFill>
                <a:latin typeface="Arial"/>
                <a:cs typeface="Arial"/>
              </a:rPr>
              <a:t>give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us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a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single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&amp;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convenient place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for data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analysis </a:t>
            </a:r>
            <a:r>
              <a:rPr sz="2000" b="1" dirty="0">
                <a:solidFill>
                  <a:srgbClr val="001F5F"/>
                </a:solidFill>
                <a:latin typeface="Arial"/>
                <a:cs typeface="Arial"/>
              </a:rPr>
              <a:t>and  </a:t>
            </a:r>
            <a:r>
              <a:rPr sz="2000" b="1" spc="-5" dirty="0">
                <a:solidFill>
                  <a:srgbClr val="001F5F"/>
                </a:solidFill>
                <a:latin typeface="Arial"/>
                <a:cs typeface="Arial"/>
              </a:rPr>
              <a:t>visualization</a:t>
            </a:r>
            <a:r>
              <a:rPr sz="2000" b="1" spc="-1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001F5F"/>
                </a:solidFill>
                <a:latin typeface="Arial"/>
                <a:cs typeface="Arial"/>
              </a:rPr>
              <a:t>work.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43200" y="3657600"/>
            <a:ext cx="3441192" cy="28331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45536" y="3962400"/>
            <a:ext cx="2852927" cy="21351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81000" y="2383904"/>
            <a:ext cx="853440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8455">
              <a:lnSpc>
                <a:spcPct val="100000"/>
              </a:lnSpc>
              <a:buAutoNum type="arabicPeriod"/>
              <a:tabLst>
                <a:tab pos="351155" algn="l"/>
              </a:tabLst>
            </a:pPr>
            <a:r>
              <a:rPr sz="2000" spc="-5">
                <a:solidFill>
                  <a:srgbClr val="002060"/>
                </a:solidFill>
                <a:latin typeface="Arial"/>
                <a:cs typeface="Arial"/>
              </a:rPr>
              <a:t>Dataframe </a:t>
            </a:r>
            <a:r>
              <a:rPr sz="2000" spc="-5" dirty="0">
                <a:solidFill>
                  <a:srgbClr val="002060"/>
                </a:solidFill>
                <a:latin typeface="Arial"/>
                <a:cs typeface="Arial"/>
              </a:rPr>
              <a:t>object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help a lot in keeping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track of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our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data.</a:t>
            </a:r>
            <a:endParaRPr sz="2000">
              <a:latin typeface="Arial"/>
              <a:cs typeface="Arial"/>
            </a:endParaRPr>
          </a:p>
          <a:p>
            <a:pPr marL="350520" marR="45085" indent="-338455">
              <a:lnSpc>
                <a:spcPct val="100000"/>
              </a:lnSpc>
              <a:buAutoNum type="arabicPeriod"/>
              <a:tabLst>
                <a:tab pos="351155" algn="l"/>
              </a:tabLst>
            </a:pP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With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a pandas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dataframe,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we can have </a:t>
            </a:r>
            <a:r>
              <a:rPr sz="2000" spc="-20" dirty="0">
                <a:solidFill>
                  <a:srgbClr val="333399"/>
                </a:solidFill>
                <a:latin typeface="Arial"/>
                <a:cs typeface="Arial"/>
              </a:rPr>
              <a:t>different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0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types 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(float, int, string,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datetime, etc)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all in one</a:t>
            </a:r>
            <a:r>
              <a:rPr sz="2000" spc="-1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place</a:t>
            </a:r>
            <a:endParaRPr sz="2000">
              <a:latin typeface="Arial"/>
              <a:cs typeface="Arial"/>
            </a:endParaRPr>
          </a:p>
          <a:p>
            <a:pPr marL="350520" marR="462280" indent="-338455">
              <a:lnSpc>
                <a:spcPct val="100000"/>
              </a:lnSpc>
              <a:buAutoNum type="arabicPeriod"/>
              <a:tabLst>
                <a:tab pos="351155" algn="l"/>
              </a:tabLst>
            </a:pP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Pandas has built in functionality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for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like easy grouping</a:t>
            </a:r>
            <a:r>
              <a:rPr sz="20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&amp; 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easy joins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of data,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rolling</a:t>
            </a:r>
            <a:r>
              <a:rPr sz="20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windows</a:t>
            </a:r>
            <a:endParaRPr sz="2000">
              <a:latin typeface="Arial"/>
              <a:cs typeface="Arial"/>
            </a:endParaRPr>
          </a:p>
          <a:p>
            <a:pPr marL="350520" marR="982344" indent="-338455">
              <a:lnSpc>
                <a:spcPct val="100000"/>
              </a:lnSpc>
              <a:buAutoNum type="arabicPeriod"/>
              <a:tabLst>
                <a:tab pos="351155" algn="l"/>
              </a:tabLst>
            </a:pP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Good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IO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capabilities; Easily pull data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from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20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MySQL 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database directly into a data</a:t>
            </a:r>
            <a:r>
              <a:rPr sz="20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frame</a:t>
            </a:r>
            <a:endParaRPr sz="2000">
              <a:latin typeface="Arial"/>
              <a:cs typeface="Arial"/>
            </a:endParaRPr>
          </a:p>
          <a:p>
            <a:pPr marL="469900" marR="8255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469900" algn="l"/>
                <a:tab pos="1249680" algn="l"/>
                <a:tab pos="2505710" algn="l"/>
                <a:tab pos="3167380" algn="l"/>
                <a:tab pos="3829050" algn="l"/>
                <a:tab pos="4488815" algn="l"/>
                <a:tab pos="5388610" algn="l"/>
                <a:tab pos="5915660" algn="l"/>
                <a:tab pos="7031355" algn="l"/>
                <a:tab pos="8082915" algn="l"/>
              </a:tabLst>
            </a:pP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With	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p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das,	you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c</a:t>
            </a:r>
            <a:r>
              <a:rPr sz="2000" spc="-35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use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patsy	for	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-</a:t>
            </a:r>
            <a:r>
              <a:rPr sz="2000" spc="-15" dirty="0">
                <a:solidFill>
                  <a:srgbClr val="333399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t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yl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syntax	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n  doing</a:t>
            </a:r>
            <a:r>
              <a:rPr sz="2000" spc="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regressions.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  <a:tab pos="1318260" algn="l"/>
                <a:tab pos="1814195" algn="l"/>
                <a:tab pos="2935605" algn="l"/>
                <a:tab pos="3669029" algn="l"/>
                <a:tab pos="4298315" algn="l"/>
                <a:tab pos="5877560" algn="l"/>
                <a:tab pos="6607809" algn="l"/>
                <a:tab pos="7711440" algn="l"/>
              </a:tabLst>
            </a:pPr>
            <a:r>
              <a:rPr sz="2000" spc="-545" dirty="0">
                <a:solidFill>
                  <a:srgbClr val="333399"/>
                </a:solidFill>
                <a:latin typeface="Arial"/>
                <a:cs typeface="Arial"/>
              </a:rPr>
              <a:t>T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oo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l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s	for	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l</a:t>
            </a:r>
            <a:r>
              <a:rPr sz="2000" spc="-20" dirty="0">
                <a:solidFill>
                  <a:srgbClr val="333399"/>
                </a:solidFill>
                <a:latin typeface="Arial"/>
                <a:cs typeface="Arial"/>
              </a:rPr>
              <a:t>o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ad</a:t>
            </a:r>
            <a:r>
              <a:rPr sz="2000" spc="-15" dirty="0">
                <a:solidFill>
                  <a:srgbClr val="333399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ng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i</a:t>
            </a:r>
            <a:r>
              <a:rPr sz="2000" spc="-20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to	</a:t>
            </a:r>
            <a:r>
              <a:rPr sz="2000" spc="-25" dirty="0">
                <a:solidFill>
                  <a:srgbClr val="333399"/>
                </a:solidFill>
                <a:latin typeface="Arial"/>
                <a:cs typeface="Arial"/>
              </a:rPr>
              <a:t>i</a:t>
            </a:r>
            <a:r>
              <a:rPr sz="2000" spc="-20" dirty="0">
                <a:solidFill>
                  <a:srgbClr val="333399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-m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emor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y	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dat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objects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	f</a:t>
            </a:r>
            <a:r>
              <a:rPr sz="2000" spc="5" dirty="0">
                <a:solidFill>
                  <a:srgbClr val="333399"/>
                </a:solidFill>
                <a:latin typeface="Arial"/>
                <a:cs typeface="Arial"/>
              </a:rPr>
              <a:t>r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om  </a:t>
            </a:r>
            <a:r>
              <a:rPr sz="2000" spc="-20" dirty="0">
                <a:solidFill>
                  <a:srgbClr val="333399"/>
                </a:solidFill>
                <a:latin typeface="Arial"/>
                <a:cs typeface="Arial"/>
              </a:rPr>
              <a:t>different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file</a:t>
            </a:r>
            <a:r>
              <a:rPr sz="2000" spc="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formats.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Data alignment and integrated handling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of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missing</a:t>
            </a:r>
            <a:r>
              <a:rPr sz="2000" spc="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data.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Reshaping and pivoting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of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000" spc="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sets.</a:t>
            </a:r>
            <a:endParaRPr sz="2000">
              <a:latin typeface="Arial"/>
              <a:cs typeface="Arial"/>
            </a:endParaRPr>
          </a:p>
          <a:p>
            <a:pPr marL="469900" marR="1016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Label-based slicing, </a:t>
            </a: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indexing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and subsetting </a:t>
            </a: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of </a:t>
            </a:r>
            <a:r>
              <a:rPr sz="2000" spc="-5" dirty="0">
                <a:solidFill>
                  <a:srgbClr val="333399"/>
                </a:solidFill>
                <a:latin typeface="Arial"/>
                <a:cs typeface="Arial"/>
              </a:rPr>
              <a:t>large data  </a:t>
            </a:r>
            <a:r>
              <a:rPr sz="2000">
                <a:solidFill>
                  <a:srgbClr val="333399"/>
                </a:solidFill>
                <a:latin typeface="Arial"/>
                <a:cs typeface="Arial"/>
              </a:rPr>
              <a:t>sets.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76599" y="762000"/>
            <a:ext cx="441960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sz="2800" b="1" u="sng" spc="-25"/>
              <a:t>Data </a:t>
            </a:r>
            <a:r>
              <a:rPr sz="2800" b="1" u="sng" spc="-10" dirty="0"/>
              <a:t>Handling </a:t>
            </a:r>
            <a:r>
              <a:rPr sz="2800" b="1" u="sng" spc="-5" dirty="0"/>
              <a:t>using </a:t>
            </a:r>
            <a:r>
              <a:rPr sz="2800" b="1" u="sng" spc="-15" dirty="0"/>
              <a:t>Pandas</a:t>
            </a:r>
            <a:r>
              <a:rPr sz="2800" b="1" u="sng" spc="-165" dirty="0"/>
              <a:t> </a:t>
            </a:r>
            <a:r>
              <a:rPr sz="2800" b="1" u="sng" dirty="0"/>
              <a:t>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3810000" y="1828800"/>
            <a:ext cx="8077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70375">
              <a:lnSpc>
                <a:spcPct val="100000"/>
              </a:lnSpc>
              <a:spcBef>
                <a:spcPts val="100"/>
              </a:spcBef>
            </a:pPr>
            <a:r>
              <a:rPr lang="en-US"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Basic Features </a:t>
            </a:r>
            <a:r>
              <a:rPr lang="en-US"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of</a:t>
            </a:r>
            <a:r>
              <a:rPr lang="en-US" sz="2400" u="heavy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lang="en-US"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endParaRPr lang="en-US" sz="24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8673465" y="6463169"/>
            <a:ext cx="27305" cy="19685"/>
          </a:xfrm>
          <a:custGeom>
            <a:avLst/>
            <a:gdLst/>
            <a:ahLst/>
            <a:cxnLst/>
            <a:rect l="l" t="t" r="r" b="b"/>
            <a:pathLst>
              <a:path w="27304" h="19685">
                <a:moveTo>
                  <a:pt x="0" y="0"/>
                </a:moveTo>
                <a:lnTo>
                  <a:pt x="126" y="19570"/>
                </a:lnTo>
                <a:lnTo>
                  <a:pt x="27177" y="19570"/>
                </a:lnTo>
                <a:lnTo>
                  <a:pt x="27177" y="6045"/>
                </a:lnTo>
                <a:lnTo>
                  <a:pt x="6095" y="6045"/>
                </a:lnTo>
                <a:lnTo>
                  <a:pt x="0" y="0"/>
                </a:lnTo>
                <a:close/>
              </a:path>
            </a:pathLst>
          </a:custGeom>
          <a:solidFill>
            <a:srgbClr val="FFDE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1691" y="664590"/>
            <a:ext cx="8749030" cy="5612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2326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 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–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Installation/Environment Setup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C000"/>
                </a:solidFill>
                <a:latin typeface="Arial"/>
                <a:cs typeface="Arial"/>
              </a:rPr>
              <a:t>Pandas module doesn't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come bundled with Standard</a:t>
            </a:r>
            <a:r>
              <a:rPr sz="2400" spc="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Python.</a:t>
            </a:r>
            <a:endParaRPr sz="2400">
              <a:latin typeface="Arial"/>
              <a:cs typeface="Arial"/>
            </a:endParaRPr>
          </a:p>
          <a:p>
            <a:pPr marL="686435" marR="810895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If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we install </a:t>
            </a:r>
            <a:r>
              <a:rPr sz="24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Anaconda Python package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Pandas will</a:t>
            </a:r>
            <a:r>
              <a:rPr sz="2400" spc="-2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be 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installed by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default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710"/>
              </a:lnSpc>
            </a:pPr>
            <a:r>
              <a:rPr sz="2400" b="1" spc="-5" dirty="0">
                <a:solidFill>
                  <a:srgbClr val="92D050"/>
                </a:solidFill>
                <a:latin typeface="Arial"/>
                <a:cs typeface="Arial"/>
              </a:rPr>
              <a:t>Steps for Anaconda </a:t>
            </a:r>
            <a:r>
              <a:rPr sz="2400" b="1" dirty="0">
                <a:solidFill>
                  <a:srgbClr val="92D050"/>
                </a:solidFill>
                <a:latin typeface="Arial"/>
                <a:cs typeface="Arial"/>
              </a:rPr>
              <a:t>installation </a:t>
            </a:r>
            <a:r>
              <a:rPr sz="2400" b="1" spc="-5" dirty="0">
                <a:solidFill>
                  <a:srgbClr val="92D050"/>
                </a:solidFill>
                <a:latin typeface="Arial"/>
                <a:cs typeface="Arial"/>
              </a:rPr>
              <a:t>&amp;</a:t>
            </a:r>
            <a:r>
              <a:rPr sz="2400" b="1" spc="-32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92D050"/>
                </a:solidFill>
                <a:latin typeface="Arial"/>
                <a:cs typeface="Arial"/>
              </a:rPr>
              <a:t>Use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ts val="3360"/>
              </a:lnSpc>
              <a:buAutoNum type="arabicPeriod"/>
              <a:tabLst>
                <a:tab pos="356235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visit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the site</a:t>
            </a:r>
            <a:r>
              <a:rPr sz="24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AEEE"/>
                </a:solidFill>
                <a:latin typeface="Arial"/>
                <a:cs typeface="Arial"/>
              </a:rPr>
              <a:t>https: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//ww</a:t>
            </a:r>
            <a:r>
              <a:rPr sz="2800" u="heavy" spc="-10" dirty="0">
                <a:solidFill>
                  <a:srgbClr val="548ED4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w</a:t>
            </a:r>
            <a:r>
              <a:rPr sz="2800" u="heavy" spc="-10" dirty="0">
                <a:solidFill>
                  <a:srgbClr val="00AEEE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.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anaconda.com/download/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356235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Download appropriate anaconda</a:t>
            </a:r>
            <a:r>
              <a:rPr sz="2400" spc="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installer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After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download install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it.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ts val="2860"/>
              </a:lnSpc>
              <a:spcBef>
                <a:spcPts val="5"/>
              </a:spcBef>
              <a:buAutoNum type="arabicPeriod"/>
              <a:tabLst>
                <a:tab pos="356235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During installation check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set path and all</a:t>
            </a:r>
            <a:r>
              <a:rPr sz="2400" spc="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user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ts val="2525"/>
              </a:lnSpc>
              <a:buAutoNum type="arabicPeriod"/>
              <a:tabLst>
                <a:tab pos="356235" algn="l"/>
              </a:tabLst>
            </a:pPr>
            <a:r>
              <a:rPr sz="2200" spc="-5" dirty="0">
                <a:solidFill>
                  <a:srgbClr val="333399"/>
                </a:solidFill>
                <a:latin typeface="Arial"/>
                <a:cs typeface="Arial"/>
              </a:rPr>
              <a:t>After installation start spyder </a:t>
            </a:r>
            <a:r>
              <a:rPr sz="2200" dirty="0">
                <a:solidFill>
                  <a:srgbClr val="333399"/>
                </a:solidFill>
                <a:latin typeface="Arial"/>
                <a:cs typeface="Arial"/>
              </a:rPr>
              <a:t>utility </a:t>
            </a:r>
            <a:r>
              <a:rPr sz="2200" spc="-5" dirty="0">
                <a:solidFill>
                  <a:srgbClr val="333399"/>
                </a:solidFill>
                <a:latin typeface="Arial"/>
                <a:cs typeface="Arial"/>
              </a:rPr>
              <a:t>of anaconda from start</a:t>
            </a:r>
            <a:r>
              <a:rPr sz="2200" spc="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33399"/>
                </a:solidFill>
                <a:latin typeface="Arial"/>
                <a:cs typeface="Arial"/>
              </a:rPr>
              <a:t>menu</a:t>
            </a:r>
            <a:endParaRPr sz="2200">
              <a:latin typeface="Arial"/>
              <a:cs typeface="Arial"/>
            </a:endParaRPr>
          </a:p>
          <a:p>
            <a:pPr marL="355600" indent="-343535">
              <a:lnSpc>
                <a:spcPts val="3265"/>
              </a:lnSpc>
              <a:buAutoNum type="arabicPeriod"/>
              <a:tabLst>
                <a:tab pos="356235" algn="l"/>
                <a:tab pos="1186180" algn="l"/>
                <a:tab pos="4612640" algn="l"/>
              </a:tabLst>
            </a:pPr>
            <a:r>
              <a:rPr sz="2400" spc="-65" dirty="0">
                <a:solidFill>
                  <a:srgbClr val="333399"/>
                </a:solidFill>
                <a:latin typeface="Arial"/>
                <a:cs typeface="Arial"/>
              </a:rPr>
              <a:t>Type	</a:t>
            </a:r>
            <a:r>
              <a:rPr sz="2800" spc="-5" dirty="0">
                <a:latin typeface="Arial"/>
                <a:cs typeface="Arial"/>
              </a:rPr>
              <a:t>import </a:t>
            </a:r>
            <a:r>
              <a:rPr sz="2800" dirty="0">
                <a:latin typeface="Arial"/>
                <a:cs typeface="Arial"/>
              </a:rPr>
              <a:t>pandas</a:t>
            </a:r>
            <a:r>
              <a:rPr sz="2800" spc="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pd	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 left</a:t>
            </a:r>
            <a:r>
              <a:rPr sz="24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pane(temp.py)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229"/>
              </a:spcBef>
              <a:buAutoNum type="arabicPeriod"/>
              <a:tabLst>
                <a:tab pos="356235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Then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run</a:t>
            </a:r>
            <a:r>
              <a:rPr sz="2400" spc="-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it.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If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no error is show then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it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shows pandas is</a:t>
            </a:r>
            <a:r>
              <a:rPr sz="24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installed.</a:t>
            </a:r>
            <a:endParaRPr sz="2400">
              <a:latin typeface="Arial"/>
              <a:cs typeface="Arial"/>
            </a:endParaRPr>
          </a:p>
          <a:p>
            <a:pPr marL="355600" marR="280670" indent="-343535">
              <a:lnSpc>
                <a:spcPct val="100000"/>
              </a:lnSpc>
              <a:buAutoNum type="arabicPeriod"/>
              <a:tabLst>
                <a:tab pos="356235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Like default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temp.py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we can create another .py file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from</a:t>
            </a:r>
            <a:r>
              <a:rPr sz="24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new  window option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file menu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new</a:t>
            </a:r>
            <a:r>
              <a:rPr sz="2400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program.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5572" y="6496430"/>
            <a:ext cx="27305" cy="41275"/>
          </a:xfrm>
          <a:custGeom>
            <a:avLst/>
            <a:gdLst/>
            <a:ahLst/>
            <a:cxnLst/>
            <a:rect l="l" t="t" r="r" b="b"/>
            <a:pathLst>
              <a:path w="27304" h="41275">
                <a:moveTo>
                  <a:pt x="21069" y="0"/>
                </a:moveTo>
                <a:lnTo>
                  <a:pt x="6070" y="0"/>
                </a:lnTo>
                <a:lnTo>
                  <a:pt x="0" y="6096"/>
                </a:lnTo>
                <a:lnTo>
                  <a:pt x="0" y="40906"/>
                </a:lnTo>
                <a:lnTo>
                  <a:pt x="10566" y="38760"/>
                </a:lnTo>
                <a:lnTo>
                  <a:pt x="19189" y="32918"/>
                </a:lnTo>
                <a:lnTo>
                  <a:pt x="25006" y="24244"/>
                </a:lnTo>
                <a:lnTo>
                  <a:pt x="27139" y="13627"/>
                </a:lnTo>
                <a:lnTo>
                  <a:pt x="27139" y="6096"/>
                </a:lnTo>
                <a:lnTo>
                  <a:pt x="21069" y="0"/>
                </a:lnTo>
                <a:close/>
              </a:path>
            </a:pathLst>
          </a:custGeom>
          <a:solidFill>
            <a:srgbClr val="CDB0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00134" y="645551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7178" y="0"/>
                </a:moveTo>
                <a:lnTo>
                  <a:pt x="0" y="0"/>
                </a:lnTo>
                <a:lnTo>
                  <a:pt x="0" y="27279"/>
                </a:lnTo>
                <a:lnTo>
                  <a:pt x="10541" y="25133"/>
                </a:lnTo>
                <a:lnTo>
                  <a:pt x="19176" y="19291"/>
                </a:lnTo>
                <a:lnTo>
                  <a:pt x="25019" y="10617"/>
                </a:lnTo>
                <a:lnTo>
                  <a:pt x="27178" y="0"/>
                </a:lnTo>
                <a:close/>
              </a:path>
            </a:pathLst>
          </a:custGeom>
          <a:solidFill>
            <a:srgbClr val="CDB0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72956" y="6428232"/>
            <a:ext cx="54610" cy="41275"/>
          </a:xfrm>
          <a:custGeom>
            <a:avLst/>
            <a:gdLst/>
            <a:ahLst/>
            <a:cxnLst/>
            <a:rect l="l" t="t" r="r" b="b"/>
            <a:pathLst>
              <a:path w="54609" h="41275">
                <a:moveTo>
                  <a:pt x="27177" y="0"/>
                </a:moveTo>
                <a:lnTo>
                  <a:pt x="16637" y="2146"/>
                </a:lnTo>
                <a:lnTo>
                  <a:pt x="8000" y="7988"/>
                </a:lnTo>
                <a:lnTo>
                  <a:pt x="2159" y="16662"/>
                </a:lnTo>
                <a:lnTo>
                  <a:pt x="0" y="27279"/>
                </a:lnTo>
                <a:lnTo>
                  <a:pt x="0" y="34810"/>
                </a:lnTo>
                <a:lnTo>
                  <a:pt x="6096" y="40919"/>
                </a:lnTo>
                <a:lnTo>
                  <a:pt x="21082" y="40919"/>
                </a:lnTo>
                <a:lnTo>
                  <a:pt x="27177" y="34810"/>
                </a:lnTo>
                <a:lnTo>
                  <a:pt x="27177" y="27279"/>
                </a:lnTo>
                <a:lnTo>
                  <a:pt x="54356" y="27279"/>
                </a:lnTo>
                <a:lnTo>
                  <a:pt x="52197" y="16662"/>
                </a:lnTo>
                <a:lnTo>
                  <a:pt x="46354" y="7988"/>
                </a:lnTo>
                <a:lnTo>
                  <a:pt x="37719" y="2146"/>
                </a:lnTo>
                <a:lnTo>
                  <a:pt x="27177" y="0"/>
                </a:lnTo>
                <a:close/>
              </a:path>
            </a:pathLst>
          </a:custGeom>
          <a:solidFill>
            <a:srgbClr val="CDB0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140" y="6509004"/>
            <a:ext cx="13335" cy="349250"/>
          </a:xfrm>
          <a:custGeom>
            <a:avLst/>
            <a:gdLst/>
            <a:ahLst/>
            <a:cxnLst/>
            <a:rect l="l" t="t" r="r" b="b"/>
            <a:pathLst>
              <a:path w="13335" h="349250">
                <a:moveTo>
                  <a:pt x="13335" y="348713"/>
                </a:moveTo>
                <a:lnTo>
                  <a:pt x="8178" y="345331"/>
                </a:lnTo>
                <a:lnTo>
                  <a:pt x="2197" y="336692"/>
                </a:lnTo>
                <a:lnTo>
                  <a:pt x="0" y="326111"/>
                </a:lnTo>
                <a:lnTo>
                  <a:pt x="1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73083" y="6455664"/>
            <a:ext cx="54610" cy="27305"/>
          </a:xfrm>
          <a:custGeom>
            <a:avLst/>
            <a:gdLst/>
            <a:ahLst/>
            <a:cxnLst/>
            <a:rect l="l" t="t" r="r" b="b"/>
            <a:pathLst>
              <a:path w="54609" h="27304">
                <a:moveTo>
                  <a:pt x="0" y="27279"/>
                </a:moveTo>
                <a:lnTo>
                  <a:pt x="27177" y="27279"/>
                </a:lnTo>
                <a:lnTo>
                  <a:pt x="37846" y="25133"/>
                </a:lnTo>
                <a:lnTo>
                  <a:pt x="46482" y="19291"/>
                </a:lnTo>
                <a:lnTo>
                  <a:pt x="52324" y="10617"/>
                </a:lnTo>
                <a:lnTo>
                  <a:pt x="54483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140" y="6496811"/>
            <a:ext cx="54610" cy="40640"/>
          </a:xfrm>
          <a:custGeom>
            <a:avLst/>
            <a:gdLst/>
            <a:ahLst/>
            <a:cxnLst/>
            <a:rect l="l" t="t" r="r" b="b"/>
            <a:pathLst>
              <a:path w="54609" h="40640">
                <a:moveTo>
                  <a:pt x="27279" y="40589"/>
                </a:moveTo>
                <a:lnTo>
                  <a:pt x="27279" y="13525"/>
                </a:lnTo>
                <a:lnTo>
                  <a:pt x="27279" y="6045"/>
                </a:lnTo>
                <a:lnTo>
                  <a:pt x="33375" y="0"/>
                </a:lnTo>
                <a:lnTo>
                  <a:pt x="40919" y="0"/>
                </a:lnTo>
                <a:lnTo>
                  <a:pt x="48450" y="0"/>
                </a:lnTo>
                <a:lnTo>
                  <a:pt x="54546" y="6045"/>
                </a:lnTo>
                <a:lnTo>
                  <a:pt x="54546" y="13525"/>
                </a:lnTo>
                <a:lnTo>
                  <a:pt x="52400" y="24053"/>
                </a:lnTo>
                <a:lnTo>
                  <a:pt x="46558" y="32664"/>
                </a:lnTo>
                <a:lnTo>
                  <a:pt x="37896" y="38468"/>
                </a:lnTo>
                <a:lnTo>
                  <a:pt x="27279" y="40589"/>
                </a:lnTo>
                <a:lnTo>
                  <a:pt x="16662" y="38468"/>
                </a:lnTo>
                <a:lnTo>
                  <a:pt x="7988" y="32664"/>
                </a:lnTo>
                <a:lnTo>
                  <a:pt x="2146" y="24053"/>
                </a:lnTo>
                <a:lnTo>
                  <a:pt x="0" y="1352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3004" y="6509004"/>
            <a:ext cx="0" cy="300355"/>
          </a:xfrm>
          <a:custGeom>
            <a:avLst/>
            <a:gdLst/>
            <a:ahLst/>
            <a:cxnLst/>
            <a:rect l="l" t="t" r="r" b="b"/>
            <a:pathLst>
              <a:path h="300354">
                <a:moveTo>
                  <a:pt x="0" y="0"/>
                </a:moveTo>
                <a:lnTo>
                  <a:pt x="0" y="2997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5636" y="1376172"/>
            <a:ext cx="644652" cy="720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9728" y="1350263"/>
            <a:ext cx="644652" cy="7208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9831" y="1420367"/>
            <a:ext cx="504190" cy="580390"/>
          </a:xfrm>
          <a:custGeom>
            <a:avLst/>
            <a:gdLst/>
            <a:ahLst/>
            <a:cxnLst/>
            <a:rect l="l" t="t" r="r" b="b"/>
            <a:pathLst>
              <a:path w="504190" h="580389">
                <a:moveTo>
                  <a:pt x="252031" y="0"/>
                </a:moveTo>
                <a:lnTo>
                  <a:pt x="206730" y="4699"/>
                </a:lnTo>
                <a:lnTo>
                  <a:pt x="164096" y="18161"/>
                </a:lnTo>
                <a:lnTo>
                  <a:pt x="124828" y="39624"/>
                </a:lnTo>
                <a:lnTo>
                  <a:pt x="89649" y="68199"/>
                </a:lnTo>
                <a:lnTo>
                  <a:pt x="59270" y="103124"/>
                </a:lnTo>
                <a:lnTo>
                  <a:pt x="34404" y="143637"/>
                </a:lnTo>
                <a:lnTo>
                  <a:pt x="15773" y="188849"/>
                </a:lnTo>
                <a:lnTo>
                  <a:pt x="4064" y="237998"/>
                </a:lnTo>
                <a:lnTo>
                  <a:pt x="0" y="290068"/>
                </a:lnTo>
                <a:lnTo>
                  <a:pt x="4064" y="342265"/>
                </a:lnTo>
                <a:lnTo>
                  <a:pt x="15773" y="391414"/>
                </a:lnTo>
                <a:lnTo>
                  <a:pt x="34404" y="436626"/>
                </a:lnTo>
                <a:lnTo>
                  <a:pt x="59270" y="477139"/>
                </a:lnTo>
                <a:lnTo>
                  <a:pt x="89649" y="512064"/>
                </a:lnTo>
                <a:lnTo>
                  <a:pt x="124828" y="540639"/>
                </a:lnTo>
                <a:lnTo>
                  <a:pt x="164096" y="562102"/>
                </a:lnTo>
                <a:lnTo>
                  <a:pt x="206730" y="575564"/>
                </a:lnTo>
                <a:lnTo>
                  <a:pt x="252031" y="580263"/>
                </a:lnTo>
                <a:lnTo>
                  <a:pt x="297332" y="575564"/>
                </a:lnTo>
                <a:lnTo>
                  <a:pt x="339966" y="562102"/>
                </a:lnTo>
                <a:lnTo>
                  <a:pt x="379234" y="540639"/>
                </a:lnTo>
                <a:lnTo>
                  <a:pt x="414413" y="512064"/>
                </a:lnTo>
                <a:lnTo>
                  <a:pt x="444792" y="477139"/>
                </a:lnTo>
                <a:lnTo>
                  <a:pt x="469646" y="436626"/>
                </a:lnTo>
                <a:lnTo>
                  <a:pt x="488289" y="391414"/>
                </a:lnTo>
                <a:lnTo>
                  <a:pt x="499999" y="342265"/>
                </a:lnTo>
                <a:lnTo>
                  <a:pt x="504063" y="290068"/>
                </a:lnTo>
                <a:lnTo>
                  <a:pt x="499999" y="237998"/>
                </a:lnTo>
                <a:lnTo>
                  <a:pt x="488289" y="188849"/>
                </a:lnTo>
                <a:lnTo>
                  <a:pt x="469646" y="143637"/>
                </a:lnTo>
                <a:lnTo>
                  <a:pt x="444792" y="103124"/>
                </a:lnTo>
                <a:lnTo>
                  <a:pt x="414413" y="68199"/>
                </a:lnTo>
                <a:lnTo>
                  <a:pt x="379234" y="39624"/>
                </a:lnTo>
                <a:lnTo>
                  <a:pt x="339966" y="18161"/>
                </a:lnTo>
                <a:lnTo>
                  <a:pt x="297332" y="4699"/>
                </a:lnTo>
                <a:lnTo>
                  <a:pt x="25203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831" y="1420367"/>
            <a:ext cx="504190" cy="580390"/>
          </a:xfrm>
          <a:custGeom>
            <a:avLst/>
            <a:gdLst/>
            <a:ahLst/>
            <a:cxnLst/>
            <a:rect l="l" t="t" r="r" b="b"/>
            <a:pathLst>
              <a:path w="504190" h="580389">
                <a:moveTo>
                  <a:pt x="0" y="290068"/>
                </a:moveTo>
                <a:lnTo>
                  <a:pt x="4064" y="237998"/>
                </a:lnTo>
                <a:lnTo>
                  <a:pt x="15773" y="188849"/>
                </a:lnTo>
                <a:lnTo>
                  <a:pt x="34404" y="143637"/>
                </a:lnTo>
                <a:lnTo>
                  <a:pt x="59270" y="103124"/>
                </a:lnTo>
                <a:lnTo>
                  <a:pt x="89649" y="68199"/>
                </a:lnTo>
                <a:lnTo>
                  <a:pt x="124828" y="39624"/>
                </a:lnTo>
                <a:lnTo>
                  <a:pt x="164096" y="18161"/>
                </a:lnTo>
                <a:lnTo>
                  <a:pt x="206730" y="4699"/>
                </a:lnTo>
                <a:lnTo>
                  <a:pt x="252031" y="0"/>
                </a:lnTo>
                <a:lnTo>
                  <a:pt x="297332" y="4699"/>
                </a:lnTo>
                <a:lnTo>
                  <a:pt x="339966" y="18161"/>
                </a:lnTo>
                <a:lnTo>
                  <a:pt x="379234" y="39624"/>
                </a:lnTo>
                <a:lnTo>
                  <a:pt x="414413" y="68199"/>
                </a:lnTo>
                <a:lnTo>
                  <a:pt x="444792" y="103124"/>
                </a:lnTo>
                <a:lnTo>
                  <a:pt x="469646" y="143637"/>
                </a:lnTo>
                <a:lnTo>
                  <a:pt x="488289" y="188849"/>
                </a:lnTo>
                <a:lnTo>
                  <a:pt x="499999" y="237998"/>
                </a:lnTo>
                <a:lnTo>
                  <a:pt x="504063" y="290068"/>
                </a:lnTo>
                <a:lnTo>
                  <a:pt x="499999" y="342265"/>
                </a:lnTo>
                <a:lnTo>
                  <a:pt x="488289" y="391414"/>
                </a:lnTo>
                <a:lnTo>
                  <a:pt x="469646" y="436626"/>
                </a:lnTo>
                <a:lnTo>
                  <a:pt x="444792" y="477139"/>
                </a:lnTo>
                <a:lnTo>
                  <a:pt x="414413" y="512064"/>
                </a:lnTo>
                <a:lnTo>
                  <a:pt x="379234" y="540639"/>
                </a:lnTo>
                <a:lnTo>
                  <a:pt x="339966" y="562102"/>
                </a:lnTo>
                <a:lnTo>
                  <a:pt x="297332" y="575564"/>
                </a:lnTo>
                <a:lnTo>
                  <a:pt x="252031" y="580263"/>
                </a:lnTo>
                <a:lnTo>
                  <a:pt x="206730" y="575564"/>
                </a:lnTo>
                <a:lnTo>
                  <a:pt x="164096" y="562102"/>
                </a:lnTo>
                <a:lnTo>
                  <a:pt x="124828" y="540639"/>
                </a:lnTo>
                <a:lnTo>
                  <a:pt x="89649" y="512064"/>
                </a:lnTo>
                <a:lnTo>
                  <a:pt x="59270" y="477139"/>
                </a:lnTo>
                <a:lnTo>
                  <a:pt x="34404" y="436626"/>
                </a:lnTo>
                <a:lnTo>
                  <a:pt x="15773" y="391414"/>
                </a:lnTo>
                <a:lnTo>
                  <a:pt x="4064" y="342265"/>
                </a:lnTo>
                <a:lnTo>
                  <a:pt x="0" y="29006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4424" y="1613916"/>
            <a:ext cx="146304" cy="2697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4236" y="1623060"/>
            <a:ext cx="106679" cy="2301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21691" y="664590"/>
            <a:ext cx="8750935" cy="4103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7865">
              <a:lnSpc>
                <a:spcPct val="100000"/>
              </a:lnSpc>
              <a:spcBef>
                <a:spcPts val="100"/>
              </a:spcBef>
            </a:pPr>
            <a:endParaRPr lang="en-US" sz="2400" u="heavy" spc="-5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Arial"/>
              <a:cs typeface="Arial"/>
            </a:endParaRPr>
          </a:p>
          <a:p>
            <a:pPr marL="3237865">
              <a:lnSpc>
                <a:spcPct val="100000"/>
              </a:lnSpc>
              <a:spcBef>
                <a:spcPts val="100"/>
              </a:spcBef>
            </a:pPr>
            <a:r>
              <a:rPr sz="2400" u="heavy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 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–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Installation/Environment</a:t>
            </a:r>
            <a:r>
              <a:rPr sz="2400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Setup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686435" marR="1063625" algn="just">
              <a:lnSpc>
                <a:spcPct val="100000"/>
              </a:lnSpc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Pandas installation can be done in Standard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Python 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distribution,using following</a:t>
            </a:r>
            <a:r>
              <a:rPr sz="2400" spc="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steps.</a:t>
            </a:r>
            <a:endParaRPr sz="2400">
              <a:latin typeface="Arial"/>
              <a:cs typeface="Arial"/>
            </a:endParaRPr>
          </a:p>
          <a:p>
            <a:pPr marL="469900" marR="9525" indent="-457834" algn="just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There must be service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pack installed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on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our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computer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if we 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are using windows.If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it </a:t>
            </a:r>
            <a:r>
              <a:rPr sz="2400" spc="-15" dirty="0">
                <a:solidFill>
                  <a:srgbClr val="333399"/>
                </a:solidFill>
                <a:latin typeface="Arial"/>
                <a:cs typeface="Arial"/>
              </a:rPr>
              <a:t>is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not installed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then we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will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not </a:t>
            </a: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be 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able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install pandas in existing Standard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Python(which </a:t>
            </a:r>
            <a:r>
              <a:rPr sz="2400" spc="-25" dirty="0">
                <a:solidFill>
                  <a:srgbClr val="333399"/>
                </a:solidFill>
                <a:latin typeface="Arial"/>
                <a:cs typeface="Arial"/>
              </a:rPr>
              <a:t>is 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already installed).So install it first(google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it).</a:t>
            </a:r>
            <a:endParaRPr sz="2400">
              <a:latin typeface="Arial"/>
              <a:cs typeface="Arial"/>
            </a:endParaRPr>
          </a:p>
          <a:p>
            <a:pPr marL="469900" marR="10160" indent="-457834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70534" algn="l"/>
              </a:tabLst>
            </a:pPr>
            <a:r>
              <a:rPr sz="2400" spc="-35" dirty="0">
                <a:solidFill>
                  <a:srgbClr val="333399"/>
                </a:solidFill>
                <a:latin typeface="Arial"/>
                <a:cs typeface="Arial"/>
              </a:rPr>
              <a:t>We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can check it through properties option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of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my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computer  icon.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691" y="5787338"/>
            <a:ext cx="8051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3720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3.	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Now install latest version(any one above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3.4) of</a:t>
            </a:r>
            <a:r>
              <a:rPr sz="2400" spc="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python.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5636" y="1085088"/>
            <a:ext cx="644652" cy="720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9728" y="1059180"/>
            <a:ext cx="644652" cy="720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831" y="1129283"/>
            <a:ext cx="504190" cy="580390"/>
          </a:xfrm>
          <a:custGeom>
            <a:avLst/>
            <a:gdLst/>
            <a:ahLst/>
            <a:cxnLst/>
            <a:rect l="l" t="t" r="r" b="b"/>
            <a:pathLst>
              <a:path w="504190" h="580389">
                <a:moveTo>
                  <a:pt x="252031" y="0"/>
                </a:moveTo>
                <a:lnTo>
                  <a:pt x="206730" y="4699"/>
                </a:lnTo>
                <a:lnTo>
                  <a:pt x="164096" y="18161"/>
                </a:lnTo>
                <a:lnTo>
                  <a:pt x="124828" y="39624"/>
                </a:lnTo>
                <a:lnTo>
                  <a:pt x="89649" y="68199"/>
                </a:lnTo>
                <a:lnTo>
                  <a:pt x="59270" y="103124"/>
                </a:lnTo>
                <a:lnTo>
                  <a:pt x="34404" y="143637"/>
                </a:lnTo>
                <a:lnTo>
                  <a:pt x="15773" y="188849"/>
                </a:lnTo>
                <a:lnTo>
                  <a:pt x="4064" y="237998"/>
                </a:lnTo>
                <a:lnTo>
                  <a:pt x="0" y="290067"/>
                </a:lnTo>
                <a:lnTo>
                  <a:pt x="4064" y="342264"/>
                </a:lnTo>
                <a:lnTo>
                  <a:pt x="15773" y="391413"/>
                </a:lnTo>
                <a:lnTo>
                  <a:pt x="34404" y="436625"/>
                </a:lnTo>
                <a:lnTo>
                  <a:pt x="59270" y="477138"/>
                </a:lnTo>
                <a:lnTo>
                  <a:pt x="89649" y="512063"/>
                </a:lnTo>
                <a:lnTo>
                  <a:pt x="124828" y="540638"/>
                </a:lnTo>
                <a:lnTo>
                  <a:pt x="164096" y="562101"/>
                </a:lnTo>
                <a:lnTo>
                  <a:pt x="206730" y="575563"/>
                </a:lnTo>
                <a:lnTo>
                  <a:pt x="252031" y="580263"/>
                </a:lnTo>
                <a:lnTo>
                  <a:pt x="297332" y="575563"/>
                </a:lnTo>
                <a:lnTo>
                  <a:pt x="339966" y="562101"/>
                </a:lnTo>
                <a:lnTo>
                  <a:pt x="379234" y="540638"/>
                </a:lnTo>
                <a:lnTo>
                  <a:pt x="414413" y="512063"/>
                </a:lnTo>
                <a:lnTo>
                  <a:pt x="444792" y="477138"/>
                </a:lnTo>
                <a:lnTo>
                  <a:pt x="469646" y="436625"/>
                </a:lnTo>
                <a:lnTo>
                  <a:pt x="488289" y="391413"/>
                </a:lnTo>
                <a:lnTo>
                  <a:pt x="499999" y="342264"/>
                </a:lnTo>
                <a:lnTo>
                  <a:pt x="504063" y="290067"/>
                </a:lnTo>
                <a:lnTo>
                  <a:pt x="499999" y="237998"/>
                </a:lnTo>
                <a:lnTo>
                  <a:pt x="488289" y="188849"/>
                </a:lnTo>
                <a:lnTo>
                  <a:pt x="469646" y="143637"/>
                </a:lnTo>
                <a:lnTo>
                  <a:pt x="444792" y="103124"/>
                </a:lnTo>
                <a:lnTo>
                  <a:pt x="414413" y="68199"/>
                </a:lnTo>
                <a:lnTo>
                  <a:pt x="379234" y="39624"/>
                </a:lnTo>
                <a:lnTo>
                  <a:pt x="339966" y="18161"/>
                </a:lnTo>
                <a:lnTo>
                  <a:pt x="297332" y="4699"/>
                </a:lnTo>
                <a:lnTo>
                  <a:pt x="25203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9831" y="1129283"/>
            <a:ext cx="504190" cy="580390"/>
          </a:xfrm>
          <a:custGeom>
            <a:avLst/>
            <a:gdLst/>
            <a:ahLst/>
            <a:cxnLst/>
            <a:rect l="l" t="t" r="r" b="b"/>
            <a:pathLst>
              <a:path w="504190" h="580389">
                <a:moveTo>
                  <a:pt x="0" y="290067"/>
                </a:moveTo>
                <a:lnTo>
                  <a:pt x="4064" y="237998"/>
                </a:lnTo>
                <a:lnTo>
                  <a:pt x="15773" y="188849"/>
                </a:lnTo>
                <a:lnTo>
                  <a:pt x="34404" y="143637"/>
                </a:lnTo>
                <a:lnTo>
                  <a:pt x="59270" y="103124"/>
                </a:lnTo>
                <a:lnTo>
                  <a:pt x="89649" y="68199"/>
                </a:lnTo>
                <a:lnTo>
                  <a:pt x="124828" y="39624"/>
                </a:lnTo>
                <a:lnTo>
                  <a:pt x="164096" y="18161"/>
                </a:lnTo>
                <a:lnTo>
                  <a:pt x="206730" y="4699"/>
                </a:lnTo>
                <a:lnTo>
                  <a:pt x="252031" y="0"/>
                </a:lnTo>
                <a:lnTo>
                  <a:pt x="297332" y="4699"/>
                </a:lnTo>
                <a:lnTo>
                  <a:pt x="339966" y="18161"/>
                </a:lnTo>
                <a:lnTo>
                  <a:pt x="379234" y="39624"/>
                </a:lnTo>
                <a:lnTo>
                  <a:pt x="414413" y="68199"/>
                </a:lnTo>
                <a:lnTo>
                  <a:pt x="444792" y="103124"/>
                </a:lnTo>
                <a:lnTo>
                  <a:pt x="469646" y="143637"/>
                </a:lnTo>
                <a:lnTo>
                  <a:pt x="488289" y="188849"/>
                </a:lnTo>
                <a:lnTo>
                  <a:pt x="499999" y="237998"/>
                </a:lnTo>
                <a:lnTo>
                  <a:pt x="504063" y="290067"/>
                </a:lnTo>
                <a:lnTo>
                  <a:pt x="499999" y="342264"/>
                </a:lnTo>
                <a:lnTo>
                  <a:pt x="488289" y="391413"/>
                </a:lnTo>
                <a:lnTo>
                  <a:pt x="469646" y="436625"/>
                </a:lnTo>
                <a:lnTo>
                  <a:pt x="444792" y="477138"/>
                </a:lnTo>
                <a:lnTo>
                  <a:pt x="414413" y="512063"/>
                </a:lnTo>
                <a:lnTo>
                  <a:pt x="379234" y="540638"/>
                </a:lnTo>
                <a:lnTo>
                  <a:pt x="339966" y="562101"/>
                </a:lnTo>
                <a:lnTo>
                  <a:pt x="297332" y="575563"/>
                </a:lnTo>
                <a:lnTo>
                  <a:pt x="252031" y="580263"/>
                </a:lnTo>
                <a:lnTo>
                  <a:pt x="206730" y="575563"/>
                </a:lnTo>
                <a:lnTo>
                  <a:pt x="164096" y="562101"/>
                </a:lnTo>
                <a:lnTo>
                  <a:pt x="124828" y="540638"/>
                </a:lnTo>
                <a:lnTo>
                  <a:pt x="89649" y="512063"/>
                </a:lnTo>
                <a:lnTo>
                  <a:pt x="59270" y="477138"/>
                </a:lnTo>
                <a:lnTo>
                  <a:pt x="34404" y="436625"/>
                </a:lnTo>
                <a:lnTo>
                  <a:pt x="15773" y="391413"/>
                </a:lnTo>
                <a:lnTo>
                  <a:pt x="4064" y="342264"/>
                </a:lnTo>
                <a:lnTo>
                  <a:pt x="0" y="290067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7659" y="1324355"/>
            <a:ext cx="196596" cy="2697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7472" y="1333500"/>
            <a:ext cx="156972" cy="2301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95400" y="3810000"/>
            <a:ext cx="7665720" cy="23164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28800" y="4343401"/>
            <a:ext cx="6739128" cy="13914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21691" y="664590"/>
            <a:ext cx="8749030" cy="5665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5960">
              <a:lnSpc>
                <a:spcPct val="100000"/>
              </a:lnSpc>
              <a:spcBef>
                <a:spcPts val="100"/>
              </a:spcBef>
            </a:pPr>
            <a:endParaRPr lang="en-US" sz="2400" u="heavy" spc="-5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Arial"/>
              <a:cs typeface="Arial"/>
            </a:endParaRPr>
          </a:p>
          <a:p>
            <a:pPr marL="3235960">
              <a:lnSpc>
                <a:spcPct val="100000"/>
              </a:lnSpc>
              <a:spcBef>
                <a:spcPts val="100"/>
              </a:spcBef>
            </a:pPr>
            <a:r>
              <a:rPr sz="2400" u="heavy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 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–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Installation/Environment</a:t>
            </a:r>
            <a:r>
              <a:rPr sz="2400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Setup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267335" indent="-255270">
              <a:lnSpc>
                <a:spcPct val="100000"/>
              </a:lnSpc>
              <a:buSzPct val="95833"/>
              <a:buAutoNum type="arabicPeriod" startAt="4"/>
              <a:tabLst>
                <a:tab pos="267970" algn="l"/>
              </a:tabLst>
            </a:pPr>
            <a:r>
              <a:rPr sz="2400" spc="-5">
                <a:solidFill>
                  <a:srgbClr val="333399"/>
                </a:solidFill>
                <a:latin typeface="Arial"/>
                <a:cs typeface="Arial"/>
              </a:rPr>
              <a:t>Now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move to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script folder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python distribution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in</a:t>
            </a:r>
            <a:r>
              <a:rPr sz="2400" spc="-1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command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prompt (through </a:t>
            </a:r>
            <a:r>
              <a:rPr sz="2400" dirty="0">
                <a:latin typeface="Arial"/>
                <a:cs typeface="Arial"/>
              </a:rPr>
              <a:t>cmd </a:t>
            </a:r>
            <a:r>
              <a:rPr sz="2400" spc="-5" dirty="0">
                <a:latin typeface="Arial"/>
                <a:cs typeface="Arial"/>
              </a:rPr>
              <a:t>command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400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windows).</a:t>
            </a:r>
            <a:endParaRPr sz="2400">
              <a:latin typeface="Arial"/>
              <a:cs typeface="Arial"/>
            </a:endParaRPr>
          </a:p>
          <a:p>
            <a:pPr marL="351155" indent="-339090">
              <a:lnSpc>
                <a:spcPct val="100000"/>
              </a:lnSpc>
              <a:buSzPct val="95833"/>
              <a:buAutoNum type="arabicPeriod" startAt="5"/>
              <a:tabLst>
                <a:tab pos="351790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Execute following commands in command prompt</a:t>
            </a:r>
            <a:r>
              <a:rPr sz="2400" spc="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serially.</a:t>
            </a:r>
            <a:endParaRPr sz="2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&gt;pip install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numpy</a:t>
            </a:r>
            <a:endParaRPr sz="2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&gt;pip install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six</a:t>
            </a:r>
            <a:endParaRPr sz="2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&gt;pip install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pandas</a:t>
            </a:r>
            <a:endParaRPr sz="24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</a:pP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Wait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after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each command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installation</a:t>
            </a:r>
            <a:endParaRPr sz="2400">
              <a:latin typeface="Arial"/>
              <a:cs typeface="Arial"/>
            </a:endParaRPr>
          </a:p>
          <a:p>
            <a:pPr marL="265430" marR="1227455">
              <a:lnSpc>
                <a:spcPct val="100000"/>
              </a:lnSpc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Now we will be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able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use pandas in standard python  distribution.</a:t>
            </a:r>
            <a:endParaRPr sz="2400">
              <a:latin typeface="Arial"/>
              <a:cs typeface="Arial"/>
            </a:endParaRPr>
          </a:p>
          <a:p>
            <a:pPr marL="344805" indent="-332740">
              <a:lnSpc>
                <a:spcPts val="3285"/>
              </a:lnSpc>
              <a:buSzPct val="95833"/>
              <a:buAutoNum type="arabicPeriod" startAt="6"/>
              <a:tabLst>
                <a:tab pos="345440" algn="l"/>
              </a:tabLst>
            </a:pPr>
            <a:r>
              <a:rPr sz="2400" spc="-65" dirty="0">
                <a:solidFill>
                  <a:srgbClr val="333399"/>
                </a:solidFill>
                <a:latin typeface="Arial"/>
                <a:cs typeface="Arial"/>
              </a:rPr>
              <a:t>Type </a:t>
            </a:r>
            <a:r>
              <a:rPr sz="2800" spc="-5" dirty="0">
                <a:latin typeface="Arial"/>
                <a:cs typeface="Arial"/>
              </a:rPr>
              <a:t>import pandas as pd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 python (IDLE)</a:t>
            </a:r>
            <a:r>
              <a:rPr sz="2400" spc="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shell.</a:t>
            </a:r>
            <a:endParaRPr sz="2400">
              <a:latin typeface="Arial"/>
              <a:cs typeface="Arial"/>
            </a:endParaRPr>
          </a:p>
          <a:p>
            <a:pPr marL="351155" marR="638810" indent="-339090">
              <a:lnSpc>
                <a:spcPct val="100000"/>
              </a:lnSpc>
              <a:spcBef>
                <a:spcPts val="15"/>
              </a:spcBef>
              <a:buSzPct val="95833"/>
              <a:buAutoNum type="arabicPeriod" startAt="6"/>
              <a:tabLst>
                <a:tab pos="351790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If it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executed without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error(it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means pandas is installed</a:t>
            </a:r>
            <a:r>
              <a:rPr sz="2400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on  your</a:t>
            </a:r>
            <a:r>
              <a:rPr sz="24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system)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5636" y="1085088"/>
            <a:ext cx="644652" cy="720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9728" y="1059180"/>
            <a:ext cx="644652" cy="720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9831" y="1129283"/>
            <a:ext cx="504190" cy="580390"/>
          </a:xfrm>
          <a:custGeom>
            <a:avLst/>
            <a:gdLst/>
            <a:ahLst/>
            <a:cxnLst/>
            <a:rect l="l" t="t" r="r" b="b"/>
            <a:pathLst>
              <a:path w="504190" h="580389">
                <a:moveTo>
                  <a:pt x="252031" y="0"/>
                </a:moveTo>
                <a:lnTo>
                  <a:pt x="206730" y="4699"/>
                </a:lnTo>
                <a:lnTo>
                  <a:pt x="164096" y="18161"/>
                </a:lnTo>
                <a:lnTo>
                  <a:pt x="124828" y="39624"/>
                </a:lnTo>
                <a:lnTo>
                  <a:pt x="89649" y="68199"/>
                </a:lnTo>
                <a:lnTo>
                  <a:pt x="59270" y="103124"/>
                </a:lnTo>
                <a:lnTo>
                  <a:pt x="34404" y="143637"/>
                </a:lnTo>
                <a:lnTo>
                  <a:pt x="15773" y="188849"/>
                </a:lnTo>
                <a:lnTo>
                  <a:pt x="4064" y="237998"/>
                </a:lnTo>
                <a:lnTo>
                  <a:pt x="0" y="290067"/>
                </a:lnTo>
                <a:lnTo>
                  <a:pt x="4064" y="342264"/>
                </a:lnTo>
                <a:lnTo>
                  <a:pt x="15773" y="391413"/>
                </a:lnTo>
                <a:lnTo>
                  <a:pt x="34404" y="436625"/>
                </a:lnTo>
                <a:lnTo>
                  <a:pt x="59270" y="477138"/>
                </a:lnTo>
                <a:lnTo>
                  <a:pt x="89649" y="512063"/>
                </a:lnTo>
                <a:lnTo>
                  <a:pt x="124828" y="540638"/>
                </a:lnTo>
                <a:lnTo>
                  <a:pt x="164096" y="562101"/>
                </a:lnTo>
                <a:lnTo>
                  <a:pt x="206730" y="575563"/>
                </a:lnTo>
                <a:lnTo>
                  <a:pt x="252031" y="580263"/>
                </a:lnTo>
                <a:lnTo>
                  <a:pt x="297332" y="575563"/>
                </a:lnTo>
                <a:lnTo>
                  <a:pt x="339966" y="562101"/>
                </a:lnTo>
                <a:lnTo>
                  <a:pt x="379234" y="540638"/>
                </a:lnTo>
                <a:lnTo>
                  <a:pt x="414413" y="512063"/>
                </a:lnTo>
                <a:lnTo>
                  <a:pt x="444792" y="477138"/>
                </a:lnTo>
                <a:lnTo>
                  <a:pt x="469646" y="436625"/>
                </a:lnTo>
                <a:lnTo>
                  <a:pt x="488289" y="391413"/>
                </a:lnTo>
                <a:lnTo>
                  <a:pt x="499999" y="342264"/>
                </a:lnTo>
                <a:lnTo>
                  <a:pt x="504063" y="290067"/>
                </a:lnTo>
                <a:lnTo>
                  <a:pt x="499999" y="237998"/>
                </a:lnTo>
                <a:lnTo>
                  <a:pt x="488289" y="188849"/>
                </a:lnTo>
                <a:lnTo>
                  <a:pt x="469646" y="143637"/>
                </a:lnTo>
                <a:lnTo>
                  <a:pt x="444792" y="103124"/>
                </a:lnTo>
                <a:lnTo>
                  <a:pt x="414413" y="68199"/>
                </a:lnTo>
                <a:lnTo>
                  <a:pt x="379234" y="39624"/>
                </a:lnTo>
                <a:lnTo>
                  <a:pt x="339966" y="18161"/>
                </a:lnTo>
                <a:lnTo>
                  <a:pt x="297332" y="4699"/>
                </a:lnTo>
                <a:lnTo>
                  <a:pt x="25203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831" y="1129283"/>
            <a:ext cx="504190" cy="580390"/>
          </a:xfrm>
          <a:custGeom>
            <a:avLst/>
            <a:gdLst/>
            <a:ahLst/>
            <a:cxnLst/>
            <a:rect l="l" t="t" r="r" b="b"/>
            <a:pathLst>
              <a:path w="504190" h="580389">
                <a:moveTo>
                  <a:pt x="0" y="290067"/>
                </a:moveTo>
                <a:lnTo>
                  <a:pt x="4064" y="237998"/>
                </a:lnTo>
                <a:lnTo>
                  <a:pt x="15773" y="188849"/>
                </a:lnTo>
                <a:lnTo>
                  <a:pt x="34404" y="143637"/>
                </a:lnTo>
                <a:lnTo>
                  <a:pt x="59270" y="103124"/>
                </a:lnTo>
                <a:lnTo>
                  <a:pt x="89649" y="68199"/>
                </a:lnTo>
                <a:lnTo>
                  <a:pt x="124828" y="39624"/>
                </a:lnTo>
                <a:lnTo>
                  <a:pt x="164096" y="18161"/>
                </a:lnTo>
                <a:lnTo>
                  <a:pt x="206730" y="4699"/>
                </a:lnTo>
                <a:lnTo>
                  <a:pt x="252031" y="0"/>
                </a:lnTo>
                <a:lnTo>
                  <a:pt x="297332" y="4699"/>
                </a:lnTo>
                <a:lnTo>
                  <a:pt x="339966" y="18161"/>
                </a:lnTo>
                <a:lnTo>
                  <a:pt x="379234" y="39624"/>
                </a:lnTo>
                <a:lnTo>
                  <a:pt x="414413" y="68199"/>
                </a:lnTo>
                <a:lnTo>
                  <a:pt x="444792" y="103124"/>
                </a:lnTo>
                <a:lnTo>
                  <a:pt x="469646" y="143637"/>
                </a:lnTo>
                <a:lnTo>
                  <a:pt x="488289" y="188849"/>
                </a:lnTo>
                <a:lnTo>
                  <a:pt x="499999" y="237998"/>
                </a:lnTo>
                <a:lnTo>
                  <a:pt x="504063" y="290067"/>
                </a:lnTo>
                <a:lnTo>
                  <a:pt x="499999" y="342264"/>
                </a:lnTo>
                <a:lnTo>
                  <a:pt x="488289" y="391413"/>
                </a:lnTo>
                <a:lnTo>
                  <a:pt x="469646" y="436625"/>
                </a:lnTo>
                <a:lnTo>
                  <a:pt x="444792" y="477138"/>
                </a:lnTo>
                <a:lnTo>
                  <a:pt x="414413" y="512063"/>
                </a:lnTo>
                <a:lnTo>
                  <a:pt x="379234" y="540638"/>
                </a:lnTo>
                <a:lnTo>
                  <a:pt x="339966" y="562101"/>
                </a:lnTo>
                <a:lnTo>
                  <a:pt x="297332" y="575563"/>
                </a:lnTo>
                <a:lnTo>
                  <a:pt x="252031" y="580263"/>
                </a:lnTo>
                <a:lnTo>
                  <a:pt x="206730" y="575563"/>
                </a:lnTo>
                <a:lnTo>
                  <a:pt x="164096" y="562101"/>
                </a:lnTo>
                <a:lnTo>
                  <a:pt x="124828" y="540638"/>
                </a:lnTo>
                <a:lnTo>
                  <a:pt x="89649" y="512063"/>
                </a:lnTo>
                <a:lnTo>
                  <a:pt x="59270" y="477138"/>
                </a:lnTo>
                <a:lnTo>
                  <a:pt x="34404" y="436625"/>
                </a:lnTo>
                <a:lnTo>
                  <a:pt x="15773" y="391413"/>
                </a:lnTo>
                <a:lnTo>
                  <a:pt x="4064" y="342264"/>
                </a:lnTo>
                <a:lnTo>
                  <a:pt x="0" y="290067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7659" y="1324355"/>
            <a:ext cx="196596" cy="2697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7472" y="1333500"/>
            <a:ext cx="156972" cy="2301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57962" y="643254"/>
            <a:ext cx="8684260" cy="301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23180" algn="just">
              <a:lnSpc>
                <a:spcPct val="100000"/>
              </a:lnSpc>
              <a:spcBef>
                <a:spcPts val="100"/>
              </a:spcBef>
            </a:pPr>
            <a:endParaRPr lang="en-US" sz="2400" spc="-5" dirty="0">
              <a:solidFill>
                <a:srgbClr val="FF0000"/>
              </a:solidFill>
              <a:latin typeface="Arial"/>
              <a:cs typeface="Arial"/>
            </a:endParaRPr>
          </a:p>
          <a:p>
            <a:pPr marL="5123180" algn="just">
              <a:lnSpc>
                <a:spcPct val="100000"/>
              </a:lnSpc>
              <a:spcBef>
                <a:spcPts val="100"/>
              </a:spcBef>
            </a:pPr>
            <a:endParaRPr lang="en-US" sz="2400" spc="-5" dirty="0">
              <a:solidFill>
                <a:srgbClr val="FF0000"/>
              </a:solidFill>
              <a:latin typeface="Arial"/>
              <a:cs typeface="Arial"/>
            </a:endParaRPr>
          </a:p>
          <a:p>
            <a:pPr marL="5123180" algn="just">
              <a:lnSpc>
                <a:spcPct val="100000"/>
              </a:lnSpc>
              <a:spcBef>
                <a:spcPts val="100"/>
              </a:spcBef>
            </a:pPr>
            <a:r>
              <a:rPr sz="2400" spc="-5">
                <a:solidFill>
                  <a:srgbClr val="FF0000"/>
                </a:solidFill>
                <a:latin typeface="Arial"/>
                <a:cs typeface="Arial"/>
              </a:rPr>
              <a:t>Data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Structures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4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Pandas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0"/>
              </a:spcBef>
            </a:pPr>
            <a:r>
              <a:rPr sz="2300" spc="-75" dirty="0">
                <a:solidFill>
                  <a:srgbClr val="00AE50"/>
                </a:solidFill>
                <a:latin typeface="Arial"/>
                <a:cs typeface="Arial"/>
              </a:rPr>
              <a:t>Two </a:t>
            </a:r>
            <a:r>
              <a:rPr sz="2300" dirty="0">
                <a:solidFill>
                  <a:srgbClr val="00AE50"/>
                </a:solidFill>
                <a:latin typeface="Arial"/>
                <a:cs typeface="Arial"/>
              </a:rPr>
              <a:t>important data structures of pandas are–Series,</a:t>
            </a:r>
            <a:r>
              <a:rPr sz="2300" spc="-430" dirty="0">
                <a:solidFill>
                  <a:srgbClr val="00AE50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00AE50"/>
                </a:solidFill>
                <a:latin typeface="Arial"/>
                <a:cs typeface="Arial"/>
              </a:rPr>
              <a:t>DataFrame</a:t>
            </a:r>
            <a:endParaRPr sz="23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75"/>
              </a:spcBef>
            </a:pPr>
            <a:r>
              <a:rPr sz="2400" spc="-5" dirty="0">
                <a:solidFill>
                  <a:srgbClr val="92D050"/>
                </a:solidFill>
                <a:latin typeface="Arial"/>
                <a:cs typeface="Arial"/>
              </a:rPr>
              <a:t>1.</a:t>
            </a:r>
            <a:r>
              <a:rPr sz="2400" spc="26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92D050"/>
                </a:solid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12700" marR="11430" indent="914400" algn="just">
              <a:lnSpc>
                <a:spcPct val="100000"/>
              </a:lnSpc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Series is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like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a one-dimensional array like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structure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with 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homogeneous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data. For example, the following series is a  collection of</a:t>
            </a: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integers.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962" y="4674489"/>
            <a:ext cx="35528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-5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Basic feature </a:t>
            </a:r>
            <a:r>
              <a:rPr sz="2400" u="heavy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of </a:t>
            </a:r>
            <a:r>
              <a:rPr sz="2400" u="heavy" spc="-5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series</a:t>
            </a:r>
            <a:r>
              <a:rPr sz="2400" u="heavy" spc="-114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5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Homogeneous</a:t>
            </a:r>
            <a:r>
              <a:rPr sz="2400" spc="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Size</a:t>
            </a:r>
            <a:r>
              <a:rPr sz="2400" spc="-1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Immutable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400" spc="-70" dirty="0">
                <a:solidFill>
                  <a:srgbClr val="6E2E9F"/>
                </a:solidFill>
                <a:latin typeface="Arial"/>
                <a:cs typeface="Arial"/>
              </a:rPr>
              <a:t>Values </a:t>
            </a:r>
            <a:r>
              <a:rPr sz="2400" dirty="0">
                <a:solidFill>
                  <a:srgbClr val="6E2E9F"/>
                </a:solidFill>
                <a:latin typeface="Arial"/>
                <a:cs typeface="Arial"/>
              </a:rPr>
              <a:t>of Data</a:t>
            </a:r>
            <a:r>
              <a:rPr sz="2400" spc="-4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Mutable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43200" y="3352800"/>
            <a:ext cx="5125212" cy="1487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76600" y="3657600"/>
            <a:ext cx="4536948" cy="899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942334" y="1902967"/>
            <a:ext cx="4822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310" algn="l"/>
                <a:tab pos="3175000" algn="l"/>
                <a:tab pos="4268470" algn="l"/>
              </a:tabLst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a	tw</a:t>
            </a: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-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</a:t>
            </a:r>
            <a:r>
              <a:rPr sz="2400" spc="-15" dirty="0">
                <a:solidFill>
                  <a:srgbClr val="333399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m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en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s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io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na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l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array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w</a:t>
            </a:r>
            <a:r>
              <a:rPr sz="2400" spc="-25" dirty="0">
                <a:solidFill>
                  <a:srgbClr val="333399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th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682" y="1537208"/>
            <a:ext cx="30149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932939" algn="l"/>
                <a:tab pos="2546985" algn="l"/>
              </a:tabLst>
            </a:pPr>
            <a:r>
              <a:rPr sz="2400" spc="-5" dirty="0">
                <a:solidFill>
                  <a:srgbClr val="92D050"/>
                </a:solidFill>
                <a:latin typeface="Arial"/>
                <a:cs typeface="Arial"/>
              </a:rPr>
              <a:t>2.	DataFrame </a:t>
            </a:r>
            <a:r>
              <a:rPr sz="2400" spc="-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Arial"/>
                <a:cs typeface="Arial"/>
              </a:rPr>
              <a:t>D</a:t>
            </a:r>
            <a:r>
              <a:rPr sz="2400" spc="-20" dirty="0">
                <a:solidFill>
                  <a:srgbClr val="1F487C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srgbClr val="1F487C"/>
                </a:solidFill>
                <a:latin typeface="Arial"/>
                <a:cs typeface="Arial"/>
              </a:rPr>
              <a:t>taFram</a:t>
            </a:r>
            <a:r>
              <a:rPr sz="2400" spc="-5" dirty="0">
                <a:solidFill>
                  <a:srgbClr val="1F487C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srgbClr val="1F487C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1F487C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1F487C"/>
                </a:solidFill>
                <a:latin typeface="Arial"/>
                <a:cs typeface="Arial"/>
              </a:rPr>
              <a:t>s	</a:t>
            </a:r>
            <a:r>
              <a:rPr sz="2400" spc="-10" dirty="0">
                <a:solidFill>
                  <a:srgbClr val="1F487C"/>
                </a:solidFill>
                <a:latin typeface="Arial"/>
                <a:cs typeface="Arial"/>
              </a:rPr>
              <a:t>l</a:t>
            </a:r>
            <a:r>
              <a:rPr sz="2400" spc="-25" dirty="0">
                <a:solidFill>
                  <a:srgbClr val="1F487C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srgbClr val="1F487C"/>
                </a:solidFill>
                <a:latin typeface="Arial"/>
                <a:cs typeface="Arial"/>
              </a:rPr>
              <a:t>ke 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heterogeneous</a:t>
            </a:r>
            <a:r>
              <a:rPr sz="2400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619" y="4689729"/>
            <a:ext cx="42646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Basic feature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DataFrame</a:t>
            </a:r>
            <a:r>
              <a:rPr sz="24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Heterogeneous</a:t>
            </a:r>
            <a:r>
              <a:rPr sz="2400" spc="1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Size Mutable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"/>
              <a:tabLst>
                <a:tab pos="355600" algn="l"/>
              </a:tabLst>
            </a:pP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Data</a:t>
            </a:r>
            <a:r>
              <a:rPr sz="2400" spc="-1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Mutable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404492" y="2635376"/>
          <a:ext cx="6835140" cy="2054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19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6994"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SR.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No.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Admn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985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Class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85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Section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5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5"/>
                        </a:lnSpc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Date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Birth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496"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001284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NIDHI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MANDAL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98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8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Girl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07/08/2010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001285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5"/>
                        </a:lnSpc>
                      </a:pPr>
                      <a:r>
                        <a:rPr sz="1800" spc="-40" dirty="0">
                          <a:latin typeface="Calibri"/>
                          <a:cs typeface="Calibri"/>
                        </a:rPr>
                        <a:t>SOUMYADIP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75" dirty="0">
                          <a:latin typeface="Calibri"/>
                          <a:cs typeface="Calibri"/>
                        </a:rPr>
                        <a:t>BHATTACHARYA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98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8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Boy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5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24/02/2011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pPr marL="60960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001286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89"/>
                        </a:lnSpc>
                      </a:pPr>
                      <a:r>
                        <a:rPr sz="1800" spc="-40" dirty="0">
                          <a:latin typeface="Calibri"/>
                          <a:cs typeface="Calibri"/>
                        </a:rPr>
                        <a:t>SHREYAANG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65" dirty="0">
                          <a:latin typeface="Calibri"/>
                          <a:cs typeface="Calibri"/>
                        </a:rPr>
                        <a:t>SHANDILYA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9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9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Boy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9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29/12/2010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30427" y="1589278"/>
            <a:ext cx="802830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algn="just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92D05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35" dirty="0">
                <a:solidFill>
                  <a:srgbClr val="92D05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92D05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24765" marR="5080" algn="just">
              <a:lnSpc>
                <a:spcPct val="100000"/>
              </a:lnSpc>
            </a:pP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It is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like 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one-dimensional </a:t>
            </a: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array 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capable </a:t>
            </a:r>
            <a:r>
              <a:rPr sz="2400" b="1" spc="-20" dirty="0">
                <a:solidFill>
                  <a:srgbClr val="006EC0"/>
                </a:solidFill>
                <a:latin typeface="Arial"/>
                <a:cs typeface="Arial"/>
              </a:rPr>
              <a:t>of 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holding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data  of any 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type </a:t>
            </a:r>
            <a:r>
              <a:rPr sz="2400" b="1" spc="-40" dirty="0">
                <a:solidFill>
                  <a:srgbClr val="006EC0"/>
                </a:solidFill>
                <a:latin typeface="Arial"/>
                <a:cs typeface="Arial"/>
              </a:rPr>
              <a:t>(integer,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string, 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float, </a:t>
            </a:r>
            <a:r>
              <a:rPr sz="2400" b="1" spc="-20" dirty="0">
                <a:solidFill>
                  <a:srgbClr val="006EC0"/>
                </a:solidFill>
                <a:latin typeface="Arial"/>
                <a:cs typeface="Arial"/>
              </a:rPr>
              <a:t>python </a:t>
            </a:r>
            <a:r>
              <a:rPr sz="2400" b="1" spc="-10" dirty="0">
                <a:solidFill>
                  <a:srgbClr val="006EC0"/>
                </a:solidFill>
                <a:latin typeface="Arial"/>
                <a:cs typeface="Arial"/>
              </a:rPr>
              <a:t>objects, etc.). 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Series can be created </a:t>
            </a: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using</a:t>
            </a:r>
            <a:r>
              <a:rPr sz="2400" b="1" spc="-11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6EC0"/>
                </a:solidFill>
                <a:latin typeface="Arial"/>
                <a:cs typeface="Arial"/>
              </a:rPr>
              <a:t>constructor.</a:t>
            </a:r>
            <a:endParaRPr sz="2400">
              <a:latin typeface="Arial"/>
              <a:cs typeface="Arial"/>
            </a:endParaRPr>
          </a:p>
          <a:p>
            <a:pPr marL="12700" marR="798195" indent="12065" algn="just">
              <a:lnSpc>
                <a:spcPct val="100000"/>
              </a:lnSpc>
            </a:pPr>
            <a:r>
              <a:rPr sz="2400" b="1" spc="-20" dirty="0">
                <a:solidFill>
                  <a:srgbClr val="006EC0"/>
                </a:solidFill>
                <a:latin typeface="Arial"/>
                <a:cs typeface="Arial"/>
              </a:rPr>
              <a:t>Syntax </a:t>
            </a: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:-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pandas.Series( data, index,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dtype, copy) 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Creation </a:t>
            </a: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of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Series is also possible from </a:t>
            </a:r>
            <a:r>
              <a:rPr sz="2400" b="1" dirty="0">
                <a:solidFill>
                  <a:srgbClr val="006EC0"/>
                </a:solidFill>
                <a:latin typeface="Arial"/>
                <a:cs typeface="Arial"/>
              </a:rPr>
              <a:t>–</a:t>
            </a:r>
            <a:r>
              <a:rPr sz="2400" b="1" spc="-165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2400" b="1" spc="-30" dirty="0">
                <a:solidFill>
                  <a:srgbClr val="006EC0"/>
                </a:solidFill>
                <a:latin typeface="Arial"/>
                <a:cs typeface="Arial"/>
              </a:rPr>
              <a:t>ndarray,  </a:t>
            </a:r>
            <a:r>
              <a:rPr sz="2400" b="1" spc="-25" dirty="0">
                <a:solidFill>
                  <a:srgbClr val="006EC0"/>
                </a:solidFill>
                <a:latin typeface="Arial"/>
                <a:cs typeface="Arial"/>
              </a:rPr>
              <a:t>dictionary,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scalar</a:t>
            </a:r>
            <a:r>
              <a:rPr sz="2400" b="1" spc="-35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6EC0"/>
                </a:solidFill>
                <a:latin typeface="Arial"/>
                <a:cs typeface="Arial"/>
              </a:rPr>
              <a:t>value.</a:t>
            </a:r>
            <a:endParaRPr sz="2400">
              <a:latin typeface="Arial"/>
              <a:cs typeface="Arial"/>
            </a:endParaRPr>
          </a:p>
          <a:p>
            <a:pPr marL="24765" algn="just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00AEEE"/>
                </a:solidFill>
                <a:latin typeface="Arial"/>
                <a:cs typeface="Arial"/>
              </a:rPr>
              <a:t>Series can be created</a:t>
            </a:r>
            <a:r>
              <a:rPr sz="2400" b="1" spc="-65" dirty="0">
                <a:solidFill>
                  <a:srgbClr val="00AEEE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EEE"/>
                </a:solidFill>
                <a:latin typeface="Arial"/>
                <a:cs typeface="Arial"/>
              </a:rPr>
              <a:t>using</a:t>
            </a:r>
            <a:endParaRPr sz="2400">
              <a:latin typeface="Arial"/>
              <a:cs typeface="Arial"/>
            </a:endParaRPr>
          </a:p>
          <a:p>
            <a:pPr marL="481965" indent="-457834">
              <a:lnSpc>
                <a:spcPct val="100000"/>
              </a:lnSpc>
              <a:buAutoNum type="arabicPeriod"/>
              <a:tabLst>
                <a:tab pos="481965" algn="l"/>
                <a:tab pos="482600" algn="l"/>
              </a:tabLst>
            </a:pPr>
            <a:r>
              <a:rPr sz="2400" dirty="0">
                <a:solidFill>
                  <a:srgbClr val="6E2E9F"/>
                </a:solidFill>
                <a:latin typeface="Arial"/>
                <a:cs typeface="Arial"/>
              </a:rPr>
              <a:t>Array</a:t>
            </a:r>
            <a:endParaRPr sz="2400">
              <a:latin typeface="Arial"/>
              <a:cs typeface="Arial"/>
            </a:endParaRPr>
          </a:p>
          <a:p>
            <a:pPr marL="481965" indent="-457834">
              <a:lnSpc>
                <a:spcPct val="100000"/>
              </a:lnSpc>
              <a:buAutoNum type="arabicPeriod"/>
              <a:tabLst>
                <a:tab pos="481965" algn="l"/>
                <a:tab pos="482600" algn="l"/>
              </a:tabLst>
            </a:pP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Dict</a:t>
            </a:r>
            <a:endParaRPr sz="2400">
              <a:latin typeface="Arial"/>
              <a:cs typeface="Arial"/>
            </a:endParaRPr>
          </a:p>
          <a:p>
            <a:pPr marL="481965" indent="-457834">
              <a:lnSpc>
                <a:spcPct val="100000"/>
              </a:lnSpc>
              <a:buAutoNum type="arabicPeriod"/>
              <a:tabLst>
                <a:tab pos="481965" algn="l"/>
                <a:tab pos="482600" algn="l"/>
              </a:tabLst>
            </a:pPr>
            <a:r>
              <a:rPr sz="2400" spc="-5" dirty="0">
                <a:solidFill>
                  <a:srgbClr val="6E2E9F"/>
                </a:solidFill>
                <a:latin typeface="Arial"/>
                <a:cs typeface="Arial"/>
              </a:rPr>
              <a:t>Scalar value or</a:t>
            </a:r>
            <a:r>
              <a:rPr sz="2400" dirty="0">
                <a:solidFill>
                  <a:srgbClr val="6E2E9F"/>
                </a:solidFill>
                <a:latin typeface="Arial"/>
                <a:cs typeface="Arial"/>
              </a:rPr>
              <a:t> constant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81400" y="228600"/>
            <a:ext cx="61860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sz="2800" b="1" u="sng" spc="-25"/>
              <a:t>Data </a:t>
            </a:r>
            <a:r>
              <a:rPr sz="2800" b="1" u="sng" spc="-10" dirty="0"/>
              <a:t>Handling </a:t>
            </a:r>
            <a:r>
              <a:rPr sz="2800" b="1" u="sng" spc="-5" dirty="0"/>
              <a:t>using </a:t>
            </a:r>
            <a:r>
              <a:rPr sz="2800" b="1" u="sng" spc="-15" dirty="0"/>
              <a:t>Pandas</a:t>
            </a:r>
            <a:r>
              <a:rPr sz="2800" b="1" u="sng" spc="-165" dirty="0"/>
              <a:t> </a:t>
            </a:r>
            <a:r>
              <a:rPr sz="2800" b="1" u="sng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42619" y="1684146"/>
            <a:ext cx="3687445" cy="444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an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Empty</a:t>
            </a:r>
            <a:r>
              <a:rPr sz="2400" b="1" u="heavy" spc="-8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e.g.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import </a:t>
            </a:r>
            <a:r>
              <a:rPr sz="2400" b="1" spc="-5" dirty="0">
                <a:latin typeface="Arial"/>
                <a:cs typeface="Arial"/>
              </a:rPr>
              <a:t>pandas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b="1" spc="-16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pseries  s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pseries.Series()  print(s)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AEEE"/>
                </a:solid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Series([], </a:t>
            </a:r>
            <a:r>
              <a:rPr sz="2400" b="1" spc="-20" dirty="0">
                <a:latin typeface="Arial"/>
                <a:cs typeface="Arial"/>
              </a:rPr>
              <a:t>dtype: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float64)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40760" y="838200"/>
            <a:ext cx="5603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25" dirty="0"/>
              <a:t>Data </a:t>
            </a:r>
            <a:r>
              <a:rPr u="none" spc="-10" dirty="0"/>
              <a:t>Handling </a:t>
            </a:r>
            <a:r>
              <a:rPr u="none" spc="-5" dirty="0"/>
              <a:t>using </a:t>
            </a:r>
            <a:r>
              <a:rPr u="none" spc="-15" dirty="0"/>
              <a:t>Pandas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4567173" y="647141"/>
            <a:ext cx="4424427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Series from</a:t>
            </a:r>
            <a:r>
              <a:rPr sz="2400" b="1" u="heavy" spc="-4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ndarray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4276" y="1504188"/>
            <a:ext cx="3557270" cy="4802505"/>
          </a:xfrm>
          <a:prstGeom prst="rect">
            <a:avLst/>
          </a:prstGeom>
          <a:solidFill>
            <a:srgbClr val="F9FFD1"/>
          </a:solidFill>
          <a:ln w="76200">
            <a:solidFill>
              <a:srgbClr val="92D05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0"/>
              </a:spcBef>
            </a:pP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Without</a:t>
            </a:r>
            <a:r>
              <a:rPr sz="1800" b="1" u="heavy" spc="-15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index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e.g.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90805" marR="110934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import pandas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2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pd1  import numpy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np1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data =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np1.array(['a','b','c','d'])</a:t>
            </a:r>
            <a:endParaRPr sz="1800">
              <a:latin typeface="Arial"/>
              <a:cs typeface="Arial"/>
            </a:endParaRPr>
          </a:p>
          <a:p>
            <a:pPr marL="90805" marR="130302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s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pd1.Series(data)  </a:t>
            </a:r>
            <a:r>
              <a:rPr sz="1800" b="1" dirty="0">
                <a:latin typeface="Arial"/>
                <a:cs typeface="Arial"/>
              </a:rPr>
              <a:t>print(s)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471170" indent="-382270">
              <a:lnSpc>
                <a:spcPct val="100000"/>
              </a:lnSpc>
              <a:buAutoNum type="arabicPlain"/>
              <a:tabLst>
                <a:tab pos="470534" algn="l"/>
                <a:tab pos="471805" algn="l"/>
              </a:tabLst>
            </a:pPr>
            <a:r>
              <a:rPr sz="1800" b="1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471170" indent="-382270">
              <a:lnSpc>
                <a:spcPct val="100000"/>
              </a:lnSpc>
              <a:buAutoNum type="arabicPlain"/>
              <a:tabLst>
                <a:tab pos="470534" algn="l"/>
                <a:tab pos="471805" algn="l"/>
              </a:tabLst>
            </a:pPr>
            <a:r>
              <a:rPr sz="1800" b="1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471170" indent="-382270">
              <a:lnSpc>
                <a:spcPct val="100000"/>
              </a:lnSpc>
              <a:buAutoNum type="arabicPlain"/>
              <a:tabLst>
                <a:tab pos="470534" algn="l"/>
                <a:tab pos="471805" algn="l"/>
              </a:tabLst>
            </a:pPr>
            <a:r>
              <a:rPr sz="1800" b="1" spc="-5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  <a:p>
            <a:pPr marL="471170" indent="-382270">
              <a:lnSpc>
                <a:spcPct val="100000"/>
              </a:lnSpc>
              <a:buAutoNum type="arabicPlain"/>
              <a:tabLst>
                <a:tab pos="470534" algn="l"/>
                <a:tab pos="471805" algn="l"/>
              </a:tabLst>
            </a:pPr>
            <a:r>
              <a:rPr sz="1800" b="1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dtype: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 marL="90805" marR="19240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Note </a:t>
            </a:r>
            <a:r>
              <a:rPr sz="1800" b="1" dirty="0">
                <a:latin typeface="Arial"/>
                <a:cs typeface="Arial"/>
              </a:rPr>
              <a:t>: default index </a:t>
            </a:r>
            <a:r>
              <a:rPr sz="1800" b="1" spc="-5" dirty="0">
                <a:latin typeface="Arial"/>
                <a:cs typeface="Arial"/>
              </a:rPr>
              <a:t>is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starting  from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5028" y="1505711"/>
            <a:ext cx="4406265" cy="4800600"/>
          </a:xfrm>
          <a:prstGeom prst="rect">
            <a:avLst/>
          </a:prstGeom>
          <a:solidFill>
            <a:srgbClr val="F9FFD1"/>
          </a:solidFill>
          <a:ln w="76200">
            <a:solidFill>
              <a:srgbClr val="92D05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65"/>
              </a:spcBef>
            </a:pPr>
            <a:r>
              <a:rPr sz="18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With </a:t>
            </a: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index</a:t>
            </a:r>
            <a:r>
              <a:rPr sz="1800" b="1" u="heavy" spc="-8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position</a:t>
            </a:r>
            <a:endParaRPr sz="1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</a:pPr>
            <a:r>
              <a:rPr sz="18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e.g.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93345" marR="200469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import pandas </a:t>
            </a:r>
            <a:r>
              <a:rPr sz="1800" b="1" spc="-5" dirty="0">
                <a:latin typeface="Arial"/>
                <a:cs typeface="Arial"/>
              </a:rPr>
              <a:t>as p1  </a:t>
            </a:r>
            <a:r>
              <a:rPr sz="1800" b="1" dirty="0">
                <a:latin typeface="Arial"/>
                <a:cs typeface="Arial"/>
              </a:rPr>
              <a:t>import numpy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20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np1</a:t>
            </a:r>
            <a:endParaRPr sz="1800">
              <a:latin typeface="Arial"/>
              <a:cs typeface="Arial"/>
            </a:endParaRPr>
          </a:p>
          <a:p>
            <a:pPr marL="93345">
              <a:lnSpc>
                <a:spcPts val="2155"/>
              </a:lnSpc>
            </a:pPr>
            <a:r>
              <a:rPr sz="1800" b="1" spc="-5" dirty="0">
                <a:latin typeface="Arial"/>
                <a:cs typeface="Arial"/>
              </a:rPr>
              <a:t>data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np1.array(['a','b','c','d'])</a:t>
            </a:r>
            <a:endParaRPr sz="1800">
              <a:latin typeface="Arial"/>
              <a:cs typeface="Arial"/>
            </a:endParaRPr>
          </a:p>
          <a:p>
            <a:pPr marL="93345">
              <a:lnSpc>
                <a:spcPts val="1860"/>
              </a:lnSpc>
            </a:pPr>
            <a:r>
              <a:rPr sz="1600" b="1" spc="-5" dirty="0">
                <a:latin typeface="Arial"/>
                <a:cs typeface="Arial"/>
              </a:rPr>
              <a:t>s =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p1.Series(data,index=[100,101,102,103])</a:t>
            </a:r>
            <a:endParaRPr sz="1600">
              <a:latin typeface="Arial"/>
              <a:cs typeface="Arial"/>
            </a:endParaRPr>
          </a:p>
          <a:p>
            <a:pPr marL="93345">
              <a:lnSpc>
                <a:spcPts val="2110"/>
              </a:lnSpc>
            </a:pPr>
            <a:r>
              <a:rPr sz="1800" b="1" dirty="0">
                <a:latin typeface="Arial"/>
                <a:cs typeface="Arial"/>
              </a:rPr>
              <a:t>print(s)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</a:pP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728980" indent="-637540">
              <a:lnSpc>
                <a:spcPct val="100000"/>
              </a:lnSpc>
              <a:buAutoNum type="arabicPlain" startAt="100"/>
              <a:tabLst>
                <a:tab pos="728980" algn="l"/>
                <a:tab pos="729615" algn="l"/>
              </a:tabLst>
            </a:pPr>
            <a:r>
              <a:rPr sz="1800" b="1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728980" indent="-637540">
              <a:lnSpc>
                <a:spcPct val="100000"/>
              </a:lnSpc>
              <a:buAutoNum type="arabicPlain" startAt="100"/>
              <a:tabLst>
                <a:tab pos="728980" algn="l"/>
                <a:tab pos="729615" algn="l"/>
              </a:tabLst>
            </a:pPr>
            <a:r>
              <a:rPr sz="1800" b="1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93345" marR="2972435" indent="-1905">
              <a:lnSpc>
                <a:spcPct val="100000"/>
              </a:lnSpc>
              <a:spcBef>
                <a:spcPts val="5"/>
              </a:spcBef>
              <a:buAutoNum type="arabicPlain" startAt="100"/>
              <a:tabLst>
                <a:tab pos="728980" algn="l"/>
                <a:tab pos="729615" algn="l"/>
              </a:tabLst>
            </a:pPr>
            <a:r>
              <a:rPr sz="1800" b="1" spc="-5" dirty="0">
                <a:latin typeface="Arial"/>
                <a:cs typeface="Arial"/>
              </a:rPr>
              <a:t>c  </a:t>
            </a:r>
            <a:r>
              <a:rPr sz="1800" b="1" spc="-10" dirty="0">
                <a:latin typeface="Arial"/>
                <a:cs typeface="Arial"/>
              </a:rPr>
              <a:t>10</a:t>
            </a:r>
            <a:r>
              <a:rPr sz="1800" b="1" dirty="0">
                <a:latin typeface="Arial"/>
                <a:cs typeface="Arial"/>
              </a:rPr>
              <a:t>3d	</a:t>
            </a:r>
            <a:r>
              <a:rPr sz="1800" b="1" spc="-4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dt</a:t>
            </a:r>
            <a:r>
              <a:rPr sz="1800" b="1" spc="-20" dirty="0">
                <a:latin typeface="Arial"/>
                <a:cs typeface="Arial"/>
              </a:rPr>
              <a:t>y</a:t>
            </a:r>
            <a:r>
              <a:rPr sz="1800" b="1" spc="-5" dirty="0">
                <a:latin typeface="Arial"/>
                <a:cs typeface="Arial"/>
              </a:rPr>
              <a:t>pe:</a:t>
            </a:r>
            <a:endParaRPr sz="18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Note : index is </a:t>
            </a:r>
            <a:r>
              <a:rPr sz="1800" b="1" spc="-5" dirty="0">
                <a:latin typeface="Arial"/>
                <a:cs typeface="Arial"/>
              </a:rPr>
              <a:t>starting </a:t>
            </a:r>
            <a:r>
              <a:rPr sz="1800" b="1" dirty="0">
                <a:latin typeface="Arial"/>
                <a:cs typeface="Arial"/>
              </a:rPr>
              <a:t>from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100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4672329" y="765809"/>
            <a:ext cx="36074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a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Series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from</a:t>
            </a:r>
            <a:r>
              <a:rPr sz="2400" b="1" u="heavy" spc="-114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dict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4276" y="1664207"/>
            <a:ext cx="3275329" cy="3694429"/>
          </a:xfrm>
          <a:prstGeom prst="rect">
            <a:avLst/>
          </a:prstGeom>
          <a:solidFill>
            <a:srgbClr val="F9FFD1"/>
          </a:solidFill>
          <a:ln w="76200">
            <a:solidFill>
              <a:srgbClr val="92D05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0805" marR="827405">
              <a:lnSpc>
                <a:spcPct val="100000"/>
              </a:lnSpc>
              <a:spcBef>
                <a:spcPts val="275"/>
              </a:spcBef>
            </a:pP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Eg.1(without </a:t>
            </a:r>
            <a:r>
              <a:rPr sz="18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index) </a:t>
            </a:r>
            <a:r>
              <a:rPr sz="18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import pandas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2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pd1  import numpy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np1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data = </a:t>
            </a:r>
            <a:r>
              <a:rPr sz="1800" b="1" spc="-5" dirty="0">
                <a:latin typeface="Arial"/>
                <a:cs typeface="Arial"/>
              </a:rPr>
              <a:t>{'a' </a:t>
            </a:r>
            <a:r>
              <a:rPr sz="1800" b="1" dirty="0">
                <a:latin typeface="Arial"/>
                <a:cs typeface="Arial"/>
              </a:rPr>
              <a:t>: </a:t>
            </a:r>
            <a:r>
              <a:rPr sz="1800" b="1" spc="-5" dirty="0">
                <a:latin typeface="Arial"/>
                <a:cs typeface="Arial"/>
              </a:rPr>
              <a:t>0., </a:t>
            </a:r>
            <a:r>
              <a:rPr sz="1800" b="1" dirty="0">
                <a:latin typeface="Arial"/>
                <a:cs typeface="Arial"/>
              </a:rPr>
              <a:t>'b' : </a:t>
            </a:r>
            <a:r>
              <a:rPr sz="1800" b="1" spc="-5" dirty="0">
                <a:latin typeface="Arial"/>
                <a:cs typeface="Arial"/>
              </a:rPr>
              <a:t>1., 'c'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2.}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 =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pd1.Series(data)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print(s)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90805" marR="2424430">
              <a:lnSpc>
                <a:spcPct val="100000"/>
              </a:lnSpc>
              <a:tabLst>
                <a:tab pos="470534" algn="l"/>
              </a:tabLst>
            </a:pPr>
            <a:r>
              <a:rPr sz="1800" b="1"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</a:t>
            </a: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utput </a:t>
            </a:r>
            <a:r>
              <a:rPr sz="1800" b="1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	0.0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tabLst>
                <a:tab pos="484505" algn="l"/>
              </a:tabLst>
            </a:pPr>
            <a:r>
              <a:rPr sz="1800" b="1" dirty="0">
                <a:latin typeface="Arial"/>
                <a:cs typeface="Arial"/>
              </a:rPr>
              <a:t>b	</a:t>
            </a:r>
            <a:r>
              <a:rPr sz="1800" b="1" spc="-5" dirty="0">
                <a:latin typeface="Arial"/>
                <a:cs typeface="Arial"/>
              </a:rPr>
              <a:t>1.0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  <a:tabLst>
                <a:tab pos="470534" algn="l"/>
              </a:tabLst>
            </a:pPr>
            <a:r>
              <a:rPr sz="1800" b="1" spc="-5" dirty="0">
                <a:latin typeface="Arial"/>
                <a:cs typeface="Arial"/>
              </a:rPr>
              <a:t>c	2.0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dtype: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float64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5196" y="1664207"/>
            <a:ext cx="4493260" cy="3694429"/>
          </a:xfrm>
          <a:prstGeom prst="rect">
            <a:avLst/>
          </a:prstGeom>
          <a:solidFill>
            <a:srgbClr val="F9FFD1"/>
          </a:solidFill>
          <a:ln w="76200">
            <a:solidFill>
              <a:srgbClr val="92D05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 marR="2044700">
              <a:lnSpc>
                <a:spcPct val="100000"/>
              </a:lnSpc>
              <a:spcBef>
                <a:spcPts val="275"/>
              </a:spcBef>
            </a:pP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Eg.2 </a:t>
            </a:r>
            <a:r>
              <a:rPr sz="1800" b="1" u="heavy" spc="1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(with </a:t>
            </a:r>
            <a:r>
              <a:rPr sz="18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index) </a:t>
            </a:r>
            <a:r>
              <a:rPr sz="18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import pandas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2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pd1  import numpy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1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np1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data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{'a' </a:t>
            </a:r>
            <a:r>
              <a:rPr sz="1800" b="1" dirty="0">
                <a:latin typeface="Arial"/>
                <a:cs typeface="Arial"/>
              </a:rPr>
              <a:t>: </a:t>
            </a:r>
            <a:r>
              <a:rPr sz="1800" b="1" spc="-5" dirty="0">
                <a:latin typeface="Arial"/>
                <a:cs typeface="Arial"/>
              </a:rPr>
              <a:t>0., </a:t>
            </a:r>
            <a:r>
              <a:rPr sz="1800" b="1" dirty="0">
                <a:latin typeface="Arial"/>
                <a:cs typeface="Arial"/>
              </a:rPr>
              <a:t>'b' : </a:t>
            </a:r>
            <a:r>
              <a:rPr sz="1800" b="1" spc="-5" dirty="0">
                <a:latin typeface="Arial"/>
                <a:cs typeface="Arial"/>
              </a:rPr>
              <a:t>1., 'c'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2.}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 =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pd1.Series(data,index=['b','c','d','a'])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print(s)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92075" marR="3641090">
              <a:lnSpc>
                <a:spcPct val="100000"/>
              </a:lnSpc>
              <a:tabLst>
                <a:tab pos="485140" algn="l"/>
              </a:tabLst>
            </a:pPr>
            <a:r>
              <a:rPr sz="18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Output </a:t>
            </a:r>
            <a:r>
              <a:rPr sz="1800" b="1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	</a:t>
            </a:r>
            <a:r>
              <a:rPr sz="1800" b="1" spc="-5" dirty="0">
                <a:latin typeface="Arial"/>
                <a:cs typeface="Arial"/>
              </a:rPr>
              <a:t>1.0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tabLst>
                <a:tab pos="473075" algn="l"/>
              </a:tabLst>
            </a:pPr>
            <a:r>
              <a:rPr sz="1800" b="1" dirty="0">
                <a:latin typeface="Arial"/>
                <a:cs typeface="Arial"/>
              </a:rPr>
              <a:t>c	</a:t>
            </a:r>
            <a:r>
              <a:rPr sz="1800" b="1" spc="-5" dirty="0">
                <a:latin typeface="Arial"/>
                <a:cs typeface="Arial"/>
              </a:rPr>
              <a:t>2.0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  <a:tabLst>
                <a:tab pos="485140" algn="l"/>
              </a:tabLst>
            </a:pPr>
            <a:r>
              <a:rPr sz="1800" b="1" dirty="0">
                <a:latin typeface="Arial"/>
                <a:cs typeface="Arial"/>
              </a:rPr>
              <a:t>d	</a:t>
            </a:r>
            <a:r>
              <a:rPr sz="1800" b="1" spc="-5" dirty="0">
                <a:latin typeface="Arial"/>
                <a:cs typeface="Arial"/>
              </a:rPr>
              <a:t>NaN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tabLst>
                <a:tab pos="473075" algn="l"/>
              </a:tabLst>
            </a:pPr>
            <a:r>
              <a:rPr sz="1800" b="1" spc="-5" dirty="0">
                <a:latin typeface="Arial"/>
                <a:cs typeface="Arial"/>
              </a:rPr>
              <a:t>a	0.0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dtype: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float64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42619" y="1706626"/>
            <a:ext cx="817753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05605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Series from</a:t>
            </a:r>
            <a:r>
              <a:rPr sz="2400" b="1" u="heavy" spc="-10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Scalar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e.g</a:t>
            </a:r>
            <a:endParaRPr sz="2400" dirty="0">
              <a:latin typeface="Arial"/>
              <a:cs typeface="Arial"/>
            </a:endParaRPr>
          </a:p>
          <a:p>
            <a:pPr marL="12700" marR="5024755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import pandas as</a:t>
            </a:r>
            <a:r>
              <a:rPr sz="2400" b="1" spc="-1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pd1  import </a:t>
            </a:r>
            <a:r>
              <a:rPr sz="2400" b="1" spc="-5" dirty="0">
                <a:latin typeface="Arial"/>
                <a:cs typeface="Arial"/>
              </a:rPr>
              <a:t>numpy as</a:t>
            </a:r>
            <a:r>
              <a:rPr sz="2400" b="1" spc="-1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np1</a:t>
            </a:r>
            <a:endParaRPr sz="2400" dirty="0">
              <a:latin typeface="Arial"/>
              <a:cs typeface="Arial"/>
            </a:endParaRPr>
          </a:p>
          <a:p>
            <a:pPr marL="12700" marR="3218815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s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pd1.Series(5, index=[0, 1, </a:t>
            </a:r>
            <a:r>
              <a:rPr sz="2400" b="1" spc="-10" dirty="0">
                <a:latin typeface="Arial"/>
                <a:cs typeface="Arial"/>
              </a:rPr>
              <a:t>2,</a:t>
            </a:r>
            <a:r>
              <a:rPr sz="2400" b="1" spc="-1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3])  </a:t>
            </a:r>
            <a:r>
              <a:rPr sz="2400" b="1" dirty="0">
                <a:latin typeface="Arial"/>
                <a:cs typeface="Arial"/>
              </a:rPr>
              <a:t>print(s)</a:t>
            </a:r>
            <a:endParaRPr sz="2400" dirty="0">
              <a:latin typeface="Arial"/>
              <a:cs typeface="Arial"/>
            </a:endParaRPr>
          </a:p>
          <a:p>
            <a:pPr marL="12700" marR="7156450">
              <a:lnSpc>
                <a:spcPct val="100000"/>
              </a:lnSpc>
              <a:tabLst>
                <a:tab pos="518159" algn="l"/>
              </a:tabLst>
            </a:pPr>
            <a:r>
              <a:rPr sz="2400" b="1"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u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tput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0	5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18159" algn="l"/>
              </a:tabLst>
            </a:pPr>
            <a:r>
              <a:rPr sz="2400" b="1" spc="-5" dirty="0">
                <a:latin typeface="Arial"/>
                <a:cs typeface="Arial"/>
              </a:rPr>
              <a:t>1	5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518159" algn="l"/>
              </a:tabLst>
            </a:pPr>
            <a:r>
              <a:rPr sz="2400" b="1" spc="-5" dirty="0">
                <a:latin typeface="Arial"/>
                <a:cs typeface="Arial"/>
              </a:rPr>
              <a:t>2	5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518159" algn="l"/>
              </a:tabLst>
            </a:pPr>
            <a:r>
              <a:rPr sz="2400" b="1" spc="-5" dirty="0">
                <a:latin typeface="Arial"/>
                <a:cs typeface="Arial"/>
              </a:rPr>
              <a:t>3	5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dtype: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int64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Note </a:t>
            </a:r>
            <a:r>
              <a:rPr sz="2400" b="1" dirty="0">
                <a:latin typeface="Arial"/>
                <a:cs typeface="Arial"/>
              </a:rPr>
              <a:t>:- </a:t>
            </a:r>
            <a:r>
              <a:rPr sz="2400" b="1" spc="-5" dirty="0">
                <a:latin typeface="Arial"/>
                <a:cs typeface="Arial"/>
              </a:rPr>
              <a:t>here 5 is repeated for 4 </a:t>
            </a:r>
            <a:r>
              <a:rPr sz="2400" b="1" dirty="0">
                <a:latin typeface="Arial"/>
                <a:cs typeface="Arial"/>
              </a:rPr>
              <a:t>times </a:t>
            </a:r>
            <a:r>
              <a:rPr sz="2400" b="1" spc="-5" dirty="0">
                <a:latin typeface="Arial"/>
                <a:cs typeface="Arial"/>
              </a:rPr>
              <a:t>(as per </a:t>
            </a:r>
            <a:r>
              <a:rPr sz="2400" b="1" dirty="0">
                <a:latin typeface="Arial"/>
                <a:cs typeface="Arial"/>
              </a:rPr>
              <a:t>no of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index)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4037838" y="860247"/>
            <a:ext cx="4222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R="11430" algn="r">
              <a:lnSpc>
                <a:spcPct val="100000"/>
              </a:lnSpc>
              <a:spcBef>
                <a:spcPts val="5"/>
              </a:spcBef>
            </a:pPr>
            <a:r>
              <a:rPr sz="2400" b="1" u="heavy" spc="-1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Maths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operations </a:t>
            </a:r>
            <a:r>
              <a:rPr sz="2400" b="1"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with</a:t>
            </a:r>
            <a:r>
              <a:rPr sz="2400" b="1" u="heavy" spc="-19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3605" y="1592326"/>
            <a:ext cx="504126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e.g.</a:t>
            </a:r>
            <a:endParaRPr sz="2400">
              <a:latin typeface="Arial"/>
              <a:cs typeface="Arial"/>
            </a:endParaRPr>
          </a:p>
          <a:p>
            <a:pPr marL="12700" marR="188722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import pandas as</a:t>
            </a:r>
            <a:r>
              <a:rPr sz="2400" b="1" spc="-19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  </a:t>
            </a:r>
            <a:r>
              <a:rPr sz="2400" b="1" dirty="0">
                <a:latin typeface="Arial"/>
                <a:cs typeface="Arial"/>
              </a:rPr>
              <a:t>s =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pd1.Series([1,2,3])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t =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pd1.Series([1,2,4])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tabLst>
                <a:tab pos="3883660" algn="l"/>
              </a:tabLst>
            </a:pPr>
            <a:r>
              <a:rPr sz="2400" b="1" spc="-5" dirty="0">
                <a:latin typeface="Arial"/>
                <a:cs typeface="Arial"/>
              </a:rPr>
              <a:t>u=s+t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#addition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operation	</a:t>
            </a:r>
            <a:r>
              <a:rPr sz="2400" b="1" dirty="0">
                <a:latin typeface="Arial"/>
                <a:cs typeface="Arial"/>
              </a:rPr>
              <a:t>print</a:t>
            </a:r>
            <a:r>
              <a:rPr sz="2400" b="1" spc="-1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(u)  </a:t>
            </a:r>
            <a:r>
              <a:rPr sz="2400" b="1" spc="-5" dirty="0">
                <a:latin typeface="Arial"/>
                <a:cs typeface="Arial"/>
              </a:rPr>
              <a:t>u=s*t # multiplication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operation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513" y="4076192"/>
            <a:ext cx="1163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print</a:t>
            </a:r>
            <a:r>
              <a:rPr sz="2400" b="1" spc="-16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(u)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6802" y="3067939"/>
            <a:ext cx="534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1800" b="1" spc="-5" dirty="0">
                <a:latin typeface="Arial"/>
                <a:cs typeface="Arial"/>
              </a:rPr>
              <a:t>0	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93065" algn="l"/>
              </a:tabLst>
            </a:pPr>
            <a:r>
              <a:rPr sz="1800" b="1" dirty="0">
                <a:latin typeface="Arial"/>
                <a:cs typeface="Arial"/>
              </a:rPr>
              <a:t>1	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93065" algn="l"/>
              </a:tabLst>
            </a:pPr>
            <a:r>
              <a:rPr sz="1800" b="1" spc="-5" dirty="0">
                <a:latin typeface="Arial"/>
                <a:cs typeface="Arial"/>
              </a:rPr>
              <a:t>2	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6802" y="3891153"/>
            <a:ext cx="1299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dtype:</a:t>
            </a:r>
            <a:r>
              <a:rPr sz="1800" b="1" spc="-1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int64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6802" y="4439539"/>
            <a:ext cx="1297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7200" algn="l"/>
              </a:tabLst>
            </a:pPr>
            <a:r>
              <a:rPr sz="1800" b="1" spc="-5" dirty="0">
                <a:latin typeface="Arial"/>
                <a:cs typeface="Arial"/>
              </a:rPr>
              <a:t>0	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57200" algn="l"/>
              </a:tabLst>
            </a:pPr>
            <a:r>
              <a:rPr sz="1800" b="1" dirty="0">
                <a:latin typeface="Arial"/>
                <a:cs typeface="Arial"/>
              </a:rPr>
              <a:t>1	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93065" algn="l"/>
              </a:tabLst>
            </a:pPr>
            <a:r>
              <a:rPr sz="1800" b="1" spc="-5" dirty="0">
                <a:latin typeface="Arial"/>
                <a:cs typeface="Arial"/>
              </a:rPr>
              <a:t>2	</a:t>
            </a:r>
            <a:r>
              <a:rPr sz="1800" b="1" spc="-10" dirty="0">
                <a:latin typeface="Arial"/>
                <a:cs typeface="Arial"/>
              </a:rPr>
              <a:t>12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dtype: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int64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16096" y="3933444"/>
            <a:ext cx="2520950" cy="899160"/>
          </a:xfrm>
          <a:custGeom>
            <a:avLst/>
            <a:gdLst/>
            <a:ahLst/>
            <a:cxnLst/>
            <a:rect l="l" t="t" r="r" b="b"/>
            <a:pathLst>
              <a:path w="2520950" h="899160">
                <a:moveTo>
                  <a:pt x="2070862" y="0"/>
                </a:moveTo>
                <a:lnTo>
                  <a:pt x="2070862" y="224789"/>
                </a:lnTo>
                <a:lnTo>
                  <a:pt x="0" y="224789"/>
                </a:lnTo>
                <a:lnTo>
                  <a:pt x="0" y="674369"/>
                </a:lnTo>
                <a:lnTo>
                  <a:pt x="2070862" y="674369"/>
                </a:lnTo>
                <a:lnTo>
                  <a:pt x="2070862" y="899159"/>
                </a:lnTo>
                <a:lnTo>
                  <a:pt x="2520441" y="449579"/>
                </a:lnTo>
                <a:lnTo>
                  <a:pt x="207086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16096" y="3933444"/>
            <a:ext cx="2520950" cy="899160"/>
          </a:xfrm>
          <a:custGeom>
            <a:avLst/>
            <a:gdLst/>
            <a:ahLst/>
            <a:cxnLst/>
            <a:rect l="l" t="t" r="r" b="b"/>
            <a:pathLst>
              <a:path w="2520950" h="899160">
                <a:moveTo>
                  <a:pt x="0" y="224789"/>
                </a:moveTo>
                <a:lnTo>
                  <a:pt x="2070862" y="224789"/>
                </a:lnTo>
                <a:lnTo>
                  <a:pt x="2070862" y="0"/>
                </a:lnTo>
                <a:lnTo>
                  <a:pt x="2520441" y="449579"/>
                </a:lnTo>
                <a:lnTo>
                  <a:pt x="2070862" y="899159"/>
                </a:lnTo>
                <a:lnTo>
                  <a:pt x="2070862" y="674369"/>
                </a:lnTo>
                <a:lnTo>
                  <a:pt x="0" y="674369"/>
                </a:lnTo>
                <a:lnTo>
                  <a:pt x="0" y="22478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593716" y="4180713"/>
            <a:ext cx="739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pull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582879" y="1221435"/>
            <a:ext cx="7034530" cy="5178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20615" algn="just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 Series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Head function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e.g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Arial"/>
                <a:cs typeface="Arial"/>
              </a:rPr>
              <a:t>import </a:t>
            </a:r>
            <a:r>
              <a:rPr sz="2400" b="1" spc="-5" dirty="0">
                <a:latin typeface="Arial"/>
                <a:cs typeface="Arial"/>
              </a:rPr>
              <a:t>pandas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s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pd1.Series([1,2,3,4,5],index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['a','b','c','d','e'])  </a:t>
            </a:r>
            <a:r>
              <a:rPr sz="2400" b="1" spc="-5" dirty="0">
                <a:latin typeface="Arial"/>
                <a:cs typeface="Arial"/>
              </a:rPr>
              <a:t>print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(s.head(3))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18795" algn="l"/>
              </a:tabLst>
            </a:pPr>
            <a:r>
              <a:rPr sz="2400" b="1" spc="-5" dirty="0">
                <a:latin typeface="Arial"/>
                <a:cs typeface="Arial"/>
              </a:rPr>
              <a:t>a	1</a:t>
            </a:r>
            <a:endParaRPr sz="2400">
              <a:latin typeface="Arial"/>
              <a:cs typeface="Arial"/>
            </a:endParaRPr>
          </a:p>
          <a:p>
            <a:pPr marL="535305" indent="-523240">
              <a:lnSpc>
                <a:spcPct val="100000"/>
              </a:lnSpc>
              <a:buAutoNum type="alphaLcPeriod" startAt="2"/>
              <a:tabLst>
                <a:tab pos="535305" algn="l"/>
                <a:tab pos="535940" algn="l"/>
              </a:tabLst>
            </a:pPr>
            <a:r>
              <a:rPr sz="2400" b="1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  <a:p>
            <a:pPr marL="518795" indent="-506730">
              <a:lnSpc>
                <a:spcPct val="100000"/>
              </a:lnSpc>
              <a:buAutoNum type="alphaLcPeriod" startAt="2"/>
              <a:tabLst>
                <a:tab pos="518795" algn="l"/>
                <a:tab pos="519430" algn="l"/>
              </a:tabLst>
            </a:pPr>
            <a:r>
              <a:rPr sz="2400" b="1" spc="-5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dtype: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int64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Return </a:t>
            </a:r>
            <a:r>
              <a:rPr sz="2400" b="1" dirty="0">
                <a:latin typeface="Arial"/>
                <a:cs typeface="Arial"/>
              </a:rPr>
              <a:t>first </a:t>
            </a:r>
            <a:r>
              <a:rPr sz="2400" b="1" spc="-5" dirty="0">
                <a:latin typeface="Arial"/>
                <a:cs typeface="Arial"/>
              </a:rPr>
              <a:t>3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elements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8673465" y="6463169"/>
            <a:ext cx="27305" cy="19685"/>
          </a:xfrm>
          <a:custGeom>
            <a:avLst/>
            <a:gdLst/>
            <a:ahLst/>
            <a:cxnLst/>
            <a:rect l="l" t="t" r="r" b="b"/>
            <a:pathLst>
              <a:path w="27304" h="19685">
                <a:moveTo>
                  <a:pt x="0" y="0"/>
                </a:moveTo>
                <a:lnTo>
                  <a:pt x="126" y="19570"/>
                </a:lnTo>
                <a:lnTo>
                  <a:pt x="27177" y="19570"/>
                </a:lnTo>
                <a:lnTo>
                  <a:pt x="27177" y="6045"/>
                </a:lnTo>
                <a:lnTo>
                  <a:pt x="6095" y="6045"/>
                </a:lnTo>
                <a:lnTo>
                  <a:pt x="0" y="0"/>
                </a:lnTo>
                <a:close/>
              </a:path>
            </a:pathLst>
          </a:custGeom>
          <a:solidFill>
            <a:srgbClr val="FFDE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5572" y="6496430"/>
            <a:ext cx="27305" cy="41275"/>
          </a:xfrm>
          <a:custGeom>
            <a:avLst/>
            <a:gdLst/>
            <a:ahLst/>
            <a:cxnLst/>
            <a:rect l="l" t="t" r="r" b="b"/>
            <a:pathLst>
              <a:path w="27304" h="41275">
                <a:moveTo>
                  <a:pt x="21069" y="0"/>
                </a:moveTo>
                <a:lnTo>
                  <a:pt x="6070" y="0"/>
                </a:lnTo>
                <a:lnTo>
                  <a:pt x="0" y="6096"/>
                </a:lnTo>
                <a:lnTo>
                  <a:pt x="0" y="40906"/>
                </a:lnTo>
                <a:lnTo>
                  <a:pt x="10566" y="38760"/>
                </a:lnTo>
                <a:lnTo>
                  <a:pt x="19189" y="32918"/>
                </a:lnTo>
                <a:lnTo>
                  <a:pt x="25006" y="24244"/>
                </a:lnTo>
                <a:lnTo>
                  <a:pt x="27139" y="13627"/>
                </a:lnTo>
                <a:lnTo>
                  <a:pt x="27139" y="6096"/>
                </a:lnTo>
                <a:lnTo>
                  <a:pt x="21069" y="0"/>
                </a:lnTo>
                <a:close/>
              </a:path>
            </a:pathLst>
          </a:custGeom>
          <a:solidFill>
            <a:srgbClr val="CDB0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00134" y="6455511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7178" y="0"/>
                </a:moveTo>
                <a:lnTo>
                  <a:pt x="0" y="0"/>
                </a:lnTo>
                <a:lnTo>
                  <a:pt x="0" y="27279"/>
                </a:lnTo>
                <a:lnTo>
                  <a:pt x="10541" y="25133"/>
                </a:lnTo>
                <a:lnTo>
                  <a:pt x="19176" y="19291"/>
                </a:lnTo>
                <a:lnTo>
                  <a:pt x="25019" y="10617"/>
                </a:lnTo>
                <a:lnTo>
                  <a:pt x="27178" y="0"/>
                </a:lnTo>
                <a:close/>
              </a:path>
            </a:pathLst>
          </a:custGeom>
          <a:solidFill>
            <a:srgbClr val="CDB0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72956" y="6428232"/>
            <a:ext cx="54610" cy="41275"/>
          </a:xfrm>
          <a:custGeom>
            <a:avLst/>
            <a:gdLst/>
            <a:ahLst/>
            <a:cxnLst/>
            <a:rect l="l" t="t" r="r" b="b"/>
            <a:pathLst>
              <a:path w="54609" h="41275">
                <a:moveTo>
                  <a:pt x="27177" y="0"/>
                </a:moveTo>
                <a:lnTo>
                  <a:pt x="16637" y="2146"/>
                </a:lnTo>
                <a:lnTo>
                  <a:pt x="8000" y="7988"/>
                </a:lnTo>
                <a:lnTo>
                  <a:pt x="2159" y="16662"/>
                </a:lnTo>
                <a:lnTo>
                  <a:pt x="0" y="27279"/>
                </a:lnTo>
                <a:lnTo>
                  <a:pt x="0" y="34810"/>
                </a:lnTo>
                <a:lnTo>
                  <a:pt x="6096" y="40919"/>
                </a:lnTo>
                <a:lnTo>
                  <a:pt x="21082" y="40919"/>
                </a:lnTo>
                <a:lnTo>
                  <a:pt x="27177" y="34810"/>
                </a:lnTo>
                <a:lnTo>
                  <a:pt x="27177" y="27279"/>
                </a:lnTo>
                <a:lnTo>
                  <a:pt x="54356" y="27279"/>
                </a:lnTo>
                <a:lnTo>
                  <a:pt x="52197" y="16662"/>
                </a:lnTo>
                <a:lnTo>
                  <a:pt x="46354" y="7988"/>
                </a:lnTo>
                <a:lnTo>
                  <a:pt x="37719" y="2146"/>
                </a:lnTo>
                <a:lnTo>
                  <a:pt x="27177" y="0"/>
                </a:lnTo>
                <a:close/>
              </a:path>
            </a:pathLst>
          </a:custGeom>
          <a:solidFill>
            <a:srgbClr val="CDB0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8140" y="6509004"/>
            <a:ext cx="13335" cy="349250"/>
          </a:xfrm>
          <a:custGeom>
            <a:avLst/>
            <a:gdLst/>
            <a:ahLst/>
            <a:cxnLst/>
            <a:rect l="l" t="t" r="r" b="b"/>
            <a:pathLst>
              <a:path w="13335" h="349250">
                <a:moveTo>
                  <a:pt x="13335" y="348713"/>
                </a:moveTo>
                <a:lnTo>
                  <a:pt x="8178" y="345331"/>
                </a:lnTo>
                <a:lnTo>
                  <a:pt x="2197" y="336692"/>
                </a:lnTo>
                <a:lnTo>
                  <a:pt x="0" y="326111"/>
                </a:lnTo>
                <a:lnTo>
                  <a:pt x="1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73083" y="6455664"/>
            <a:ext cx="54610" cy="27305"/>
          </a:xfrm>
          <a:custGeom>
            <a:avLst/>
            <a:gdLst/>
            <a:ahLst/>
            <a:cxnLst/>
            <a:rect l="l" t="t" r="r" b="b"/>
            <a:pathLst>
              <a:path w="54609" h="27304">
                <a:moveTo>
                  <a:pt x="0" y="27279"/>
                </a:moveTo>
                <a:lnTo>
                  <a:pt x="27177" y="27279"/>
                </a:lnTo>
                <a:lnTo>
                  <a:pt x="37846" y="25133"/>
                </a:lnTo>
                <a:lnTo>
                  <a:pt x="46482" y="19291"/>
                </a:lnTo>
                <a:lnTo>
                  <a:pt x="52324" y="10617"/>
                </a:lnTo>
                <a:lnTo>
                  <a:pt x="54483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73083" y="6455664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4" h="27304">
                <a:moveTo>
                  <a:pt x="27305" y="27266"/>
                </a:moveTo>
                <a:lnTo>
                  <a:pt x="27305" y="0"/>
                </a:lnTo>
                <a:lnTo>
                  <a:pt x="27305" y="7531"/>
                </a:lnTo>
                <a:lnTo>
                  <a:pt x="21209" y="13639"/>
                </a:lnTo>
                <a:lnTo>
                  <a:pt x="13589" y="13639"/>
                </a:lnTo>
                <a:lnTo>
                  <a:pt x="6096" y="13639"/>
                </a:lnTo>
                <a:lnTo>
                  <a:pt x="0" y="7531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140" y="6496811"/>
            <a:ext cx="54610" cy="40640"/>
          </a:xfrm>
          <a:custGeom>
            <a:avLst/>
            <a:gdLst/>
            <a:ahLst/>
            <a:cxnLst/>
            <a:rect l="l" t="t" r="r" b="b"/>
            <a:pathLst>
              <a:path w="54609" h="40640">
                <a:moveTo>
                  <a:pt x="27279" y="40589"/>
                </a:moveTo>
                <a:lnTo>
                  <a:pt x="27279" y="13525"/>
                </a:lnTo>
                <a:lnTo>
                  <a:pt x="27279" y="6045"/>
                </a:lnTo>
                <a:lnTo>
                  <a:pt x="33375" y="0"/>
                </a:lnTo>
                <a:lnTo>
                  <a:pt x="40919" y="0"/>
                </a:lnTo>
                <a:lnTo>
                  <a:pt x="48450" y="0"/>
                </a:lnTo>
                <a:lnTo>
                  <a:pt x="54546" y="6045"/>
                </a:lnTo>
                <a:lnTo>
                  <a:pt x="54546" y="13525"/>
                </a:lnTo>
                <a:lnTo>
                  <a:pt x="52400" y="24053"/>
                </a:lnTo>
                <a:lnTo>
                  <a:pt x="46558" y="32664"/>
                </a:lnTo>
                <a:lnTo>
                  <a:pt x="37896" y="38468"/>
                </a:lnTo>
                <a:lnTo>
                  <a:pt x="27279" y="40589"/>
                </a:lnTo>
                <a:lnTo>
                  <a:pt x="16662" y="38468"/>
                </a:lnTo>
                <a:lnTo>
                  <a:pt x="7988" y="32664"/>
                </a:lnTo>
                <a:lnTo>
                  <a:pt x="2146" y="24053"/>
                </a:lnTo>
                <a:lnTo>
                  <a:pt x="0" y="1352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3004" y="6509004"/>
            <a:ext cx="0" cy="300355"/>
          </a:xfrm>
          <a:custGeom>
            <a:avLst/>
            <a:gdLst/>
            <a:ahLst/>
            <a:cxnLst/>
            <a:rect l="l" t="t" r="r" b="b"/>
            <a:pathLst>
              <a:path h="300354">
                <a:moveTo>
                  <a:pt x="0" y="0"/>
                </a:moveTo>
                <a:lnTo>
                  <a:pt x="0" y="2997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2366" y="1273302"/>
            <a:ext cx="7033895" cy="517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42205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1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tail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function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e.g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import pandas as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s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pd1.Series([1,2,3,4,5],index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['a','b','c','d','e'])  </a:t>
            </a:r>
            <a:r>
              <a:rPr sz="2400" b="1" spc="-5" dirty="0">
                <a:latin typeface="Arial"/>
                <a:cs typeface="Arial"/>
              </a:rPr>
              <a:t>print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(s.tail(3))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2700" marR="6013450">
              <a:lnSpc>
                <a:spcPct val="100000"/>
              </a:lnSpc>
              <a:spcBef>
                <a:spcPts val="5"/>
              </a:spcBef>
              <a:tabLst>
                <a:tab pos="518795" algn="l"/>
              </a:tabLst>
            </a:pPr>
            <a:r>
              <a:rPr sz="2400" b="1"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utput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	3</a:t>
            </a:r>
            <a:endParaRPr sz="2400" dirty="0">
              <a:latin typeface="Arial"/>
              <a:cs typeface="Arial"/>
            </a:endParaRPr>
          </a:p>
          <a:p>
            <a:pPr marL="535305" indent="-523240">
              <a:lnSpc>
                <a:spcPct val="100000"/>
              </a:lnSpc>
              <a:buAutoNum type="alphaLcPeriod" startAt="4"/>
              <a:tabLst>
                <a:tab pos="535305" algn="l"/>
                <a:tab pos="535940" algn="l"/>
              </a:tabLst>
            </a:pPr>
            <a:r>
              <a:rPr sz="2400" b="1" spc="-5" dirty="0"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  <a:p>
            <a:pPr marL="518795" indent="-506730">
              <a:lnSpc>
                <a:spcPct val="100000"/>
              </a:lnSpc>
              <a:buAutoNum type="alphaLcPeriod" startAt="4"/>
              <a:tabLst>
                <a:tab pos="518795" algn="l"/>
                <a:tab pos="519430" algn="l"/>
              </a:tabLst>
            </a:pPr>
            <a:r>
              <a:rPr sz="2400" b="1" dirty="0"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dtype:</a:t>
            </a:r>
            <a:r>
              <a:rPr sz="2400" b="1" dirty="0">
                <a:latin typeface="Arial"/>
                <a:cs typeface="Arial"/>
              </a:rPr>
              <a:t> int64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Return last 3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elements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357631" y="1514602"/>
            <a:ext cx="7739380" cy="3625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Accessing Data from Series </a:t>
            </a:r>
            <a:r>
              <a:rPr sz="2400" b="1"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with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indexing and</a:t>
            </a:r>
            <a:r>
              <a:rPr sz="2400" b="1" u="heavy" spc="-15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slicing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e.g.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import pandas as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</a:t>
            </a:r>
            <a:endParaRPr sz="2000">
              <a:latin typeface="Arial"/>
              <a:cs typeface="Arial"/>
            </a:endParaRPr>
          </a:p>
          <a:p>
            <a:pPr marL="12700" marR="189039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s = </a:t>
            </a:r>
            <a:r>
              <a:rPr sz="2000" b="1" spc="-5" dirty="0">
                <a:latin typeface="Arial"/>
                <a:cs typeface="Arial"/>
              </a:rPr>
              <a:t>pd1.Series([1,2,3,4,5],index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2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['a','b','c','d','e'])  print </a:t>
            </a:r>
            <a:r>
              <a:rPr sz="2000" b="1" spc="-5" dirty="0">
                <a:latin typeface="Arial"/>
                <a:cs typeface="Arial"/>
              </a:rPr>
              <a:t>(s[0])# </a:t>
            </a:r>
            <a:r>
              <a:rPr sz="2000" b="1" dirty="0">
                <a:latin typeface="Arial"/>
                <a:cs typeface="Arial"/>
              </a:rPr>
              <a:t>for 0 index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position</a:t>
            </a:r>
            <a:endParaRPr sz="2000">
              <a:latin typeface="Arial"/>
              <a:cs typeface="Arial"/>
            </a:endParaRPr>
          </a:p>
          <a:p>
            <a:pPr marL="12700" marR="325056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print </a:t>
            </a:r>
            <a:r>
              <a:rPr sz="2000" b="1" spc="-5" dirty="0">
                <a:latin typeface="Arial"/>
                <a:cs typeface="Arial"/>
              </a:rPr>
              <a:t>(s[:3]) </a:t>
            </a:r>
            <a:r>
              <a:rPr sz="2000" b="1" dirty="0">
                <a:latin typeface="Arial"/>
                <a:cs typeface="Arial"/>
              </a:rPr>
              <a:t>#for first 3 index </a:t>
            </a:r>
            <a:r>
              <a:rPr sz="2000" b="1" spc="-5" dirty="0">
                <a:latin typeface="Arial"/>
                <a:cs typeface="Arial"/>
              </a:rPr>
              <a:t>values  </a:t>
            </a:r>
            <a:r>
              <a:rPr sz="2000" b="1" dirty="0">
                <a:latin typeface="Arial"/>
                <a:cs typeface="Arial"/>
              </a:rPr>
              <a:t>print </a:t>
            </a:r>
            <a:r>
              <a:rPr sz="2000" b="1" spc="-5" dirty="0">
                <a:latin typeface="Arial"/>
                <a:cs typeface="Arial"/>
              </a:rPr>
              <a:t>(s[-3:]) </a:t>
            </a:r>
            <a:r>
              <a:rPr sz="1600" b="1" spc="-5" dirty="0">
                <a:latin typeface="Arial"/>
                <a:cs typeface="Arial"/>
              </a:rPr>
              <a:t># slicing </a:t>
            </a:r>
            <a:r>
              <a:rPr sz="1600" b="1" spc="-10" dirty="0">
                <a:latin typeface="Arial"/>
                <a:cs typeface="Arial"/>
              </a:rPr>
              <a:t>for </a:t>
            </a:r>
            <a:r>
              <a:rPr sz="1600" b="1" spc="-5" dirty="0">
                <a:latin typeface="Arial"/>
                <a:cs typeface="Arial"/>
              </a:rPr>
              <a:t>last 3 index </a:t>
            </a:r>
            <a:r>
              <a:rPr sz="1600" b="1" spc="-10" dirty="0">
                <a:latin typeface="Arial"/>
                <a:cs typeface="Arial"/>
              </a:rPr>
              <a:t>values  </a:t>
            </a:r>
            <a:r>
              <a:rPr sz="24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353695" indent="-341630">
              <a:lnSpc>
                <a:spcPct val="100000"/>
              </a:lnSpc>
              <a:buAutoNum type="alphaLcPeriod"/>
              <a:tabLst>
                <a:tab pos="353695" algn="l"/>
                <a:tab pos="354330" algn="l"/>
              </a:tabLst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364490" indent="-352425">
              <a:lnSpc>
                <a:spcPct val="100000"/>
              </a:lnSpc>
              <a:buAutoNum type="alphaLcPeriod"/>
              <a:tabLst>
                <a:tab pos="364490" algn="l"/>
                <a:tab pos="365125" algn="l"/>
              </a:tabLst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353695" indent="-341630">
              <a:lnSpc>
                <a:spcPct val="100000"/>
              </a:lnSpc>
              <a:buAutoNum type="alphaLcPeriod"/>
              <a:tabLst>
                <a:tab pos="353695" algn="l"/>
                <a:tab pos="354330" algn="l"/>
              </a:tabLst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631" y="5115305"/>
            <a:ext cx="1376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Arial"/>
                <a:cs typeface="Arial"/>
              </a:rPr>
              <a:t>dtype: </a:t>
            </a:r>
            <a:r>
              <a:rPr sz="1600" b="1" spc="-5" dirty="0">
                <a:latin typeface="Arial"/>
                <a:cs typeface="Arial"/>
              </a:rPr>
              <a:t>int64</a:t>
            </a:r>
            <a:r>
              <a:rPr sz="1600" b="1" spc="409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4494" y="5115305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7631" y="5359146"/>
            <a:ext cx="115951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5"/>
              </a:spcBef>
              <a:buAutoNum type="alphaLcPeriod" startAt="4"/>
              <a:tabLst>
                <a:tab pos="364490" algn="l"/>
                <a:tab pos="365125" algn="l"/>
              </a:tabLst>
            </a:pPr>
            <a:r>
              <a:rPr sz="1600" b="1" spc="-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353695" indent="-341630">
              <a:lnSpc>
                <a:spcPct val="100000"/>
              </a:lnSpc>
              <a:buAutoNum type="alphaLcPeriod" startAt="4"/>
              <a:tabLst>
                <a:tab pos="353695" algn="l"/>
                <a:tab pos="354330" algn="l"/>
              </a:tabLst>
            </a:pPr>
            <a:r>
              <a:rPr sz="1600" b="1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25" dirty="0">
                <a:latin typeface="Arial"/>
                <a:cs typeface="Arial"/>
              </a:rPr>
              <a:t>dtype: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int64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15567" y="4209796"/>
            <a:ext cx="172719" cy="191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94930" y="3304032"/>
            <a:ext cx="735965" cy="974725"/>
          </a:xfrm>
          <a:custGeom>
            <a:avLst/>
            <a:gdLst/>
            <a:ahLst/>
            <a:cxnLst/>
            <a:rect l="l" t="t" r="r" b="b"/>
            <a:pathLst>
              <a:path w="735964" h="974725">
                <a:moveTo>
                  <a:pt x="688733" y="0"/>
                </a:moveTo>
                <a:lnTo>
                  <a:pt x="0" y="940053"/>
                </a:lnTo>
                <a:lnTo>
                  <a:pt x="46634" y="974216"/>
                </a:lnTo>
                <a:lnTo>
                  <a:pt x="735469" y="34289"/>
                </a:lnTo>
                <a:lnTo>
                  <a:pt x="688733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20139" y="5205095"/>
            <a:ext cx="156844" cy="194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73911" y="3601211"/>
            <a:ext cx="890905" cy="1657350"/>
          </a:xfrm>
          <a:custGeom>
            <a:avLst/>
            <a:gdLst/>
            <a:ahLst/>
            <a:cxnLst/>
            <a:rect l="l" t="t" r="r" b="b"/>
            <a:pathLst>
              <a:path w="890905" h="1657350">
                <a:moveTo>
                  <a:pt x="839165" y="0"/>
                </a:moveTo>
                <a:lnTo>
                  <a:pt x="0" y="1630426"/>
                </a:lnTo>
                <a:lnTo>
                  <a:pt x="51562" y="1656841"/>
                </a:lnTo>
                <a:lnTo>
                  <a:pt x="890727" y="26415"/>
                </a:lnTo>
                <a:lnTo>
                  <a:pt x="839165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4859" y="4086859"/>
            <a:ext cx="177927" cy="1891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73696" y="2906267"/>
            <a:ext cx="1057275" cy="1254760"/>
          </a:xfrm>
          <a:custGeom>
            <a:avLst/>
            <a:gdLst/>
            <a:ahLst/>
            <a:cxnLst/>
            <a:rect l="l" t="t" r="r" b="b"/>
            <a:pathLst>
              <a:path w="1057275" h="1254760">
                <a:moveTo>
                  <a:pt x="1012126" y="0"/>
                </a:moveTo>
                <a:lnTo>
                  <a:pt x="0" y="1217549"/>
                </a:lnTo>
                <a:lnTo>
                  <a:pt x="44538" y="1254506"/>
                </a:lnTo>
                <a:lnTo>
                  <a:pt x="1056703" y="37084"/>
                </a:lnTo>
                <a:lnTo>
                  <a:pt x="1012126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pull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28599" y="1585671"/>
            <a:ext cx="7034530" cy="444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12700" marR="1762760">
              <a:lnSpc>
                <a:spcPct val="100000"/>
              </a:lnSpc>
              <a:spcBef>
                <a:spcPts val="5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Retrieve Data Using Label as</a:t>
            </a:r>
            <a:r>
              <a:rPr sz="2400" b="1" u="heavy" spc="-9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(Index)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e.g.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Arial"/>
                <a:cs typeface="Arial"/>
              </a:rPr>
              <a:t>import </a:t>
            </a:r>
            <a:r>
              <a:rPr sz="2400" b="1" spc="-5" dirty="0">
                <a:latin typeface="Arial"/>
                <a:cs typeface="Arial"/>
              </a:rPr>
              <a:t>pandas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s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pd1.Series([1,2,3,4,5],index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1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['a','b','c','d','e'])  </a:t>
            </a:r>
            <a:r>
              <a:rPr sz="2400" b="1" spc="-5" dirty="0">
                <a:latin typeface="Arial"/>
                <a:cs typeface="Arial"/>
              </a:rPr>
              <a:t>print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(s[['c','d']])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79830" algn="l"/>
              </a:tabLst>
            </a:pPr>
            <a:r>
              <a:rPr sz="2400" b="1" spc="-5" dirty="0">
                <a:latin typeface="Arial"/>
                <a:cs typeface="Arial"/>
              </a:rPr>
              <a:t>Output	</a:t>
            </a:r>
            <a:r>
              <a:rPr sz="2400" b="1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R="6337300" algn="r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R="6320790" algn="r">
              <a:lnSpc>
                <a:spcPct val="100000"/>
              </a:lnSpc>
              <a:tabLst>
                <a:tab pos="522605" algn="l"/>
              </a:tabLst>
            </a:pPr>
            <a:r>
              <a:rPr sz="2400" b="1" dirty="0">
                <a:latin typeface="Arial"/>
                <a:cs typeface="Arial"/>
              </a:rPr>
              <a:t>d	</a:t>
            </a:r>
            <a:r>
              <a:rPr sz="2400" b="1" spc="-5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dtype: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int64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16407" y="1585671"/>
            <a:ext cx="7278370" cy="4184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</a:t>
            </a:r>
            <a:r>
              <a:rPr sz="2400" b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24765">
              <a:lnSpc>
                <a:spcPts val="2865"/>
              </a:lnSpc>
              <a:spcBef>
                <a:spcPts val="5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Retrieve Data from</a:t>
            </a:r>
            <a:r>
              <a:rPr sz="2400" b="1" u="heavy" spc="-6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985"/>
              </a:lnSpc>
            </a:pP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There are three </a:t>
            </a:r>
            <a:r>
              <a:rPr sz="2500" spc="-10" dirty="0">
                <a:solidFill>
                  <a:srgbClr val="17375E"/>
                </a:solidFill>
                <a:latin typeface="Times New Roman"/>
                <a:cs typeface="Times New Roman"/>
              </a:rPr>
              <a:t>methods </a:t>
            </a: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for data</a:t>
            </a:r>
            <a:r>
              <a:rPr sz="2500" spc="140" dirty="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selection:</a:t>
            </a:r>
            <a:endParaRPr sz="2500">
              <a:latin typeface="Times New Roman"/>
              <a:cs typeface="Times New Roman"/>
            </a:endParaRPr>
          </a:p>
          <a:p>
            <a:pPr marL="355600" marR="61594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loc gets rows (or columns) with particular labels from  the index.</a:t>
            </a:r>
            <a:endParaRPr sz="2500">
              <a:latin typeface="Times New Roman"/>
              <a:cs typeface="Times New Roman"/>
            </a:endParaRPr>
          </a:p>
          <a:p>
            <a:pPr marL="355600" marR="27178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iloc gets rows (or columns) at particular positions in  the index (so it only takes</a:t>
            </a:r>
            <a:r>
              <a:rPr sz="2500" spc="75" dirty="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integers).</a:t>
            </a:r>
            <a:endParaRPr sz="25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ix usually tries to behave like loc but falls back to  behaving like iloc if a label is not present in the</a:t>
            </a:r>
            <a:r>
              <a:rPr sz="2500" spc="240" dirty="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17375E"/>
                </a:solidFill>
                <a:latin typeface="Times New Roman"/>
                <a:cs typeface="Times New Roman"/>
              </a:rPr>
              <a:t>index.</a:t>
            </a:r>
            <a:endParaRPr sz="2500">
              <a:latin typeface="Times New Roman"/>
              <a:cs typeface="Times New Roman"/>
            </a:endParaRPr>
          </a:p>
          <a:p>
            <a:pPr marL="12700" marR="11430">
              <a:lnSpc>
                <a:spcPct val="100000"/>
              </a:lnSpc>
              <a:spcBef>
                <a:spcPts val="5"/>
              </a:spcBef>
            </a:pPr>
            <a:r>
              <a:rPr sz="2500" spc="-5" dirty="0">
                <a:solidFill>
                  <a:srgbClr val="17375E"/>
                </a:solidFill>
                <a:latin typeface="Times New Roman"/>
                <a:cs typeface="Times New Roman"/>
              </a:rPr>
              <a:t>ix is deprecated and the use of loc and iloc is encouraged  instead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98195" y="1524127"/>
            <a:ext cx="3350895" cy="213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4840">
              <a:lnSpc>
                <a:spcPct val="100000"/>
              </a:lnSpc>
              <a:spcBef>
                <a:spcPts val="100"/>
              </a:spcBef>
            </a:pPr>
            <a:r>
              <a:rPr sz="24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Pandas Series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Retrieve Data</a:t>
            </a:r>
            <a:r>
              <a:rPr sz="2400" b="1" u="heavy" spc="-8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from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e.g.</a:t>
            </a:r>
            <a:endParaRPr sz="2400">
              <a:latin typeface="Arial"/>
              <a:cs typeface="Arial"/>
            </a:endParaRPr>
          </a:p>
          <a:p>
            <a:pPr marL="12700" marR="421640">
              <a:lnSpc>
                <a:spcPct val="100000"/>
              </a:lnSpc>
              <a:spcBef>
                <a:spcPts val="15"/>
              </a:spcBef>
            </a:pPr>
            <a:r>
              <a:rPr sz="1400" b="1" spc="-5" dirty="0">
                <a:latin typeface="Arial"/>
                <a:cs typeface="Arial"/>
              </a:rPr>
              <a:t>&gt;&gt;&gt; </a:t>
            </a:r>
            <a:r>
              <a:rPr sz="1400" b="1" dirty="0">
                <a:latin typeface="Arial"/>
                <a:cs typeface="Arial"/>
              </a:rPr>
              <a:t>s = </a:t>
            </a:r>
            <a:r>
              <a:rPr sz="1400" b="1" spc="-5" dirty="0">
                <a:latin typeface="Arial"/>
                <a:cs typeface="Arial"/>
              </a:rPr>
              <a:t>pd.Series(np.nan,  index=[49,48,47,46,45, </a:t>
            </a:r>
            <a:r>
              <a:rPr sz="1400" b="1" dirty="0">
                <a:latin typeface="Arial"/>
                <a:cs typeface="Arial"/>
              </a:rPr>
              <a:t>1, 2, 3, 4,</a:t>
            </a:r>
            <a:r>
              <a:rPr sz="1400" b="1" spc="-1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5])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Arial"/>
                <a:cs typeface="Arial"/>
              </a:rPr>
              <a:t>&gt;&gt;&gt; s.iloc[:3] </a:t>
            </a:r>
            <a:r>
              <a:rPr sz="1400" b="1" dirty="0">
                <a:latin typeface="Arial"/>
                <a:cs typeface="Arial"/>
              </a:rPr>
              <a:t># slice </a:t>
            </a:r>
            <a:r>
              <a:rPr sz="1400" b="1" spc="-5" dirty="0">
                <a:latin typeface="Arial"/>
                <a:cs typeface="Arial"/>
              </a:rPr>
              <a:t>the </a:t>
            </a:r>
            <a:r>
              <a:rPr sz="1400" b="1" dirty="0">
                <a:latin typeface="Arial"/>
                <a:cs typeface="Arial"/>
              </a:rPr>
              <a:t>first </a:t>
            </a:r>
            <a:r>
              <a:rPr sz="1400" b="1" spc="-5" dirty="0">
                <a:latin typeface="Arial"/>
                <a:cs typeface="Arial"/>
              </a:rPr>
              <a:t>three</a:t>
            </a:r>
            <a:r>
              <a:rPr sz="1400" b="1" spc="-170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rows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8195" y="3629025"/>
            <a:ext cx="72644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49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48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47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8195" y="4269485"/>
            <a:ext cx="33375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&gt;&gt;&gt; s.loc[:3] </a:t>
            </a:r>
            <a:r>
              <a:rPr sz="1400" b="1" dirty="0">
                <a:latin typeface="Arial"/>
                <a:cs typeface="Arial"/>
              </a:rPr>
              <a:t># slice </a:t>
            </a:r>
            <a:r>
              <a:rPr sz="1400" b="1" spc="-5" dirty="0">
                <a:latin typeface="Arial"/>
                <a:cs typeface="Arial"/>
              </a:rPr>
              <a:t>up </a:t>
            </a:r>
            <a:r>
              <a:rPr sz="1400" b="1" dirty="0">
                <a:latin typeface="Arial"/>
                <a:cs typeface="Arial"/>
              </a:rPr>
              <a:t>to </a:t>
            </a:r>
            <a:r>
              <a:rPr sz="1400" b="1" spc="-5" dirty="0">
                <a:latin typeface="Arial"/>
                <a:cs typeface="Arial"/>
              </a:rPr>
              <a:t>and</a:t>
            </a:r>
            <a:r>
              <a:rPr sz="1400" b="1" spc="-14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including  label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8195" y="4696205"/>
            <a:ext cx="725805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49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48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47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46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6870" algn="l"/>
              </a:tabLst>
            </a:pPr>
            <a:r>
              <a:rPr sz="1400" b="1" dirty="0">
                <a:latin typeface="Arial"/>
                <a:cs typeface="Arial"/>
              </a:rPr>
              <a:t>45	</a:t>
            </a:r>
            <a:r>
              <a:rPr sz="1400" b="1" spc="-10" dirty="0">
                <a:latin typeface="Arial"/>
                <a:cs typeface="Arial"/>
              </a:rPr>
              <a:t>N</a:t>
            </a:r>
            <a:r>
              <a:rPr sz="1400" b="1" dirty="0">
                <a:latin typeface="Arial"/>
                <a:cs typeface="Arial"/>
              </a:rPr>
              <a:t>aN</a:t>
            </a:r>
            <a:endParaRPr sz="1400">
              <a:latin typeface="Arial"/>
              <a:cs typeface="Arial"/>
            </a:endParaRPr>
          </a:p>
          <a:p>
            <a:pPr marL="307975" indent="-295910">
              <a:lnSpc>
                <a:spcPct val="100000"/>
              </a:lnSpc>
              <a:buAutoNum type="arabicPlain"/>
              <a:tabLst>
                <a:tab pos="307975" algn="l"/>
                <a:tab pos="308610" algn="l"/>
              </a:tabLst>
            </a:pPr>
            <a:r>
              <a:rPr sz="1400" b="1" spc="-5" dirty="0">
                <a:latin typeface="Arial"/>
                <a:cs typeface="Arial"/>
              </a:rPr>
              <a:t>NaN</a:t>
            </a:r>
            <a:endParaRPr sz="1400">
              <a:latin typeface="Arial"/>
              <a:cs typeface="Arial"/>
            </a:endParaRPr>
          </a:p>
          <a:p>
            <a:pPr marL="307975" indent="-295910">
              <a:lnSpc>
                <a:spcPct val="100000"/>
              </a:lnSpc>
              <a:buAutoNum type="arabicPlain"/>
              <a:tabLst>
                <a:tab pos="307975" algn="l"/>
                <a:tab pos="308610" algn="l"/>
              </a:tabLst>
            </a:pPr>
            <a:r>
              <a:rPr sz="1400" b="1" spc="-5" dirty="0">
                <a:latin typeface="Arial"/>
                <a:cs typeface="Arial"/>
              </a:rPr>
              <a:t>NaN</a:t>
            </a:r>
            <a:endParaRPr sz="1400">
              <a:latin typeface="Arial"/>
              <a:cs typeface="Arial"/>
            </a:endParaRPr>
          </a:p>
          <a:p>
            <a:pPr marL="307975" indent="-295910">
              <a:lnSpc>
                <a:spcPct val="100000"/>
              </a:lnSpc>
              <a:buAutoNum type="arabicPlain"/>
              <a:tabLst>
                <a:tab pos="307975" algn="l"/>
                <a:tab pos="308610" algn="l"/>
              </a:tabLst>
            </a:pPr>
            <a:r>
              <a:rPr sz="1400" b="1" spc="-5" dirty="0">
                <a:latin typeface="Arial"/>
                <a:cs typeface="Arial"/>
              </a:rPr>
              <a:t>NaN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194809" y="2836545"/>
            <a:ext cx="3876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&gt;&gt;&gt; </a:t>
            </a:r>
            <a:r>
              <a:rPr sz="1800" spc="-5" dirty="0">
                <a:latin typeface="Calibri"/>
                <a:cs typeface="Calibri"/>
              </a:rPr>
              <a:t>s.ix[:3] </a:t>
            </a:r>
            <a:r>
              <a:rPr sz="1800" dirty="0">
                <a:latin typeface="Calibri"/>
                <a:cs typeface="Calibri"/>
              </a:rPr>
              <a:t># the </a:t>
            </a:r>
            <a:r>
              <a:rPr sz="1800" spc="-10" dirty="0">
                <a:latin typeface="Calibri"/>
                <a:cs typeface="Calibri"/>
              </a:rPr>
              <a:t>integer </a:t>
            </a:r>
            <a:r>
              <a:rPr sz="1800" spc="-5" dirty="0">
                <a:latin typeface="Calibri"/>
                <a:cs typeface="Calibri"/>
              </a:rPr>
              <a:t>is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index </a:t>
            </a:r>
            <a:r>
              <a:rPr sz="1800" dirty="0">
                <a:latin typeface="Calibri"/>
                <a:cs typeface="Calibri"/>
              </a:rPr>
              <a:t>so  </a:t>
            </a:r>
            <a:r>
              <a:rPr sz="1800" spc="-5" dirty="0">
                <a:latin typeface="Calibri"/>
                <a:cs typeface="Calibri"/>
              </a:rPr>
              <a:t>s.ix[:3] </a:t>
            </a:r>
            <a:r>
              <a:rPr sz="1800" spc="-10" dirty="0">
                <a:latin typeface="Calibri"/>
                <a:cs typeface="Calibri"/>
              </a:rPr>
              <a:t>works </a:t>
            </a:r>
            <a:r>
              <a:rPr sz="1800" spc="-20" dirty="0">
                <a:latin typeface="Calibri"/>
                <a:cs typeface="Calibri"/>
              </a:rPr>
              <a:t>like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94809" y="3385566"/>
            <a:ext cx="81978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</a:tabLst>
            </a:pPr>
            <a:r>
              <a:rPr sz="1800" dirty="0">
                <a:latin typeface="Calibri"/>
                <a:cs typeface="Calibri"/>
              </a:rPr>
              <a:t>49	NaN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00685" algn="l"/>
              </a:tabLst>
            </a:pPr>
            <a:r>
              <a:rPr sz="1800" dirty="0">
                <a:latin typeface="Calibri"/>
                <a:cs typeface="Calibri"/>
              </a:rPr>
              <a:t>48	NaN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00685" algn="l"/>
              </a:tabLst>
            </a:pPr>
            <a:r>
              <a:rPr sz="1800" dirty="0">
                <a:latin typeface="Calibri"/>
                <a:cs typeface="Calibri"/>
              </a:rPr>
              <a:t>47	NaN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00685" algn="l"/>
              </a:tabLst>
            </a:pPr>
            <a:r>
              <a:rPr sz="1800" dirty="0">
                <a:latin typeface="Calibri"/>
                <a:cs typeface="Calibri"/>
              </a:rPr>
              <a:t>46	NaN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00685" algn="l"/>
              </a:tabLst>
            </a:pPr>
            <a:r>
              <a:rPr sz="1800" dirty="0">
                <a:latin typeface="Calibri"/>
                <a:cs typeface="Calibri"/>
              </a:rPr>
              <a:t>45	NaN</a:t>
            </a:r>
            <a:endParaRPr sz="1800">
              <a:latin typeface="Calibri"/>
              <a:cs typeface="Calibri"/>
            </a:endParaRPr>
          </a:p>
          <a:p>
            <a:pPr marL="338455" indent="-326390">
              <a:lnSpc>
                <a:spcPct val="100000"/>
              </a:lnSpc>
              <a:buAutoNum type="arabicPlain"/>
              <a:tabLst>
                <a:tab pos="338455" algn="l"/>
                <a:tab pos="339090" algn="l"/>
              </a:tabLst>
            </a:pPr>
            <a:r>
              <a:rPr sz="1800" dirty="0">
                <a:latin typeface="Calibri"/>
                <a:cs typeface="Calibri"/>
              </a:rPr>
              <a:t>NaN</a:t>
            </a:r>
            <a:endParaRPr sz="1800">
              <a:latin typeface="Calibri"/>
              <a:cs typeface="Calibri"/>
            </a:endParaRPr>
          </a:p>
          <a:p>
            <a:pPr marL="338455" indent="-326390">
              <a:lnSpc>
                <a:spcPct val="100000"/>
              </a:lnSpc>
              <a:buAutoNum type="arabicPlain"/>
              <a:tabLst>
                <a:tab pos="338455" algn="l"/>
                <a:tab pos="339090" algn="l"/>
              </a:tabLst>
            </a:pPr>
            <a:r>
              <a:rPr sz="1800" dirty="0">
                <a:latin typeface="Calibri"/>
                <a:cs typeface="Calibri"/>
              </a:rPr>
              <a:t>NaN</a:t>
            </a:r>
            <a:endParaRPr sz="1800">
              <a:latin typeface="Calibri"/>
              <a:cs typeface="Calibri"/>
            </a:endParaRPr>
          </a:p>
          <a:p>
            <a:pPr marL="338455" indent="-326390">
              <a:lnSpc>
                <a:spcPct val="100000"/>
              </a:lnSpc>
              <a:buAutoNum type="arabicPlain"/>
              <a:tabLst>
                <a:tab pos="338455" algn="l"/>
                <a:tab pos="339090" algn="l"/>
              </a:tabLst>
            </a:pPr>
            <a:r>
              <a:rPr sz="1800" dirty="0">
                <a:latin typeface="Calibri"/>
                <a:cs typeface="Calibri"/>
              </a:rPr>
              <a:t>NaN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73100" y="1223517"/>
            <a:ext cx="6072505" cy="248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5555" algn="l"/>
              </a:tabLst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6E2E9F"/>
                </a:solidFill>
                <a:latin typeface="Arial"/>
                <a:cs typeface="Arial"/>
              </a:rPr>
              <a:t>It </a:t>
            </a:r>
            <a:r>
              <a:rPr sz="1800" b="1" spc="-5" dirty="0">
                <a:solidFill>
                  <a:srgbClr val="6E2E9F"/>
                </a:solidFill>
                <a:latin typeface="Arial"/>
                <a:cs typeface="Arial"/>
              </a:rPr>
              <a:t>is a two-dimensional data structure, </a:t>
            </a:r>
            <a:r>
              <a:rPr sz="1800" b="1" dirty="0">
                <a:solidFill>
                  <a:srgbClr val="6E2E9F"/>
                </a:solidFill>
                <a:latin typeface="Arial"/>
                <a:cs typeface="Arial"/>
              </a:rPr>
              <a:t>just like </a:t>
            </a:r>
            <a:r>
              <a:rPr sz="1800" b="1" spc="-5" dirty="0">
                <a:solidFill>
                  <a:srgbClr val="6E2E9F"/>
                </a:solidFill>
                <a:latin typeface="Arial"/>
                <a:cs typeface="Arial"/>
              </a:rPr>
              <a:t>any</a:t>
            </a:r>
            <a:r>
              <a:rPr sz="1800" b="1" spc="-12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E2E9F"/>
                </a:solidFill>
                <a:latin typeface="Arial"/>
                <a:cs typeface="Arial"/>
              </a:rPr>
              <a:t>table  </a:t>
            </a:r>
            <a:r>
              <a:rPr sz="1800" b="1" spc="5" dirty="0">
                <a:solidFill>
                  <a:srgbClr val="6E2E9F"/>
                </a:solidFill>
                <a:latin typeface="Arial"/>
                <a:cs typeface="Arial"/>
              </a:rPr>
              <a:t>(with </a:t>
            </a:r>
            <a:r>
              <a:rPr sz="1800" b="1" spc="10" dirty="0">
                <a:solidFill>
                  <a:srgbClr val="6E2E9F"/>
                </a:solidFill>
                <a:latin typeface="Arial"/>
                <a:cs typeface="Arial"/>
              </a:rPr>
              <a:t>rows </a:t>
            </a:r>
            <a:r>
              <a:rPr sz="1800" b="1" spc="-5" dirty="0">
                <a:solidFill>
                  <a:srgbClr val="6E2E9F"/>
                </a:solidFill>
                <a:latin typeface="Arial"/>
                <a:cs typeface="Arial"/>
              </a:rPr>
              <a:t>&amp;</a:t>
            </a:r>
            <a:r>
              <a:rPr sz="1800" b="1" spc="-16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E2E9F"/>
                </a:solidFill>
                <a:latin typeface="Arial"/>
                <a:cs typeface="Arial"/>
              </a:rPr>
              <a:t>columns).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3399FF"/>
                </a:solidFill>
                <a:latin typeface="Arial"/>
                <a:cs typeface="Arial"/>
              </a:rPr>
              <a:t>Basic Features </a:t>
            </a:r>
            <a:r>
              <a:rPr sz="1800" dirty="0">
                <a:solidFill>
                  <a:srgbClr val="3399FF"/>
                </a:solidFill>
                <a:latin typeface="Arial"/>
                <a:cs typeface="Arial"/>
              </a:rPr>
              <a:t>of</a:t>
            </a:r>
            <a:r>
              <a:rPr sz="1800" spc="-6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99FF"/>
                </a:solidFill>
                <a:latin typeface="Arial"/>
                <a:cs typeface="Arial"/>
              </a:rPr>
              <a:t>DataFrame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spc="-5" dirty="0">
                <a:latin typeface="Arial"/>
                <a:cs typeface="Arial"/>
              </a:rPr>
              <a:t>Columns may be of different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types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spc="-5" dirty="0">
                <a:latin typeface="Arial"/>
                <a:cs typeface="Arial"/>
              </a:rPr>
              <a:t>Size can be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changed(Mutable)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spc="-5" dirty="0">
                <a:latin typeface="Arial"/>
                <a:cs typeface="Arial"/>
              </a:rPr>
              <a:t>Labeled axes </a:t>
            </a:r>
            <a:r>
              <a:rPr sz="1600" spc="-10" dirty="0">
                <a:latin typeface="Arial"/>
                <a:cs typeface="Arial"/>
              </a:rPr>
              <a:t>(rows </a:t>
            </a:r>
            <a:r>
              <a:rPr sz="1600" spc="-5" dirty="0">
                <a:latin typeface="Arial"/>
                <a:cs typeface="Arial"/>
              </a:rPr>
              <a:t>/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columns)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600" spc="-5" dirty="0">
                <a:latin typeface="Arial"/>
                <a:cs typeface="Arial"/>
              </a:rPr>
              <a:t>Arithmetic operations on </a:t>
            </a:r>
            <a:r>
              <a:rPr sz="1600" spc="-10" dirty="0">
                <a:latin typeface="Arial"/>
                <a:cs typeface="Arial"/>
              </a:rPr>
              <a:t>rows </a:t>
            </a:r>
            <a:r>
              <a:rPr sz="1600" spc="-5" dirty="0">
                <a:latin typeface="Arial"/>
                <a:cs typeface="Arial"/>
              </a:rPr>
              <a:t>and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columns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dirty="0">
                <a:solidFill>
                  <a:srgbClr val="3399FF"/>
                </a:solidFill>
                <a:latin typeface="Arial"/>
                <a:cs typeface="Arial"/>
              </a:rPr>
              <a:t>Structure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4276" y="3665220"/>
            <a:ext cx="6864096" cy="2255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08647" y="2901060"/>
            <a:ext cx="1054735" cy="876935"/>
          </a:xfrm>
          <a:custGeom>
            <a:avLst/>
            <a:gdLst/>
            <a:ahLst/>
            <a:cxnLst/>
            <a:rect l="l" t="t" r="r" b="b"/>
            <a:pathLst>
              <a:path w="1054734" h="876935">
                <a:moveTo>
                  <a:pt x="0" y="0"/>
                </a:moveTo>
                <a:lnTo>
                  <a:pt x="177419" y="876934"/>
                </a:lnTo>
                <a:lnTo>
                  <a:pt x="1054607" y="699642"/>
                </a:lnTo>
                <a:lnTo>
                  <a:pt x="790955" y="524637"/>
                </a:lnTo>
                <a:lnTo>
                  <a:pt x="1023111" y="174878"/>
                </a:lnTo>
                <a:lnTo>
                  <a:pt x="263651" y="174878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72300" y="2339339"/>
            <a:ext cx="1016635" cy="736600"/>
          </a:xfrm>
          <a:custGeom>
            <a:avLst/>
            <a:gdLst/>
            <a:ahLst/>
            <a:cxnLst/>
            <a:rect l="l" t="t" r="r" b="b"/>
            <a:pathLst>
              <a:path w="1016634" h="736600">
                <a:moveTo>
                  <a:pt x="488950" y="0"/>
                </a:moveTo>
                <a:lnTo>
                  <a:pt x="0" y="736600"/>
                </a:lnTo>
                <a:lnTo>
                  <a:pt x="759459" y="736600"/>
                </a:lnTo>
                <a:lnTo>
                  <a:pt x="1016126" y="349885"/>
                </a:lnTo>
                <a:lnTo>
                  <a:pt x="48895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08647" y="2339339"/>
            <a:ext cx="1280160" cy="1438910"/>
          </a:xfrm>
          <a:custGeom>
            <a:avLst/>
            <a:gdLst/>
            <a:ahLst/>
            <a:cxnLst/>
            <a:rect l="l" t="t" r="r" b="b"/>
            <a:pathLst>
              <a:path w="1280159" h="1438910">
                <a:moveTo>
                  <a:pt x="177419" y="1438656"/>
                </a:moveTo>
                <a:lnTo>
                  <a:pt x="0" y="561721"/>
                </a:lnTo>
                <a:lnTo>
                  <a:pt x="263651" y="736600"/>
                </a:lnTo>
                <a:lnTo>
                  <a:pt x="752601" y="0"/>
                </a:lnTo>
                <a:lnTo>
                  <a:pt x="1279778" y="349885"/>
                </a:lnTo>
                <a:lnTo>
                  <a:pt x="790955" y="1086358"/>
                </a:lnTo>
                <a:lnTo>
                  <a:pt x="1054607" y="1261364"/>
                </a:lnTo>
                <a:lnTo>
                  <a:pt x="177419" y="143865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96683" y="3262757"/>
            <a:ext cx="116205" cy="120650"/>
          </a:xfrm>
          <a:custGeom>
            <a:avLst/>
            <a:gdLst/>
            <a:ahLst/>
            <a:cxnLst/>
            <a:rect l="l" t="t" r="r" b="b"/>
            <a:pathLst>
              <a:path w="116204" h="120650">
                <a:moveTo>
                  <a:pt x="53594" y="0"/>
                </a:moveTo>
                <a:lnTo>
                  <a:pt x="45339" y="0"/>
                </a:lnTo>
                <a:lnTo>
                  <a:pt x="37719" y="2539"/>
                </a:lnTo>
                <a:lnTo>
                  <a:pt x="4825" y="36829"/>
                </a:lnTo>
                <a:lnTo>
                  <a:pt x="0" y="59689"/>
                </a:lnTo>
                <a:lnTo>
                  <a:pt x="1270" y="69850"/>
                </a:lnTo>
                <a:lnTo>
                  <a:pt x="30861" y="107822"/>
                </a:lnTo>
                <a:lnTo>
                  <a:pt x="65913" y="120522"/>
                </a:lnTo>
                <a:lnTo>
                  <a:pt x="77216" y="120522"/>
                </a:lnTo>
                <a:lnTo>
                  <a:pt x="113792" y="95122"/>
                </a:lnTo>
                <a:lnTo>
                  <a:pt x="116077" y="91312"/>
                </a:lnTo>
                <a:lnTo>
                  <a:pt x="75565" y="91312"/>
                </a:lnTo>
                <a:lnTo>
                  <a:pt x="69596" y="90042"/>
                </a:lnTo>
                <a:lnTo>
                  <a:pt x="34163" y="69850"/>
                </a:lnTo>
                <a:lnTo>
                  <a:pt x="26162" y="52069"/>
                </a:lnTo>
                <a:lnTo>
                  <a:pt x="27432" y="45719"/>
                </a:lnTo>
                <a:lnTo>
                  <a:pt x="31750" y="39369"/>
                </a:lnTo>
                <a:lnTo>
                  <a:pt x="34925" y="34289"/>
                </a:lnTo>
                <a:lnTo>
                  <a:pt x="38862" y="31750"/>
                </a:lnTo>
                <a:lnTo>
                  <a:pt x="48133" y="29209"/>
                </a:lnTo>
                <a:lnTo>
                  <a:pt x="60071" y="29209"/>
                </a:lnTo>
                <a:lnTo>
                  <a:pt x="71500" y="2539"/>
                </a:lnTo>
                <a:lnTo>
                  <a:pt x="535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72248" y="3288157"/>
            <a:ext cx="49530" cy="66040"/>
          </a:xfrm>
          <a:custGeom>
            <a:avLst/>
            <a:gdLst/>
            <a:ahLst/>
            <a:cxnLst/>
            <a:rect l="l" t="t" r="r" b="b"/>
            <a:pathLst>
              <a:path w="49529" h="66039">
                <a:moveTo>
                  <a:pt x="32893" y="0"/>
                </a:moveTo>
                <a:lnTo>
                  <a:pt x="11556" y="22859"/>
                </a:lnTo>
                <a:lnTo>
                  <a:pt x="17525" y="29209"/>
                </a:lnTo>
                <a:lnTo>
                  <a:pt x="20954" y="34289"/>
                </a:lnTo>
                <a:lnTo>
                  <a:pt x="21590" y="39369"/>
                </a:lnTo>
                <a:lnTo>
                  <a:pt x="22351" y="44450"/>
                </a:lnTo>
                <a:lnTo>
                  <a:pt x="21081" y="49402"/>
                </a:lnTo>
                <a:lnTo>
                  <a:pt x="17779" y="54482"/>
                </a:lnTo>
                <a:lnTo>
                  <a:pt x="13334" y="60832"/>
                </a:lnTo>
                <a:lnTo>
                  <a:pt x="7493" y="64642"/>
                </a:lnTo>
                <a:lnTo>
                  <a:pt x="0" y="65912"/>
                </a:lnTo>
                <a:lnTo>
                  <a:pt x="40512" y="65912"/>
                </a:lnTo>
                <a:lnTo>
                  <a:pt x="43687" y="60832"/>
                </a:lnTo>
                <a:lnTo>
                  <a:pt x="47371" y="50672"/>
                </a:lnTo>
                <a:lnTo>
                  <a:pt x="49275" y="41909"/>
                </a:lnTo>
                <a:lnTo>
                  <a:pt x="49402" y="33019"/>
                </a:lnTo>
                <a:lnTo>
                  <a:pt x="47751" y="25400"/>
                </a:lnTo>
                <a:lnTo>
                  <a:pt x="44450" y="16509"/>
                </a:lnTo>
                <a:lnTo>
                  <a:pt x="39497" y="8889"/>
                </a:lnTo>
                <a:lnTo>
                  <a:pt x="32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68184" y="3152394"/>
            <a:ext cx="115570" cy="125730"/>
          </a:xfrm>
          <a:custGeom>
            <a:avLst/>
            <a:gdLst/>
            <a:ahLst/>
            <a:cxnLst/>
            <a:rect l="l" t="t" r="r" b="b"/>
            <a:pathLst>
              <a:path w="115570" h="125729">
                <a:moveTo>
                  <a:pt x="61975" y="0"/>
                </a:moveTo>
                <a:lnTo>
                  <a:pt x="19176" y="19050"/>
                </a:lnTo>
                <a:lnTo>
                  <a:pt x="126" y="59689"/>
                </a:lnTo>
                <a:lnTo>
                  <a:pt x="0" y="67309"/>
                </a:lnTo>
                <a:lnTo>
                  <a:pt x="1016" y="74929"/>
                </a:lnTo>
                <a:lnTo>
                  <a:pt x="21336" y="107822"/>
                </a:lnTo>
                <a:lnTo>
                  <a:pt x="60706" y="125602"/>
                </a:lnTo>
                <a:lnTo>
                  <a:pt x="68580" y="125602"/>
                </a:lnTo>
                <a:lnTo>
                  <a:pt x="104140" y="109092"/>
                </a:lnTo>
                <a:lnTo>
                  <a:pt x="115316" y="95122"/>
                </a:lnTo>
                <a:lnTo>
                  <a:pt x="67564" y="95122"/>
                </a:lnTo>
                <a:lnTo>
                  <a:pt x="60833" y="93852"/>
                </a:lnTo>
                <a:lnTo>
                  <a:pt x="53848" y="91312"/>
                </a:lnTo>
                <a:lnTo>
                  <a:pt x="46736" y="86232"/>
                </a:lnTo>
                <a:lnTo>
                  <a:pt x="40132" y="82422"/>
                </a:lnTo>
                <a:lnTo>
                  <a:pt x="34925" y="76200"/>
                </a:lnTo>
                <a:lnTo>
                  <a:pt x="31115" y="71119"/>
                </a:lnTo>
                <a:lnTo>
                  <a:pt x="28829" y="64769"/>
                </a:lnTo>
                <a:lnTo>
                  <a:pt x="26797" y="57150"/>
                </a:lnTo>
                <a:lnTo>
                  <a:pt x="27940" y="49529"/>
                </a:lnTo>
                <a:lnTo>
                  <a:pt x="37084" y="35559"/>
                </a:lnTo>
                <a:lnTo>
                  <a:pt x="43434" y="31750"/>
                </a:lnTo>
                <a:lnTo>
                  <a:pt x="51689" y="30479"/>
                </a:lnTo>
                <a:lnTo>
                  <a:pt x="115189" y="30479"/>
                </a:lnTo>
                <a:lnTo>
                  <a:pt x="114426" y="29209"/>
                </a:lnTo>
                <a:lnTo>
                  <a:pt x="106425" y="19050"/>
                </a:lnTo>
                <a:lnTo>
                  <a:pt x="96393" y="11429"/>
                </a:lnTo>
                <a:lnTo>
                  <a:pt x="85090" y="5079"/>
                </a:lnTo>
                <a:lnTo>
                  <a:pt x="73660" y="1269"/>
                </a:lnTo>
                <a:lnTo>
                  <a:pt x="61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26223" y="3182873"/>
            <a:ext cx="67310" cy="64769"/>
          </a:xfrm>
          <a:custGeom>
            <a:avLst/>
            <a:gdLst/>
            <a:ahLst/>
            <a:cxnLst/>
            <a:rect l="l" t="t" r="r" b="b"/>
            <a:pathLst>
              <a:path w="67309" h="64769">
                <a:moveTo>
                  <a:pt x="57150" y="0"/>
                </a:moveTo>
                <a:lnTo>
                  <a:pt x="0" y="0"/>
                </a:lnTo>
                <a:lnTo>
                  <a:pt x="6603" y="1270"/>
                </a:lnTo>
                <a:lnTo>
                  <a:pt x="13461" y="3810"/>
                </a:lnTo>
                <a:lnTo>
                  <a:pt x="40767" y="38100"/>
                </a:lnTo>
                <a:lnTo>
                  <a:pt x="39624" y="45720"/>
                </a:lnTo>
                <a:lnTo>
                  <a:pt x="35051" y="51942"/>
                </a:lnTo>
                <a:lnTo>
                  <a:pt x="30606" y="59562"/>
                </a:lnTo>
                <a:lnTo>
                  <a:pt x="24129" y="63373"/>
                </a:lnTo>
                <a:lnTo>
                  <a:pt x="15875" y="64642"/>
                </a:lnTo>
                <a:lnTo>
                  <a:pt x="57276" y="64642"/>
                </a:lnTo>
                <a:lnTo>
                  <a:pt x="62483" y="55752"/>
                </a:lnTo>
                <a:lnTo>
                  <a:pt x="66040" y="44450"/>
                </a:lnTo>
                <a:lnTo>
                  <a:pt x="67182" y="31750"/>
                </a:lnTo>
                <a:lnTo>
                  <a:pt x="65912" y="20320"/>
                </a:lnTo>
                <a:lnTo>
                  <a:pt x="62229" y="8889"/>
                </a:lnTo>
                <a:lnTo>
                  <a:pt x="57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91806" y="3059810"/>
            <a:ext cx="153670" cy="116839"/>
          </a:xfrm>
          <a:custGeom>
            <a:avLst/>
            <a:gdLst/>
            <a:ahLst/>
            <a:cxnLst/>
            <a:rect l="l" t="t" r="r" b="b"/>
            <a:pathLst>
              <a:path w="153670" h="116839">
                <a:moveTo>
                  <a:pt x="17272" y="0"/>
                </a:moveTo>
                <a:lnTo>
                  <a:pt x="0" y="25400"/>
                </a:lnTo>
                <a:lnTo>
                  <a:pt x="136271" y="116712"/>
                </a:lnTo>
                <a:lnTo>
                  <a:pt x="153543" y="90042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64323" y="3031998"/>
            <a:ext cx="129539" cy="80010"/>
          </a:xfrm>
          <a:custGeom>
            <a:avLst/>
            <a:gdLst/>
            <a:ahLst/>
            <a:cxnLst/>
            <a:rect l="l" t="t" r="r" b="b"/>
            <a:pathLst>
              <a:path w="129540" h="80010">
                <a:moveTo>
                  <a:pt x="17399" y="0"/>
                </a:moveTo>
                <a:lnTo>
                  <a:pt x="0" y="25273"/>
                </a:lnTo>
                <a:lnTo>
                  <a:pt x="62483" y="67182"/>
                </a:lnTo>
                <a:lnTo>
                  <a:pt x="69215" y="70992"/>
                </a:lnTo>
                <a:lnTo>
                  <a:pt x="75437" y="74802"/>
                </a:lnTo>
                <a:lnTo>
                  <a:pt x="81279" y="77342"/>
                </a:lnTo>
                <a:lnTo>
                  <a:pt x="86614" y="78612"/>
                </a:lnTo>
                <a:lnTo>
                  <a:pt x="93472" y="79882"/>
                </a:lnTo>
                <a:lnTo>
                  <a:pt x="100075" y="78612"/>
                </a:lnTo>
                <a:lnTo>
                  <a:pt x="106425" y="74802"/>
                </a:lnTo>
                <a:lnTo>
                  <a:pt x="112902" y="72262"/>
                </a:lnTo>
                <a:lnTo>
                  <a:pt x="118236" y="67182"/>
                </a:lnTo>
                <a:lnTo>
                  <a:pt x="122681" y="59562"/>
                </a:lnTo>
                <a:lnTo>
                  <a:pt x="127000" y="53212"/>
                </a:lnTo>
                <a:lnTo>
                  <a:pt x="129540" y="46862"/>
                </a:lnTo>
                <a:lnTo>
                  <a:pt x="92836" y="46862"/>
                </a:lnTo>
                <a:lnTo>
                  <a:pt x="85471" y="44323"/>
                </a:lnTo>
                <a:lnTo>
                  <a:pt x="72135" y="35432"/>
                </a:lnTo>
                <a:lnTo>
                  <a:pt x="62737" y="30352"/>
                </a:lnTo>
                <a:lnTo>
                  <a:pt x="173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06615" y="2968498"/>
            <a:ext cx="116205" cy="110489"/>
          </a:xfrm>
          <a:custGeom>
            <a:avLst/>
            <a:gdLst/>
            <a:ahLst/>
            <a:cxnLst/>
            <a:rect l="l" t="t" r="r" b="b"/>
            <a:pathLst>
              <a:path w="116204" h="110489">
                <a:moveTo>
                  <a:pt x="17399" y="0"/>
                </a:moveTo>
                <a:lnTo>
                  <a:pt x="0" y="25400"/>
                </a:lnTo>
                <a:lnTo>
                  <a:pt x="51180" y="59689"/>
                </a:lnTo>
                <a:lnTo>
                  <a:pt x="58546" y="64769"/>
                </a:lnTo>
                <a:lnTo>
                  <a:pt x="63880" y="69723"/>
                </a:lnTo>
                <a:lnTo>
                  <a:pt x="66928" y="72262"/>
                </a:lnTo>
                <a:lnTo>
                  <a:pt x="69723" y="76073"/>
                </a:lnTo>
                <a:lnTo>
                  <a:pt x="71119" y="81152"/>
                </a:lnTo>
                <a:lnTo>
                  <a:pt x="71374" y="91312"/>
                </a:lnTo>
                <a:lnTo>
                  <a:pt x="69850" y="96392"/>
                </a:lnTo>
                <a:lnTo>
                  <a:pt x="66928" y="100202"/>
                </a:lnTo>
                <a:lnTo>
                  <a:pt x="64388" y="104012"/>
                </a:lnTo>
                <a:lnTo>
                  <a:pt x="61213" y="106552"/>
                </a:lnTo>
                <a:lnTo>
                  <a:pt x="57784" y="109092"/>
                </a:lnTo>
                <a:lnTo>
                  <a:pt x="54228" y="110362"/>
                </a:lnTo>
                <a:lnTo>
                  <a:pt x="87249" y="110362"/>
                </a:lnTo>
                <a:lnTo>
                  <a:pt x="89026" y="93852"/>
                </a:lnTo>
                <a:lnTo>
                  <a:pt x="88010" y="86232"/>
                </a:lnTo>
                <a:lnTo>
                  <a:pt x="85089" y="79882"/>
                </a:lnTo>
                <a:lnTo>
                  <a:pt x="105917" y="79882"/>
                </a:lnTo>
                <a:lnTo>
                  <a:pt x="115950" y="64769"/>
                </a:lnTo>
                <a:lnTo>
                  <a:pt x="173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91705" y="3048380"/>
            <a:ext cx="20955" cy="8890"/>
          </a:xfrm>
          <a:custGeom>
            <a:avLst/>
            <a:gdLst/>
            <a:ahLst/>
            <a:cxnLst/>
            <a:rect l="l" t="t" r="r" b="b"/>
            <a:pathLst>
              <a:path w="20954" h="8889">
                <a:moveTo>
                  <a:pt x="20827" y="0"/>
                </a:moveTo>
                <a:lnTo>
                  <a:pt x="0" y="0"/>
                </a:lnTo>
                <a:lnTo>
                  <a:pt x="14859" y="8890"/>
                </a:lnTo>
                <a:lnTo>
                  <a:pt x="208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40778" y="2919095"/>
            <a:ext cx="116205" cy="88900"/>
          </a:xfrm>
          <a:custGeom>
            <a:avLst/>
            <a:gdLst/>
            <a:ahLst/>
            <a:cxnLst/>
            <a:rect l="l" t="t" r="r" b="b"/>
            <a:pathLst>
              <a:path w="116204" h="88900">
                <a:moveTo>
                  <a:pt x="16001" y="0"/>
                </a:moveTo>
                <a:lnTo>
                  <a:pt x="0" y="24002"/>
                </a:lnTo>
                <a:lnTo>
                  <a:pt x="98805" y="88772"/>
                </a:lnTo>
                <a:lnTo>
                  <a:pt x="116204" y="63372"/>
                </a:lnTo>
                <a:lnTo>
                  <a:pt x="68199" y="30352"/>
                </a:lnTo>
                <a:lnTo>
                  <a:pt x="58674" y="25272"/>
                </a:lnTo>
                <a:lnTo>
                  <a:pt x="52324" y="18922"/>
                </a:lnTo>
                <a:lnTo>
                  <a:pt x="45974" y="11429"/>
                </a:lnTo>
                <a:lnTo>
                  <a:pt x="44957" y="8889"/>
                </a:lnTo>
                <a:lnTo>
                  <a:pt x="29464" y="8889"/>
                </a:lnTo>
                <a:lnTo>
                  <a:pt x="160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02118" y="2901314"/>
            <a:ext cx="94615" cy="46990"/>
          </a:xfrm>
          <a:custGeom>
            <a:avLst/>
            <a:gdLst/>
            <a:ahLst/>
            <a:cxnLst/>
            <a:rect l="l" t="t" r="r" b="b"/>
            <a:pathLst>
              <a:path w="94615" h="46989">
                <a:moveTo>
                  <a:pt x="62229" y="0"/>
                </a:moveTo>
                <a:lnTo>
                  <a:pt x="0" y="0"/>
                </a:lnTo>
                <a:lnTo>
                  <a:pt x="6857" y="1270"/>
                </a:lnTo>
                <a:lnTo>
                  <a:pt x="13334" y="5080"/>
                </a:lnTo>
                <a:lnTo>
                  <a:pt x="77088" y="46862"/>
                </a:lnTo>
                <a:lnTo>
                  <a:pt x="94487" y="21589"/>
                </a:lnTo>
                <a:lnTo>
                  <a:pt x="62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67956" y="2808732"/>
            <a:ext cx="135890" cy="119380"/>
          </a:xfrm>
          <a:custGeom>
            <a:avLst/>
            <a:gdLst/>
            <a:ahLst/>
            <a:cxnLst/>
            <a:rect l="l" t="t" r="r" b="b"/>
            <a:pathLst>
              <a:path w="135890" h="119380">
                <a:moveTo>
                  <a:pt x="75311" y="0"/>
                </a:moveTo>
                <a:lnTo>
                  <a:pt x="41783" y="25400"/>
                </a:lnTo>
                <a:lnTo>
                  <a:pt x="38862" y="37972"/>
                </a:lnTo>
                <a:lnTo>
                  <a:pt x="38100" y="44322"/>
                </a:lnTo>
                <a:lnTo>
                  <a:pt x="38862" y="51942"/>
                </a:lnTo>
                <a:lnTo>
                  <a:pt x="41275" y="59562"/>
                </a:lnTo>
                <a:lnTo>
                  <a:pt x="34036" y="59562"/>
                </a:lnTo>
                <a:lnTo>
                  <a:pt x="2413" y="86232"/>
                </a:lnTo>
                <a:lnTo>
                  <a:pt x="0" y="107822"/>
                </a:lnTo>
                <a:lnTo>
                  <a:pt x="2286" y="119252"/>
                </a:lnTo>
                <a:lnTo>
                  <a:pt x="17779" y="119252"/>
                </a:lnTo>
                <a:lnTo>
                  <a:pt x="17272" y="117982"/>
                </a:lnTo>
                <a:lnTo>
                  <a:pt x="17272" y="110362"/>
                </a:lnTo>
                <a:lnTo>
                  <a:pt x="28575" y="92582"/>
                </a:lnTo>
                <a:lnTo>
                  <a:pt x="96393" y="92582"/>
                </a:lnTo>
                <a:lnTo>
                  <a:pt x="81152" y="82422"/>
                </a:lnTo>
                <a:lnTo>
                  <a:pt x="56896" y="48132"/>
                </a:lnTo>
                <a:lnTo>
                  <a:pt x="58039" y="44322"/>
                </a:lnTo>
                <a:lnTo>
                  <a:pt x="60451" y="40512"/>
                </a:lnTo>
                <a:lnTo>
                  <a:pt x="63880" y="35432"/>
                </a:lnTo>
                <a:lnTo>
                  <a:pt x="68199" y="32892"/>
                </a:lnTo>
                <a:lnTo>
                  <a:pt x="135636" y="32892"/>
                </a:lnTo>
                <a:lnTo>
                  <a:pt x="95503" y="6350"/>
                </a:lnTo>
                <a:lnTo>
                  <a:pt x="88011" y="2539"/>
                </a:lnTo>
                <a:lnTo>
                  <a:pt x="82676" y="1269"/>
                </a:lnTo>
                <a:lnTo>
                  <a:pt x="75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45553" y="2841625"/>
            <a:ext cx="90805" cy="46990"/>
          </a:xfrm>
          <a:custGeom>
            <a:avLst/>
            <a:gdLst/>
            <a:ahLst/>
            <a:cxnLst/>
            <a:rect l="l" t="t" r="r" b="b"/>
            <a:pathLst>
              <a:path w="90804" h="46989">
                <a:moveTo>
                  <a:pt x="58039" y="0"/>
                </a:moveTo>
                <a:lnTo>
                  <a:pt x="0" y="0"/>
                </a:lnTo>
                <a:lnTo>
                  <a:pt x="6857" y="3810"/>
                </a:lnTo>
                <a:lnTo>
                  <a:pt x="73151" y="46989"/>
                </a:lnTo>
                <a:lnTo>
                  <a:pt x="90424" y="21589"/>
                </a:lnTo>
                <a:lnTo>
                  <a:pt x="58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54061" y="2747772"/>
            <a:ext cx="116205" cy="90170"/>
          </a:xfrm>
          <a:custGeom>
            <a:avLst/>
            <a:gdLst/>
            <a:ahLst/>
            <a:cxnLst/>
            <a:rect l="l" t="t" r="r" b="b"/>
            <a:pathLst>
              <a:path w="116204" h="90169">
                <a:moveTo>
                  <a:pt x="16129" y="0"/>
                </a:moveTo>
                <a:lnTo>
                  <a:pt x="0" y="24129"/>
                </a:lnTo>
                <a:lnTo>
                  <a:pt x="98806" y="90042"/>
                </a:lnTo>
                <a:lnTo>
                  <a:pt x="116078" y="63500"/>
                </a:lnTo>
                <a:lnTo>
                  <a:pt x="71374" y="34289"/>
                </a:lnTo>
                <a:lnTo>
                  <a:pt x="63881" y="29210"/>
                </a:lnTo>
                <a:lnTo>
                  <a:pt x="53213" y="20319"/>
                </a:lnTo>
                <a:lnTo>
                  <a:pt x="46863" y="12700"/>
                </a:lnTo>
                <a:lnTo>
                  <a:pt x="45847" y="10160"/>
                </a:lnTo>
                <a:lnTo>
                  <a:pt x="30607" y="10160"/>
                </a:lnTo>
                <a:lnTo>
                  <a:pt x="161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19213" y="2727579"/>
            <a:ext cx="93345" cy="45720"/>
          </a:xfrm>
          <a:custGeom>
            <a:avLst/>
            <a:gdLst/>
            <a:ahLst/>
            <a:cxnLst/>
            <a:rect l="l" t="t" r="r" b="b"/>
            <a:pathLst>
              <a:path w="93345" h="45719">
                <a:moveTo>
                  <a:pt x="62737" y="0"/>
                </a:moveTo>
                <a:lnTo>
                  <a:pt x="0" y="0"/>
                </a:lnTo>
                <a:lnTo>
                  <a:pt x="3809" y="1270"/>
                </a:lnTo>
                <a:lnTo>
                  <a:pt x="7746" y="1270"/>
                </a:lnTo>
                <a:lnTo>
                  <a:pt x="14985" y="6350"/>
                </a:lnTo>
                <a:lnTo>
                  <a:pt x="25653" y="12573"/>
                </a:lnTo>
                <a:lnTo>
                  <a:pt x="76072" y="45593"/>
                </a:lnTo>
                <a:lnTo>
                  <a:pt x="93344" y="20193"/>
                </a:lnTo>
                <a:lnTo>
                  <a:pt x="627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81875" y="2694558"/>
            <a:ext cx="100330" cy="63500"/>
          </a:xfrm>
          <a:custGeom>
            <a:avLst/>
            <a:gdLst/>
            <a:ahLst/>
            <a:cxnLst/>
            <a:rect l="l" t="t" r="r" b="b"/>
            <a:pathLst>
              <a:path w="100329" h="63500">
                <a:moveTo>
                  <a:pt x="46100" y="0"/>
                </a:moveTo>
                <a:lnTo>
                  <a:pt x="31623" y="0"/>
                </a:lnTo>
                <a:lnTo>
                  <a:pt x="26543" y="2539"/>
                </a:lnTo>
                <a:lnTo>
                  <a:pt x="21335" y="5079"/>
                </a:lnTo>
                <a:lnTo>
                  <a:pt x="0" y="40639"/>
                </a:lnTo>
                <a:lnTo>
                  <a:pt x="0" y="50673"/>
                </a:lnTo>
                <a:lnTo>
                  <a:pt x="2794" y="63373"/>
                </a:lnTo>
                <a:lnTo>
                  <a:pt x="18033" y="63373"/>
                </a:lnTo>
                <a:lnTo>
                  <a:pt x="17399" y="62102"/>
                </a:lnTo>
                <a:lnTo>
                  <a:pt x="17145" y="50673"/>
                </a:lnTo>
                <a:lnTo>
                  <a:pt x="18669" y="45592"/>
                </a:lnTo>
                <a:lnTo>
                  <a:pt x="21590" y="41910"/>
                </a:lnTo>
                <a:lnTo>
                  <a:pt x="24002" y="38100"/>
                </a:lnTo>
                <a:lnTo>
                  <a:pt x="26797" y="35560"/>
                </a:lnTo>
                <a:lnTo>
                  <a:pt x="33654" y="33019"/>
                </a:lnTo>
                <a:lnTo>
                  <a:pt x="100075" y="33019"/>
                </a:lnTo>
                <a:lnTo>
                  <a:pt x="61722" y="7619"/>
                </a:lnTo>
                <a:lnTo>
                  <a:pt x="55499" y="3810"/>
                </a:lnTo>
                <a:lnTo>
                  <a:pt x="46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96175" y="2681858"/>
            <a:ext cx="62230" cy="31750"/>
          </a:xfrm>
          <a:custGeom>
            <a:avLst/>
            <a:gdLst/>
            <a:ahLst/>
            <a:cxnLst/>
            <a:rect l="l" t="t" r="r" b="b"/>
            <a:pathLst>
              <a:path w="62229" h="31750">
                <a:moveTo>
                  <a:pt x="13461" y="0"/>
                </a:moveTo>
                <a:lnTo>
                  <a:pt x="0" y="29210"/>
                </a:lnTo>
                <a:lnTo>
                  <a:pt x="8254" y="31750"/>
                </a:lnTo>
                <a:lnTo>
                  <a:pt x="24510" y="31750"/>
                </a:lnTo>
                <a:lnTo>
                  <a:pt x="61849" y="2539"/>
                </a:lnTo>
                <a:lnTo>
                  <a:pt x="19303" y="2539"/>
                </a:lnTo>
                <a:lnTo>
                  <a:pt x="13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41310" y="2589276"/>
            <a:ext cx="81280" cy="95250"/>
          </a:xfrm>
          <a:custGeom>
            <a:avLst/>
            <a:gdLst/>
            <a:ahLst/>
            <a:cxnLst/>
            <a:rect l="l" t="t" r="r" b="b"/>
            <a:pathLst>
              <a:path w="81279" h="95250">
                <a:moveTo>
                  <a:pt x="59690" y="0"/>
                </a:moveTo>
                <a:lnTo>
                  <a:pt x="52450" y="0"/>
                </a:lnTo>
                <a:lnTo>
                  <a:pt x="38735" y="2539"/>
                </a:lnTo>
                <a:lnTo>
                  <a:pt x="6096" y="39370"/>
                </a:lnTo>
                <a:lnTo>
                  <a:pt x="0" y="57023"/>
                </a:lnTo>
                <a:lnTo>
                  <a:pt x="0" y="65912"/>
                </a:lnTo>
                <a:lnTo>
                  <a:pt x="29464" y="95123"/>
                </a:lnTo>
                <a:lnTo>
                  <a:pt x="37084" y="95123"/>
                </a:lnTo>
                <a:lnTo>
                  <a:pt x="44831" y="92583"/>
                </a:lnTo>
                <a:lnTo>
                  <a:pt x="51562" y="90043"/>
                </a:lnTo>
                <a:lnTo>
                  <a:pt x="60325" y="82423"/>
                </a:lnTo>
                <a:lnTo>
                  <a:pt x="71247" y="73533"/>
                </a:lnTo>
                <a:lnTo>
                  <a:pt x="81153" y="64643"/>
                </a:lnTo>
                <a:lnTo>
                  <a:pt x="29464" y="64643"/>
                </a:lnTo>
                <a:lnTo>
                  <a:pt x="27559" y="63373"/>
                </a:lnTo>
                <a:lnTo>
                  <a:pt x="25400" y="62102"/>
                </a:lnTo>
                <a:lnTo>
                  <a:pt x="24257" y="59562"/>
                </a:lnTo>
                <a:lnTo>
                  <a:pt x="24257" y="53212"/>
                </a:lnTo>
                <a:lnTo>
                  <a:pt x="26543" y="46989"/>
                </a:lnTo>
                <a:lnTo>
                  <a:pt x="34798" y="35560"/>
                </a:lnTo>
                <a:lnTo>
                  <a:pt x="38608" y="31750"/>
                </a:lnTo>
                <a:lnTo>
                  <a:pt x="42545" y="30479"/>
                </a:lnTo>
                <a:lnTo>
                  <a:pt x="46609" y="27939"/>
                </a:lnTo>
                <a:lnTo>
                  <a:pt x="56388" y="27939"/>
                </a:lnTo>
                <a:lnTo>
                  <a:pt x="67183" y="2539"/>
                </a:lnTo>
                <a:lnTo>
                  <a:pt x="596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20813" y="2643758"/>
            <a:ext cx="50165" cy="40640"/>
          </a:xfrm>
          <a:custGeom>
            <a:avLst/>
            <a:gdLst/>
            <a:ahLst/>
            <a:cxnLst/>
            <a:rect l="l" t="t" r="r" b="b"/>
            <a:pathLst>
              <a:path w="50165" h="40639">
                <a:moveTo>
                  <a:pt x="49783" y="0"/>
                </a:moveTo>
                <a:lnTo>
                  <a:pt x="16001" y="0"/>
                </a:lnTo>
                <a:lnTo>
                  <a:pt x="20065" y="2539"/>
                </a:lnTo>
                <a:lnTo>
                  <a:pt x="22986" y="3810"/>
                </a:lnTo>
                <a:lnTo>
                  <a:pt x="24510" y="6350"/>
                </a:lnTo>
                <a:lnTo>
                  <a:pt x="24764" y="10160"/>
                </a:lnTo>
                <a:lnTo>
                  <a:pt x="25018" y="15239"/>
                </a:lnTo>
                <a:lnTo>
                  <a:pt x="22859" y="21589"/>
                </a:lnTo>
                <a:lnTo>
                  <a:pt x="14223" y="34289"/>
                </a:lnTo>
                <a:lnTo>
                  <a:pt x="9778" y="38100"/>
                </a:lnTo>
                <a:lnTo>
                  <a:pt x="0" y="40639"/>
                </a:lnTo>
                <a:lnTo>
                  <a:pt x="37210" y="40639"/>
                </a:lnTo>
                <a:lnTo>
                  <a:pt x="43560" y="29210"/>
                </a:lnTo>
                <a:lnTo>
                  <a:pt x="47751" y="19050"/>
                </a:lnTo>
                <a:lnTo>
                  <a:pt x="49783" y="10160"/>
                </a:lnTo>
                <a:lnTo>
                  <a:pt x="497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475346" y="2612135"/>
            <a:ext cx="95250" cy="41910"/>
          </a:xfrm>
          <a:custGeom>
            <a:avLst/>
            <a:gdLst/>
            <a:ahLst/>
            <a:cxnLst/>
            <a:rect l="l" t="t" r="r" b="b"/>
            <a:pathLst>
              <a:path w="95250" h="41910">
                <a:moveTo>
                  <a:pt x="66928" y="0"/>
                </a:moveTo>
                <a:lnTo>
                  <a:pt x="54482" y="0"/>
                </a:lnTo>
                <a:lnTo>
                  <a:pt x="47878" y="3810"/>
                </a:lnTo>
                <a:lnTo>
                  <a:pt x="40512" y="7619"/>
                </a:lnTo>
                <a:lnTo>
                  <a:pt x="32384" y="13969"/>
                </a:lnTo>
                <a:lnTo>
                  <a:pt x="23495" y="21589"/>
                </a:lnTo>
                <a:lnTo>
                  <a:pt x="15112" y="29083"/>
                </a:lnTo>
                <a:lnTo>
                  <a:pt x="8381" y="35433"/>
                </a:lnTo>
                <a:lnTo>
                  <a:pt x="0" y="41783"/>
                </a:lnTo>
                <a:lnTo>
                  <a:pt x="47117" y="41783"/>
                </a:lnTo>
                <a:lnTo>
                  <a:pt x="54228" y="35433"/>
                </a:lnTo>
                <a:lnTo>
                  <a:pt x="57276" y="32892"/>
                </a:lnTo>
                <a:lnTo>
                  <a:pt x="61468" y="31623"/>
                </a:lnTo>
                <a:lnTo>
                  <a:pt x="95250" y="31623"/>
                </a:lnTo>
                <a:lnTo>
                  <a:pt x="93345" y="24129"/>
                </a:lnTo>
                <a:lnTo>
                  <a:pt x="90170" y="16510"/>
                </a:lnTo>
                <a:lnTo>
                  <a:pt x="85471" y="10160"/>
                </a:lnTo>
                <a:lnTo>
                  <a:pt x="79375" y="5079"/>
                </a:lnTo>
                <a:lnTo>
                  <a:pt x="73151" y="1269"/>
                </a:lnTo>
                <a:lnTo>
                  <a:pt x="669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520940" y="4399788"/>
            <a:ext cx="1181100" cy="864235"/>
          </a:xfrm>
          <a:custGeom>
            <a:avLst/>
            <a:gdLst/>
            <a:ahLst/>
            <a:cxnLst/>
            <a:rect l="l" t="t" r="r" b="b"/>
            <a:pathLst>
              <a:path w="1181100" h="864235">
                <a:moveTo>
                  <a:pt x="432053" y="0"/>
                </a:moveTo>
                <a:lnTo>
                  <a:pt x="0" y="431926"/>
                </a:lnTo>
                <a:lnTo>
                  <a:pt x="432053" y="863981"/>
                </a:lnTo>
                <a:lnTo>
                  <a:pt x="432053" y="647954"/>
                </a:lnTo>
                <a:lnTo>
                  <a:pt x="1181100" y="647954"/>
                </a:lnTo>
                <a:lnTo>
                  <a:pt x="1181100" y="216026"/>
                </a:lnTo>
                <a:lnTo>
                  <a:pt x="432053" y="216026"/>
                </a:lnTo>
                <a:lnTo>
                  <a:pt x="43205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20940" y="4399788"/>
            <a:ext cx="1181100" cy="864235"/>
          </a:xfrm>
          <a:custGeom>
            <a:avLst/>
            <a:gdLst/>
            <a:ahLst/>
            <a:cxnLst/>
            <a:rect l="l" t="t" r="r" b="b"/>
            <a:pathLst>
              <a:path w="1181100" h="864235">
                <a:moveTo>
                  <a:pt x="0" y="431926"/>
                </a:moveTo>
                <a:lnTo>
                  <a:pt x="432053" y="0"/>
                </a:lnTo>
                <a:lnTo>
                  <a:pt x="432053" y="216026"/>
                </a:lnTo>
                <a:lnTo>
                  <a:pt x="1181100" y="216026"/>
                </a:lnTo>
                <a:lnTo>
                  <a:pt x="1181100" y="647954"/>
                </a:lnTo>
                <a:lnTo>
                  <a:pt x="432053" y="647954"/>
                </a:lnTo>
                <a:lnTo>
                  <a:pt x="432053" y="863981"/>
                </a:lnTo>
                <a:lnTo>
                  <a:pt x="0" y="431926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818501" y="4638802"/>
            <a:ext cx="641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R</a:t>
            </a:r>
            <a:r>
              <a:rPr sz="1800" b="1" spc="-15" dirty="0">
                <a:latin typeface="Arial"/>
                <a:cs typeface="Arial"/>
              </a:rPr>
              <a:t>o</a:t>
            </a:r>
            <a:r>
              <a:rPr sz="1800" b="1" spc="60" dirty="0">
                <a:latin typeface="Arial"/>
                <a:cs typeface="Arial"/>
              </a:rPr>
              <a:t>w</a:t>
            </a:r>
            <a:r>
              <a:rPr sz="1800" b="1" spc="-5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6031" y="5747715"/>
            <a:ext cx="7884795" cy="66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40"/>
              </a:lnSpc>
              <a:spcBef>
                <a:spcPts val="100"/>
              </a:spcBef>
            </a:pPr>
            <a:r>
              <a:rPr sz="1800" b="1" u="heavy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It </a:t>
            </a:r>
            <a:r>
              <a:rPr sz="1800" b="1" u="heavy" spc="-1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can </a:t>
            </a:r>
            <a:r>
              <a:rPr sz="1800" b="1" u="heavy" spc="-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be </a:t>
            </a:r>
            <a:r>
              <a:rPr sz="1800" b="1" u="heavy" spc="-2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created </a:t>
            </a:r>
            <a:r>
              <a:rPr sz="1800" b="1" u="heavy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using</a:t>
            </a:r>
            <a:r>
              <a:rPr sz="1800" b="1" u="heavy" spc="5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spc="-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constructor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86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pandas.DataFrame( data, index, columns,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dtype,</a:t>
            </a:r>
            <a:r>
              <a:rPr sz="2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copy)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3554984" y="50038"/>
            <a:ext cx="5603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25" dirty="0"/>
              <a:t>Data </a:t>
            </a:r>
            <a:r>
              <a:rPr u="none" spc="-10" dirty="0"/>
              <a:t>Handling </a:t>
            </a:r>
            <a:r>
              <a:rPr u="none" spc="-5" dirty="0"/>
              <a:t>using </a:t>
            </a:r>
            <a:r>
              <a:rPr u="none" spc="-15" dirty="0"/>
              <a:t>Pandas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3771646" y="789559"/>
            <a:ext cx="4330700" cy="406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83995">
              <a:lnSpc>
                <a:spcPct val="100000"/>
              </a:lnSpc>
              <a:spcBef>
                <a:spcPts val="100"/>
              </a:spcBef>
              <a:tabLst>
                <a:tab pos="126555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nda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taFrame 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</a:t>
            </a:r>
            <a:r>
              <a:rPr sz="2400" b="1" u="heavy" spc="-2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399FF"/>
                </a:solidFill>
                <a:latin typeface="Arial"/>
                <a:cs typeface="Arial"/>
              </a:rPr>
              <a:t>It can be created </a:t>
            </a:r>
            <a:r>
              <a:rPr sz="2400" spc="-5" dirty="0">
                <a:solidFill>
                  <a:srgbClr val="3399FF"/>
                </a:solidFill>
                <a:latin typeface="Arial"/>
                <a:cs typeface="Arial"/>
              </a:rPr>
              <a:t>with</a:t>
            </a:r>
            <a:r>
              <a:rPr sz="2400" spc="-170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399FF"/>
                </a:solidFill>
                <a:latin typeface="Arial"/>
                <a:cs typeface="Arial"/>
              </a:rPr>
              <a:t>followings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Lists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dict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Series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Numpy</a:t>
            </a:r>
            <a:r>
              <a:rPr sz="2400" b="1" spc="-3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ndarrays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Another</a:t>
            </a:r>
            <a:r>
              <a:rPr sz="2400" b="1" spc="-4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DataFrame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an Empty</a:t>
            </a:r>
            <a:r>
              <a:rPr sz="2400" b="1" u="heavy" spc="-5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e.g.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6031" y="5055489"/>
            <a:ext cx="31076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import pandas as pd1  df1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pd1.DataFrame()  print(df1)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82796" y="5157215"/>
            <a:ext cx="2520950" cy="900430"/>
          </a:xfrm>
          <a:custGeom>
            <a:avLst/>
            <a:gdLst/>
            <a:ahLst/>
            <a:cxnLst/>
            <a:rect l="l" t="t" r="r" b="b"/>
            <a:pathLst>
              <a:path w="2520950" h="900429">
                <a:moveTo>
                  <a:pt x="2070100" y="0"/>
                </a:moveTo>
                <a:lnTo>
                  <a:pt x="2070100" y="225043"/>
                </a:lnTo>
                <a:lnTo>
                  <a:pt x="0" y="225043"/>
                </a:lnTo>
                <a:lnTo>
                  <a:pt x="0" y="675220"/>
                </a:lnTo>
                <a:lnTo>
                  <a:pt x="2070100" y="675220"/>
                </a:lnTo>
                <a:lnTo>
                  <a:pt x="2070100" y="900302"/>
                </a:lnTo>
                <a:lnTo>
                  <a:pt x="2520442" y="450151"/>
                </a:lnTo>
                <a:lnTo>
                  <a:pt x="207010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2796" y="5157215"/>
            <a:ext cx="2520950" cy="900430"/>
          </a:xfrm>
          <a:custGeom>
            <a:avLst/>
            <a:gdLst/>
            <a:ahLst/>
            <a:cxnLst/>
            <a:rect l="l" t="t" r="r" b="b"/>
            <a:pathLst>
              <a:path w="2520950" h="900429">
                <a:moveTo>
                  <a:pt x="0" y="225043"/>
                </a:moveTo>
                <a:lnTo>
                  <a:pt x="2070100" y="225043"/>
                </a:lnTo>
                <a:lnTo>
                  <a:pt x="2070100" y="0"/>
                </a:lnTo>
                <a:lnTo>
                  <a:pt x="2520442" y="450151"/>
                </a:lnTo>
                <a:lnTo>
                  <a:pt x="2070100" y="900302"/>
                </a:lnTo>
                <a:lnTo>
                  <a:pt x="2070100" y="675220"/>
                </a:lnTo>
                <a:lnTo>
                  <a:pt x="0" y="675220"/>
                </a:lnTo>
                <a:lnTo>
                  <a:pt x="0" y="2250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60797" y="5405424"/>
            <a:ext cx="739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93432" y="5130546"/>
            <a:ext cx="13455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Empty  DataFrame  </a:t>
            </a:r>
            <a:r>
              <a:rPr sz="1800" b="1" dirty="0">
                <a:latin typeface="Arial"/>
                <a:cs typeface="Arial"/>
              </a:rPr>
              <a:t>Columns: [</a:t>
            </a:r>
            <a:r>
              <a:rPr sz="1800" b="1" spc="-2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]  </a:t>
            </a:r>
            <a:r>
              <a:rPr sz="1800" b="1" spc="-5" dirty="0">
                <a:latin typeface="Arial"/>
                <a:cs typeface="Arial"/>
              </a:rPr>
              <a:t>Index: </a:t>
            </a:r>
            <a:r>
              <a:rPr sz="1800" b="1" dirty="0">
                <a:latin typeface="Arial"/>
                <a:cs typeface="Arial"/>
              </a:rPr>
              <a:t>[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]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42619" y="1134617"/>
            <a:ext cx="4441190" cy="315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4920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DataFrame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from</a:t>
            </a:r>
            <a:r>
              <a:rPr sz="2400" b="1" u="heavy" spc="-5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Lists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e.g.1</a:t>
            </a:r>
            <a:endParaRPr sz="2400">
              <a:latin typeface="Arial"/>
              <a:cs typeface="Arial"/>
            </a:endParaRPr>
          </a:p>
          <a:p>
            <a:pPr marL="12700" marR="149796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import pandas as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pd1  data1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[1,2,3,4,5]</a:t>
            </a:r>
            <a:endParaRPr sz="2400">
              <a:latin typeface="Arial"/>
              <a:cs typeface="Arial"/>
            </a:endParaRPr>
          </a:p>
          <a:p>
            <a:pPr marL="12700" marR="57340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df1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pd1.DataFrame(data1)  print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(df1)</a:t>
            </a:r>
            <a:endParaRPr sz="2400">
              <a:latin typeface="Arial"/>
              <a:cs typeface="Arial"/>
            </a:endParaRPr>
          </a:p>
          <a:p>
            <a:pPr marL="26034">
              <a:lnSpc>
                <a:spcPts val="2065"/>
              </a:lnSpc>
            </a:pPr>
            <a:r>
              <a:rPr sz="2400" b="1" spc="-5" dirty="0">
                <a:latin typeface="Arial"/>
                <a:cs typeface="Arial"/>
              </a:rPr>
              <a:t>e.g.2</a:t>
            </a:r>
            <a:endParaRPr sz="24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import pandas as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pd1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6031" y="4262373"/>
            <a:ext cx="59207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data1 =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[['Freya',10],['Mohak',12],['Dwivedi',13]]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df1 =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pd1.DataFrame(data1,columns=['Name','Age'])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6031" y="4872609"/>
            <a:ext cx="1101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print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(df1)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6031" y="5790387"/>
            <a:ext cx="6377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Write </a:t>
            </a:r>
            <a:r>
              <a:rPr sz="1800" spc="-5" dirty="0">
                <a:latin typeface="Arial"/>
                <a:cs typeface="Arial"/>
              </a:rPr>
              <a:t>below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numeric value as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float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df1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pd1.DataFrame(data,columns=['Name','Age'],dtype=float)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58284" y="1868423"/>
            <a:ext cx="2519045" cy="900430"/>
          </a:xfrm>
          <a:custGeom>
            <a:avLst/>
            <a:gdLst/>
            <a:ahLst/>
            <a:cxnLst/>
            <a:rect l="l" t="t" r="r" b="b"/>
            <a:pathLst>
              <a:path w="2519045" h="900430">
                <a:moveTo>
                  <a:pt x="2068448" y="0"/>
                </a:moveTo>
                <a:lnTo>
                  <a:pt x="2068448" y="225043"/>
                </a:lnTo>
                <a:lnTo>
                  <a:pt x="0" y="225043"/>
                </a:lnTo>
                <a:lnTo>
                  <a:pt x="0" y="675259"/>
                </a:lnTo>
                <a:lnTo>
                  <a:pt x="2068448" y="675259"/>
                </a:lnTo>
                <a:lnTo>
                  <a:pt x="2068448" y="900302"/>
                </a:lnTo>
                <a:lnTo>
                  <a:pt x="2518664" y="450088"/>
                </a:lnTo>
                <a:lnTo>
                  <a:pt x="206844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58284" y="1868423"/>
            <a:ext cx="2519045" cy="900430"/>
          </a:xfrm>
          <a:custGeom>
            <a:avLst/>
            <a:gdLst/>
            <a:ahLst/>
            <a:cxnLst/>
            <a:rect l="l" t="t" r="r" b="b"/>
            <a:pathLst>
              <a:path w="2519045" h="900430">
                <a:moveTo>
                  <a:pt x="0" y="225043"/>
                </a:moveTo>
                <a:lnTo>
                  <a:pt x="2068448" y="225043"/>
                </a:lnTo>
                <a:lnTo>
                  <a:pt x="2068448" y="0"/>
                </a:lnTo>
                <a:lnTo>
                  <a:pt x="2518664" y="450088"/>
                </a:lnTo>
                <a:lnTo>
                  <a:pt x="2068448" y="900302"/>
                </a:lnTo>
                <a:lnTo>
                  <a:pt x="2068448" y="675259"/>
                </a:lnTo>
                <a:lnTo>
                  <a:pt x="0" y="675259"/>
                </a:lnTo>
                <a:lnTo>
                  <a:pt x="0" y="2250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35651" y="2115058"/>
            <a:ext cx="738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tp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261225" y="1618551"/>
          <a:ext cx="444500" cy="16271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347">
                <a:tc>
                  <a:txBody>
                    <a:bodyPr/>
                    <a:lstStyle/>
                    <a:p>
                      <a:pPr marR="21590" algn="ctr">
                        <a:lnSpc>
                          <a:spcPts val="196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811">
                <a:tc>
                  <a:txBody>
                    <a:bodyPr/>
                    <a:lstStyle/>
                    <a:p>
                      <a:pPr marR="21590" algn="ctr">
                        <a:lnSpc>
                          <a:spcPts val="207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07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1590" algn="ctr">
                        <a:lnSpc>
                          <a:spcPts val="206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06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510">
                <a:tc>
                  <a:txBody>
                    <a:bodyPr/>
                    <a:lstStyle/>
                    <a:p>
                      <a:pPr marR="21590" algn="ctr">
                        <a:lnSpc>
                          <a:spcPts val="206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06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414">
                <a:tc>
                  <a:txBody>
                    <a:bodyPr/>
                    <a:lstStyle/>
                    <a:p>
                      <a:pPr marR="21590" algn="ctr">
                        <a:lnSpc>
                          <a:spcPts val="2014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014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2">
                <a:tc>
                  <a:txBody>
                    <a:bodyPr/>
                    <a:lstStyle/>
                    <a:p>
                      <a:pPr marR="21590" algn="ctr">
                        <a:lnSpc>
                          <a:spcPts val="2014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014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4570476" y="4756403"/>
            <a:ext cx="2520950" cy="899160"/>
          </a:xfrm>
          <a:custGeom>
            <a:avLst/>
            <a:gdLst/>
            <a:ahLst/>
            <a:cxnLst/>
            <a:rect l="l" t="t" r="r" b="b"/>
            <a:pathLst>
              <a:path w="2520950" h="899160">
                <a:moveTo>
                  <a:pt x="2070862" y="0"/>
                </a:moveTo>
                <a:lnTo>
                  <a:pt x="2070862" y="224790"/>
                </a:lnTo>
                <a:lnTo>
                  <a:pt x="0" y="224790"/>
                </a:lnTo>
                <a:lnTo>
                  <a:pt x="0" y="674370"/>
                </a:lnTo>
                <a:lnTo>
                  <a:pt x="2070862" y="674370"/>
                </a:lnTo>
                <a:lnTo>
                  <a:pt x="2070862" y="899160"/>
                </a:lnTo>
                <a:lnTo>
                  <a:pt x="2520442" y="449580"/>
                </a:lnTo>
                <a:lnTo>
                  <a:pt x="207086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70476" y="4756403"/>
            <a:ext cx="2520950" cy="899160"/>
          </a:xfrm>
          <a:custGeom>
            <a:avLst/>
            <a:gdLst/>
            <a:ahLst/>
            <a:cxnLst/>
            <a:rect l="l" t="t" r="r" b="b"/>
            <a:pathLst>
              <a:path w="2520950" h="899160">
                <a:moveTo>
                  <a:pt x="0" y="224790"/>
                </a:moveTo>
                <a:lnTo>
                  <a:pt x="2070862" y="224790"/>
                </a:lnTo>
                <a:lnTo>
                  <a:pt x="2070862" y="0"/>
                </a:lnTo>
                <a:lnTo>
                  <a:pt x="2520442" y="449580"/>
                </a:lnTo>
                <a:lnTo>
                  <a:pt x="2070862" y="899160"/>
                </a:lnTo>
                <a:lnTo>
                  <a:pt x="2070862" y="674370"/>
                </a:lnTo>
                <a:lnTo>
                  <a:pt x="0" y="674370"/>
                </a:lnTo>
                <a:lnTo>
                  <a:pt x="0" y="22479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348478" y="5003749"/>
            <a:ext cx="739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</a:t>
            </a: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62164" y="4468748"/>
            <a:ext cx="1166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Name</a:t>
            </a:r>
            <a:r>
              <a:rPr sz="1800" b="1" spc="200" dirty="0">
                <a:latin typeface="Arial"/>
                <a:cs typeface="Arial"/>
              </a:rPr>
              <a:t> </a:t>
            </a:r>
            <a:r>
              <a:rPr sz="1800" b="1" spc="-35" dirty="0">
                <a:latin typeface="Arial"/>
                <a:cs typeface="Arial"/>
              </a:rPr>
              <a:t>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81164" y="5292344"/>
            <a:ext cx="1137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700" algn="l"/>
              </a:tabLst>
            </a:pPr>
            <a:r>
              <a:rPr sz="1800" b="1" spc="-5" dirty="0">
                <a:latin typeface="Arial"/>
                <a:cs typeface="Arial"/>
              </a:rPr>
              <a:t>2	</a:t>
            </a:r>
            <a:r>
              <a:rPr sz="1800" b="1" spc="-10" dirty="0">
                <a:latin typeface="Arial"/>
                <a:cs typeface="Arial"/>
              </a:rPr>
              <a:t>D</a:t>
            </a:r>
            <a:r>
              <a:rPr sz="1800" b="1" spc="60" dirty="0">
                <a:latin typeface="Arial"/>
                <a:cs typeface="Arial"/>
              </a:rPr>
              <a:t>w</a:t>
            </a:r>
            <a:r>
              <a:rPr sz="1800" b="1" spc="-25" dirty="0">
                <a:latin typeface="Arial"/>
                <a:cs typeface="Arial"/>
              </a:rPr>
              <a:t>i</a:t>
            </a:r>
            <a:r>
              <a:rPr sz="1800" b="1" spc="-95" dirty="0">
                <a:latin typeface="Arial"/>
                <a:cs typeface="Arial"/>
              </a:rPr>
              <a:t>v</a:t>
            </a:r>
            <a:r>
              <a:rPr sz="1800" b="1" spc="-5" dirty="0">
                <a:latin typeface="Arial"/>
                <a:cs typeface="Arial"/>
              </a:rPr>
              <a:t>edi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90307" y="4742510"/>
            <a:ext cx="15855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0" marR="5080" indent="-444500" algn="r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444500" algn="l"/>
                <a:tab pos="445134" algn="l"/>
                <a:tab pos="1307465" algn="l"/>
              </a:tabLst>
            </a:pPr>
            <a:r>
              <a:rPr sz="1800" b="1" dirty="0">
                <a:latin typeface="Arial"/>
                <a:cs typeface="Arial"/>
              </a:rPr>
              <a:t>F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20" dirty="0">
                <a:latin typeface="Arial"/>
                <a:cs typeface="Arial"/>
              </a:rPr>
              <a:t>e</a:t>
            </a:r>
            <a:r>
              <a:rPr sz="1800" b="1" spc="-45" dirty="0">
                <a:latin typeface="Arial"/>
                <a:cs typeface="Arial"/>
              </a:rPr>
              <a:t>y</a:t>
            </a:r>
            <a:r>
              <a:rPr sz="1800" b="1" dirty="0">
                <a:latin typeface="Arial"/>
                <a:cs typeface="Arial"/>
              </a:rPr>
              <a:t>a	</a:t>
            </a:r>
            <a:r>
              <a:rPr sz="1800" b="1" spc="-20" dirty="0">
                <a:latin typeface="Arial"/>
                <a:cs typeface="Arial"/>
              </a:rPr>
              <a:t>1</a:t>
            </a:r>
            <a:r>
              <a:rPr sz="1800" b="1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380365" marR="17780" indent="-380365" algn="r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380365" algn="l"/>
                <a:tab pos="381000" algn="l"/>
                <a:tab pos="1294765" algn="l"/>
              </a:tabLst>
            </a:pPr>
            <a:r>
              <a:rPr sz="1800" b="1" dirty="0">
                <a:latin typeface="Arial"/>
                <a:cs typeface="Arial"/>
              </a:rPr>
              <a:t>Moh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800" b="1" spc="-5" dirty="0">
                <a:latin typeface="Arial"/>
                <a:cs typeface="Arial"/>
              </a:rPr>
              <a:t>k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12</a:t>
            </a:r>
            <a:endParaRPr sz="18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</a:pPr>
            <a:r>
              <a:rPr sz="1800" b="1" spc="-25" dirty="0">
                <a:latin typeface="Arial"/>
                <a:cs typeface="Arial"/>
              </a:rPr>
              <a:t>13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randomBa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83463" y="1617345"/>
            <a:ext cx="8119745" cy="469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ts val="2790"/>
              </a:lnSpc>
              <a:spcBef>
                <a:spcPts val="100"/>
              </a:spcBef>
              <a:tabLst>
                <a:tab pos="1278890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 marR="1113790">
              <a:lnSpc>
                <a:spcPts val="2880"/>
              </a:lnSpc>
              <a:spcBef>
                <a:spcPts val="5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DataFrame from Dict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of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ndarrays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/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Lists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e.g.1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85"/>
              </a:lnSpc>
            </a:pPr>
            <a:r>
              <a:rPr sz="2400" b="1" spc="-5" dirty="0">
                <a:latin typeface="Arial"/>
                <a:cs typeface="Arial"/>
              </a:rPr>
              <a:t>import pandas as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</a:t>
            </a:r>
            <a:endParaRPr sz="2400">
              <a:latin typeface="Arial"/>
              <a:cs typeface="Arial"/>
            </a:endParaRPr>
          </a:p>
          <a:p>
            <a:pPr marL="12700" marR="149987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data1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{'Name':['Freya', 'Mohak'],'Age':[9,10]}  df1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pd1.DataFrame(data1)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print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(df1)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  <a:tabLst>
                <a:tab pos="1422400" algn="l"/>
              </a:tabLst>
            </a:pPr>
            <a:r>
              <a:rPr sz="2400" b="1" spc="-5" dirty="0">
                <a:latin typeface="Arial"/>
                <a:cs typeface="Arial"/>
              </a:rPr>
              <a:t>Name	Age</a:t>
            </a:r>
            <a:endParaRPr sz="2400">
              <a:latin typeface="Arial"/>
              <a:cs typeface="Arial"/>
            </a:endParaRPr>
          </a:p>
          <a:p>
            <a:pPr marL="436245" indent="-424180">
              <a:lnSpc>
                <a:spcPct val="100000"/>
              </a:lnSpc>
              <a:buAutoNum type="arabicPlain"/>
              <a:tabLst>
                <a:tab pos="436245" algn="l"/>
                <a:tab pos="436880" algn="l"/>
                <a:tab pos="1585595" algn="l"/>
              </a:tabLst>
            </a:pPr>
            <a:r>
              <a:rPr sz="2400" b="1" spc="-20" dirty="0">
                <a:latin typeface="Arial"/>
                <a:cs typeface="Arial"/>
              </a:rPr>
              <a:t>Freya	</a:t>
            </a:r>
            <a:r>
              <a:rPr sz="2400" b="1" spc="-5" dirty="0"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lain"/>
              <a:tabLst>
                <a:tab pos="469265" algn="l"/>
                <a:tab pos="469900" algn="l"/>
                <a:tab pos="1605280" algn="l"/>
              </a:tabLst>
            </a:pPr>
            <a:r>
              <a:rPr sz="2400" b="1" spc="-5" dirty="0">
                <a:latin typeface="Arial"/>
                <a:cs typeface="Arial"/>
              </a:rPr>
              <a:t>Mohak	</a:t>
            </a:r>
            <a:r>
              <a:rPr sz="2400" b="1" spc="-20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20" dirty="0">
                <a:solidFill>
                  <a:srgbClr val="6E2E9F"/>
                </a:solidFill>
                <a:latin typeface="Arial"/>
                <a:cs typeface="Arial"/>
              </a:rPr>
              <a:t>Write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below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as 3rd statement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in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above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prog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for</a:t>
            </a:r>
            <a:r>
              <a:rPr sz="2400" b="1" spc="-18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indexing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df1 = pd1.DataFrame(data1,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index=['rank1','rank2','rank3','rank4'])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40791" y="1294638"/>
            <a:ext cx="4766945" cy="280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ts val="2780"/>
              </a:lnSpc>
              <a:spcBef>
                <a:spcPts val="100"/>
              </a:spcBef>
              <a:tabLst>
                <a:tab pos="1278890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300"/>
              </a:lnSpc>
            </a:pPr>
            <a:r>
              <a:rPr sz="20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DataFrame from List of</a:t>
            </a:r>
            <a:r>
              <a:rPr sz="2000" b="1" u="heavy" spc="-30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Dicts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e.g.1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import pandas as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data1 = [{'x': 1, </a:t>
            </a:r>
            <a:r>
              <a:rPr sz="2000" b="1" spc="-20" dirty="0">
                <a:latin typeface="Arial"/>
                <a:cs typeface="Arial"/>
              </a:rPr>
              <a:t>'y': </a:t>
            </a:r>
            <a:r>
              <a:rPr sz="2000" b="1" dirty="0">
                <a:latin typeface="Arial"/>
                <a:cs typeface="Arial"/>
              </a:rPr>
              <a:t>2},{'x': 5, </a:t>
            </a:r>
            <a:r>
              <a:rPr sz="2000" b="1" spc="-20" dirty="0">
                <a:latin typeface="Arial"/>
                <a:cs typeface="Arial"/>
              </a:rPr>
              <a:t>'y': </a:t>
            </a:r>
            <a:r>
              <a:rPr sz="2000" b="1" dirty="0">
                <a:latin typeface="Arial"/>
                <a:cs typeface="Arial"/>
              </a:rPr>
              <a:t>4, 'z':</a:t>
            </a:r>
            <a:r>
              <a:rPr sz="2000" b="1" spc="-3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5}]</a:t>
            </a:r>
            <a:endParaRPr sz="2000">
              <a:latin typeface="Arial"/>
              <a:cs typeface="Arial"/>
            </a:endParaRPr>
          </a:p>
          <a:p>
            <a:pPr marL="12700" marR="141795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df1 =</a:t>
            </a:r>
            <a:r>
              <a:rPr sz="2000" b="1" spc="-1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pd1.DataFrame(data1)  print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(df1)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  <a:p>
            <a:pPr marL="361315">
              <a:lnSpc>
                <a:spcPct val="100000"/>
              </a:lnSpc>
              <a:tabLst>
                <a:tab pos="711835" algn="l"/>
                <a:tab pos="1064260" algn="l"/>
              </a:tabLst>
            </a:pPr>
            <a:r>
              <a:rPr sz="2000" b="1" dirty="0">
                <a:latin typeface="Arial"/>
                <a:cs typeface="Arial"/>
              </a:rPr>
              <a:t>x	y	z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23874" y="4080713"/>
          <a:ext cx="1555749" cy="5892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943">
                <a:tc>
                  <a:txBody>
                    <a:bodyPr/>
                    <a:lstStyle/>
                    <a:p>
                      <a:pPr marL="31750">
                        <a:lnSpc>
                          <a:spcPts val="2110"/>
                        </a:lnSpc>
                        <a:tabLst>
                          <a:tab pos="31178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	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211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110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NaN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60">
                <a:tc>
                  <a:txBody>
                    <a:bodyPr/>
                    <a:lstStyle/>
                    <a:p>
                      <a:pPr marL="31750">
                        <a:lnSpc>
                          <a:spcPts val="2255"/>
                        </a:lnSpc>
                        <a:tabLst>
                          <a:tab pos="311785" algn="l"/>
                        </a:tabLst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	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ts val="225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2255"/>
                        </a:lnSpc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5.0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617524" y="4952238"/>
            <a:ext cx="66357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6E2E9F"/>
                </a:solidFill>
                <a:latin typeface="Arial"/>
                <a:cs typeface="Arial"/>
              </a:rPr>
              <a:t>Write </a:t>
            </a:r>
            <a:r>
              <a:rPr sz="2000" b="1" spc="-5" dirty="0">
                <a:solidFill>
                  <a:srgbClr val="6E2E9F"/>
                </a:solidFill>
                <a:latin typeface="Arial"/>
                <a:cs typeface="Arial"/>
              </a:rPr>
              <a:t>below </a:t>
            </a: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as </a:t>
            </a:r>
            <a:r>
              <a:rPr sz="2000" b="1" spc="5" dirty="0">
                <a:solidFill>
                  <a:srgbClr val="6E2E9F"/>
                </a:solidFill>
                <a:latin typeface="Arial"/>
                <a:cs typeface="Arial"/>
              </a:rPr>
              <a:t>3</a:t>
            </a:r>
            <a:r>
              <a:rPr sz="1950" b="1" spc="7" baseline="21367" dirty="0">
                <a:solidFill>
                  <a:srgbClr val="6E2E9F"/>
                </a:solidFill>
                <a:latin typeface="Arial"/>
                <a:cs typeface="Arial"/>
              </a:rPr>
              <a:t>rd </a:t>
            </a: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stmnt in </a:t>
            </a:r>
            <a:r>
              <a:rPr sz="2000" b="1" spc="-5" dirty="0">
                <a:solidFill>
                  <a:srgbClr val="6E2E9F"/>
                </a:solidFill>
                <a:latin typeface="Arial"/>
                <a:cs typeface="Arial"/>
              </a:rPr>
              <a:t>above </a:t>
            </a: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program</a:t>
            </a:r>
            <a:r>
              <a:rPr sz="2000" b="1" spc="-13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6E2E9F"/>
                </a:solidFill>
                <a:latin typeface="Arial"/>
                <a:cs typeface="Arial"/>
              </a:rPr>
              <a:t>forindexing  </a:t>
            </a:r>
            <a:r>
              <a:rPr sz="2000" b="1" dirty="0">
                <a:latin typeface="Arial"/>
                <a:cs typeface="Arial"/>
              </a:rPr>
              <a:t>df = pd.DataFrame(data, index=['first',</a:t>
            </a:r>
            <a:r>
              <a:rPr sz="2000" b="1" spc="-2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'second'])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42619" y="641730"/>
            <a:ext cx="6834505" cy="585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ts val="2780"/>
              </a:lnSpc>
              <a:spcBef>
                <a:spcPts val="100"/>
              </a:spcBef>
              <a:tabLst>
                <a:tab pos="1278890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300"/>
              </a:lnSpc>
            </a:pP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DataFrame from Dict of</a:t>
            </a:r>
            <a:r>
              <a:rPr sz="2000" b="1" u="heavy" spc="-270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Series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e.g.1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import pandas as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pd1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d1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{'one'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pd1.Series([1,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2,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3],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index=['a',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'b',</a:t>
            </a:r>
            <a:r>
              <a:rPr sz="2000" b="1" spc="-2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'c']),</a:t>
            </a:r>
            <a:endParaRPr sz="2000">
              <a:latin typeface="Arial"/>
              <a:cs typeface="Arial"/>
            </a:endParaRPr>
          </a:p>
          <a:p>
            <a:pPr marL="12700" marR="324485" indent="4191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'two'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pd1.Series([1,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2,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3,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4],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index=['a',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'b',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'c',</a:t>
            </a:r>
            <a:r>
              <a:rPr sz="2000" b="1" spc="-2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'd'])}  df1 =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pd1.DataFrame(d1)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print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(df1)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tabLst>
                <a:tab pos="954405" algn="l"/>
              </a:tabLst>
            </a:pPr>
            <a:r>
              <a:rPr sz="2000" b="1" dirty="0">
                <a:latin typeface="Arial"/>
                <a:cs typeface="Arial"/>
              </a:rPr>
              <a:t>one	</a:t>
            </a:r>
            <a:r>
              <a:rPr sz="2000" b="1" spc="10" dirty="0">
                <a:latin typeface="Arial"/>
                <a:cs typeface="Arial"/>
              </a:rPr>
              <a:t>two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92735" algn="l"/>
                <a:tab pos="1065530" algn="l"/>
              </a:tabLst>
            </a:pPr>
            <a:r>
              <a:rPr sz="2000" b="1" dirty="0">
                <a:latin typeface="Arial"/>
                <a:cs typeface="Arial"/>
              </a:rPr>
              <a:t>a	1.0	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07975" algn="l"/>
                <a:tab pos="1078865" algn="l"/>
              </a:tabLst>
            </a:pPr>
            <a:r>
              <a:rPr sz="2000" b="1" dirty="0">
                <a:latin typeface="Arial"/>
                <a:cs typeface="Arial"/>
              </a:rPr>
              <a:t>b	2.0	2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2735" algn="l"/>
                <a:tab pos="1065530" algn="l"/>
              </a:tabLst>
            </a:pPr>
            <a:r>
              <a:rPr sz="2000" b="1" dirty="0">
                <a:latin typeface="Arial"/>
                <a:cs typeface="Arial"/>
              </a:rPr>
              <a:t>c	3.0	3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07975" algn="l"/>
                <a:tab pos="1096010" algn="l"/>
              </a:tabLst>
            </a:pPr>
            <a:r>
              <a:rPr sz="2000" b="1" dirty="0">
                <a:latin typeface="Arial"/>
                <a:cs typeface="Arial"/>
              </a:rPr>
              <a:t>d	NaN	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Column Selection -&gt; </a:t>
            </a:r>
            <a:r>
              <a:rPr sz="2000" dirty="0">
                <a:latin typeface="Arial"/>
                <a:cs typeface="Arial"/>
              </a:rPr>
              <a:t>print (df</a:t>
            </a:r>
            <a:r>
              <a:rPr sz="2000" spc="-2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['one'])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Adding a </a:t>
            </a:r>
            <a:r>
              <a:rPr sz="2000" b="1" spc="-10" dirty="0">
                <a:solidFill>
                  <a:srgbClr val="6E2E9F"/>
                </a:solidFill>
                <a:latin typeface="Arial"/>
                <a:cs typeface="Arial"/>
              </a:rPr>
              <a:t>new </a:t>
            </a: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column by passing as Series: -&gt;  </a:t>
            </a:r>
            <a:r>
              <a:rPr sz="2000" b="1" spc="-10" dirty="0">
                <a:latin typeface="Arial"/>
                <a:cs typeface="Arial"/>
              </a:rPr>
              <a:t>df1['three']=pd1.Series([10,20,30],index=['a','b','c'])  </a:t>
            </a: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Adding a </a:t>
            </a:r>
            <a:r>
              <a:rPr sz="2000" b="1" spc="-10" dirty="0">
                <a:solidFill>
                  <a:srgbClr val="6E2E9F"/>
                </a:solidFill>
                <a:latin typeface="Arial"/>
                <a:cs typeface="Arial"/>
              </a:rPr>
              <a:t>new </a:t>
            </a: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column using the existing columns</a:t>
            </a:r>
            <a:r>
              <a:rPr sz="2000" b="1" spc="-23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6E2E9F"/>
                </a:solidFill>
                <a:latin typeface="Arial"/>
                <a:cs typeface="Arial"/>
              </a:rPr>
              <a:t>values  </a:t>
            </a:r>
            <a:r>
              <a:rPr sz="2000" b="1" spc="-10" dirty="0">
                <a:latin typeface="Arial"/>
                <a:cs typeface="Arial"/>
              </a:rPr>
              <a:t>df1['four']=df1['one']+df1['three']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56768" y="1334236"/>
            <a:ext cx="4099560" cy="7391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DataFrame from .txt</a:t>
            </a:r>
            <a:r>
              <a:rPr sz="2000" b="1" u="heavy" spc="-145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Having a </a:t>
            </a:r>
            <a:r>
              <a:rPr sz="2000" spc="-5" dirty="0">
                <a:solidFill>
                  <a:srgbClr val="006FC0"/>
                </a:solidFill>
                <a:latin typeface="Arial"/>
                <a:cs typeface="Arial"/>
              </a:rPr>
              <a:t>text file './inputs/dist.txt'</a:t>
            </a:r>
            <a:r>
              <a:rPr sz="20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as: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86714" y="2133683"/>
          <a:ext cx="1961514" cy="13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47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ts val="2215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15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12.92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94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90.75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85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60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712">
                <a:tc>
                  <a:txBody>
                    <a:bodyPr/>
                    <a:lstStyle/>
                    <a:p>
                      <a:pPr marL="31750">
                        <a:lnSpc>
                          <a:spcPts val="2325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ts val="2325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2325"/>
                        </a:lnSpc>
                        <a:spcBef>
                          <a:spcPts val="90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71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2000" dirty="0">
                          <a:solidFill>
                            <a:srgbClr val="006FC0"/>
                          </a:solidFill>
                          <a:latin typeface="Arial"/>
                          <a:cs typeface="Arial"/>
                        </a:rPr>
                        <a:t>34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56768" y="3481136"/>
            <a:ext cx="8573770" cy="2808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Pandas is shipped with built-in reader methods. For example the  pandas.read_table method seems to be a good way to read (also in</a:t>
            </a:r>
            <a:r>
              <a:rPr sz="2000" spc="-2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chunks)  a tabular data</a:t>
            </a:r>
            <a:r>
              <a:rPr sz="2000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Arial"/>
                <a:cs typeface="Arial"/>
              </a:rPr>
              <a:t>file.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latin typeface="Arial"/>
                <a:cs typeface="Arial"/>
              </a:rPr>
              <a:t>import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pandas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latin typeface="Arial"/>
                <a:cs typeface="Arial"/>
              </a:rPr>
              <a:t>df = </a:t>
            </a:r>
            <a:r>
              <a:rPr sz="2000" spc="-5" dirty="0">
                <a:latin typeface="Arial"/>
                <a:cs typeface="Arial"/>
              </a:rPr>
              <a:t>pandas.read_table('./input/dists.txt',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delim_whitespace=True,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Arial"/>
                <a:cs typeface="Arial"/>
              </a:rPr>
              <a:t>names=('A', 'B',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'C'))</a:t>
            </a:r>
            <a:endParaRPr sz="2000">
              <a:latin typeface="Arial"/>
              <a:cs typeface="Arial"/>
            </a:endParaRPr>
          </a:p>
          <a:p>
            <a:pPr marL="12700" marR="147955">
              <a:lnSpc>
                <a:spcPct val="1125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will create a DataFrame objects with column named A</a:t>
            </a:r>
            <a:r>
              <a:rPr sz="2000" spc="-40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Arial"/>
                <a:cs typeface="Arial"/>
              </a:rPr>
              <a:t>made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of data of </a:t>
            </a:r>
            <a:r>
              <a:rPr sz="2000" spc="-5" dirty="0">
                <a:solidFill>
                  <a:srgbClr val="006FC0"/>
                </a:solidFill>
                <a:latin typeface="Arial"/>
                <a:cs typeface="Arial"/>
              </a:rPr>
              <a:t>type 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int64, B of int64 and C of</a:t>
            </a:r>
            <a:r>
              <a:rPr sz="2000" spc="-1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6FC0"/>
                </a:solidFill>
                <a:latin typeface="Arial"/>
                <a:cs typeface="Arial"/>
              </a:rPr>
              <a:t>float64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checke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56768" y="1347952"/>
            <a:ext cx="8611235" cy="497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Create a DataFrame from </a:t>
            </a:r>
            <a:r>
              <a:rPr sz="2000" b="1" u="heavy" spc="-5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csv(comma </a:t>
            </a: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separated </a:t>
            </a:r>
            <a:r>
              <a:rPr sz="2000" b="1" u="heavy" spc="-5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value) file </a:t>
            </a: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/ import</a:t>
            </a:r>
            <a:r>
              <a:rPr sz="2000" b="1" u="heavy" spc="-135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data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from </a:t>
            </a:r>
            <a:r>
              <a:rPr sz="2000" b="1" u="heavy" spc="-5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cvs</a:t>
            </a:r>
            <a:r>
              <a:rPr sz="2000" b="1" u="heavy" spc="-20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dirty="0">
                <a:solidFill>
                  <a:srgbClr val="FF0000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e.g.</a:t>
            </a:r>
            <a:endParaRPr sz="2000">
              <a:latin typeface="Arial"/>
              <a:cs typeface="Arial"/>
            </a:endParaRPr>
          </a:p>
          <a:p>
            <a:pPr marL="12700" marR="3069590">
              <a:lnSpc>
                <a:spcPct val="116500"/>
              </a:lnSpc>
              <a:spcBef>
                <a:spcPts val="5"/>
              </a:spcBef>
            </a:pP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Suppose filename.csv </a:t>
            </a:r>
            <a:r>
              <a:rPr sz="2000" spc="-5" dirty="0">
                <a:solidFill>
                  <a:srgbClr val="001F5F"/>
                </a:solidFill>
                <a:latin typeface="Arial"/>
                <a:cs typeface="Arial"/>
              </a:rPr>
              <a:t>file 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contains following</a:t>
            </a:r>
            <a:r>
              <a:rPr sz="2000" spc="-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1F5F"/>
                </a:solidFill>
                <a:latin typeface="Arial"/>
                <a:cs typeface="Arial"/>
              </a:rPr>
              <a:t>data  </a:t>
            </a:r>
            <a:r>
              <a:rPr sz="2000" spc="-5" dirty="0">
                <a:solidFill>
                  <a:srgbClr val="001F5F"/>
                </a:solidFill>
                <a:latin typeface="Arial"/>
                <a:cs typeface="Arial"/>
              </a:rPr>
              <a:t>Date,"price","factor_1","factor_2"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spc="-10" dirty="0">
                <a:solidFill>
                  <a:srgbClr val="001F5F"/>
                </a:solidFill>
                <a:latin typeface="Arial"/>
                <a:cs typeface="Arial"/>
              </a:rPr>
              <a:t>2012-06-11,1600.20,1.255,1.548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spc="-5" dirty="0">
                <a:solidFill>
                  <a:srgbClr val="001F5F"/>
                </a:solidFill>
                <a:latin typeface="Arial"/>
                <a:cs typeface="Arial"/>
              </a:rPr>
              <a:t>2012-06-12,1610.02,1.258,1.554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import pandas as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latin typeface="Arial"/>
                <a:cs typeface="Arial"/>
              </a:rPr>
              <a:t># Read data from </a:t>
            </a:r>
            <a:r>
              <a:rPr sz="2000" spc="-5" dirty="0">
                <a:latin typeface="Arial"/>
                <a:cs typeface="Arial"/>
              </a:rPr>
              <a:t>file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'filename.csv'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latin typeface="Arial"/>
                <a:cs typeface="Arial"/>
              </a:rPr>
              <a:t># (in the same directory that your python program is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based)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000" dirty="0">
                <a:latin typeface="Arial"/>
                <a:cs typeface="Arial"/>
              </a:rPr>
              <a:t># Control delimiters, rows, column names with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read_csv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latin typeface="Arial"/>
                <a:cs typeface="Arial"/>
              </a:rPr>
              <a:t>data 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pd.read_csv("filename.csv")</a:t>
            </a:r>
            <a:endParaRPr sz="2000">
              <a:latin typeface="Arial"/>
              <a:cs typeface="Arial"/>
            </a:endParaRPr>
          </a:p>
          <a:p>
            <a:pPr marL="12700" marR="3793490">
              <a:lnSpc>
                <a:spcPct val="116500"/>
              </a:lnSpc>
            </a:pPr>
            <a:r>
              <a:rPr sz="2000" dirty="0">
                <a:latin typeface="Arial"/>
                <a:cs typeface="Arial"/>
              </a:rPr>
              <a:t># </a:t>
            </a:r>
            <a:r>
              <a:rPr sz="2000" spc="-5" dirty="0">
                <a:latin typeface="Arial"/>
                <a:cs typeface="Arial"/>
              </a:rPr>
              <a:t>Preview </a:t>
            </a:r>
            <a:r>
              <a:rPr sz="2000" dirty="0">
                <a:latin typeface="Arial"/>
                <a:cs typeface="Arial"/>
              </a:rPr>
              <a:t>the first 1 line of the loaded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  data.head(1)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54330" y="864235"/>
            <a:ext cx="5791200" cy="543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2931795">
              <a:lnSpc>
                <a:spcPct val="140400"/>
              </a:lnSpc>
              <a:spcBef>
                <a:spcPts val="100"/>
              </a:spcBef>
              <a:tabLst>
                <a:tab pos="1277620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nda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taFrame 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Column</a:t>
            </a:r>
            <a:r>
              <a:rPr sz="2400" b="1" u="heavy" spc="-5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addition</a:t>
            </a:r>
            <a:endParaRPr sz="24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980"/>
              </a:spcBef>
            </a:pPr>
            <a:r>
              <a:rPr sz="1600" b="1" spc="-5" dirty="0">
                <a:solidFill>
                  <a:srgbClr val="001F5F"/>
                </a:solidFill>
                <a:latin typeface="Arial"/>
                <a:cs typeface="Arial"/>
              </a:rPr>
              <a:t>df = </a:t>
            </a:r>
            <a:r>
              <a:rPr sz="1600" b="1" spc="-10" dirty="0">
                <a:solidFill>
                  <a:srgbClr val="001F5F"/>
                </a:solidFill>
                <a:latin typeface="Arial"/>
                <a:cs typeface="Arial"/>
              </a:rPr>
              <a:t>pd.DataFrame({"A": </a:t>
            </a:r>
            <a:r>
              <a:rPr sz="1600" b="1" spc="-5" dirty="0">
                <a:solidFill>
                  <a:srgbClr val="001F5F"/>
                </a:solidFill>
                <a:latin typeface="Arial"/>
                <a:cs typeface="Arial"/>
              </a:rPr>
              <a:t>[1, 2, 3], "B": [4, 5,</a:t>
            </a:r>
            <a:r>
              <a:rPr sz="1600" b="1" spc="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1F5F"/>
                </a:solidFill>
                <a:latin typeface="Arial"/>
                <a:cs typeface="Arial"/>
              </a:rPr>
              <a:t>6]})</a:t>
            </a:r>
            <a:endParaRPr sz="16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805"/>
              </a:spcBef>
            </a:pPr>
            <a:r>
              <a:rPr sz="1600" b="1" spc="-5" dirty="0">
                <a:solidFill>
                  <a:srgbClr val="001F5F"/>
                </a:solidFill>
                <a:latin typeface="Arial"/>
                <a:cs typeface="Arial"/>
              </a:rPr>
              <a:t>c =</a:t>
            </a:r>
            <a:r>
              <a:rPr sz="1600" b="1" spc="-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1F5F"/>
                </a:solidFill>
                <a:latin typeface="Arial"/>
                <a:cs typeface="Arial"/>
              </a:rPr>
              <a:t>[7,8,9]</a:t>
            </a:r>
            <a:endParaRPr sz="16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815"/>
              </a:spcBef>
            </a:pPr>
            <a:r>
              <a:rPr sz="1600" b="1" spc="-5" dirty="0">
                <a:solidFill>
                  <a:srgbClr val="001F5F"/>
                </a:solidFill>
                <a:latin typeface="Arial"/>
                <a:cs typeface="Arial"/>
              </a:rPr>
              <a:t>df[‘C'] =</a:t>
            </a:r>
            <a:r>
              <a:rPr sz="1600" b="1" spc="-9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1F5F"/>
                </a:solidFill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000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Column</a:t>
            </a:r>
            <a:r>
              <a:rPr sz="2400" b="1" u="heavy" spc="-5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Deletion</a:t>
            </a:r>
            <a:endParaRPr sz="24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455"/>
              </a:spcBef>
            </a:pPr>
            <a:r>
              <a:rPr sz="1600" b="1" spc="-5" dirty="0">
                <a:latin typeface="Arial"/>
                <a:cs typeface="Arial"/>
              </a:rPr>
              <a:t>del df1['one'] </a:t>
            </a:r>
            <a:r>
              <a:rPr sz="1600" b="1" spc="-5" dirty="0">
                <a:solidFill>
                  <a:srgbClr val="006EC0"/>
                </a:solidFill>
                <a:latin typeface="Arial"/>
                <a:cs typeface="Arial"/>
              </a:rPr>
              <a:t># Deleting </a:t>
            </a:r>
            <a:r>
              <a:rPr sz="1600" b="1" spc="-10" dirty="0">
                <a:solidFill>
                  <a:srgbClr val="006EC0"/>
                </a:solidFill>
                <a:latin typeface="Arial"/>
                <a:cs typeface="Arial"/>
              </a:rPr>
              <a:t>the </a:t>
            </a:r>
            <a:r>
              <a:rPr sz="1600" b="1" spc="-5" dirty="0">
                <a:solidFill>
                  <a:srgbClr val="006EC0"/>
                </a:solidFill>
                <a:latin typeface="Arial"/>
                <a:cs typeface="Arial"/>
              </a:rPr>
              <a:t>first column using DEL</a:t>
            </a:r>
            <a:r>
              <a:rPr sz="1600" b="1" spc="1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6EC0"/>
                </a:solidFill>
                <a:latin typeface="Arial"/>
                <a:cs typeface="Arial"/>
              </a:rPr>
              <a:t>function</a:t>
            </a:r>
            <a:endParaRPr sz="16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df.pop('two') </a:t>
            </a:r>
            <a:r>
              <a:rPr sz="1600" b="1" spc="-5" dirty="0">
                <a:solidFill>
                  <a:srgbClr val="006EC0"/>
                </a:solidFill>
                <a:latin typeface="Arial"/>
                <a:cs typeface="Arial"/>
              </a:rPr>
              <a:t>#Deleting another column using POP</a:t>
            </a:r>
            <a:r>
              <a:rPr sz="1600" b="1" spc="-3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6EC0"/>
                </a:solidFill>
                <a:latin typeface="Arial"/>
                <a:cs typeface="Arial"/>
              </a:rPr>
              <a:t>function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Rename</a:t>
            </a:r>
            <a:r>
              <a:rPr sz="2400" b="1" u="heavy" spc="-3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columns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000" b="1" dirty="0">
                <a:latin typeface="Times New Roman"/>
                <a:cs typeface="Times New Roman"/>
              </a:rPr>
              <a:t>df = pd.DataFrame({"A": [1, 2, 3], "B": [4, 5,</a:t>
            </a:r>
            <a:r>
              <a:rPr sz="2000" b="1" spc="-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6]})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b="1" dirty="0">
                <a:latin typeface="Times New Roman"/>
                <a:cs typeface="Times New Roman"/>
              </a:rPr>
              <a:t>&gt;&gt;&gt; </a:t>
            </a:r>
            <a:r>
              <a:rPr sz="2000" b="1" spc="-5" dirty="0">
                <a:latin typeface="Times New Roman"/>
                <a:cs typeface="Times New Roman"/>
              </a:rPr>
              <a:t>df.rename(columns={"A": </a:t>
            </a:r>
            <a:r>
              <a:rPr sz="2000" b="1" dirty="0">
                <a:latin typeface="Times New Roman"/>
                <a:cs typeface="Times New Roman"/>
              </a:rPr>
              <a:t>"a", "B":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"c"})</a:t>
            </a:r>
            <a:endParaRPr sz="20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  <a:spcBef>
                <a:spcPts val="95"/>
              </a:spcBef>
              <a:tabLst>
                <a:tab pos="457834" algn="l"/>
              </a:tabLst>
            </a:pPr>
            <a:r>
              <a:rPr sz="2000" b="1" dirty="0">
                <a:latin typeface="Times New Roman"/>
                <a:cs typeface="Times New Roman"/>
              </a:rPr>
              <a:t>a	c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700" algn="l"/>
                <a:tab pos="521334" algn="l"/>
              </a:tabLst>
            </a:pPr>
            <a:r>
              <a:rPr sz="2000" b="1" dirty="0">
                <a:latin typeface="Times New Roman"/>
                <a:cs typeface="Times New Roman"/>
              </a:rPr>
              <a:t>0	1	4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6700" algn="l"/>
                <a:tab pos="521334" algn="l"/>
              </a:tabLst>
            </a:pPr>
            <a:r>
              <a:rPr sz="2000" b="1" dirty="0">
                <a:latin typeface="Times New Roman"/>
                <a:cs typeface="Times New Roman"/>
              </a:rPr>
              <a:t>1	2	5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700" algn="l"/>
                <a:tab pos="521334" algn="l"/>
              </a:tabLst>
            </a:pPr>
            <a:r>
              <a:rPr sz="2000" b="1" dirty="0">
                <a:latin typeface="Times New Roman"/>
                <a:cs typeface="Times New Roman"/>
              </a:rPr>
              <a:t>2	3	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4383" y="1526920"/>
            <a:ext cx="6289675" cy="353949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245"/>
              </a:spcBef>
              <a:tabLst>
                <a:tab pos="127698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Row Selection, Addition, and</a:t>
            </a:r>
            <a:r>
              <a:rPr sz="2400" b="1" u="heavy" spc="-37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Deletion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" dirty="0">
                <a:solidFill>
                  <a:srgbClr val="006EC0"/>
                </a:solidFill>
                <a:latin typeface="Arial"/>
                <a:cs typeface="Arial"/>
              </a:rPr>
              <a:t>#Selection by</a:t>
            </a:r>
            <a:r>
              <a:rPr sz="1800" b="1" spc="-6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6EC0"/>
                </a:solidFill>
                <a:latin typeface="Arial"/>
                <a:cs typeface="Arial"/>
              </a:rPr>
              <a:t>Label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import pandas as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pd1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d1 </a:t>
            </a:r>
            <a:r>
              <a:rPr sz="1800" b="1" dirty="0">
                <a:latin typeface="Arial"/>
                <a:cs typeface="Arial"/>
              </a:rPr>
              <a:t>= {'one' : </a:t>
            </a:r>
            <a:r>
              <a:rPr sz="1800" b="1" spc="-5" dirty="0">
                <a:latin typeface="Arial"/>
                <a:cs typeface="Arial"/>
              </a:rPr>
              <a:t>pd1.Series([1, 2, 3], index=['a', </a:t>
            </a:r>
            <a:r>
              <a:rPr sz="1800" b="1" dirty="0">
                <a:latin typeface="Arial"/>
                <a:cs typeface="Arial"/>
              </a:rPr>
              <a:t>'b',</a:t>
            </a:r>
            <a:r>
              <a:rPr sz="1800" b="1" spc="-1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'c']),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  <a:tabLst>
                <a:tab pos="5934075" algn="l"/>
              </a:tabLst>
            </a:pPr>
            <a:r>
              <a:rPr sz="1800" b="1" dirty="0">
                <a:latin typeface="Arial"/>
                <a:cs typeface="Arial"/>
              </a:rPr>
              <a:t>'t</a:t>
            </a:r>
            <a:r>
              <a:rPr sz="1800" b="1" spc="40" dirty="0">
                <a:latin typeface="Arial"/>
                <a:cs typeface="Arial"/>
              </a:rPr>
              <a:t>w</a:t>
            </a:r>
            <a:r>
              <a:rPr sz="1800" b="1" dirty="0">
                <a:latin typeface="Arial"/>
                <a:cs typeface="Arial"/>
              </a:rPr>
              <a:t>o'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 p</a:t>
            </a:r>
            <a:r>
              <a:rPr sz="1800" b="1" spc="5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1.S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r</a:t>
            </a:r>
            <a:r>
              <a:rPr sz="1800" b="1" spc="-20" dirty="0">
                <a:latin typeface="Arial"/>
                <a:cs typeface="Arial"/>
              </a:rPr>
              <a:t>i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15" dirty="0"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spc="-15" dirty="0">
                <a:latin typeface="Arial"/>
                <a:cs typeface="Arial"/>
              </a:rPr>
              <a:t>[</a:t>
            </a:r>
            <a:r>
              <a:rPr sz="1800" b="1" spc="-5" dirty="0">
                <a:latin typeface="Arial"/>
                <a:cs typeface="Arial"/>
              </a:rPr>
              <a:t>1,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2,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3,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4],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spc="-5" dirty="0">
                <a:latin typeface="Arial"/>
                <a:cs typeface="Arial"/>
              </a:rPr>
              <a:t>de</a:t>
            </a:r>
            <a:r>
              <a:rPr sz="1800" b="1" spc="-15" dirty="0">
                <a:latin typeface="Arial"/>
                <a:cs typeface="Arial"/>
              </a:rPr>
              <a:t>x</a:t>
            </a:r>
            <a:r>
              <a:rPr sz="1800" b="1" dirty="0">
                <a:latin typeface="Arial"/>
                <a:cs typeface="Arial"/>
              </a:rPr>
              <a:t>=[</a:t>
            </a:r>
            <a:r>
              <a:rPr sz="1800" b="1" spc="5" dirty="0">
                <a:latin typeface="Arial"/>
                <a:cs typeface="Arial"/>
              </a:rPr>
              <a:t>'</a:t>
            </a:r>
            <a:r>
              <a:rPr sz="1800" b="1" spc="-5" dirty="0">
                <a:latin typeface="Arial"/>
                <a:cs typeface="Arial"/>
              </a:rPr>
              <a:t>a',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'</a:t>
            </a:r>
            <a:r>
              <a:rPr sz="1800" b="1" spc="5" dirty="0">
                <a:latin typeface="Arial"/>
                <a:cs typeface="Arial"/>
              </a:rPr>
              <a:t>b</a:t>
            </a:r>
            <a:r>
              <a:rPr sz="1800" b="1" dirty="0">
                <a:latin typeface="Arial"/>
                <a:cs typeface="Arial"/>
              </a:rPr>
              <a:t>',</a:t>
            </a:r>
            <a:r>
              <a:rPr sz="1800" b="1" spc="-5" dirty="0">
                <a:latin typeface="Arial"/>
                <a:cs typeface="Arial"/>
              </a:rPr>
              <a:t> 'c',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'</a:t>
            </a:r>
            <a:r>
              <a:rPr sz="1800" b="1" spc="5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'])}</a:t>
            </a:r>
            <a:r>
              <a:rPr sz="1800" b="1" dirty="0">
                <a:latin typeface="Arial"/>
                <a:cs typeface="Arial"/>
              </a:rPr>
              <a:t>	d</a:t>
            </a:r>
            <a:r>
              <a:rPr sz="1800" b="1" spc="-10" dirty="0">
                <a:latin typeface="Arial"/>
                <a:cs typeface="Arial"/>
              </a:rPr>
              <a:t>f</a:t>
            </a:r>
            <a:r>
              <a:rPr sz="1800" b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2700" marR="4008754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pd1.DataFrame(d1)  </a:t>
            </a:r>
            <a:r>
              <a:rPr sz="1800" b="1" dirty="0">
                <a:latin typeface="Arial"/>
                <a:cs typeface="Arial"/>
              </a:rPr>
              <a:t>print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(df1.loc['b'])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one</a:t>
            </a:r>
            <a:r>
              <a:rPr sz="1800" b="1" spc="-1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2.0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15" dirty="0">
                <a:latin typeface="Arial"/>
                <a:cs typeface="Arial"/>
              </a:rPr>
              <a:t>two</a:t>
            </a:r>
            <a:r>
              <a:rPr sz="1800" b="1" spc="-2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2.0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Name: </a:t>
            </a:r>
            <a:r>
              <a:rPr sz="1800" b="1" dirty="0">
                <a:latin typeface="Arial"/>
                <a:cs typeface="Arial"/>
              </a:rPr>
              <a:t>b, </a:t>
            </a:r>
            <a:r>
              <a:rPr sz="1800" b="1" spc="-5" dirty="0">
                <a:latin typeface="Arial"/>
                <a:cs typeface="Arial"/>
              </a:rPr>
              <a:t>dtype: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float64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36219" y="1357011"/>
            <a:ext cx="7005320" cy="48996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60"/>
              </a:spcBef>
              <a:tabLst>
                <a:tab pos="1278890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#Selection by integer</a:t>
            </a:r>
            <a:r>
              <a:rPr sz="2000" b="1" spc="-18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E2E9F"/>
                </a:solidFill>
                <a:latin typeface="Arial"/>
                <a:cs typeface="Arial"/>
              </a:rPr>
              <a:t>location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import pandas as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pd1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d1 = {'one' : pd1.Series([1, 2, 3], index=['a', 'b',</a:t>
            </a:r>
            <a:r>
              <a:rPr sz="2000" b="1" spc="-4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'c']),</a:t>
            </a:r>
            <a:endParaRPr sz="2000">
              <a:latin typeface="Arial"/>
              <a:cs typeface="Arial"/>
            </a:endParaRPr>
          </a:p>
          <a:p>
            <a:pPr marL="12700" marR="567055" indent="34861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'two'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pd1.Series([1,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2,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3,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4],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index=['a',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'b',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'c',</a:t>
            </a:r>
            <a:r>
              <a:rPr sz="2000" b="1" spc="-2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'd'])}  df1 =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pd1.DataFrame(d1)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print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(df1.iloc[2])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 marR="5969635">
              <a:lnSpc>
                <a:spcPct val="100000"/>
              </a:lnSpc>
              <a:tabLst>
                <a:tab pos="673735" algn="l"/>
              </a:tabLst>
            </a:pPr>
            <a:r>
              <a:rPr sz="2000" b="1" dirty="0">
                <a:latin typeface="Arial"/>
                <a:cs typeface="Arial"/>
              </a:rPr>
              <a:t>Output  </a:t>
            </a:r>
            <a:r>
              <a:rPr sz="2000" b="1" spc="-5" dirty="0">
                <a:latin typeface="Arial"/>
                <a:cs typeface="Arial"/>
              </a:rPr>
              <a:t>on</a:t>
            </a:r>
            <a:r>
              <a:rPr sz="2000" b="1" dirty="0">
                <a:latin typeface="Arial"/>
                <a:cs typeface="Arial"/>
              </a:rPr>
              <a:t>e	3.0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658495" algn="l"/>
              </a:tabLst>
            </a:pPr>
            <a:r>
              <a:rPr sz="2000" b="1" spc="5" dirty="0">
                <a:latin typeface="Arial"/>
                <a:cs typeface="Arial"/>
              </a:rPr>
              <a:t>two	</a:t>
            </a:r>
            <a:r>
              <a:rPr sz="2000" b="1" dirty="0">
                <a:latin typeface="Arial"/>
                <a:cs typeface="Arial"/>
              </a:rPr>
              <a:t>3.0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Name: c, </a:t>
            </a:r>
            <a:r>
              <a:rPr sz="2000" b="1" spc="-5" dirty="0">
                <a:latin typeface="Arial"/>
                <a:cs typeface="Arial"/>
              </a:rPr>
              <a:t>dtype: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float64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Slice</a:t>
            </a:r>
            <a:r>
              <a:rPr sz="2000" b="1" u="heavy" spc="-4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1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Rows</a:t>
            </a:r>
            <a:r>
              <a:rPr sz="2000" b="1" u="heavy" spc="-2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:</a:t>
            </a:r>
            <a:r>
              <a:rPr sz="2000" b="1" spc="-1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Multiple</a:t>
            </a:r>
            <a:r>
              <a:rPr sz="2000" spc="-1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rows</a:t>
            </a:r>
            <a:r>
              <a:rPr sz="2000" spc="-2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can</a:t>
            </a:r>
            <a:r>
              <a:rPr sz="2000" spc="-1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be</a:t>
            </a:r>
            <a:r>
              <a:rPr sz="2000" spc="-3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selected</a:t>
            </a:r>
            <a:r>
              <a:rPr sz="2000" spc="-2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using</a:t>
            </a:r>
            <a:r>
              <a:rPr sz="2000" spc="-50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‘ :</a:t>
            </a:r>
            <a:r>
              <a:rPr sz="2000" spc="-1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6E2E9F"/>
                </a:solidFill>
                <a:latin typeface="Arial"/>
                <a:cs typeface="Arial"/>
              </a:rPr>
              <a:t>’</a:t>
            </a:r>
            <a:r>
              <a:rPr sz="2000" spc="-33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6E2E9F"/>
                </a:solidFill>
                <a:latin typeface="Arial"/>
                <a:cs typeface="Arial"/>
              </a:rPr>
              <a:t>operator.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print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(df1[2:4])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40791" y="1525286"/>
            <a:ext cx="5792470" cy="40239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126555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0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Addition of</a:t>
            </a:r>
            <a:r>
              <a:rPr sz="2000" b="1" u="heavy" spc="-7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1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Rows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import pandas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pd1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df1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pd1.DataFrame([[1, 2], [3, 4]], </a:t>
            </a:r>
            <a:r>
              <a:rPr sz="1800" b="1" dirty="0">
                <a:latin typeface="Arial"/>
                <a:cs typeface="Arial"/>
              </a:rPr>
              <a:t>columns =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['a','b'])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df2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pd1.DataFrame([[5, 6], [7, 8]], </a:t>
            </a:r>
            <a:r>
              <a:rPr sz="1800" b="1" dirty="0">
                <a:latin typeface="Arial"/>
                <a:cs typeface="Arial"/>
              </a:rPr>
              <a:t>columns =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['a','b'])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df1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df1.append(df2)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print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(df1)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Deletion of</a:t>
            </a:r>
            <a:r>
              <a:rPr sz="2000" b="1" u="heavy" spc="-9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1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Rows</a:t>
            </a:r>
            <a:endParaRPr sz="2000">
              <a:latin typeface="Arial"/>
              <a:cs typeface="Arial"/>
            </a:endParaRPr>
          </a:p>
          <a:p>
            <a:pPr marL="12700" marR="3171825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Arial"/>
                <a:cs typeface="Arial"/>
              </a:rPr>
              <a:t># Drop </a:t>
            </a:r>
            <a:r>
              <a:rPr sz="1800" b="1" spc="10" dirty="0">
                <a:latin typeface="Arial"/>
                <a:cs typeface="Arial"/>
              </a:rPr>
              <a:t>rows with </a:t>
            </a:r>
            <a:r>
              <a:rPr sz="1800" b="1" spc="-5" dirty="0">
                <a:latin typeface="Arial"/>
                <a:cs typeface="Arial"/>
              </a:rPr>
              <a:t>label</a:t>
            </a:r>
            <a:r>
              <a:rPr sz="1800" b="1" spc="-2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  df1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df1.drop(0)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13663" y="1403604"/>
            <a:ext cx="6250940" cy="5085080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  <a:tabLst>
                <a:tab pos="126555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Iterate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over </a:t>
            </a:r>
            <a:r>
              <a:rPr sz="2400" b="1"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rows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in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a</a:t>
            </a:r>
            <a:r>
              <a:rPr sz="2400" b="1" u="heavy" spc="-10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e.g.</a:t>
            </a:r>
            <a:endParaRPr sz="1800">
              <a:latin typeface="Arial"/>
              <a:cs typeface="Arial"/>
            </a:endParaRPr>
          </a:p>
          <a:p>
            <a:pPr marL="12700" marR="387921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import pandas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2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pd1  import numpy </a:t>
            </a:r>
            <a:r>
              <a:rPr sz="1800" b="1" spc="-5" dirty="0">
                <a:latin typeface="Arial"/>
                <a:cs typeface="Arial"/>
              </a:rPr>
              <a:t>as</a:t>
            </a:r>
            <a:r>
              <a:rPr sz="1800" b="1" spc="-1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np1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raw_data1 = </a:t>
            </a:r>
            <a:r>
              <a:rPr sz="1800" b="1" spc="-5" dirty="0">
                <a:latin typeface="Arial"/>
                <a:cs typeface="Arial"/>
              </a:rPr>
              <a:t>{'name': ['freya',</a:t>
            </a:r>
            <a:r>
              <a:rPr sz="1800" b="1" spc="-1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'mohak'],</a:t>
            </a:r>
            <a:endParaRPr sz="1800">
              <a:latin typeface="Arial"/>
              <a:cs typeface="Arial"/>
            </a:endParaRPr>
          </a:p>
          <a:p>
            <a:pPr marL="23495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'age': [10,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1],</a:t>
            </a:r>
            <a:endParaRPr sz="1800">
              <a:latin typeface="Arial"/>
              <a:cs typeface="Arial"/>
            </a:endParaRPr>
          </a:p>
          <a:p>
            <a:pPr marL="2349500" marR="64960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'favorite_color': </a:t>
            </a:r>
            <a:r>
              <a:rPr sz="1800" b="1" dirty="0">
                <a:latin typeface="Arial"/>
                <a:cs typeface="Arial"/>
              </a:rPr>
              <a:t>['pink',</a:t>
            </a:r>
            <a:r>
              <a:rPr sz="1800" b="1" spc="-1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'blue'],  </a:t>
            </a:r>
            <a:r>
              <a:rPr sz="1800" b="1" spc="-5" dirty="0">
                <a:latin typeface="Arial"/>
                <a:cs typeface="Arial"/>
              </a:rPr>
              <a:t>'grade': [88,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92]}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df1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pd1.DataFrame(raw_data1, </a:t>
            </a:r>
            <a:r>
              <a:rPr sz="1800" b="1" dirty="0">
                <a:latin typeface="Arial"/>
                <a:cs typeface="Arial"/>
              </a:rPr>
              <a:t>columns = </a:t>
            </a:r>
            <a:r>
              <a:rPr sz="1800" b="1" spc="-5" dirty="0">
                <a:latin typeface="Arial"/>
                <a:cs typeface="Arial"/>
              </a:rPr>
              <a:t>['name',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'age',  'favorite_color',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'grade'])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index, </a:t>
            </a:r>
            <a:r>
              <a:rPr sz="1800" b="1" spc="-10" dirty="0">
                <a:latin typeface="Arial"/>
                <a:cs typeface="Arial"/>
              </a:rPr>
              <a:t>row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df1.iterrows():</a:t>
            </a:r>
            <a:endParaRPr sz="18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print (row["name"],</a:t>
            </a:r>
            <a:r>
              <a:rPr sz="1800" b="1" spc="-1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row["age"])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 marR="5382260">
              <a:lnSpc>
                <a:spcPct val="100000"/>
              </a:lnSpc>
            </a:pPr>
            <a:r>
              <a:rPr sz="18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freya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mohak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blinds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9259" y="1489455"/>
            <a:ext cx="8427720" cy="491363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1750" algn="just">
              <a:lnSpc>
                <a:spcPct val="100000"/>
              </a:lnSpc>
              <a:spcBef>
                <a:spcPts val="595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</a:t>
            </a:r>
            <a:r>
              <a:rPr sz="2400" b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DataFrame</a:t>
            </a:r>
            <a:endParaRPr sz="2400">
              <a:latin typeface="Arial"/>
              <a:cs typeface="Arial"/>
            </a:endParaRPr>
          </a:p>
          <a:p>
            <a:pPr marL="19685" algn="just">
              <a:lnSpc>
                <a:spcPct val="100000"/>
              </a:lnSpc>
              <a:spcBef>
                <a:spcPts val="370"/>
              </a:spcBef>
            </a:pP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Head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&amp;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Arial"/>
                <a:cs typeface="Arial"/>
              </a:rPr>
              <a:t>Tail</a:t>
            </a:r>
            <a:endParaRPr sz="1800">
              <a:latin typeface="Arial"/>
              <a:cs typeface="Arial"/>
            </a:endParaRPr>
          </a:p>
          <a:p>
            <a:pPr marL="19685" marR="5080" algn="just">
              <a:lnSpc>
                <a:spcPct val="100000"/>
              </a:lnSpc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head()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returns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the first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n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rows (observe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index values).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default number of  elements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display is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five, but </a:t>
            </a:r>
            <a:r>
              <a:rPr sz="1800" spc="-10" dirty="0">
                <a:solidFill>
                  <a:srgbClr val="6F2F9F"/>
                </a:solidFill>
                <a:latin typeface="Arial"/>
                <a:cs typeface="Arial"/>
              </a:rPr>
              <a:t>you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may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pass a custom </a:t>
            </a:r>
            <a:r>
              <a:rPr sz="1800" spc="-20" dirty="0">
                <a:solidFill>
                  <a:srgbClr val="6F2F9F"/>
                </a:solidFill>
                <a:latin typeface="Arial"/>
                <a:cs typeface="Arial"/>
              </a:rPr>
              <a:t>number.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tail() </a:t>
            </a:r>
            <a:r>
              <a:rPr sz="1800" dirty="0">
                <a:solidFill>
                  <a:srgbClr val="6F2F9F"/>
                </a:solidFill>
                <a:latin typeface="Arial"/>
                <a:cs typeface="Arial"/>
              </a:rPr>
              <a:t>returns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the  last n </a:t>
            </a:r>
            <a:r>
              <a:rPr sz="1800" spc="-15" dirty="0">
                <a:solidFill>
                  <a:srgbClr val="6F2F9F"/>
                </a:solidFill>
                <a:latin typeface="Arial"/>
                <a:cs typeface="Arial"/>
              </a:rPr>
              <a:t>rows</a:t>
            </a:r>
            <a:r>
              <a:rPr sz="1800" spc="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"/>
                <a:cs typeface="Arial"/>
              </a:rPr>
              <a:t>.e.g.</a:t>
            </a:r>
            <a:endParaRPr sz="1800">
              <a:latin typeface="Arial"/>
              <a:cs typeface="Arial"/>
            </a:endParaRPr>
          </a:p>
          <a:p>
            <a:pPr marL="12700" marR="6471285">
              <a:lnSpc>
                <a:spcPct val="100000"/>
              </a:lnSpc>
              <a:spcBef>
                <a:spcPts val="175"/>
              </a:spcBef>
            </a:pPr>
            <a:r>
              <a:rPr sz="1800" b="1" dirty="0">
                <a:latin typeface="Calibri"/>
                <a:cs typeface="Calibri"/>
              </a:rPr>
              <a:t>import pandas as</a:t>
            </a:r>
            <a:r>
              <a:rPr sz="1800" b="1" spc="-15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pd  </a:t>
            </a:r>
            <a:r>
              <a:rPr sz="1800" b="1" dirty="0">
                <a:latin typeface="Calibri"/>
                <a:cs typeface="Calibri"/>
              </a:rPr>
              <a:t>import </a:t>
            </a:r>
            <a:r>
              <a:rPr sz="1800" b="1" spc="-5" dirty="0">
                <a:latin typeface="Calibri"/>
                <a:cs typeface="Calibri"/>
              </a:rPr>
              <a:t>numpy </a:t>
            </a:r>
            <a:r>
              <a:rPr sz="1800" b="1" dirty="0">
                <a:latin typeface="Calibri"/>
                <a:cs typeface="Calibri"/>
              </a:rPr>
              <a:t>as</a:t>
            </a:r>
            <a:r>
              <a:rPr sz="1800" b="1" spc="-1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np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#Create </a:t>
            </a:r>
            <a:r>
              <a:rPr sz="1800" b="1" dirty="0">
                <a:latin typeface="Calibri"/>
                <a:cs typeface="Calibri"/>
              </a:rPr>
              <a:t>a Dictionary of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series</a:t>
            </a:r>
            <a:endParaRPr sz="1800">
              <a:latin typeface="Calibri"/>
              <a:cs typeface="Calibri"/>
            </a:endParaRPr>
          </a:p>
          <a:p>
            <a:pPr marL="169545" marR="1666239" indent="-15748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 = </a:t>
            </a:r>
            <a:r>
              <a:rPr sz="1800" b="1" spc="-10" dirty="0">
                <a:latin typeface="Calibri"/>
                <a:cs typeface="Calibri"/>
              </a:rPr>
              <a:t>{'Name':pd.Series(['Tom','James','Ricky','Vin','Steve','Smith','Jack']),  </a:t>
            </a:r>
            <a:r>
              <a:rPr sz="1800" b="1" spc="-5" dirty="0">
                <a:latin typeface="Calibri"/>
                <a:cs typeface="Calibri"/>
              </a:rPr>
              <a:t>'Age':pd.Series([25,26,25,23,30,29,23]),  'Rating':pd.Series([4.23,3.24,3.98,2.56,3.20,4.6,3.8])}</a:t>
            </a:r>
            <a:endParaRPr sz="1800">
              <a:latin typeface="Calibri"/>
              <a:cs typeface="Calibri"/>
            </a:endParaRPr>
          </a:p>
          <a:p>
            <a:pPr marL="12700" marR="637921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#Create </a:t>
            </a:r>
            <a:r>
              <a:rPr sz="1800" b="1" dirty="0">
                <a:latin typeface="Calibri"/>
                <a:cs typeface="Calibri"/>
              </a:rPr>
              <a:t>a </a:t>
            </a:r>
            <a:r>
              <a:rPr sz="1800" b="1" spc="-10" dirty="0">
                <a:latin typeface="Calibri"/>
                <a:cs typeface="Calibri"/>
              </a:rPr>
              <a:t>DataFrame  </a:t>
            </a:r>
            <a:r>
              <a:rPr sz="1800" b="1" dirty="0">
                <a:latin typeface="Calibri"/>
                <a:cs typeface="Calibri"/>
              </a:rPr>
              <a:t>df =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pd.DataFrame(d)</a:t>
            </a:r>
            <a:endParaRPr sz="1800">
              <a:latin typeface="Calibri"/>
              <a:cs typeface="Calibri"/>
            </a:endParaRPr>
          </a:p>
          <a:p>
            <a:pPr marL="12700" marR="584454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Calibri"/>
                <a:cs typeface="Calibri"/>
              </a:rPr>
              <a:t>print ("Our </a:t>
            </a:r>
            <a:r>
              <a:rPr sz="1800" b="1" spc="-10" dirty="0">
                <a:latin typeface="Calibri"/>
                <a:cs typeface="Calibri"/>
              </a:rPr>
              <a:t>data frame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is:")  </a:t>
            </a:r>
            <a:r>
              <a:rPr sz="1800" b="1" spc="-5" dirty="0">
                <a:latin typeface="Calibri"/>
                <a:cs typeface="Calibri"/>
              </a:rPr>
              <a:t>print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df</a:t>
            </a:r>
            <a:endParaRPr sz="1800">
              <a:latin typeface="Calibri"/>
              <a:cs typeface="Calibri"/>
            </a:endParaRPr>
          </a:p>
          <a:p>
            <a:pPr marL="12700" marR="387731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print ("The </a:t>
            </a:r>
            <a:r>
              <a:rPr sz="1800" b="1" spc="-15" dirty="0">
                <a:latin typeface="Calibri"/>
                <a:cs typeface="Calibri"/>
              </a:rPr>
              <a:t>first </a:t>
            </a:r>
            <a:r>
              <a:rPr sz="1800" b="1" spc="-5" dirty="0">
                <a:latin typeface="Calibri"/>
                <a:cs typeface="Calibri"/>
              </a:rPr>
              <a:t>two </a:t>
            </a:r>
            <a:r>
              <a:rPr sz="1800" b="1" spc="-10" dirty="0">
                <a:latin typeface="Calibri"/>
                <a:cs typeface="Calibri"/>
              </a:rPr>
              <a:t>rows </a:t>
            </a:r>
            <a:r>
              <a:rPr sz="1800" b="1" dirty="0">
                <a:latin typeface="Calibri"/>
                <a:cs typeface="Calibri"/>
              </a:rPr>
              <a:t>of the </a:t>
            </a:r>
            <a:r>
              <a:rPr sz="1800" b="1" spc="-10" dirty="0">
                <a:latin typeface="Calibri"/>
                <a:cs typeface="Calibri"/>
              </a:rPr>
              <a:t>data frame </a:t>
            </a:r>
            <a:r>
              <a:rPr sz="1800" b="1" dirty="0">
                <a:latin typeface="Calibri"/>
                <a:cs typeface="Calibri"/>
              </a:rPr>
              <a:t>is:")  </a:t>
            </a:r>
            <a:r>
              <a:rPr sz="1800" b="1" spc="-5" dirty="0">
                <a:latin typeface="Calibri"/>
                <a:cs typeface="Calibri"/>
              </a:rPr>
              <a:t>print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df.head(2)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8462" y="1464583"/>
            <a:ext cx="7900670" cy="466979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26555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800"/>
              </a:spcBef>
            </a:pP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Indexing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DataFrame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using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.loc[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23825" marR="5080" indent="-68580">
              <a:lnSpc>
                <a:spcPct val="100000"/>
              </a:lnSpc>
              <a:spcBef>
                <a:spcPts val="30"/>
              </a:spcBef>
            </a:pPr>
            <a:r>
              <a:rPr sz="2400" spc="-5" dirty="0">
                <a:solidFill>
                  <a:srgbClr val="006FC0"/>
                </a:solidFill>
                <a:latin typeface="Calibri"/>
                <a:cs typeface="Calibri"/>
              </a:rPr>
              <a:t>This function selects </a:t>
            </a:r>
            <a:r>
              <a:rPr sz="2400" spc="-15" dirty="0">
                <a:solidFill>
                  <a:srgbClr val="006FC0"/>
                </a:solidFill>
                <a:latin typeface="Calibri"/>
                <a:cs typeface="Calibri"/>
              </a:rPr>
              <a:t>data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by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the label </a:t>
            </a:r>
            <a:r>
              <a:rPr sz="2400" spc="-5" dirty="0">
                <a:solidFill>
                  <a:srgbClr val="006FC0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the </a:t>
            </a:r>
            <a:r>
              <a:rPr sz="2400" spc="-20" dirty="0">
                <a:solidFill>
                  <a:srgbClr val="006FC0"/>
                </a:solidFill>
                <a:latin typeface="Calibri"/>
                <a:cs typeface="Calibri"/>
              </a:rPr>
              <a:t>rows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006FC0"/>
                </a:solidFill>
                <a:latin typeface="Calibri"/>
                <a:cs typeface="Calibri"/>
              </a:rPr>
              <a:t>columns.  </a:t>
            </a:r>
            <a:r>
              <a:rPr sz="2400" spc="-5" dirty="0">
                <a:latin typeface="Calibri"/>
                <a:cs typeface="Calibri"/>
              </a:rPr>
              <a:t>#import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pandas library </a:t>
            </a:r>
            <a:r>
              <a:rPr sz="2400" dirty="0">
                <a:latin typeface="Calibri"/>
                <a:cs typeface="Calibri"/>
              </a:rPr>
              <a:t>and aliasing 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pd</a:t>
            </a:r>
            <a:endParaRPr sz="2400">
              <a:latin typeface="Calibri"/>
              <a:cs typeface="Calibri"/>
            </a:endParaRPr>
          </a:p>
          <a:p>
            <a:pPr marL="55244" marR="531304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import </a:t>
            </a:r>
            <a:r>
              <a:rPr sz="2400" spc="-5" dirty="0">
                <a:latin typeface="Calibri"/>
                <a:cs typeface="Calibri"/>
              </a:rPr>
              <a:t>pandas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pd  </a:t>
            </a:r>
            <a:r>
              <a:rPr sz="2400" dirty="0">
                <a:latin typeface="Calibri"/>
                <a:cs typeface="Calibri"/>
              </a:rPr>
              <a:t>import </a:t>
            </a:r>
            <a:r>
              <a:rPr sz="2400" spc="-10" dirty="0">
                <a:latin typeface="Calibri"/>
                <a:cs typeface="Calibri"/>
              </a:rPr>
              <a:t>numpy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np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df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0" dirty="0">
                <a:latin typeface="Calibri"/>
                <a:cs typeface="Calibri"/>
              </a:rPr>
              <a:t>pd.DataFrame(np.random.randn(8,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4),</a:t>
            </a:r>
            <a:endParaRPr sz="2400">
              <a:latin typeface="Calibri"/>
              <a:cs typeface="Calibri"/>
            </a:endParaRPr>
          </a:p>
          <a:p>
            <a:pPr marL="55244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index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['a','b','c','d','e','f','g','h'], </a:t>
            </a:r>
            <a:r>
              <a:rPr sz="2400" spc="-10" dirty="0">
                <a:latin typeface="Calibri"/>
                <a:cs typeface="Calibri"/>
              </a:rPr>
              <a:t>columns </a:t>
            </a:r>
            <a:r>
              <a:rPr sz="2400" dirty="0">
                <a:latin typeface="Calibri"/>
                <a:cs typeface="Calibri"/>
              </a:rPr>
              <a:t>= ['A', 'B', 'C',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'D'])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55244" marR="332994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#select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20" dirty="0">
                <a:latin typeface="Calibri"/>
                <a:cs typeface="Calibri"/>
              </a:rPr>
              <a:t>rows for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specific </a:t>
            </a:r>
            <a:r>
              <a:rPr sz="2400" spc="-10" dirty="0">
                <a:latin typeface="Calibri"/>
                <a:cs typeface="Calibri"/>
              </a:rPr>
              <a:t>column  print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df.loc[:,'A']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dissolv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928105" y="752297"/>
            <a:ext cx="2764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" dirty="0">
                <a:solidFill>
                  <a:srgbClr val="E36C09"/>
                </a:solidFill>
                <a:latin typeface="Calibri"/>
                <a:cs typeface="Calibri"/>
              </a:rPr>
              <a:t>Python</a:t>
            </a:r>
            <a:r>
              <a:rPr sz="3600" spc="-17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3600" spc="-15" dirty="0">
                <a:solidFill>
                  <a:srgbClr val="E36C09"/>
                </a:solidFill>
                <a:latin typeface="Calibri"/>
                <a:cs typeface="Calibri"/>
              </a:rPr>
              <a:t>Pandas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83514" y="1362202"/>
            <a:ext cx="8084820" cy="4885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555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9685">
              <a:lnSpc>
                <a:spcPts val="2155"/>
              </a:lnSpc>
              <a:spcBef>
                <a:spcPts val="95"/>
              </a:spcBef>
            </a:pPr>
            <a:r>
              <a:rPr sz="1800" spc="-5" dirty="0">
                <a:latin typeface="Calibri"/>
                <a:cs typeface="Calibri"/>
              </a:rPr>
              <a:t>Accessing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DataFrame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boolean </a:t>
            </a:r>
            <a:r>
              <a:rPr sz="1800" spc="-10" dirty="0">
                <a:latin typeface="Calibri"/>
                <a:cs typeface="Calibri"/>
              </a:rPr>
              <a:t>index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9685" marR="5080">
              <a:lnSpc>
                <a:spcPts val="2400"/>
              </a:lnSpc>
              <a:spcBef>
                <a:spcPts val="80"/>
              </a:spcBef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order </a:t>
            </a:r>
            <a:r>
              <a:rPr sz="2000" spc="-1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access a </a:t>
            </a:r>
            <a:r>
              <a:rPr sz="2000" spc="-15" dirty="0">
                <a:solidFill>
                  <a:srgbClr val="001F5F"/>
                </a:solidFill>
                <a:latin typeface="Calibri"/>
                <a:cs typeface="Calibri"/>
              </a:rPr>
              <a:t>dataframe </a:t>
            </a:r>
            <a:r>
              <a:rPr sz="2000" spc="-5" dirty="0">
                <a:solidFill>
                  <a:srgbClr val="001F5F"/>
                </a:solidFill>
                <a:latin typeface="Calibri"/>
                <a:cs typeface="Calibri"/>
              </a:rPr>
              <a:t>with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001F5F"/>
                </a:solidFill>
                <a:latin typeface="Calibri"/>
                <a:cs typeface="Calibri"/>
              </a:rPr>
              <a:t>boolean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index, we </a:t>
            </a:r>
            <a:r>
              <a:rPr sz="2000" spc="-20" dirty="0">
                <a:solidFill>
                  <a:srgbClr val="001F5F"/>
                </a:solidFill>
                <a:latin typeface="Calibri"/>
                <a:cs typeface="Calibri"/>
              </a:rPr>
              <a:t>have </a:t>
            </a:r>
            <a:r>
              <a:rPr sz="2000" spc="-15" dirty="0">
                <a:solidFill>
                  <a:srgbClr val="001F5F"/>
                </a:solidFill>
                <a:latin typeface="Calibri"/>
                <a:cs typeface="Calibri"/>
              </a:rPr>
              <a:t>to create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a 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dataframe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in which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index </a:t>
            </a:r>
            <a:r>
              <a:rPr sz="2000" spc="-5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000" spc="-15" dirty="0">
                <a:solidFill>
                  <a:srgbClr val="001F5F"/>
                </a:solidFill>
                <a:latin typeface="Calibri"/>
                <a:cs typeface="Calibri"/>
              </a:rPr>
              <a:t>dataframe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contains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001F5F"/>
                </a:solidFill>
                <a:latin typeface="Calibri"/>
                <a:cs typeface="Calibri"/>
              </a:rPr>
              <a:t>boolean value that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is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“True”  </a:t>
            </a:r>
            <a:r>
              <a:rPr sz="2000" spc="-5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20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001F5F"/>
                </a:solidFill>
                <a:latin typeface="Calibri"/>
                <a:cs typeface="Calibri"/>
              </a:rPr>
              <a:t>“False”.</a:t>
            </a:r>
            <a:endParaRPr sz="2000">
              <a:latin typeface="Calibri"/>
              <a:cs typeface="Calibri"/>
            </a:endParaRPr>
          </a:p>
          <a:p>
            <a:pPr marL="19685" marR="5667375">
              <a:lnSpc>
                <a:spcPts val="2160"/>
              </a:lnSpc>
            </a:pPr>
            <a:r>
              <a:rPr sz="1800" b="1" dirty="0">
                <a:latin typeface="Calibri"/>
                <a:cs typeface="Calibri"/>
              </a:rPr>
              <a:t># </a:t>
            </a:r>
            <a:r>
              <a:rPr sz="1800" b="1" spc="-5" dirty="0">
                <a:latin typeface="Calibri"/>
                <a:cs typeface="Calibri"/>
              </a:rPr>
              <a:t>importing </a:t>
            </a:r>
            <a:r>
              <a:rPr sz="1800" b="1" dirty="0">
                <a:latin typeface="Calibri"/>
                <a:cs typeface="Calibri"/>
              </a:rPr>
              <a:t>pandas as</a:t>
            </a:r>
            <a:r>
              <a:rPr sz="1800" b="1" spc="-114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pd  </a:t>
            </a:r>
            <a:r>
              <a:rPr sz="1800" b="1" dirty="0">
                <a:latin typeface="Calibri"/>
                <a:cs typeface="Calibri"/>
              </a:rPr>
              <a:t>import pandas as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pd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# dictionary of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lists</a:t>
            </a:r>
            <a:endParaRPr sz="18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dict = </a:t>
            </a:r>
            <a:r>
              <a:rPr sz="1800" b="1" spc="-5" dirty="0">
                <a:latin typeface="Calibri"/>
                <a:cs typeface="Calibri"/>
              </a:rPr>
              <a:t>{'name':[“Mohak", </a:t>
            </a:r>
            <a:r>
              <a:rPr sz="1800" b="1" spc="-10" dirty="0">
                <a:latin typeface="Calibri"/>
                <a:cs typeface="Calibri"/>
              </a:rPr>
              <a:t>“Freya",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“Roshni"],</a:t>
            </a:r>
            <a:endParaRPr sz="1800">
              <a:latin typeface="Calibri"/>
              <a:cs typeface="Calibri"/>
            </a:endParaRPr>
          </a:p>
          <a:p>
            <a:pPr marL="43942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'degree': ["MBA", "BCA",</a:t>
            </a:r>
            <a:r>
              <a:rPr sz="1800" b="1" spc="-30" dirty="0">
                <a:latin typeface="Calibri"/>
                <a:cs typeface="Calibri"/>
              </a:rPr>
              <a:t> "M.Tech"],</a:t>
            </a:r>
            <a:endParaRPr sz="1800">
              <a:latin typeface="Calibri"/>
              <a:cs typeface="Calibri"/>
            </a:endParaRPr>
          </a:p>
          <a:p>
            <a:pPr marL="43942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'score':[90, </a:t>
            </a:r>
            <a:r>
              <a:rPr sz="1800" b="1" dirty="0">
                <a:latin typeface="Calibri"/>
                <a:cs typeface="Calibri"/>
              </a:rPr>
              <a:t>40,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80]}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# </a:t>
            </a:r>
            <a:r>
              <a:rPr sz="1800" b="1" spc="-5" dirty="0">
                <a:latin typeface="Calibri"/>
                <a:cs typeface="Calibri"/>
              </a:rPr>
              <a:t>creating </a:t>
            </a:r>
            <a:r>
              <a:rPr sz="1800" b="1" dirty="0">
                <a:latin typeface="Calibri"/>
                <a:cs typeface="Calibri"/>
              </a:rPr>
              <a:t>a </a:t>
            </a:r>
            <a:r>
              <a:rPr sz="1800" b="1" spc="-15" dirty="0">
                <a:latin typeface="Calibri"/>
                <a:cs typeface="Calibri"/>
              </a:rPr>
              <a:t>dataframe </a:t>
            </a:r>
            <a:r>
              <a:rPr sz="1800" b="1" spc="-5" dirty="0">
                <a:latin typeface="Calibri"/>
                <a:cs typeface="Calibri"/>
              </a:rPr>
              <a:t>with </a:t>
            </a:r>
            <a:r>
              <a:rPr sz="1800" b="1" dirty="0">
                <a:latin typeface="Calibri"/>
                <a:cs typeface="Calibri"/>
              </a:rPr>
              <a:t>boolean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index</a:t>
            </a:r>
            <a:endParaRPr sz="1800">
              <a:latin typeface="Calibri"/>
              <a:cs typeface="Calibri"/>
            </a:endParaRPr>
          </a:p>
          <a:p>
            <a:pPr marL="19685" marR="3275329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df = </a:t>
            </a:r>
            <a:r>
              <a:rPr sz="1800" b="1" spc="-10" dirty="0">
                <a:latin typeface="Calibri"/>
                <a:cs typeface="Calibri"/>
              </a:rPr>
              <a:t>pd.DataFrame(dict, </a:t>
            </a:r>
            <a:r>
              <a:rPr sz="1800" b="1" spc="-5" dirty="0">
                <a:latin typeface="Calibri"/>
                <a:cs typeface="Calibri"/>
              </a:rPr>
              <a:t>index </a:t>
            </a:r>
            <a:r>
              <a:rPr sz="1800" b="1" dirty="0">
                <a:latin typeface="Calibri"/>
                <a:cs typeface="Calibri"/>
              </a:rPr>
              <a:t>= </a:t>
            </a:r>
            <a:r>
              <a:rPr sz="1800" b="1" spc="-20" dirty="0">
                <a:latin typeface="Calibri"/>
                <a:cs typeface="Calibri"/>
              </a:rPr>
              <a:t>[True, </a:t>
            </a:r>
            <a:r>
              <a:rPr sz="1800" b="1" spc="-10" dirty="0">
                <a:latin typeface="Calibri"/>
                <a:cs typeface="Calibri"/>
              </a:rPr>
              <a:t>False, </a:t>
            </a:r>
            <a:r>
              <a:rPr sz="1800" b="1" spc="-20" dirty="0">
                <a:latin typeface="Calibri"/>
                <a:cs typeface="Calibri"/>
              </a:rPr>
              <a:t>True])  </a:t>
            </a:r>
            <a:r>
              <a:rPr sz="1800" b="1" dirty="0">
                <a:latin typeface="Calibri"/>
                <a:cs typeface="Calibri"/>
              </a:rPr>
              <a:t># accessing a </a:t>
            </a:r>
            <a:r>
              <a:rPr sz="1800" b="1" spc="-15" dirty="0">
                <a:latin typeface="Calibri"/>
                <a:cs typeface="Calibri"/>
              </a:rPr>
              <a:t>dataframe </a:t>
            </a:r>
            <a:r>
              <a:rPr sz="1800" b="1" dirty="0">
                <a:latin typeface="Calibri"/>
                <a:cs typeface="Calibri"/>
              </a:rPr>
              <a:t>using .loc[]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print(df.loc[True]) </a:t>
            </a:r>
            <a:r>
              <a:rPr sz="1800" b="1" spc="-5" dirty="0">
                <a:latin typeface="Calibri"/>
                <a:cs typeface="Calibri"/>
              </a:rPr>
              <a:t>#it will </a:t>
            </a:r>
            <a:r>
              <a:rPr sz="1800" b="1" spc="-10" dirty="0">
                <a:latin typeface="Calibri"/>
                <a:cs typeface="Calibri"/>
              </a:rPr>
              <a:t>return rows </a:t>
            </a:r>
            <a:r>
              <a:rPr sz="1800" b="1" dirty="0">
                <a:latin typeface="Calibri"/>
                <a:cs typeface="Calibri"/>
              </a:rPr>
              <a:t>of Mohak and </a:t>
            </a:r>
            <a:r>
              <a:rPr sz="1800" b="1" spc="-10" dirty="0">
                <a:latin typeface="Calibri"/>
                <a:cs typeface="Calibri"/>
              </a:rPr>
              <a:t>Roshni only(matching </a:t>
            </a:r>
            <a:r>
              <a:rPr sz="1800" b="1" dirty="0">
                <a:latin typeface="Calibri"/>
                <a:cs typeface="Calibri"/>
              </a:rPr>
              <a:t>true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only)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dissolv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928105" y="752297"/>
            <a:ext cx="2764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" dirty="0">
                <a:solidFill>
                  <a:srgbClr val="E36C09"/>
                </a:solidFill>
                <a:latin typeface="Calibri"/>
                <a:cs typeface="Calibri"/>
              </a:rPr>
              <a:t>Python</a:t>
            </a:r>
            <a:r>
              <a:rPr sz="3600" spc="-17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3600" spc="-15" dirty="0">
                <a:solidFill>
                  <a:srgbClr val="E36C09"/>
                </a:solidFill>
                <a:latin typeface="Calibri"/>
                <a:cs typeface="Calibri"/>
              </a:rPr>
              <a:t>Pandas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  <a:tabLst>
                <a:tab pos="1265555" algn="l"/>
              </a:tabLst>
            </a:pPr>
            <a:r>
              <a:rPr spc="-5" dirty="0"/>
              <a:t>Pandas	DataFrame</a:t>
            </a:r>
          </a:p>
          <a:p>
            <a:pPr marL="12700" marR="775970">
              <a:lnSpc>
                <a:spcPct val="100000"/>
              </a:lnSpc>
              <a:spcBef>
                <a:spcPts val="795"/>
              </a:spcBef>
            </a:pPr>
            <a:r>
              <a:rPr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</a:rPr>
              <a:t>Binary operation over dataframe </a:t>
            </a:r>
            <a:r>
              <a:rPr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</a:rPr>
              <a:t>with</a:t>
            </a:r>
            <a:r>
              <a:rPr u="heavy" spc="-10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</a:rPr>
              <a:t> </a:t>
            </a:r>
            <a:r>
              <a:rPr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</a:rPr>
              <a:t>series </a:t>
            </a:r>
            <a:r>
              <a:rPr spc="-5" dirty="0">
                <a:solidFill>
                  <a:srgbClr val="6E2E9F"/>
                </a:solidFill>
              </a:rPr>
              <a:t> </a:t>
            </a:r>
            <a:r>
              <a:rPr u="heavy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e.g.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import pandas as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pd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x </a:t>
            </a:r>
            <a:r>
              <a:rPr dirty="0">
                <a:solidFill>
                  <a:srgbClr val="000000"/>
                </a:solidFill>
              </a:rPr>
              <a:t>= </a:t>
            </a:r>
            <a:r>
              <a:rPr spc="-5" dirty="0">
                <a:solidFill>
                  <a:srgbClr val="000000"/>
                </a:solidFill>
              </a:rPr>
              <a:t>pd.DataFrame({0: </a:t>
            </a:r>
            <a:r>
              <a:rPr dirty="0">
                <a:solidFill>
                  <a:srgbClr val="000000"/>
                </a:solidFill>
              </a:rPr>
              <a:t>[1,2,3], </a:t>
            </a:r>
            <a:r>
              <a:rPr spc="-5" dirty="0">
                <a:solidFill>
                  <a:srgbClr val="000000"/>
                </a:solidFill>
              </a:rPr>
              <a:t>1: </a:t>
            </a:r>
            <a:r>
              <a:rPr dirty="0">
                <a:solidFill>
                  <a:srgbClr val="000000"/>
                </a:solidFill>
              </a:rPr>
              <a:t>[4,5,6], </a:t>
            </a:r>
            <a:r>
              <a:rPr spc="-5" dirty="0">
                <a:solidFill>
                  <a:srgbClr val="000000"/>
                </a:solidFill>
              </a:rPr>
              <a:t>2: </a:t>
            </a:r>
            <a:r>
              <a:rPr dirty="0">
                <a:solidFill>
                  <a:srgbClr val="000000"/>
                </a:solidFill>
              </a:rPr>
              <a:t>[7,8,9]</a:t>
            </a:r>
            <a:r>
              <a:rPr spc="-15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})</a:t>
            </a:r>
          </a:p>
          <a:p>
            <a:pPr marL="12700" marR="3609975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y </a:t>
            </a:r>
            <a:r>
              <a:rPr dirty="0">
                <a:solidFill>
                  <a:srgbClr val="000000"/>
                </a:solidFill>
              </a:rPr>
              <a:t>= </a:t>
            </a:r>
            <a:r>
              <a:rPr spc="-5" dirty="0">
                <a:solidFill>
                  <a:srgbClr val="000000"/>
                </a:solidFill>
              </a:rPr>
              <a:t>pd.Series([1, 2, 3])  </a:t>
            </a:r>
            <a:r>
              <a:rPr dirty="0">
                <a:solidFill>
                  <a:srgbClr val="000000"/>
                </a:solidFill>
              </a:rPr>
              <a:t>new_x = </a:t>
            </a:r>
            <a:r>
              <a:rPr spc="-60" dirty="0">
                <a:solidFill>
                  <a:srgbClr val="000000"/>
                </a:solidFill>
              </a:rPr>
              <a:t>x.add(y, </a:t>
            </a:r>
            <a:r>
              <a:rPr spc="-5" dirty="0">
                <a:solidFill>
                  <a:srgbClr val="000000"/>
                </a:solidFill>
              </a:rPr>
              <a:t>axis=0)  </a:t>
            </a:r>
            <a:r>
              <a:rPr dirty="0">
                <a:solidFill>
                  <a:srgbClr val="000000"/>
                </a:solidFill>
              </a:rPr>
              <a:t>print(new_x)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u="heavy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Output</a:t>
            </a: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278379" y="4945938"/>
          <a:ext cx="1585593" cy="1438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24">
                <a:tc>
                  <a:txBody>
                    <a:bodyPr/>
                    <a:lstStyle/>
                    <a:p>
                      <a:pPr marR="71755" algn="r">
                        <a:lnSpc>
                          <a:spcPts val="2650"/>
                        </a:lnSpc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650"/>
                        </a:lnSpc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64">
                <a:tc>
                  <a:txBody>
                    <a:bodyPr/>
                    <a:lstStyle/>
                    <a:p>
                      <a:pPr marR="71755" algn="r">
                        <a:lnSpc>
                          <a:spcPts val="2755"/>
                        </a:lnSpc>
                        <a:tabLst>
                          <a:tab pos="338455" algn="l"/>
                        </a:tabLst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0	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5"/>
                        </a:lnSpc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755"/>
                        </a:lnSpc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41">
                <a:tc>
                  <a:txBody>
                    <a:bodyPr/>
                    <a:lstStyle/>
                    <a:p>
                      <a:pPr marR="71755" algn="r">
                        <a:lnSpc>
                          <a:spcPts val="2735"/>
                        </a:lnSpc>
                        <a:tabLst>
                          <a:tab pos="338455" algn="l"/>
                        </a:tabLst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1	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35"/>
                        </a:lnSpc>
                      </a:pPr>
                      <a:r>
                        <a:rPr sz="2400" b="1" spc="-10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735"/>
                        </a:lnSpc>
                      </a:pPr>
                      <a:r>
                        <a:rPr sz="2400" b="1" spc="-5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20">
                <a:tc>
                  <a:txBody>
                    <a:bodyPr/>
                    <a:lstStyle/>
                    <a:p>
                      <a:pPr marR="71755" algn="r">
                        <a:lnSpc>
                          <a:spcPts val="2705"/>
                        </a:lnSpc>
                        <a:tabLst>
                          <a:tab pos="338455" algn="l"/>
                        </a:tabLst>
                      </a:pPr>
                      <a:r>
                        <a:rPr sz="2400" b="1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2	9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b="1" spc="-10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705"/>
                        </a:lnSpc>
                      </a:pPr>
                      <a:r>
                        <a:rPr sz="2400" b="1" spc="-5" dirty="0">
                          <a:solidFill>
                            <a:srgbClr val="00AEEE"/>
                          </a:solidFill>
                          <a:latin typeface="Arial"/>
                          <a:cs typeface="Arial"/>
                        </a:rPr>
                        <a:t>27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446938" y="737362"/>
            <a:ext cx="8566150" cy="545084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5725795">
              <a:lnSpc>
                <a:spcPct val="100000"/>
              </a:lnSpc>
              <a:spcBef>
                <a:spcPts val="890"/>
              </a:spcBef>
              <a:tabLst>
                <a:tab pos="697801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4388485" marR="478155" indent="467995">
              <a:lnSpc>
                <a:spcPts val="3679"/>
              </a:lnSpc>
              <a:spcBef>
                <a:spcPts val="250"/>
              </a:spcBef>
            </a:pP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Binary operation</a:t>
            </a:r>
            <a:r>
              <a:rPr sz="2400" b="1" u="heavy" spc="-13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over </a:t>
            </a:r>
            <a:r>
              <a:rPr sz="2400" b="1" spc="-5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dataframe </a:t>
            </a:r>
            <a:r>
              <a:rPr sz="2400" b="1" u="heavy" spc="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with</a:t>
            </a:r>
            <a:r>
              <a:rPr sz="2400" b="1" u="heavy" spc="-15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630"/>
              </a:lnSpc>
            </a:pPr>
            <a:r>
              <a:rPr sz="2400" b="1" spc="-5" dirty="0">
                <a:latin typeface="Arial"/>
                <a:cs typeface="Arial"/>
              </a:rPr>
              <a:t>import pandas as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pd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x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pd.DataFrame({0: </a:t>
            </a:r>
            <a:r>
              <a:rPr sz="2400" b="1" dirty="0">
                <a:latin typeface="Arial"/>
                <a:cs typeface="Arial"/>
              </a:rPr>
              <a:t>[1,2,3], </a:t>
            </a:r>
            <a:r>
              <a:rPr sz="2400" b="1" spc="-5" dirty="0">
                <a:latin typeface="Arial"/>
                <a:cs typeface="Arial"/>
              </a:rPr>
              <a:t>1: </a:t>
            </a:r>
            <a:r>
              <a:rPr sz="2400" b="1" dirty="0">
                <a:latin typeface="Arial"/>
                <a:cs typeface="Arial"/>
              </a:rPr>
              <a:t>[4,5,6], </a:t>
            </a:r>
            <a:r>
              <a:rPr sz="2400" b="1" spc="-5" dirty="0">
                <a:latin typeface="Arial"/>
                <a:cs typeface="Arial"/>
              </a:rPr>
              <a:t>2: </a:t>
            </a:r>
            <a:r>
              <a:rPr sz="2400" b="1" dirty="0">
                <a:latin typeface="Arial"/>
                <a:cs typeface="Arial"/>
              </a:rPr>
              <a:t>[7,8,9]</a:t>
            </a:r>
            <a:r>
              <a:rPr sz="2400" b="1" spc="-15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})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y </a:t>
            </a:r>
            <a:r>
              <a:rPr sz="2400" b="1" dirty="0">
                <a:latin typeface="Arial"/>
                <a:cs typeface="Arial"/>
              </a:rPr>
              <a:t>= </a:t>
            </a:r>
            <a:r>
              <a:rPr sz="2400" b="1" spc="-5" dirty="0">
                <a:latin typeface="Arial"/>
                <a:cs typeface="Arial"/>
              </a:rPr>
              <a:t>pd.DataFrame({0: </a:t>
            </a:r>
            <a:r>
              <a:rPr sz="2400" b="1" dirty="0">
                <a:latin typeface="Arial"/>
                <a:cs typeface="Arial"/>
              </a:rPr>
              <a:t>[1,2,3], </a:t>
            </a:r>
            <a:r>
              <a:rPr sz="2400" b="1" spc="-5" dirty="0">
                <a:latin typeface="Arial"/>
                <a:cs typeface="Arial"/>
              </a:rPr>
              <a:t>1: </a:t>
            </a:r>
            <a:r>
              <a:rPr sz="2400" b="1" dirty="0">
                <a:latin typeface="Arial"/>
                <a:cs typeface="Arial"/>
              </a:rPr>
              <a:t>[4,5,6], </a:t>
            </a:r>
            <a:r>
              <a:rPr sz="2400" b="1" spc="-5" dirty="0">
                <a:latin typeface="Arial"/>
                <a:cs typeface="Arial"/>
              </a:rPr>
              <a:t>2: </a:t>
            </a:r>
            <a:r>
              <a:rPr sz="2400" b="1" dirty="0">
                <a:latin typeface="Arial"/>
                <a:cs typeface="Arial"/>
              </a:rPr>
              <a:t>[7,8,9]</a:t>
            </a:r>
            <a:r>
              <a:rPr sz="2400" b="1" spc="-15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})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new_x = </a:t>
            </a:r>
            <a:r>
              <a:rPr sz="2400" b="1" spc="-65" dirty="0">
                <a:latin typeface="Arial"/>
                <a:cs typeface="Arial"/>
              </a:rPr>
              <a:t>x.add(y,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axis=0)</a:t>
            </a:r>
            <a:endParaRPr sz="2400">
              <a:latin typeface="Arial"/>
              <a:cs typeface="Arial"/>
            </a:endParaRPr>
          </a:p>
          <a:p>
            <a:pPr marL="12700" marR="6730365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prin</a:t>
            </a:r>
            <a:r>
              <a:rPr sz="2400" b="1" dirty="0">
                <a:latin typeface="Arial"/>
                <a:cs typeface="Arial"/>
              </a:rPr>
              <a:t>t</a:t>
            </a:r>
            <a:r>
              <a:rPr sz="2400" b="1" spc="-5" dirty="0">
                <a:latin typeface="Arial"/>
                <a:cs typeface="Arial"/>
              </a:rPr>
              <a:t>(ne</a:t>
            </a:r>
            <a:r>
              <a:rPr sz="2400" b="1" spc="5" dirty="0">
                <a:latin typeface="Arial"/>
                <a:cs typeface="Arial"/>
              </a:rPr>
              <a:t>w</a:t>
            </a:r>
            <a:r>
              <a:rPr sz="2400" b="1" spc="-5" dirty="0">
                <a:latin typeface="Arial"/>
                <a:cs typeface="Arial"/>
              </a:rPr>
              <a:t>_x) 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351155">
              <a:lnSpc>
                <a:spcPct val="100000"/>
              </a:lnSpc>
              <a:tabLst>
                <a:tab pos="771525" algn="l"/>
                <a:tab pos="1195070" algn="l"/>
              </a:tabLst>
            </a:pPr>
            <a:r>
              <a:rPr sz="2400" b="1" spc="-5" dirty="0">
                <a:solidFill>
                  <a:srgbClr val="00AEEE"/>
                </a:solidFill>
                <a:latin typeface="Arial"/>
                <a:cs typeface="Arial"/>
              </a:rPr>
              <a:t>0	1	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1155" algn="l"/>
                <a:tab pos="774700" algn="l"/>
                <a:tab pos="1113155" algn="l"/>
              </a:tabLst>
            </a:pPr>
            <a:r>
              <a:rPr sz="2400" b="1" dirty="0">
                <a:solidFill>
                  <a:srgbClr val="00AEEE"/>
                </a:solidFill>
                <a:latin typeface="Arial"/>
                <a:cs typeface="Arial"/>
              </a:rPr>
              <a:t>0	2	8	</a:t>
            </a:r>
            <a:r>
              <a:rPr sz="2400" b="1" spc="-5" dirty="0">
                <a:solidFill>
                  <a:srgbClr val="00AEEE"/>
                </a:solidFill>
                <a:latin typeface="Arial"/>
                <a:cs typeface="Arial"/>
              </a:rPr>
              <a:t>14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1155" algn="l"/>
                <a:tab pos="688975" algn="l"/>
                <a:tab pos="1196975" algn="l"/>
              </a:tabLst>
            </a:pPr>
            <a:r>
              <a:rPr sz="2400" b="1" spc="-5" dirty="0">
                <a:solidFill>
                  <a:srgbClr val="00AEEE"/>
                </a:solidFill>
                <a:latin typeface="Arial"/>
                <a:cs typeface="Arial"/>
              </a:rPr>
              <a:t>1	4	10	</a:t>
            </a:r>
            <a:r>
              <a:rPr sz="2400" b="1" spc="-10" dirty="0">
                <a:solidFill>
                  <a:srgbClr val="00AEEE"/>
                </a:solidFill>
                <a:latin typeface="Arial"/>
                <a:cs typeface="Arial"/>
              </a:rPr>
              <a:t>16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900" algn="l"/>
                <a:tab pos="808355" algn="l"/>
                <a:tab pos="1315720" algn="l"/>
              </a:tabLst>
            </a:pPr>
            <a:r>
              <a:rPr sz="2400" b="1" spc="-5" dirty="0">
                <a:solidFill>
                  <a:srgbClr val="00AEEE"/>
                </a:solidFill>
                <a:latin typeface="Arial"/>
                <a:cs typeface="Arial"/>
              </a:rPr>
              <a:t>2	6	12	</a:t>
            </a:r>
            <a:r>
              <a:rPr sz="2400" b="1" spc="-20" dirty="0">
                <a:solidFill>
                  <a:srgbClr val="00AEEE"/>
                </a:solidFill>
                <a:latin typeface="Arial"/>
                <a:cs typeface="Arial"/>
              </a:rPr>
              <a:t>18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Note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:- similarly </a:t>
            </a:r>
            <a:r>
              <a:rPr sz="2400" b="1" spc="15" dirty="0">
                <a:solidFill>
                  <a:srgbClr val="FF0000"/>
                </a:solidFill>
                <a:latin typeface="Arial"/>
                <a:cs typeface="Arial"/>
              </a:rPr>
              <a:t>we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can use sub,mul,div</a:t>
            </a:r>
            <a:r>
              <a:rPr sz="2400" b="1" spc="-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functions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2954147" y="5670206"/>
            <a:ext cx="709295" cy="353695"/>
          </a:xfrm>
          <a:custGeom>
            <a:avLst/>
            <a:gdLst/>
            <a:ahLst/>
            <a:cxnLst/>
            <a:rect l="l" t="t" r="r" b="b"/>
            <a:pathLst>
              <a:path w="709295" h="353695">
                <a:moveTo>
                  <a:pt x="0" y="353136"/>
                </a:moveTo>
                <a:lnTo>
                  <a:pt x="709295" y="353136"/>
                </a:lnTo>
                <a:lnTo>
                  <a:pt x="709295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63441" y="5670206"/>
            <a:ext cx="1323975" cy="353695"/>
          </a:xfrm>
          <a:custGeom>
            <a:avLst/>
            <a:gdLst/>
            <a:ahLst/>
            <a:cxnLst/>
            <a:rect l="l" t="t" r="r" b="b"/>
            <a:pathLst>
              <a:path w="1323975" h="353695">
                <a:moveTo>
                  <a:pt x="0" y="353136"/>
                </a:moveTo>
                <a:lnTo>
                  <a:pt x="1323975" y="353136"/>
                </a:lnTo>
                <a:lnTo>
                  <a:pt x="1323975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87416" y="5670206"/>
            <a:ext cx="1173480" cy="353695"/>
          </a:xfrm>
          <a:custGeom>
            <a:avLst/>
            <a:gdLst/>
            <a:ahLst/>
            <a:cxnLst/>
            <a:rect l="l" t="t" r="r" b="b"/>
            <a:pathLst>
              <a:path w="1173479" h="353695">
                <a:moveTo>
                  <a:pt x="0" y="353136"/>
                </a:moveTo>
                <a:lnTo>
                  <a:pt x="1173480" y="353136"/>
                </a:lnTo>
                <a:lnTo>
                  <a:pt x="1173480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60896" y="5670206"/>
            <a:ext cx="1376680" cy="353695"/>
          </a:xfrm>
          <a:custGeom>
            <a:avLst/>
            <a:gdLst/>
            <a:ahLst/>
            <a:cxnLst/>
            <a:rect l="l" t="t" r="r" b="b"/>
            <a:pathLst>
              <a:path w="1376679" h="353695">
                <a:moveTo>
                  <a:pt x="0" y="353136"/>
                </a:moveTo>
                <a:lnTo>
                  <a:pt x="1376679" y="353136"/>
                </a:lnTo>
                <a:lnTo>
                  <a:pt x="1376679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37577" y="5670206"/>
            <a:ext cx="1136015" cy="353695"/>
          </a:xfrm>
          <a:custGeom>
            <a:avLst/>
            <a:gdLst/>
            <a:ahLst/>
            <a:cxnLst/>
            <a:rect l="l" t="t" r="r" b="b"/>
            <a:pathLst>
              <a:path w="1136015" h="353695">
                <a:moveTo>
                  <a:pt x="0" y="353136"/>
                </a:moveTo>
                <a:lnTo>
                  <a:pt x="1136015" y="353136"/>
                </a:lnTo>
                <a:lnTo>
                  <a:pt x="1136015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54147" y="6023343"/>
            <a:ext cx="709295" cy="353695"/>
          </a:xfrm>
          <a:custGeom>
            <a:avLst/>
            <a:gdLst/>
            <a:ahLst/>
            <a:cxnLst/>
            <a:rect l="l" t="t" r="r" b="b"/>
            <a:pathLst>
              <a:path w="709295" h="353695">
                <a:moveTo>
                  <a:pt x="0" y="353136"/>
                </a:moveTo>
                <a:lnTo>
                  <a:pt x="709295" y="353136"/>
                </a:lnTo>
                <a:lnTo>
                  <a:pt x="709295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63441" y="6023343"/>
            <a:ext cx="1323975" cy="353695"/>
          </a:xfrm>
          <a:custGeom>
            <a:avLst/>
            <a:gdLst/>
            <a:ahLst/>
            <a:cxnLst/>
            <a:rect l="l" t="t" r="r" b="b"/>
            <a:pathLst>
              <a:path w="1323975" h="353695">
                <a:moveTo>
                  <a:pt x="0" y="353136"/>
                </a:moveTo>
                <a:lnTo>
                  <a:pt x="1323975" y="353136"/>
                </a:lnTo>
                <a:lnTo>
                  <a:pt x="1323975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87416" y="6023343"/>
            <a:ext cx="1173480" cy="353695"/>
          </a:xfrm>
          <a:custGeom>
            <a:avLst/>
            <a:gdLst/>
            <a:ahLst/>
            <a:cxnLst/>
            <a:rect l="l" t="t" r="r" b="b"/>
            <a:pathLst>
              <a:path w="1173479" h="353695">
                <a:moveTo>
                  <a:pt x="0" y="353136"/>
                </a:moveTo>
                <a:lnTo>
                  <a:pt x="1173480" y="353136"/>
                </a:lnTo>
                <a:lnTo>
                  <a:pt x="1173480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60896" y="6023343"/>
            <a:ext cx="1376680" cy="353695"/>
          </a:xfrm>
          <a:custGeom>
            <a:avLst/>
            <a:gdLst/>
            <a:ahLst/>
            <a:cxnLst/>
            <a:rect l="l" t="t" r="r" b="b"/>
            <a:pathLst>
              <a:path w="1376679" h="353695">
                <a:moveTo>
                  <a:pt x="0" y="353136"/>
                </a:moveTo>
                <a:lnTo>
                  <a:pt x="1376679" y="353136"/>
                </a:lnTo>
                <a:lnTo>
                  <a:pt x="1376679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37577" y="6023343"/>
            <a:ext cx="1136015" cy="353695"/>
          </a:xfrm>
          <a:custGeom>
            <a:avLst/>
            <a:gdLst/>
            <a:ahLst/>
            <a:cxnLst/>
            <a:rect l="l" t="t" r="r" b="b"/>
            <a:pathLst>
              <a:path w="1136015" h="353695">
                <a:moveTo>
                  <a:pt x="0" y="353136"/>
                </a:moveTo>
                <a:lnTo>
                  <a:pt x="1136015" y="353136"/>
                </a:lnTo>
                <a:lnTo>
                  <a:pt x="1136015" y="0"/>
                </a:lnTo>
                <a:lnTo>
                  <a:pt x="0" y="0"/>
                </a:lnTo>
                <a:lnTo>
                  <a:pt x="0" y="353136"/>
                </a:lnTo>
                <a:close/>
              </a:path>
            </a:pathLst>
          </a:custGeom>
          <a:solidFill>
            <a:srgbClr val="F9FFD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28600" y="5670491"/>
          <a:ext cx="8629014" cy="1187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9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6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490">
                <a:tc>
                  <a:txBody>
                    <a:bodyPr/>
                    <a:lstStyle/>
                    <a:p>
                      <a:pPr marR="78105" algn="r">
                        <a:lnSpc>
                          <a:spcPts val="2630"/>
                        </a:lnSpc>
                        <a:tabLst>
                          <a:tab pos="423545" algn="l"/>
                        </a:tabLst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	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630"/>
                        </a:lnSpc>
                      </a:pPr>
                      <a:r>
                        <a:rPr lang="en-US" sz="24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b="1" spc="-5">
                          <a:latin typeface="Arial"/>
                          <a:cs typeface="Arial"/>
                        </a:rPr>
                        <a:t>nil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ts val="2630"/>
                        </a:lnSpc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sub1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2630"/>
                        </a:lnSpc>
                      </a:pPr>
                      <a:r>
                        <a:rPr lang="en-US" sz="2400" b="1" spc="-5" dirty="0">
                          <a:latin typeface="Arial"/>
                          <a:cs typeface="Arial"/>
                        </a:rPr>
                        <a:t>   S</a:t>
                      </a:r>
                      <a:r>
                        <a:rPr sz="2400" b="1" spc="-5">
                          <a:latin typeface="Arial"/>
                          <a:cs typeface="Arial"/>
                        </a:rPr>
                        <a:t>umer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tc>
                  <a:txBody>
                    <a:bodyPr/>
                    <a:lstStyle/>
                    <a:p>
                      <a:pPr marR="212090" algn="r">
                        <a:lnSpc>
                          <a:spcPts val="2630"/>
                        </a:lnSpc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sub2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9FF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019">
                <a:tc>
                  <a:txBody>
                    <a:bodyPr/>
                    <a:lstStyle/>
                    <a:p>
                      <a:pPr marR="78105" algn="r">
                        <a:lnSpc>
                          <a:spcPts val="2705"/>
                        </a:lnSpc>
                        <a:tabLst>
                          <a:tab pos="423545" algn="l"/>
                        </a:tabLst>
                      </a:pPr>
                      <a:r>
                        <a:rPr sz="2400" b="1">
                          <a:latin typeface="Arial"/>
                          <a:cs typeface="Arial"/>
                        </a:rPr>
                        <a:t>1	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705"/>
                        </a:lnSpc>
                      </a:pPr>
                      <a:r>
                        <a:rPr lang="en-US" sz="2400" b="1" spc="-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2400" b="1" spc="-5">
                          <a:latin typeface="Arial"/>
                          <a:cs typeface="Arial"/>
                        </a:rPr>
                        <a:t>ishal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ts val="2705"/>
                        </a:lnSpc>
                      </a:pPr>
                      <a:r>
                        <a:rPr sz="2400" b="1" spc="-10">
                          <a:latin typeface="Arial"/>
                          <a:cs typeface="Arial"/>
                        </a:rPr>
                        <a:t>sub2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705"/>
                        </a:lnSpc>
                      </a:pPr>
                      <a:r>
                        <a:rPr lang="en-US" sz="2400" b="1" spc="-5" dirty="0">
                          <a:latin typeface="Arial"/>
                          <a:cs typeface="Arial"/>
                        </a:rPr>
                        <a:t>   S</a:t>
                      </a:r>
                      <a:r>
                        <a:rPr sz="2400" b="1" spc="-5">
                          <a:latin typeface="Arial"/>
                          <a:cs typeface="Arial"/>
                        </a:rPr>
                        <a:t>alil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0" algn="r">
                        <a:lnSpc>
                          <a:spcPts val="2705"/>
                        </a:lnSpc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sub4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251708" y="662685"/>
            <a:ext cx="5737225" cy="493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700530">
              <a:lnSpc>
                <a:spcPct val="100000"/>
              </a:lnSpc>
              <a:spcBef>
                <a:spcPts val="100"/>
              </a:spcBef>
              <a:tabLst>
                <a:tab pos="1493520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 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Merging/joining</a:t>
            </a:r>
            <a:r>
              <a:rPr sz="2400" b="1" u="heavy" spc="-220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dataframe </a:t>
            </a:r>
            <a:r>
              <a:rPr sz="2400" b="1" dirty="0">
                <a:solidFill>
                  <a:srgbClr val="6E2E9F"/>
                </a:solidFill>
                <a:latin typeface="Arial"/>
                <a:cs typeface="Arial"/>
              </a:rPr>
              <a:t> 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e.g.</a:t>
            </a:r>
            <a:endParaRPr sz="2400">
              <a:latin typeface="Arial"/>
              <a:cs typeface="Arial"/>
            </a:endParaRPr>
          </a:p>
          <a:p>
            <a:pPr marL="240029" marR="295275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import pandas as pd  left =</a:t>
            </a:r>
            <a:r>
              <a:rPr sz="2000" b="1" spc="-2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pd.DataFrame({</a:t>
            </a:r>
            <a:endParaRPr sz="2000">
              <a:latin typeface="Arial"/>
              <a:cs typeface="Arial"/>
            </a:endParaRPr>
          </a:p>
          <a:p>
            <a:pPr marL="868044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'id':[1,2],</a:t>
            </a:r>
            <a:endParaRPr sz="2000">
              <a:latin typeface="Arial"/>
              <a:cs typeface="Arial"/>
            </a:endParaRPr>
          </a:p>
          <a:p>
            <a:pPr marL="868044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'Name': ['anil',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'vishal'],</a:t>
            </a:r>
            <a:endParaRPr sz="2000">
              <a:latin typeface="Arial"/>
              <a:cs typeface="Arial"/>
            </a:endParaRPr>
          </a:p>
          <a:p>
            <a:pPr marL="240029" marR="1550035" indent="62738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Arial"/>
                <a:cs typeface="Arial"/>
              </a:rPr>
              <a:t>'subject_id':['sub1','sub2']})  </a:t>
            </a:r>
            <a:r>
              <a:rPr sz="2000" b="1" dirty="0">
                <a:latin typeface="Arial"/>
                <a:cs typeface="Arial"/>
              </a:rPr>
              <a:t>right =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pd.DataFrame(</a:t>
            </a:r>
            <a:endParaRPr sz="2000">
              <a:latin typeface="Arial"/>
              <a:cs typeface="Arial"/>
            </a:endParaRPr>
          </a:p>
          <a:p>
            <a:pPr marL="868044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{'id':[1,2],</a:t>
            </a:r>
            <a:endParaRPr sz="2000">
              <a:latin typeface="Arial"/>
              <a:cs typeface="Arial"/>
            </a:endParaRPr>
          </a:p>
          <a:p>
            <a:pPr marL="868044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'Name': ['sumer',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'salil'],</a:t>
            </a:r>
            <a:endParaRPr sz="2000">
              <a:latin typeface="Arial"/>
              <a:cs typeface="Arial"/>
            </a:endParaRPr>
          </a:p>
          <a:p>
            <a:pPr marL="868044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'subject_id':['sub2','sub4']})</a:t>
            </a:r>
            <a:endParaRPr sz="2000">
              <a:latin typeface="Arial"/>
              <a:cs typeface="Arial"/>
            </a:endParaRPr>
          </a:p>
          <a:p>
            <a:pPr marL="240029">
              <a:lnSpc>
                <a:spcPts val="2315"/>
              </a:lnSpc>
            </a:pPr>
            <a:r>
              <a:rPr sz="2000" b="1" dirty="0">
                <a:latin typeface="Arial"/>
                <a:cs typeface="Arial"/>
              </a:rPr>
              <a:t>print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(pd.merge(left,right,on='id'))</a:t>
            </a:r>
            <a:endParaRPr sz="2000">
              <a:latin typeface="Arial"/>
              <a:cs typeface="Arial"/>
            </a:endParaRPr>
          </a:p>
          <a:p>
            <a:pPr marL="240029">
              <a:lnSpc>
                <a:spcPts val="2795"/>
              </a:lnSpc>
            </a:pP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451484" algn="l"/>
                <a:tab pos="1958975" algn="l"/>
              </a:tabLst>
            </a:pPr>
            <a:r>
              <a:rPr sz="1800" b="1" dirty="0">
                <a:latin typeface="Arial"/>
                <a:cs typeface="Arial"/>
              </a:rPr>
              <a:t>id	</a:t>
            </a:r>
            <a:r>
              <a:rPr sz="1800" b="1" spc="-10" dirty="0">
                <a:latin typeface="Arial"/>
                <a:cs typeface="Arial"/>
              </a:rPr>
              <a:t>Name_x	</a:t>
            </a:r>
            <a:r>
              <a:rPr sz="1800" b="1" spc="-5" dirty="0">
                <a:latin typeface="Arial"/>
                <a:cs typeface="Arial"/>
              </a:rPr>
              <a:t>subject_id_x </a:t>
            </a:r>
            <a:r>
              <a:rPr sz="1800" b="1" spc="-10" dirty="0">
                <a:latin typeface="Arial"/>
                <a:cs typeface="Arial"/>
              </a:rPr>
              <a:t>Name_y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subject_id_y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wedg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625855" y="2370582"/>
            <a:ext cx="7331075" cy="2358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555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Pandas	DataFrame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u="heavy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Merging/combining dataframe(different</a:t>
            </a:r>
            <a:r>
              <a:rPr sz="2400" b="1" u="heavy" spc="-13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5" dirty="0">
                <a:solidFill>
                  <a:srgbClr val="6E2E9F"/>
                </a:solidFill>
                <a:uFill>
                  <a:solidFill>
                    <a:srgbClr val="6E2E9F"/>
                  </a:solidFill>
                </a:uFill>
                <a:latin typeface="Arial"/>
                <a:cs typeface="Arial"/>
              </a:rPr>
              <a:t>styles)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5819775" algn="l"/>
              </a:tabLst>
            </a:pPr>
            <a:r>
              <a:rPr sz="2000" b="1" dirty="0">
                <a:latin typeface="Arial"/>
                <a:cs typeface="Arial"/>
              </a:rPr>
              <a:t>pd.merge(left, right,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on='subject_id',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how='left')	</a:t>
            </a:r>
            <a:r>
              <a:rPr sz="2000" b="1" dirty="0">
                <a:latin typeface="Arial"/>
                <a:cs typeface="Arial"/>
              </a:rPr>
              <a:t>#left </a:t>
            </a:r>
            <a:r>
              <a:rPr sz="2000" b="1" spc="-5" dirty="0">
                <a:latin typeface="Arial"/>
                <a:cs typeface="Arial"/>
              </a:rPr>
              <a:t>join  </a:t>
            </a:r>
            <a:r>
              <a:rPr sz="2000" b="1" dirty="0">
                <a:latin typeface="Arial"/>
                <a:cs typeface="Arial"/>
              </a:rPr>
              <a:t>pd.merge(left, right, on='subject_id', how='right') #right </a:t>
            </a:r>
            <a:r>
              <a:rPr sz="2000" b="1" spc="-5" dirty="0">
                <a:latin typeface="Arial"/>
                <a:cs typeface="Arial"/>
              </a:rPr>
              <a:t>join  </a:t>
            </a:r>
            <a:r>
              <a:rPr sz="2000" b="1" dirty="0">
                <a:latin typeface="Arial"/>
                <a:cs typeface="Arial"/>
              </a:rPr>
              <a:t>pd.merge(left, right, how='outer', on='subject_id') #outer</a:t>
            </a:r>
            <a:r>
              <a:rPr sz="2000" b="1" spc="-20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join  </a:t>
            </a:r>
            <a:r>
              <a:rPr sz="2000" b="1" dirty="0">
                <a:latin typeface="Arial"/>
                <a:cs typeface="Arial"/>
              </a:rPr>
              <a:t>pd.merge(left, right, on='subject_id', how='inner') # inner</a:t>
            </a:r>
            <a:r>
              <a:rPr sz="2000" b="1" spc="-43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join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</p:spTree>
  </p:cSld>
  <p:clrMapOvr>
    <a:masterClrMapping/>
  </p:clrMapOvr>
  <p:transition spd="slow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 	</a:t>
            </a:r>
            <a:r>
              <a:rPr spc="-25" dirty="0"/>
              <a:t>Data </a:t>
            </a:r>
            <a:r>
              <a:rPr spc="-10" dirty="0"/>
              <a:t>Handling </a:t>
            </a:r>
            <a:r>
              <a:rPr spc="-5" dirty="0"/>
              <a:t>using </a:t>
            </a:r>
            <a:r>
              <a:rPr spc="-15" dirty="0"/>
              <a:t>Pand</a:t>
            </a:r>
            <a:r>
              <a:rPr u="none" spc="-15" dirty="0"/>
              <a:t>as</a:t>
            </a:r>
            <a:r>
              <a:rPr u="none" spc="-165" dirty="0"/>
              <a:t> </a:t>
            </a:r>
            <a:r>
              <a:rPr u="none" dirty="0"/>
              <a:t>-1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82415" y="862964"/>
            <a:ext cx="4767580" cy="1734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Concate two DataFrame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objects with identical  columns.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5" dirty="0">
                <a:latin typeface="Calibri"/>
                <a:cs typeface="Calibri"/>
              </a:rPr>
              <a:t>df1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pd.DataFrame([['a', </a:t>
            </a:r>
            <a:r>
              <a:rPr sz="1800" dirty="0">
                <a:latin typeface="Calibri"/>
                <a:cs typeface="Calibri"/>
              </a:rPr>
              <a:t>1], ['b',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2]],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229995" algn="l"/>
              </a:tabLst>
            </a:pPr>
            <a:r>
              <a:rPr sz="1800" spc="-5" dirty="0">
                <a:latin typeface="Calibri"/>
                <a:cs typeface="Calibri"/>
              </a:rPr>
              <a:t>...	</a:t>
            </a:r>
            <a:r>
              <a:rPr sz="1800" spc="-10" dirty="0">
                <a:latin typeface="Calibri"/>
                <a:cs typeface="Calibri"/>
              </a:rPr>
              <a:t>columns=['letter',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'number'])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&gt;&gt;&gt;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df1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letter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82415" y="2571445"/>
            <a:ext cx="1416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1421" y="2571445"/>
            <a:ext cx="6286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 indent="-476884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488950" algn="l"/>
                <a:tab pos="489584" algn="l"/>
              </a:tabLst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499745" indent="-487680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499745" algn="l"/>
                <a:tab pos="500380" algn="l"/>
              </a:tabLst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2415" y="3120644"/>
            <a:ext cx="39020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&gt;&gt;&gt; </a:t>
            </a:r>
            <a:r>
              <a:rPr sz="1800" spc="-5" dirty="0">
                <a:latin typeface="Calibri"/>
                <a:cs typeface="Calibri"/>
              </a:rPr>
              <a:t>df2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10" dirty="0">
                <a:latin typeface="Calibri"/>
                <a:cs typeface="Calibri"/>
              </a:rPr>
              <a:t>pd.DataFrame([['c', </a:t>
            </a:r>
            <a:r>
              <a:rPr sz="1800" dirty="0">
                <a:latin typeface="Calibri"/>
                <a:cs typeface="Calibri"/>
              </a:rPr>
              <a:t>3], ['d',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4]],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229995" algn="l"/>
              </a:tabLst>
            </a:pPr>
            <a:r>
              <a:rPr sz="1800" spc="-5" dirty="0">
                <a:latin typeface="Calibri"/>
                <a:cs typeface="Calibri"/>
              </a:rPr>
              <a:t>...	</a:t>
            </a:r>
            <a:r>
              <a:rPr sz="1800" spc="-10" dirty="0">
                <a:latin typeface="Calibri"/>
                <a:cs typeface="Calibri"/>
              </a:rPr>
              <a:t>columns=['letter',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'number'])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&gt;&gt;&gt;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df2</a:t>
            </a:r>
            <a:endParaRPr sz="1800">
              <a:latin typeface="Calibri"/>
              <a:cs typeface="Calibri"/>
            </a:endParaRPr>
          </a:p>
          <a:p>
            <a:pPr marL="117475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letter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82415" y="4218178"/>
            <a:ext cx="141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1535" y="4218178"/>
            <a:ext cx="628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980" indent="-462915">
              <a:lnSpc>
                <a:spcPct val="100000"/>
              </a:lnSpc>
              <a:spcBef>
                <a:spcPts val="100"/>
              </a:spcBef>
              <a:buAutoNum type="alphaLcPeriod" startAt="3"/>
              <a:tabLst>
                <a:tab pos="474980" algn="l"/>
                <a:tab pos="475615" algn="l"/>
              </a:tabLst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499745" indent="-487680">
              <a:lnSpc>
                <a:spcPct val="100000"/>
              </a:lnSpc>
              <a:buAutoNum type="alphaLcPeriod" startAt="3"/>
              <a:tabLst>
                <a:tab pos="499109" algn="l"/>
                <a:tab pos="500380" algn="l"/>
              </a:tabLst>
            </a:pP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2415" y="4766817"/>
            <a:ext cx="23342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&gt;&gt;&gt; </a:t>
            </a:r>
            <a:r>
              <a:rPr sz="1800" spc="-10" dirty="0">
                <a:latin typeface="Calibri"/>
                <a:cs typeface="Calibri"/>
              </a:rPr>
              <a:t>pd.concat([df1, </a:t>
            </a:r>
            <a:r>
              <a:rPr sz="1800" spc="-5" dirty="0">
                <a:latin typeface="Calibri"/>
                <a:cs typeface="Calibri"/>
              </a:rPr>
              <a:t>df2])  </a:t>
            </a:r>
            <a:r>
              <a:rPr sz="1800" spc="-15" dirty="0">
                <a:latin typeface="Calibri"/>
                <a:cs typeface="Calibri"/>
              </a:rPr>
              <a:t>letter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endParaRPr sz="1800">
              <a:latin typeface="Calibri"/>
              <a:cs typeface="Calibri"/>
            </a:endParaRPr>
          </a:p>
          <a:p>
            <a:pPr marL="441325" indent="-429259">
              <a:lnSpc>
                <a:spcPct val="100000"/>
              </a:lnSpc>
              <a:buAutoNum type="arabicPlain"/>
              <a:tabLst>
                <a:tab pos="441325" algn="l"/>
                <a:tab pos="441959" algn="l"/>
                <a:tab pos="918210" algn="l"/>
              </a:tabLst>
            </a:pPr>
            <a:r>
              <a:rPr sz="1800" dirty="0">
                <a:latin typeface="Calibri"/>
                <a:cs typeface="Calibri"/>
              </a:rPr>
              <a:t>a	1</a:t>
            </a:r>
            <a:endParaRPr sz="1800">
              <a:latin typeface="Calibri"/>
              <a:cs typeface="Calibri"/>
            </a:endParaRPr>
          </a:p>
          <a:p>
            <a:pPr marL="441325" indent="-429259">
              <a:lnSpc>
                <a:spcPct val="100000"/>
              </a:lnSpc>
              <a:buAutoNum type="arabicPlain"/>
              <a:tabLst>
                <a:tab pos="441325" algn="l"/>
                <a:tab pos="441959" algn="l"/>
                <a:tab pos="928369" algn="l"/>
              </a:tabLst>
            </a:pPr>
            <a:r>
              <a:rPr sz="1800" dirty="0">
                <a:latin typeface="Calibri"/>
                <a:cs typeface="Calibri"/>
              </a:rPr>
              <a:t>b	2</a:t>
            </a:r>
            <a:endParaRPr sz="1800">
              <a:latin typeface="Calibri"/>
              <a:cs typeface="Calibri"/>
            </a:endParaRPr>
          </a:p>
          <a:p>
            <a:pPr marL="441325" indent="-429259">
              <a:lnSpc>
                <a:spcPct val="100000"/>
              </a:lnSpc>
              <a:buAutoNum type="arabicPlain"/>
              <a:tabLst>
                <a:tab pos="441325" algn="l"/>
                <a:tab pos="441959" algn="l"/>
                <a:tab pos="904240" algn="l"/>
              </a:tabLst>
            </a:pPr>
            <a:r>
              <a:rPr sz="1800" dirty="0">
                <a:latin typeface="Calibri"/>
                <a:cs typeface="Calibri"/>
              </a:rPr>
              <a:t>c	3</a:t>
            </a:r>
            <a:endParaRPr sz="1800">
              <a:latin typeface="Calibri"/>
              <a:cs typeface="Calibri"/>
            </a:endParaRPr>
          </a:p>
          <a:p>
            <a:pPr marL="441325" indent="-429259">
              <a:lnSpc>
                <a:spcPct val="100000"/>
              </a:lnSpc>
              <a:buAutoNum type="arabicPlain"/>
              <a:tabLst>
                <a:tab pos="441325" algn="l"/>
                <a:tab pos="441959" algn="l"/>
                <a:tab pos="928369" algn="l"/>
              </a:tabLst>
            </a:pPr>
            <a:r>
              <a:rPr sz="1800" dirty="0">
                <a:latin typeface="Calibri"/>
                <a:cs typeface="Calibri"/>
              </a:rPr>
              <a:t>d	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dissolv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209800" y="838200"/>
            <a:ext cx="6858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lang="en-US" b="1" u="sng" spc="-25" dirty="0"/>
              <a:t>    </a:t>
            </a:r>
            <a:r>
              <a:rPr b="1" u="sng" spc="-25"/>
              <a:t>Data </a:t>
            </a:r>
            <a:r>
              <a:rPr b="1" u="sng" spc="-10" dirty="0"/>
              <a:t>Handling </a:t>
            </a:r>
            <a:r>
              <a:rPr b="1" u="sng" spc="-5" dirty="0"/>
              <a:t>using </a:t>
            </a:r>
            <a:r>
              <a:rPr b="1" u="sng" spc="-15" dirty="0"/>
              <a:t>Pandas</a:t>
            </a:r>
            <a:r>
              <a:rPr b="1" u="sng" spc="-165" dirty="0"/>
              <a:t> </a:t>
            </a:r>
            <a:r>
              <a:rPr b="1" u="sng" dirty="0"/>
              <a:t>-1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83235" y="1762455"/>
            <a:ext cx="7238365" cy="405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Export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Pandas DataFrame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CSV</a:t>
            </a:r>
            <a:r>
              <a:rPr sz="2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File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b="1" dirty="0">
                <a:latin typeface="Calibri"/>
                <a:cs typeface="Calibri"/>
              </a:rPr>
              <a:t>e.g.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import pandas </a:t>
            </a:r>
            <a:r>
              <a:rPr sz="2000" b="1" spc="-5" dirty="0">
                <a:latin typeface="Calibri"/>
                <a:cs typeface="Calibri"/>
              </a:rPr>
              <a:t>as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</a:pPr>
            <a:r>
              <a:rPr sz="2000" b="1" spc="-15" dirty="0">
                <a:latin typeface="Calibri"/>
                <a:cs typeface="Calibri"/>
              </a:rPr>
              <a:t>cars </a:t>
            </a:r>
            <a:r>
              <a:rPr sz="2000" b="1" dirty="0">
                <a:latin typeface="Calibri"/>
                <a:cs typeface="Calibri"/>
              </a:rPr>
              <a:t>= </a:t>
            </a:r>
            <a:r>
              <a:rPr sz="2000" b="1" spc="-5" dirty="0">
                <a:latin typeface="Calibri"/>
                <a:cs typeface="Calibri"/>
              </a:rPr>
              <a:t>{'Brand': </a:t>
            </a:r>
            <a:r>
              <a:rPr sz="2000" b="1" dirty="0">
                <a:latin typeface="Calibri"/>
                <a:cs typeface="Calibri"/>
              </a:rPr>
              <a:t>['Honda </a:t>
            </a:r>
            <a:r>
              <a:rPr sz="2000" b="1" spc="-20" dirty="0">
                <a:latin typeface="Calibri"/>
                <a:cs typeface="Calibri"/>
              </a:rPr>
              <a:t>Civic','Toyota </a:t>
            </a:r>
            <a:r>
              <a:rPr sz="2000" b="1" spc="-10" dirty="0">
                <a:latin typeface="Calibri"/>
                <a:cs typeface="Calibri"/>
              </a:rPr>
              <a:t>Corolla','Ford </a:t>
            </a:r>
            <a:r>
              <a:rPr sz="2000" b="1" dirty="0">
                <a:latin typeface="Calibri"/>
                <a:cs typeface="Calibri"/>
              </a:rPr>
              <a:t>Focus','Audi </a:t>
            </a:r>
            <a:r>
              <a:rPr sz="2000" b="1" spc="-5" dirty="0">
                <a:latin typeface="Calibri"/>
                <a:cs typeface="Calibri"/>
              </a:rPr>
              <a:t>A4'],  'Price':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[22000,25000,27000,35000]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df = </a:t>
            </a:r>
            <a:r>
              <a:rPr sz="2000" b="1" spc="-10" dirty="0">
                <a:latin typeface="Calibri"/>
                <a:cs typeface="Calibri"/>
              </a:rPr>
              <a:t>pd.DataFrame(cars, </a:t>
            </a:r>
            <a:r>
              <a:rPr sz="2000" b="1" dirty="0">
                <a:latin typeface="Calibri"/>
                <a:cs typeface="Calibri"/>
              </a:rPr>
              <a:t>columns= </a:t>
            </a:r>
            <a:r>
              <a:rPr sz="2000" b="1" spc="-5" dirty="0">
                <a:latin typeface="Calibri"/>
                <a:cs typeface="Calibri"/>
              </a:rPr>
              <a:t>['Brand',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'Price'])</a:t>
            </a:r>
            <a:endParaRPr sz="2000">
              <a:latin typeface="Calibri"/>
              <a:cs typeface="Calibri"/>
            </a:endParaRPr>
          </a:p>
          <a:p>
            <a:pPr marL="12700" marR="302895">
              <a:lnSpc>
                <a:spcPct val="200000"/>
              </a:lnSpc>
            </a:pPr>
            <a:r>
              <a:rPr sz="2000" b="1" spc="-20" dirty="0">
                <a:latin typeface="Calibri"/>
                <a:cs typeface="Calibri"/>
              </a:rPr>
              <a:t>df.to_csv </a:t>
            </a:r>
            <a:r>
              <a:rPr sz="2000" b="1" spc="-10" dirty="0">
                <a:latin typeface="Calibri"/>
                <a:cs typeface="Calibri"/>
              </a:rPr>
              <a:t>(r'C:\export_dataframe.csv', index </a:t>
            </a:r>
            <a:r>
              <a:rPr sz="2000" b="1" dirty="0">
                <a:latin typeface="Calibri"/>
                <a:cs typeface="Calibri"/>
              </a:rPr>
              <a:t>= </a:t>
            </a:r>
            <a:r>
              <a:rPr sz="2000" b="1" spc="-10" dirty="0">
                <a:latin typeface="Calibri"/>
                <a:cs typeface="Calibri"/>
              </a:rPr>
              <a:t>False, header=True)  </a:t>
            </a:r>
            <a:r>
              <a:rPr sz="2000" b="1" spc="-5" dirty="0">
                <a:latin typeface="Calibri"/>
                <a:cs typeface="Calibri"/>
              </a:rPr>
              <a:t>print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5" dirty="0">
                <a:latin typeface="Calibri"/>
                <a:cs typeface="Calibri"/>
              </a:rPr>
              <a:t>(df)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checker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sign with blue text">
            <a:extLst>
              <a:ext uri="{FF2B5EF4-FFF2-40B4-BE49-F238E27FC236}">
                <a16:creationId xmlns:a16="http://schemas.microsoft.com/office/drawing/2014/main" id="{767AB143-AF5B-7F2D-9034-7739822019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6" r="12714"/>
          <a:stretch/>
        </p:blipFill>
        <p:spPr>
          <a:xfrm>
            <a:off x="20" y="1"/>
            <a:ext cx="914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16464"/>
      </p:ext>
    </p:extLst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4265</Words>
  <Application>Microsoft Office PowerPoint</Application>
  <PresentationFormat>On-screen Show (4:3)</PresentationFormat>
  <Paragraphs>609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Data Handling using Pandas -1</vt:lpstr>
      <vt:lpstr>Data Handling using Pandas -1</vt:lpstr>
      <vt:lpstr>  Data Handling using Pandas -1</vt:lpstr>
      <vt:lpstr>  Data Handling using Pandas -1</vt:lpstr>
      <vt:lpstr>PowerPoint Presentation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Data Handling using Pandas -1</vt:lpstr>
      <vt:lpstr>    Data Handling using Pandas -1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kamal korlakunta</cp:lastModifiedBy>
  <cp:revision>11</cp:revision>
  <dcterms:created xsi:type="dcterms:W3CDTF">2020-04-19T09:19:02Z</dcterms:created>
  <dcterms:modified xsi:type="dcterms:W3CDTF">2023-10-02T17:55:32Z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2020-04-19T00:00:00Z</vt:filetime>
  </property>
</Properties>
</file>