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g" ContentType="image/jpg"/>
  <Override PartName="/ppt/media/image14.jpg" ContentType="image/jpg"/>
  <Override PartName="/ppt/media/image2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0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12747"/>
            <a:ext cx="9144000" cy="11277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435608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434465"/>
          </a:xfrm>
          <a:custGeom>
            <a:avLst/>
            <a:gdLst/>
            <a:ahLst/>
            <a:cxnLst/>
            <a:rect l="l" t="t" r="r" b="b"/>
            <a:pathLst>
              <a:path w="9144000" h="1434465">
                <a:moveTo>
                  <a:pt x="9144000" y="0"/>
                </a:moveTo>
                <a:lnTo>
                  <a:pt x="0" y="0"/>
                </a:lnTo>
                <a:lnTo>
                  <a:pt x="0" y="1434084"/>
                </a:lnTo>
                <a:lnTo>
                  <a:pt x="9144000" y="143408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8656DD-5B86-10B3-0D31-0A3DA8A786DA}"/>
              </a:ext>
            </a:extLst>
          </p:cNvPr>
          <p:cNvSpPr/>
          <p:nvPr userDrawn="1"/>
        </p:nvSpPr>
        <p:spPr>
          <a:xfrm>
            <a:off x="6019800" y="6400800"/>
            <a:ext cx="3124200" cy="457200"/>
          </a:xfrm>
          <a:prstGeom prst="rect">
            <a:avLst/>
          </a:prstGeom>
          <a:blipFill dpi="0" rotWithShape="1">
            <a:blip r:embed="rId8" cstate="print">
              <a:alphaModFix amt="8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python-programming/methods/dictionary/keys" TargetMode="External"/><Relationship Id="rId13" Type="http://schemas.openxmlformats.org/officeDocument/2006/relationships/hyperlink" Target="https://www.programiz.com/python-programming/methods/dictionary/values" TargetMode="External"/><Relationship Id="rId3" Type="http://schemas.openxmlformats.org/officeDocument/2006/relationships/hyperlink" Target="https://www.programiz.com/python-programming/methods/dictionary/clear" TargetMode="External"/><Relationship Id="rId7" Type="http://schemas.openxmlformats.org/officeDocument/2006/relationships/hyperlink" Target="https://www.programiz.com/python-programming/methods/dictionary/items" TargetMode="External"/><Relationship Id="rId12" Type="http://schemas.openxmlformats.org/officeDocument/2006/relationships/hyperlink" Target="https://www.programiz.com/python-programming/methods/dictionary/update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programiz.com/python-programming/methods/dictionary/get" TargetMode="External"/><Relationship Id="rId11" Type="http://schemas.openxmlformats.org/officeDocument/2006/relationships/hyperlink" Target="https://www.programiz.com/python-programming/methods/dictionary/setdefault" TargetMode="External"/><Relationship Id="rId5" Type="http://schemas.openxmlformats.org/officeDocument/2006/relationships/hyperlink" Target="https://www.programiz.com/python-programming/methods/dictionary/fromkeys" TargetMode="External"/><Relationship Id="rId10" Type="http://schemas.openxmlformats.org/officeDocument/2006/relationships/hyperlink" Target="https://www.programiz.com/python-programming/methods/dictionary/popitem" TargetMode="External"/><Relationship Id="rId4" Type="http://schemas.openxmlformats.org/officeDocument/2006/relationships/hyperlink" Target="https://www.programiz.com/python-programming/methods/dictionary/copy" TargetMode="External"/><Relationship Id="rId9" Type="http://schemas.openxmlformats.org/officeDocument/2006/relationships/hyperlink" Target="https://www.programiz.com/python-programming/methods/dictionary/po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methods/built-in/len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33.png"/><Relationship Id="rId4" Type="http://schemas.openxmlformats.org/officeDocument/2006/relationships/hyperlink" Target="https://www.programiz.com/python-programming/methods/built-in/sort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2F087A77-86EE-7B13-7434-85380C7E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151"/>
            <a:ext cx="9144000" cy="686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4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880"/>
                  </a:lnTo>
                  <a:lnTo>
                    <a:pt x="9144000" y="513588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5400"/>
              <a:ext cx="9144000" cy="112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8259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911" y="3488435"/>
              <a:ext cx="4651248" cy="566927"/>
            </a:xfrm>
            <a:prstGeom prst="rect">
              <a:avLst/>
            </a:prstGeom>
          </p:spPr>
        </p:pic>
      </p:grpSp>
      <p:pic>
        <p:nvPicPr>
          <p:cNvPr id="9" name="Picture 8" descr="A black and red text&#10;&#10;Description automatically generated">
            <a:extLst>
              <a:ext uri="{FF2B5EF4-FFF2-40B4-BE49-F238E27FC236}">
                <a16:creationId xmlns:a16="http://schemas.microsoft.com/office/drawing/2014/main" id="{CF49F44D-587A-434B-71BA-ABA91080A5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310250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450080" cy="5425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842262"/>
            <a:ext cx="7909559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151511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Arial MT"/>
                <a:cs typeface="Arial MT"/>
              </a:rPr>
              <a:t>Python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dictionary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5" dirty="0">
                <a:latin typeface="Arial MT"/>
                <a:cs typeface="Arial MT"/>
              </a:rPr>
              <a:t> unordered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collection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 </a:t>
            </a:r>
            <a:r>
              <a:rPr sz="3200" spc="-5" dirty="0">
                <a:latin typeface="Arial MT"/>
                <a:cs typeface="Arial MT"/>
              </a:rPr>
              <a:t>items.</a:t>
            </a:r>
            <a:endParaRPr sz="3200">
              <a:latin typeface="Arial MT"/>
              <a:cs typeface="Arial MT"/>
            </a:endParaRPr>
          </a:p>
          <a:p>
            <a:pPr marL="332105" marR="5080" indent="-320040">
              <a:lnSpc>
                <a:spcPct val="100000"/>
              </a:lnSpc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Arial MT"/>
                <a:cs typeface="Arial MT"/>
              </a:rPr>
              <a:t>While other compound data types </a:t>
            </a:r>
            <a:r>
              <a:rPr sz="3200" spc="-5" dirty="0">
                <a:latin typeface="Arial MT"/>
                <a:cs typeface="Arial MT"/>
              </a:rPr>
              <a:t>have </a:t>
            </a:r>
            <a:r>
              <a:rPr sz="3200" dirty="0">
                <a:latin typeface="Arial MT"/>
                <a:cs typeface="Arial MT"/>
              </a:rPr>
              <a:t> only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value</a:t>
            </a:r>
            <a:r>
              <a:rPr sz="3200" spc="-5" dirty="0">
                <a:latin typeface="Arial MT"/>
                <a:cs typeface="Arial MT"/>
              </a:rPr>
              <a:t> as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element,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dictionary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key: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value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spc="-40" dirty="0">
                <a:latin typeface="Arial MT"/>
                <a:cs typeface="Arial MT"/>
              </a:rPr>
              <a:t>pair.</a:t>
            </a:r>
            <a:endParaRPr sz="3200">
              <a:latin typeface="Arial MT"/>
              <a:cs typeface="Arial MT"/>
            </a:endParaRPr>
          </a:p>
          <a:p>
            <a:pPr marL="332105" marR="975360" indent="-320040">
              <a:lnSpc>
                <a:spcPct val="100000"/>
              </a:lnSpc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Arial MT"/>
                <a:cs typeface="Arial MT"/>
              </a:rPr>
              <a:t>Dictionaries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optimized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retrieve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values</a:t>
            </a:r>
            <a:r>
              <a:rPr sz="3200" spc="-5" dirty="0">
                <a:latin typeface="Arial MT"/>
                <a:cs typeface="Arial MT"/>
              </a:rPr>
              <a:t> when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known.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D6805AE0-B675-2AFC-2C58-E32ADDC3D9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65404"/>
            <a:ext cx="510692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0636" y="1823669"/>
            <a:ext cx="797179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740" algn="l"/>
                <a:tab pos="333375" algn="l"/>
              </a:tabLst>
            </a:pPr>
            <a:r>
              <a:rPr sz="2400" spc="-5" dirty="0">
                <a:latin typeface="Arial MT"/>
                <a:cs typeface="Arial MT"/>
              </a:rPr>
              <a:t>Creating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dictionary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simple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placing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inside</a:t>
            </a:r>
            <a:endParaRPr sz="24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curly braces</a:t>
            </a:r>
            <a:r>
              <a:rPr sz="2400" dirty="0">
                <a:latin typeface="Arial MT"/>
                <a:cs typeface="Arial MT"/>
              </a:rPr>
              <a:t> {} </a:t>
            </a:r>
            <a:r>
              <a:rPr sz="2400" spc="-5" dirty="0">
                <a:latin typeface="Arial MT"/>
                <a:cs typeface="Arial MT"/>
              </a:rPr>
              <a:t>separated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comma.</a:t>
            </a:r>
            <a:endParaRPr sz="2400">
              <a:latin typeface="Arial MT"/>
              <a:cs typeface="Arial MT"/>
            </a:endParaRPr>
          </a:p>
          <a:p>
            <a:pPr marL="332740" marR="1371600" indent="-320675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740" algn="l"/>
                <a:tab pos="333375" algn="l"/>
              </a:tabLst>
            </a:pP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dictionary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represented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b="1" spc="-5" dirty="0">
                <a:latin typeface="Arial"/>
                <a:cs typeface="Arial"/>
              </a:rPr>
              <a:t>key:value</a:t>
            </a:r>
            <a:r>
              <a:rPr sz="2400" b="1" spc="25" dirty="0">
                <a:latin typeface="Arial"/>
                <a:cs typeface="Arial"/>
              </a:rPr>
              <a:t> </a:t>
            </a:r>
            <a:r>
              <a:rPr sz="2400" spc="-30" dirty="0">
                <a:latin typeface="Arial MT"/>
                <a:cs typeface="Arial MT"/>
              </a:rPr>
              <a:t>pair.</a:t>
            </a:r>
            <a:endParaRPr sz="2400">
              <a:latin typeface="Arial MT"/>
              <a:cs typeface="Arial MT"/>
            </a:endParaRPr>
          </a:p>
          <a:p>
            <a:pPr marL="332740" indent="-320675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740" algn="l"/>
                <a:tab pos="333375" algn="l"/>
              </a:tabLst>
            </a:pPr>
            <a:r>
              <a:rPr sz="2400" spc="-5" dirty="0">
                <a:latin typeface="Arial MT"/>
                <a:cs typeface="Arial MT"/>
              </a:rPr>
              <a:t>While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 of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 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repeat,</a:t>
            </a:r>
            <a:endParaRPr sz="24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keys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immutable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unique.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6175" y="6547815"/>
            <a:ext cx="94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E3E3E"/>
                </a:solidFill>
                <a:latin typeface="Corbel"/>
                <a:cs typeface="Corbel"/>
              </a:rPr>
              <a:t>3</a:t>
            </a:r>
            <a:endParaRPr sz="12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83" y="4448195"/>
            <a:ext cx="6049128" cy="428936"/>
          </a:xfrm>
          <a:prstGeom prst="rect">
            <a:avLst/>
          </a:prstGeom>
        </p:spPr>
      </p:pic>
      <p:pic>
        <p:nvPicPr>
          <p:cNvPr id="7" name="Picture 6" descr="A black and red text&#10;&#10;Description automatically generated">
            <a:extLst>
              <a:ext uri="{FF2B5EF4-FFF2-40B4-BE49-F238E27FC236}">
                <a16:creationId xmlns:a16="http://schemas.microsoft.com/office/drawing/2014/main" id="{844741A9-27C0-B4E6-A031-B0EC559B93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687" y="583691"/>
            <a:ext cx="8139683" cy="4937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747774"/>
            <a:ext cx="7979409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While indexing is used with </a:t>
            </a:r>
            <a:r>
              <a:rPr sz="2000" spc="-5" dirty="0">
                <a:latin typeface="Arial MT"/>
                <a:cs typeface="Arial MT"/>
              </a:rPr>
              <a:t>other </a:t>
            </a:r>
            <a:r>
              <a:rPr sz="2000" dirty="0">
                <a:latin typeface="Arial MT"/>
                <a:cs typeface="Arial MT"/>
              </a:rPr>
              <a:t>container </a:t>
            </a:r>
            <a:r>
              <a:rPr sz="2000" spc="-5" dirty="0">
                <a:latin typeface="Arial MT"/>
                <a:cs typeface="Arial MT"/>
              </a:rPr>
              <a:t>types </a:t>
            </a:r>
            <a:r>
              <a:rPr sz="2000" dirty="0">
                <a:latin typeface="Arial MT"/>
                <a:cs typeface="Arial MT"/>
              </a:rPr>
              <a:t>to access values,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dictionary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keys.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either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inside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square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brackets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get()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method.</a:t>
            </a:r>
            <a:endParaRPr sz="2000">
              <a:latin typeface="Arial MT"/>
              <a:cs typeface="Arial MT"/>
            </a:endParaRPr>
          </a:p>
          <a:p>
            <a:pPr marL="332740" marR="700405" indent="-320040">
              <a:lnSpc>
                <a:spcPct val="1000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get()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 returns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None </a:t>
            </a:r>
            <a:r>
              <a:rPr sz="2000" dirty="0">
                <a:latin typeface="Arial MT"/>
                <a:cs typeface="Arial MT"/>
              </a:rPr>
              <a:t>instead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KeyError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found.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429000"/>
            <a:ext cx="3962400" cy="28772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4926" y="3543300"/>
            <a:ext cx="3410329" cy="1676400"/>
          </a:xfrm>
          <a:prstGeom prst="rect">
            <a:avLst/>
          </a:prstGeom>
        </p:spPr>
      </p:pic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8C0ADE74-2866-9CAA-B39C-2C5CFDBF54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404" y="272795"/>
            <a:ext cx="7959852" cy="11186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95373"/>
            <a:ext cx="780859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4089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5" dirty="0">
                <a:latin typeface="Arial MT"/>
                <a:cs typeface="Arial MT"/>
              </a:rPr>
              <a:t>Dictionary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mutable.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</a:t>
            </a:r>
            <a:r>
              <a:rPr sz="2400" spc="-5" dirty="0">
                <a:latin typeface="Arial MT"/>
                <a:cs typeface="Arial MT"/>
              </a:rPr>
              <a:t> 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</a:t>
            </a:r>
            <a:r>
              <a:rPr sz="2400" dirty="0">
                <a:latin typeface="Arial MT"/>
                <a:cs typeface="Arial MT"/>
              </a:rPr>
              <a:t> change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existing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items using assignment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operator.</a:t>
            </a:r>
            <a:endParaRPr sz="2400">
              <a:latin typeface="Arial MT"/>
              <a:cs typeface="Arial MT"/>
            </a:endParaRPr>
          </a:p>
          <a:p>
            <a:pPr marL="332105" marR="508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already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present,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updated,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pair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the </a:t>
            </a:r>
            <a:r>
              <a:rPr sz="2400" spc="-20" dirty="0">
                <a:latin typeface="Arial MT"/>
                <a:cs typeface="Arial MT"/>
              </a:rPr>
              <a:t>dictionary.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609202"/>
            <a:ext cx="6772656" cy="2715397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CD1AFE61-9C4C-8BE8-4116-D5395E42F9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16" y="579119"/>
            <a:ext cx="8033004" cy="505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20697"/>
            <a:ext cx="78860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1800" spc="-15" dirty="0">
                <a:latin typeface="Arial MT"/>
                <a:cs typeface="Arial MT"/>
              </a:rPr>
              <a:t>We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remove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particular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item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dictionary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method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pop().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method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removes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as</a:t>
            </a:r>
            <a:r>
              <a:rPr sz="1800" dirty="0">
                <a:latin typeface="Arial MT"/>
                <a:cs typeface="Arial MT"/>
              </a:rPr>
              <a:t> item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with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provided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key</a:t>
            </a:r>
            <a:r>
              <a:rPr sz="1800" spc="-5" dirty="0">
                <a:latin typeface="Arial MT"/>
                <a:cs typeface="Arial MT"/>
              </a:rPr>
              <a:t> 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5" dirty="0">
                <a:latin typeface="Arial MT"/>
                <a:cs typeface="Arial MT"/>
              </a:rPr>
              <a:t> value.</a:t>
            </a:r>
            <a:endParaRPr sz="18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items </a:t>
            </a:r>
            <a:r>
              <a:rPr sz="1800" spc="-5" dirty="0">
                <a:latin typeface="Arial MT"/>
                <a:cs typeface="Arial MT"/>
              </a:rPr>
              <a:t>can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removed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once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clear()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method.</a:t>
            </a:r>
            <a:endParaRPr sz="1800">
              <a:latin typeface="Arial MT"/>
              <a:cs typeface="Arial MT"/>
            </a:endParaRPr>
          </a:p>
          <a:p>
            <a:pPr marL="332105" marR="209550" indent="-320040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1800" spc="-15" dirty="0">
                <a:latin typeface="Arial MT"/>
                <a:cs typeface="Arial MT"/>
              </a:rPr>
              <a:t>We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also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del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keyword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5" dirty="0">
                <a:latin typeface="Arial MT"/>
                <a:cs typeface="Arial MT"/>
              </a:rPr>
              <a:t>remove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individual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items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entire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dictionary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itself.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086100"/>
            <a:ext cx="6676644" cy="14382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4791090"/>
            <a:ext cx="6620256" cy="1429092"/>
          </a:xfrm>
          <a:prstGeom prst="rect">
            <a:avLst/>
          </a:prstGeom>
        </p:spPr>
      </p:pic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02E87A55-7798-6F26-6B53-07AB1EF9C6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16" y="579119"/>
            <a:ext cx="8033004" cy="505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600200"/>
            <a:ext cx="6018276" cy="2821329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EEEE84BA-A50C-56E7-E16C-D7D6EE8324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65404"/>
            <a:ext cx="6481572" cy="419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899869"/>
            <a:ext cx="7139940" cy="932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popitem()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endParaRPr sz="2000">
              <a:latin typeface="Arial MT"/>
              <a:cs typeface="Arial MT"/>
            </a:endParaRPr>
          </a:p>
          <a:p>
            <a:pPr marL="332740">
              <a:lnSpc>
                <a:spcPts val="2365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arbitrary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(key,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value)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dictionary.</a:t>
            </a:r>
            <a:endParaRPr sz="2000">
              <a:latin typeface="Arial MT"/>
              <a:cs typeface="Arial MT"/>
            </a:endParaRPr>
          </a:p>
          <a:p>
            <a:pPr marL="332740" indent="-320040">
              <a:lnSpc>
                <a:spcPts val="2365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dirty="0">
                <a:latin typeface="Corbel"/>
                <a:cs typeface="Corbel"/>
              </a:rPr>
              <a:t>Raises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KeyError </a:t>
            </a:r>
            <a:r>
              <a:rPr sz="2000" dirty="0">
                <a:latin typeface="Corbel"/>
                <a:cs typeface="Corbel"/>
              </a:rPr>
              <a:t>if</a:t>
            </a:r>
            <a:r>
              <a:rPr sz="2000" spc="-5" dirty="0">
                <a:latin typeface="Corbel"/>
                <a:cs typeface="Corbel"/>
              </a:rPr>
              <a:t> the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dictionary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is</a:t>
            </a:r>
            <a:r>
              <a:rPr sz="2000" spc="-5" dirty="0">
                <a:latin typeface="Corbel"/>
                <a:cs typeface="Corbel"/>
              </a:rPr>
              <a:t> </a:t>
            </a:r>
            <a:r>
              <a:rPr sz="2000" spc="-20" dirty="0">
                <a:latin typeface="Corbel"/>
                <a:cs typeface="Corbel"/>
              </a:rPr>
              <a:t>empty.</a:t>
            </a:r>
            <a:endParaRPr sz="2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908" y="3276600"/>
            <a:ext cx="6054135" cy="2246026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BE29867C-64F3-843E-5502-E43346C045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565404"/>
            <a:ext cx="7915656" cy="419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249" y="1607124"/>
            <a:ext cx="5449690" cy="4611491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8A19CFFA-37AB-5C77-C77D-8568A4C7D9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51687"/>
            <a:ext cx="7289292" cy="5760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837689"/>
            <a:ext cx="779145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000" spc="-35" dirty="0">
                <a:latin typeface="Corbel"/>
                <a:cs typeface="Corbel"/>
              </a:rPr>
              <a:t>We</a:t>
            </a:r>
            <a:r>
              <a:rPr sz="2000" spc="-5" dirty="0">
                <a:latin typeface="Corbel"/>
                <a:cs typeface="Corbel"/>
              </a:rPr>
              <a:t> can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test</a:t>
            </a:r>
            <a:r>
              <a:rPr sz="2000" spc="1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if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 </a:t>
            </a:r>
            <a:r>
              <a:rPr sz="2000" spc="-20" dirty="0">
                <a:latin typeface="Corbel"/>
                <a:cs typeface="Corbel"/>
              </a:rPr>
              <a:t>key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is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in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dictionary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or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not</a:t>
            </a:r>
            <a:r>
              <a:rPr sz="2000" dirty="0">
                <a:latin typeface="Corbel"/>
                <a:cs typeface="Corbel"/>
              </a:rPr>
              <a:t> using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the</a:t>
            </a:r>
            <a:r>
              <a:rPr sz="2000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keyword</a:t>
            </a:r>
            <a:r>
              <a:rPr sz="2000" spc="-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in.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Notice </a:t>
            </a:r>
            <a:r>
              <a:rPr sz="2000" spc="-38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that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membership</a:t>
            </a:r>
            <a:r>
              <a:rPr sz="2000" spc="1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test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is</a:t>
            </a:r>
            <a:r>
              <a:rPr sz="2000" spc="5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for </a:t>
            </a:r>
            <a:r>
              <a:rPr sz="2000" spc="-15" dirty="0">
                <a:latin typeface="Corbel"/>
                <a:cs typeface="Corbel"/>
              </a:rPr>
              <a:t>keys</a:t>
            </a:r>
            <a:r>
              <a:rPr sz="2000" spc="10" dirty="0">
                <a:latin typeface="Corbel"/>
                <a:cs typeface="Corbel"/>
              </a:rPr>
              <a:t> </a:t>
            </a:r>
            <a:r>
              <a:rPr sz="2000" spc="-15" dirty="0">
                <a:latin typeface="Corbel"/>
                <a:cs typeface="Corbel"/>
              </a:rPr>
              <a:t>only,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not </a:t>
            </a:r>
            <a:r>
              <a:rPr sz="2000" dirty="0">
                <a:latin typeface="Corbel"/>
                <a:cs typeface="Corbel"/>
              </a:rPr>
              <a:t>for values.</a:t>
            </a:r>
            <a:endParaRPr sz="2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667000"/>
            <a:ext cx="5334000" cy="2972547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20DF8DC9-168E-AA34-6EB4-47BCC67E0C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7389875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828545"/>
            <a:ext cx="772795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Using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for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loop we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can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iterate</a:t>
            </a:r>
            <a:r>
              <a:rPr sz="3200" spc="-4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through </a:t>
            </a:r>
            <a:r>
              <a:rPr sz="3200" dirty="0">
                <a:latin typeface="Corbel"/>
                <a:cs typeface="Corbel"/>
              </a:rPr>
              <a:t>each </a:t>
            </a:r>
            <a:r>
              <a:rPr sz="3200" spc="-625" dirty="0">
                <a:latin typeface="Corbel"/>
                <a:cs typeface="Corbel"/>
              </a:rPr>
              <a:t> </a:t>
            </a:r>
            <a:r>
              <a:rPr sz="3200" spc="-20" dirty="0">
                <a:latin typeface="Corbel"/>
                <a:cs typeface="Corbel"/>
              </a:rPr>
              <a:t>key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in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 </a:t>
            </a:r>
            <a:r>
              <a:rPr sz="3200" spc="-15" dirty="0">
                <a:latin typeface="Corbel"/>
                <a:cs typeface="Corbel"/>
              </a:rPr>
              <a:t>dictionary.</a:t>
            </a:r>
            <a:endParaRPr sz="32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276600"/>
            <a:ext cx="8487156" cy="2353404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D7969854-0ACB-F120-3DB9-FBB0E4FD23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194" y="1866917"/>
            <a:ext cx="8345031" cy="2276821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02DFC105-3577-11F8-A0B5-C1289D1391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6678167" cy="5486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4" y="1723590"/>
            <a:ext cx="5962529" cy="1708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016" y="2474500"/>
            <a:ext cx="5324475" cy="1793151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95B3222D-047A-1857-50FF-C9EBD80A4E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6729983" cy="54254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593850"/>
          <a:ext cx="8229600" cy="4890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104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Method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Description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3"/>
                        </a:rPr>
                        <a:t>clear()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Remove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all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items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form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dictionary.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4"/>
                        </a:rPr>
                        <a:t>copy()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 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shallow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copy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dictionary.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5"/>
                        </a:rPr>
                        <a:t>fromkeys(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seq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5"/>
                        </a:rPr>
                        <a:t>[,</a:t>
                      </a:r>
                      <a:r>
                        <a:rPr sz="1200" u="sng" spc="-40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5"/>
                        </a:rPr>
                        <a:t> 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v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5"/>
                        </a:rPr>
                        <a:t>])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 new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dictionary</a:t>
                      </a:r>
                      <a:r>
                        <a:rPr sz="12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with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keys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from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seq</a:t>
                      </a:r>
                      <a:r>
                        <a:rPr sz="12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equal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v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(defaults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None).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6"/>
                        </a:rPr>
                        <a:t>get(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key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6"/>
                        </a:rPr>
                        <a:t>[,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d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6"/>
                        </a:rPr>
                        <a:t>])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.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If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doesnot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exit,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2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(defaults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to None).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7"/>
                        </a:rPr>
                        <a:t>items()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 new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view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dictionary's</a:t>
                      </a:r>
                      <a:r>
                        <a:rPr sz="12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items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(key,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value).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8"/>
                        </a:rPr>
                        <a:t>keys()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 new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 view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dictionary's</a:t>
                      </a:r>
                      <a:r>
                        <a:rPr sz="12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keys.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9"/>
                        </a:rPr>
                        <a:t>pop(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9"/>
                        </a:rPr>
                        <a:t>key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9"/>
                        </a:rPr>
                        <a:t>[,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9"/>
                        </a:rPr>
                        <a:t>d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9"/>
                        </a:rPr>
                        <a:t>])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19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Remove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item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 with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its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 value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or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2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not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found.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not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provided </a:t>
                      </a:r>
                      <a:r>
                        <a:rPr sz="1200" spc="-2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not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found,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raises</a:t>
                      </a:r>
                      <a:r>
                        <a:rPr sz="12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KeyError.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0"/>
                        </a:rPr>
                        <a:t>popitem()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Remove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and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arbitary</a:t>
                      </a:r>
                      <a:r>
                        <a:rPr sz="12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item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(key,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value).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Raises</a:t>
                      </a:r>
                      <a:r>
                        <a:rPr sz="1200" spc="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KeyError</a:t>
                      </a:r>
                      <a:r>
                        <a:rPr sz="12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if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dictionary</a:t>
                      </a:r>
                      <a:r>
                        <a:rPr sz="12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empty.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1"/>
                        </a:rPr>
                        <a:t>setdefault(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11"/>
                        </a:rPr>
                        <a:t>key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1"/>
                        </a:rPr>
                        <a:t>[,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11"/>
                        </a:rPr>
                        <a:t>d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1"/>
                        </a:rPr>
                        <a:t>])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229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200" dirty="0">
                          <a:latin typeface="Corbel"/>
                          <a:cs typeface="Corbel"/>
                        </a:rPr>
                        <a:t>If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in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 dictionary,</a:t>
                      </a:r>
                      <a:r>
                        <a:rPr sz="12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its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value.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not,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insert</a:t>
                      </a:r>
                      <a:r>
                        <a:rPr sz="1200" spc="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2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with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and </a:t>
                      </a:r>
                      <a:r>
                        <a:rPr sz="1200" spc="-2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(defaults</a:t>
                      </a:r>
                      <a:r>
                        <a:rPr sz="12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None).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2"/>
                        </a:rPr>
                        <a:t>update([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Arial MT"/>
                          <a:cs typeface="Arial MT"/>
                          <a:hlinkClick r:id="rId12"/>
                        </a:rPr>
                        <a:t>other</a:t>
                      </a: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2"/>
                        </a:rPr>
                        <a:t>])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2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dictionary</a:t>
                      </a:r>
                      <a:r>
                        <a:rPr sz="12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with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 key/value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pairs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from</a:t>
                      </a:r>
                      <a:r>
                        <a:rPr sz="1200" spc="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,</a:t>
                      </a:r>
                      <a:r>
                        <a:rPr sz="12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overwriting</a:t>
                      </a:r>
                      <a:r>
                        <a:rPr sz="12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existing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keys.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u="sng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13"/>
                        </a:rPr>
                        <a:t>values()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2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dirty="0">
                          <a:latin typeface="Corbel"/>
                          <a:cs typeface="Corbel"/>
                        </a:rPr>
                        <a:t>a new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view</a:t>
                      </a:r>
                      <a:r>
                        <a:rPr sz="12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2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the dictionary's</a:t>
                      </a:r>
                      <a:r>
                        <a:rPr sz="12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200" spc="-5" dirty="0">
                          <a:latin typeface="Corbel"/>
                          <a:cs typeface="Corbel"/>
                        </a:rPr>
                        <a:t>values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16" y="585216"/>
            <a:ext cx="7501128" cy="49377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050" y="1593850"/>
          <a:ext cx="8152765" cy="1461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54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Function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Description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4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u="heavy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3"/>
                        </a:rPr>
                        <a:t>len()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Return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length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(the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number</a:t>
                      </a:r>
                      <a:r>
                        <a:rPr sz="18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items)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the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dictionary.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u="heavy" spc="-5" dirty="0">
                          <a:solidFill>
                            <a:srgbClr val="168AB9"/>
                          </a:solidFill>
                          <a:uFill>
                            <a:solidFill>
                              <a:srgbClr val="168AB9"/>
                            </a:solidFill>
                          </a:uFill>
                          <a:latin typeface="Corbel"/>
                          <a:cs typeface="Corbel"/>
                          <a:hlinkClick r:id="rId4"/>
                        </a:rPr>
                        <a:t>sorted()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spc="-5" dirty="0">
                          <a:latin typeface="Corbel"/>
                          <a:cs typeface="Corbel"/>
                        </a:rPr>
                        <a:t>Return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new</a:t>
                      </a:r>
                      <a:r>
                        <a:rPr sz="1800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sorted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list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of 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keys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dictionary.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3257541"/>
            <a:ext cx="4905756" cy="2580902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241F3757-BA11-02E9-CC7D-B904A20B3B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6542531" cy="425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83182"/>
            <a:ext cx="722312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#</a:t>
            </a:r>
            <a:r>
              <a:rPr sz="2400" spc="-5" dirty="0">
                <a:latin typeface="Corbel"/>
                <a:cs typeface="Corbel"/>
              </a:rPr>
              <a:t> Definition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country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capital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5" dirty="0">
                <a:latin typeface="Corbel"/>
                <a:cs typeface="Corbel"/>
              </a:rPr>
              <a:t>countries</a:t>
            </a:r>
            <a:r>
              <a:rPr sz="2400" dirty="0">
                <a:latin typeface="Corbel"/>
                <a:cs typeface="Corbel"/>
              </a:rPr>
              <a:t> =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['spain',</a:t>
            </a:r>
            <a:r>
              <a:rPr sz="2400" spc="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'france',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'germany',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'norway','india']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spc="-5" dirty="0">
                <a:latin typeface="Corbel"/>
                <a:cs typeface="Corbel"/>
              </a:rPr>
              <a:t>capitals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=</a:t>
            </a:r>
            <a:r>
              <a:rPr sz="2400" spc="-5" dirty="0">
                <a:latin typeface="Corbel"/>
                <a:cs typeface="Corbel"/>
              </a:rPr>
              <a:t> ['madrid',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'paris',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'berlin',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'oslo','delhi']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spcBef>
                <a:spcPts val="156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I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would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like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print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capital of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germany.</a:t>
            </a:r>
            <a:endParaRPr sz="24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spcBef>
                <a:spcPts val="1320"/>
              </a:spcBef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#</a:t>
            </a:r>
            <a:r>
              <a:rPr sz="2400" spc="-10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Get</a:t>
            </a:r>
            <a:r>
              <a:rPr sz="2400" spc="-5" dirty="0">
                <a:latin typeface="Corbel"/>
                <a:cs typeface="Corbel"/>
              </a:rPr>
              <a:t> index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'germany':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ind_ger</a:t>
            </a:r>
            <a:endParaRPr sz="24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EFAC00"/>
              </a:buClr>
              <a:buFont typeface="Cambria"/>
              <a:buChar char="◾"/>
            </a:pPr>
            <a:endParaRPr sz="235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7916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400" dirty="0">
                <a:latin typeface="Corbel"/>
                <a:cs typeface="Corbel"/>
              </a:rPr>
              <a:t>#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Use</a:t>
            </a:r>
            <a:r>
              <a:rPr sz="2400" spc="-5" dirty="0">
                <a:latin typeface="Corbel"/>
                <a:cs typeface="Corbel"/>
              </a:rPr>
              <a:t> ind_ger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print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out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capital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of</a:t>
            </a:r>
            <a:r>
              <a:rPr sz="2400" spc="-10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Germany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6" y="4829181"/>
            <a:ext cx="6239249" cy="1524373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E1E3E278-7BBE-D886-2DBA-3D322D2CCB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76" y="266700"/>
            <a:ext cx="7684008" cy="112471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1375" y="1636776"/>
            <a:ext cx="7376159" cy="3355975"/>
            <a:chOff x="341375" y="1636776"/>
            <a:chExt cx="7376159" cy="33559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75" y="1636776"/>
              <a:ext cx="7376159" cy="33558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" y="1828800"/>
              <a:ext cx="6992111" cy="2971800"/>
            </a:xfrm>
            <a:prstGeom prst="rect">
              <a:avLst/>
            </a:prstGeom>
          </p:spPr>
        </p:pic>
      </p:grpSp>
      <p:pic>
        <p:nvPicPr>
          <p:cNvPr id="6" name="Picture 5" descr="A black and red text&#10;&#10;Description automatically generated">
            <a:extLst>
              <a:ext uri="{FF2B5EF4-FFF2-40B4-BE49-F238E27FC236}">
                <a16:creationId xmlns:a16="http://schemas.microsoft.com/office/drawing/2014/main" id="{41F4E3A4-84C3-234A-2E1C-D5CF201702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5891784" cy="5425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86230"/>
            <a:ext cx="7717790" cy="16910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725"/>
              </a:spcBef>
              <a:buClr>
                <a:srgbClr val="EFAC00"/>
              </a:buClr>
              <a:buSzPct val="78846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600" dirty="0">
                <a:latin typeface="Corbel"/>
                <a:cs typeface="Corbel"/>
              </a:rPr>
              <a:t>If you know how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spc="-5" dirty="0">
                <a:latin typeface="Corbel"/>
                <a:cs typeface="Corbel"/>
              </a:rPr>
              <a:t>to</a:t>
            </a:r>
            <a:r>
              <a:rPr sz="2600" spc="1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access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 </a:t>
            </a:r>
            <a:r>
              <a:rPr sz="2600" spc="-10" dirty="0">
                <a:latin typeface="Corbel"/>
                <a:cs typeface="Corbel"/>
              </a:rPr>
              <a:t>dictionary,</a:t>
            </a:r>
            <a:r>
              <a:rPr sz="2600" spc="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you </a:t>
            </a:r>
            <a:r>
              <a:rPr sz="2600" spc="-5" dirty="0">
                <a:latin typeface="Corbel"/>
                <a:cs typeface="Corbel"/>
              </a:rPr>
              <a:t>can</a:t>
            </a:r>
            <a:r>
              <a:rPr sz="2600" spc="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also </a:t>
            </a:r>
            <a:r>
              <a:rPr sz="2600" spc="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5" dirty="0">
                <a:latin typeface="Corbel"/>
                <a:cs typeface="Corbel"/>
              </a:rPr>
              <a:t>s</a:t>
            </a:r>
            <a:r>
              <a:rPr sz="2600" dirty="0">
                <a:latin typeface="Corbel"/>
                <a:cs typeface="Corbel"/>
              </a:rPr>
              <a:t>ign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spc="-5" dirty="0">
                <a:latin typeface="Corbel"/>
                <a:cs typeface="Corbel"/>
              </a:rPr>
              <a:t>ne</a:t>
            </a:r>
            <a:r>
              <a:rPr sz="2600" dirty="0">
                <a:latin typeface="Corbel"/>
                <a:cs typeface="Corbel"/>
              </a:rPr>
              <a:t>w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value </a:t>
            </a:r>
            <a:r>
              <a:rPr sz="2600" spc="-5" dirty="0">
                <a:latin typeface="Corbel"/>
                <a:cs typeface="Corbel"/>
              </a:rPr>
              <a:t>t</a:t>
            </a:r>
            <a:r>
              <a:rPr sz="2600" dirty="0">
                <a:latin typeface="Corbel"/>
                <a:cs typeface="Corbel"/>
              </a:rPr>
              <a:t>o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15" dirty="0">
                <a:latin typeface="Corbel"/>
                <a:cs typeface="Corbel"/>
              </a:rPr>
              <a:t>i</a:t>
            </a:r>
            <a:r>
              <a:rPr sz="2600" spc="-5" dirty="0">
                <a:latin typeface="Corbel"/>
                <a:cs typeface="Corbel"/>
              </a:rPr>
              <a:t>t</a:t>
            </a:r>
            <a:r>
              <a:rPr sz="2600" dirty="0">
                <a:latin typeface="Corbel"/>
                <a:cs typeface="Corbel"/>
              </a:rPr>
              <a:t>.</a:t>
            </a:r>
            <a:r>
              <a:rPr sz="2600" spc="-180" dirty="0">
                <a:latin typeface="Corbel"/>
                <a:cs typeface="Corbel"/>
              </a:rPr>
              <a:t> </a:t>
            </a:r>
            <a:r>
              <a:rPr sz="2600" spc="-175" dirty="0">
                <a:latin typeface="Corbel"/>
                <a:cs typeface="Corbel"/>
              </a:rPr>
              <a:t>T</a:t>
            </a:r>
            <a:r>
              <a:rPr sz="2600" dirty="0">
                <a:latin typeface="Corbel"/>
                <a:cs typeface="Corbel"/>
              </a:rPr>
              <a:t>o</a:t>
            </a:r>
            <a:r>
              <a:rPr sz="2600" spc="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add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spc="-5" dirty="0">
                <a:latin typeface="Corbel"/>
                <a:cs typeface="Corbel"/>
              </a:rPr>
              <a:t>ne</a:t>
            </a:r>
            <a:r>
              <a:rPr sz="2600" dirty="0">
                <a:latin typeface="Corbel"/>
                <a:cs typeface="Corbel"/>
              </a:rPr>
              <a:t>w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40" dirty="0">
                <a:latin typeface="Corbel"/>
                <a:cs typeface="Corbel"/>
              </a:rPr>
              <a:t>k</a:t>
            </a:r>
            <a:r>
              <a:rPr sz="2600" spc="-10" dirty="0">
                <a:latin typeface="Corbel"/>
                <a:cs typeface="Corbel"/>
              </a:rPr>
              <a:t>e</a:t>
            </a:r>
            <a:r>
              <a:rPr sz="2600" spc="-45" dirty="0">
                <a:latin typeface="Corbel"/>
                <a:cs typeface="Corbel"/>
              </a:rPr>
              <a:t>y</a:t>
            </a:r>
            <a:r>
              <a:rPr sz="2600" spc="-5" dirty="0">
                <a:latin typeface="Corbel"/>
                <a:cs typeface="Corbel"/>
              </a:rPr>
              <a:t>-</a:t>
            </a:r>
            <a:r>
              <a:rPr sz="2600" dirty="0">
                <a:latin typeface="Corbel"/>
                <a:cs typeface="Corbel"/>
              </a:rPr>
              <a:t>v</a:t>
            </a:r>
            <a:r>
              <a:rPr sz="2600" spc="-15" dirty="0">
                <a:latin typeface="Corbel"/>
                <a:cs typeface="Corbel"/>
              </a:rPr>
              <a:t>a</a:t>
            </a:r>
            <a:r>
              <a:rPr sz="2600" dirty="0">
                <a:latin typeface="Corbel"/>
                <a:cs typeface="Corbel"/>
              </a:rPr>
              <a:t>l</a:t>
            </a:r>
            <a:r>
              <a:rPr sz="2600" spc="-15" dirty="0">
                <a:latin typeface="Corbel"/>
                <a:cs typeface="Corbel"/>
              </a:rPr>
              <a:t>u</a:t>
            </a:r>
            <a:r>
              <a:rPr sz="2600" dirty="0">
                <a:latin typeface="Corbel"/>
                <a:cs typeface="Corbel"/>
              </a:rPr>
              <a:t>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</a:t>
            </a:r>
            <a:r>
              <a:rPr sz="2600" spc="-10" dirty="0">
                <a:latin typeface="Corbel"/>
                <a:cs typeface="Corbel"/>
              </a:rPr>
              <a:t>a</a:t>
            </a:r>
            <a:r>
              <a:rPr sz="2600" dirty="0">
                <a:latin typeface="Corbel"/>
                <a:cs typeface="Corbel"/>
              </a:rPr>
              <a:t>ir </a:t>
            </a:r>
            <a:r>
              <a:rPr sz="2600" spc="-15" dirty="0">
                <a:latin typeface="Corbel"/>
                <a:cs typeface="Corbel"/>
              </a:rPr>
              <a:t>t</a:t>
            </a:r>
            <a:r>
              <a:rPr sz="2600" dirty="0">
                <a:latin typeface="Corbel"/>
                <a:cs typeface="Corbel"/>
              </a:rPr>
              <a:t>o  </a:t>
            </a:r>
            <a:r>
              <a:rPr sz="2600" spc="-5" dirty="0">
                <a:latin typeface="Corbel"/>
                <a:cs typeface="Corbel"/>
              </a:rPr>
              <a:t>countryCapitals,</a:t>
            </a:r>
            <a:r>
              <a:rPr sz="2600" dirty="0">
                <a:latin typeface="Corbel"/>
                <a:cs typeface="Corbel"/>
              </a:rPr>
              <a:t> you </a:t>
            </a:r>
            <a:r>
              <a:rPr sz="2600" spc="-5" dirty="0">
                <a:latin typeface="Corbel"/>
                <a:cs typeface="Corbel"/>
              </a:rPr>
              <a:t>can</a:t>
            </a:r>
            <a:r>
              <a:rPr sz="2600" spc="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use </a:t>
            </a:r>
            <a:r>
              <a:rPr sz="2600" spc="-5" dirty="0">
                <a:latin typeface="Corbel"/>
                <a:cs typeface="Corbel"/>
              </a:rPr>
              <a:t>something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5" dirty="0">
                <a:latin typeface="Corbel"/>
                <a:cs typeface="Corbel"/>
              </a:rPr>
              <a:t>like </a:t>
            </a:r>
            <a:r>
              <a:rPr sz="2600" spc="-5" dirty="0">
                <a:latin typeface="Corbel"/>
                <a:cs typeface="Corbel"/>
              </a:rPr>
              <a:t>this:</a:t>
            </a:r>
            <a:endParaRPr sz="2600">
              <a:latin typeface="Corbel"/>
              <a:cs typeface="Corbel"/>
            </a:endParaRPr>
          </a:p>
          <a:p>
            <a:pPr marL="332105">
              <a:lnSpc>
                <a:spcPct val="100000"/>
              </a:lnSpc>
              <a:spcBef>
                <a:spcPts val="1875"/>
              </a:spcBef>
            </a:pPr>
            <a:r>
              <a:rPr sz="2600" spc="-5" dirty="0">
                <a:latin typeface="Corbel"/>
                <a:cs typeface="Corbel"/>
              </a:rPr>
              <a:t>countryCapitals[‘india’]</a:t>
            </a:r>
            <a:r>
              <a:rPr sz="2600" spc="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=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‘delhi’</a:t>
            </a:r>
            <a:endParaRPr sz="26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951" y="4089495"/>
            <a:ext cx="5439103" cy="2307278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8A574554-1CF7-B933-B777-9FE01422A4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5891784" cy="5425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9636" y="1669745"/>
            <a:ext cx="8173084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EFAC00"/>
              </a:buClr>
              <a:buSzPct val="8035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800" spc="-165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remove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entry from </a:t>
            </a:r>
            <a:r>
              <a:rPr sz="2800" spc="-20" dirty="0">
                <a:latin typeface="Arial MT"/>
                <a:cs typeface="Arial MT"/>
              </a:rPr>
              <a:t>dictionary,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we</a:t>
            </a:r>
            <a:r>
              <a:rPr sz="2800" dirty="0">
                <a:latin typeface="Arial MT"/>
                <a:cs typeface="Arial MT"/>
              </a:rPr>
              <a:t> can use del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method.</a:t>
            </a:r>
            <a:endParaRPr sz="28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8035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800" spc="-5" dirty="0">
                <a:latin typeface="Arial MT"/>
                <a:cs typeface="Arial MT"/>
              </a:rPr>
              <a:t>Remove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b="1" spc="-5" dirty="0">
                <a:latin typeface="Arial"/>
                <a:cs typeface="Arial"/>
              </a:rPr>
              <a:t>norway</a:t>
            </a:r>
            <a:endParaRPr sz="28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buClr>
                <a:srgbClr val="EFAC00"/>
              </a:buClr>
              <a:buSzPct val="8035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2800" spc="-5" dirty="0">
                <a:latin typeface="Arial MT"/>
                <a:cs typeface="Arial MT"/>
              </a:rPr>
              <a:t>del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(countryCapitals[‘norway’])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3657600"/>
            <a:ext cx="4325112" cy="2524125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E7490160-ABD9-CE50-5E91-FBE8B0683D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59308"/>
            <a:ext cx="7034783" cy="5486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6" y="1819289"/>
            <a:ext cx="6867898" cy="3086753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5E75D170-F9E6-E531-42FF-CA95AD53A6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6765035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08785"/>
            <a:ext cx="7230745" cy="13068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2105" marR="5080" indent="-320040">
              <a:lnSpc>
                <a:spcPts val="3240"/>
              </a:lnSpc>
              <a:spcBef>
                <a:spcPts val="509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000" spc="-5" dirty="0">
                <a:latin typeface="Corbel"/>
                <a:cs typeface="Corbel"/>
              </a:rPr>
              <a:t>Create </a:t>
            </a:r>
            <a:r>
              <a:rPr sz="3000" dirty="0">
                <a:latin typeface="Corbel"/>
                <a:cs typeface="Corbel"/>
              </a:rPr>
              <a:t>a Dictionary which records </a:t>
            </a:r>
            <a:r>
              <a:rPr sz="3000" spc="-5" dirty="0">
                <a:latin typeface="Corbel"/>
                <a:cs typeface="Corbel"/>
              </a:rPr>
              <a:t>the major </a:t>
            </a:r>
            <a:r>
              <a:rPr sz="3000" spc="-590" dirty="0">
                <a:latin typeface="Corbel"/>
                <a:cs typeface="Corbel"/>
              </a:rPr>
              <a:t> </a:t>
            </a:r>
            <a:r>
              <a:rPr sz="3000" dirty="0">
                <a:latin typeface="Corbel"/>
                <a:cs typeface="Corbel"/>
              </a:rPr>
              <a:t>cities</a:t>
            </a:r>
            <a:r>
              <a:rPr sz="3000" spc="-20" dirty="0">
                <a:latin typeface="Corbel"/>
                <a:cs typeface="Corbel"/>
              </a:rPr>
              <a:t> </a:t>
            </a:r>
            <a:r>
              <a:rPr sz="3000" spc="-5" dirty="0">
                <a:latin typeface="Corbel"/>
                <a:cs typeface="Corbel"/>
              </a:rPr>
              <a:t>of </a:t>
            </a:r>
            <a:r>
              <a:rPr sz="3000" dirty="0">
                <a:latin typeface="Corbel"/>
                <a:cs typeface="Corbel"/>
              </a:rPr>
              <a:t>each</a:t>
            </a:r>
            <a:r>
              <a:rPr sz="3000" spc="20" dirty="0">
                <a:latin typeface="Corbel"/>
                <a:cs typeface="Corbel"/>
              </a:rPr>
              <a:t> </a:t>
            </a:r>
            <a:r>
              <a:rPr sz="3000" spc="-5" dirty="0">
                <a:latin typeface="Corbel"/>
                <a:cs typeface="Corbel"/>
              </a:rPr>
              <a:t>state.</a:t>
            </a:r>
            <a:endParaRPr sz="3000">
              <a:latin typeface="Corbel"/>
              <a:cs typeface="Corbel"/>
            </a:endParaRPr>
          </a:p>
          <a:p>
            <a:pPr marL="408940" indent="-396875">
              <a:lnSpc>
                <a:spcPts val="3195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408940" algn="l"/>
                <a:tab pos="409575" algn="l"/>
              </a:tabLst>
            </a:pPr>
            <a:r>
              <a:rPr sz="3000" spc="-5" dirty="0">
                <a:latin typeface="Corbel"/>
                <a:cs typeface="Corbel"/>
              </a:rPr>
              <a:t>{state</a:t>
            </a:r>
            <a:r>
              <a:rPr sz="3000" spc="-15" dirty="0">
                <a:latin typeface="Corbel"/>
                <a:cs typeface="Corbel"/>
              </a:rPr>
              <a:t> </a:t>
            </a:r>
            <a:r>
              <a:rPr sz="3000" dirty="0">
                <a:latin typeface="Corbel"/>
                <a:cs typeface="Corbel"/>
              </a:rPr>
              <a:t>:</a:t>
            </a:r>
            <a:r>
              <a:rPr sz="3000" spc="-30" dirty="0">
                <a:latin typeface="Corbel"/>
                <a:cs typeface="Corbel"/>
              </a:rPr>
              <a:t> </a:t>
            </a:r>
            <a:r>
              <a:rPr sz="3000" spc="-10" dirty="0">
                <a:latin typeface="Corbel"/>
                <a:cs typeface="Corbel"/>
              </a:rPr>
              <a:t>[major </a:t>
            </a:r>
            <a:r>
              <a:rPr sz="3000" spc="-5" dirty="0">
                <a:latin typeface="Corbel"/>
                <a:cs typeface="Corbel"/>
              </a:rPr>
              <a:t>cities]</a:t>
            </a:r>
            <a:r>
              <a:rPr sz="3000" spc="-15" dirty="0">
                <a:latin typeface="Corbel"/>
                <a:cs typeface="Corbel"/>
              </a:rPr>
              <a:t> </a:t>
            </a:r>
            <a:r>
              <a:rPr sz="3000" dirty="0">
                <a:latin typeface="Corbel"/>
                <a:cs typeface="Corbel"/>
              </a:rPr>
              <a:t>}</a:t>
            </a:r>
            <a:endParaRPr sz="3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103" y="3219463"/>
            <a:ext cx="7192126" cy="2457792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433B98B0-E196-79FA-92AC-AC43B762F7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59308"/>
            <a:ext cx="6121908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52981"/>
            <a:ext cx="693991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Cambria"/>
              <a:buChar char="◾"/>
              <a:tabLst>
                <a:tab pos="332105" algn="l"/>
                <a:tab pos="332740" algn="l"/>
              </a:tabLst>
            </a:pPr>
            <a:r>
              <a:rPr sz="3200" dirty="0">
                <a:latin typeface="Corbel"/>
                <a:cs typeface="Corbel"/>
              </a:rPr>
              <a:t>Dictionaries </a:t>
            </a:r>
            <a:r>
              <a:rPr sz="3200" spc="-5" dirty="0">
                <a:latin typeface="Corbel"/>
                <a:cs typeface="Corbel"/>
              </a:rPr>
              <a:t>can </a:t>
            </a:r>
            <a:r>
              <a:rPr sz="3200" dirty="0">
                <a:latin typeface="Corbel"/>
                <a:cs typeface="Corbel"/>
              </a:rPr>
              <a:t>contain </a:t>
            </a:r>
            <a:r>
              <a:rPr sz="3200" spc="-5" dirty="0">
                <a:latin typeface="Corbel"/>
                <a:cs typeface="Corbel"/>
              </a:rPr>
              <a:t>key:value </a:t>
            </a:r>
            <a:r>
              <a:rPr sz="3200" dirty="0">
                <a:latin typeface="Corbel"/>
                <a:cs typeface="Corbel"/>
              </a:rPr>
              <a:t>pairs </a:t>
            </a:r>
            <a:r>
              <a:rPr sz="3200" spc="-6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where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the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values</a:t>
            </a:r>
            <a:r>
              <a:rPr sz="3200" spc="-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are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again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dictionaries.</a:t>
            </a:r>
            <a:endParaRPr sz="32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1" y="2960815"/>
            <a:ext cx="8144249" cy="3641467"/>
          </a:xfrm>
          <a:prstGeom prst="rect">
            <a:avLst/>
          </a:prstGeom>
        </p:spPr>
      </p:pic>
      <p:pic>
        <p:nvPicPr>
          <p:cNvPr id="5" name="Picture 4" descr="A black and red text&#10;&#10;Description automatically generated">
            <a:extLst>
              <a:ext uri="{FF2B5EF4-FFF2-40B4-BE49-F238E27FC236}">
                <a16:creationId xmlns:a16="http://schemas.microsoft.com/office/drawing/2014/main" id="{F23FA77E-DA55-F693-4EF6-E1150144B0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565404"/>
            <a:ext cx="4194048" cy="5425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0625" y="2514600"/>
            <a:ext cx="6362700" cy="3448050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F132407D-AE90-965F-9DDA-6912BDCEC0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text with stars&#10;&#10;Description automatically generated">
            <a:extLst>
              <a:ext uri="{FF2B5EF4-FFF2-40B4-BE49-F238E27FC236}">
                <a16:creationId xmlns:a16="http://schemas.microsoft.com/office/drawing/2014/main" id="{41313539-069E-A38F-B233-4BABB5D1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8800"/>
            <a:ext cx="6400800" cy="3810000"/>
          </a:xfrm>
          <a:prstGeom prst="rect">
            <a:avLst/>
          </a:prstGeom>
        </p:spPr>
      </p:pic>
      <p:pic>
        <p:nvPicPr>
          <p:cNvPr id="4" name="Picture 3" descr="A black and red text&#10;&#10;Description automatically generated">
            <a:extLst>
              <a:ext uri="{FF2B5EF4-FFF2-40B4-BE49-F238E27FC236}">
                <a16:creationId xmlns:a16="http://schemas.microsoft.com/office/drawing/2014/main" id="{13B7FB74-CF61-975B-3DA9-7C5666246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6291201"/>
            <a:ext cx="3124200" cy="56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2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738</Words>
  <Application>Microsoft Office PowerPoint</Application>
  <PresentationFormat>On-screen Show (4:3)</PresentationFormat>
  <Paragraphs>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MT</vt:lpstr>
      <vt:lpstr>Calibri</vt:lpstr>
      <vt:lpstr>Cambria</vt:lpstr>
      <vt:lpstr>Corbel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2</cp:revision>
  <dcterms:created xsi:type="dcterms:W3CDTF">2023-10-02T16:23:19Z</dcterms:created>
  <dcterms:modified xsi:type="dcterms:W3CDTF">2023-10-02T16:46:56Z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</Properties>
</file>