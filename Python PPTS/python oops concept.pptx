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1.jpg" ContentType="image/jpg"/>
  <Override PartName="/ppt/media/image1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7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7</a:t>
            </a:r>
            <a:r>
              <a:rPr spc="-5" dirty="0"/>
              <a:t>/</a:t>
            </a:r>
            <a:r>
              <a:rPr spc="-10" dirty="0"/>
              <a:t>2</a:t>
            </a:r>
            <a:r>
              <a:rPr dirty="0"/>
              <a:t>6</a:t>
            </a:r>
            <a:r>
              <a:rPr spc="-10" dirty="0"/>
              <a:t>/2</a:t>
            </a:r>
            <a:r>
              <a:rPr dirty="0"/>
              <a:t>0</a:t>
            </a:r>
            <a:r>
              <a:rPr spc="-5" dirty="0"/>
              <a:t>1</a:t>
            </a:r>
            <a:r>
              <a:rPr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dirty="0"/>
              <a:t>V</a:t>
            </a:r>
            <a:r>
              <a:rPr spc="-10" dirty="0"/>
              <a:t>Y</a:t>
            </a:r>
            <a:r>
              <a:rPr spc="-5" dirty="0"/>
              <a:t>BH</a:t>
            </a:r>
            <a:r>
              <a:rPr spc="-120" dirty="0"/>
              <a:t>A</a:t>
            </a:r>
            <a:r>
              <a:rPr spc="-114" dirty="0"/>
              <a:t>V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</a:t>
            </a:r>
            <a:r>
              <a:rPr spc="-30" dirty="0"/>
              <a:t>E</a:t>
            </a:r>
            <a:r>
              <a:rPr spc="-5" dirty="0"/>
              <a:t>C</a:t>
            </a:r>
            <a:r>
              <a:rPr spc="-10" dirty="0"/>
              <a:t>H</a:t>
            </a:r>
            <a:r>
              <a:rPr dirty="0"/>
              <a:t>N</a:t>
            </a:r>
            <a:r>
              <a:rPr spc="-10" dirty="0"/>
              <a:t>OLO</a:t>
            </a:r>
            <a:r>
              <a:rPr dirty="0"/>
              <a:t>G</a:t>
            </a:r>
            <a:r>
              <a:rPr spc="-5" dirty="0"/>
              <a:t>I</a:t>
            </a:r>
            <a:r>
              <a:rPr dirty="0"/>
              <a:t>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7</a:t>
            </a:r>
            <a:r>
              <a:rPr spc="-5" dirty="0"/>
              <a:t>/</a:t>
            </a:r>
            <a:r>
              <a:rPr spc="-10" dirty="0"/>
              <a:t>2</a:t>
            </a:r>
            <a:r>
              <a:rPr dirty="0"/>
              <a:t>6</a:t>
            </a:r>
            <a:r>
              <a:rPr spc="-10" dirty="0"/>
              <a:t>/2</a:t>
            </a:r>
            <a:r>
              <a:rPr dirty="0"/>
              <a:t>0</a:t>
            </a:r>
            <a:r>
              <a:rPr spc="-5" dirty="0"/>
              <a:t>1</a:t>
            </a:r>
            <a:r>
              <a:rPr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dirty="0"/>
              <a:t>V</a:t>
            </a:r>
            <a:r>
              <a:rPr spc="-10" dirty="0"/>
              <a:t>Y</a:t>
            </a:r>
            <a:r>
              <a:rPr spc="-5" dirty="0"/>
              <a:t>BH</a:t>
            </a:r>
            <a:r>
              <a:rPr spc="-120" dirty="0"/>
              <a:t>A</a:t>
            </a:r>
            <a:r>
              <a:rPr spc="-114" dirty="0"/>
              <a:t>V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</a:t>
            </a:r>
            <a:r>
              <a:rPr spc="-30" dirty="0"/>
              <a:t>E</a:t>
            </a:r>
            <a:r>
              <a:rPr spc="-5" dirty="0"/>
              <a:t>C</a:t>
            </a:r>
            <a:r>
              <a:rPr spc="-10" dirty="0"/>
              <a:t>H</a:t>
            </a:r>
            <a:r>
              <a:rPr dirty="0"/>
              <a:t>N</a:t>
            </a:r>
            <a:r>
              <a:rPr spc="-10" dirty="0"/>
              <a:t>OLO</a:t>
            </a:r>
            <a:r>
              <a:rPr dirty="0"/>
              <a:t>G</a:t>
            </a:r>
            <a:r>
              <a:rPr spc="-5" dirty="0"/>
              <a:t>I</a:t>
            </a:r>
            <a:r>
              <a:rPr dirty="0"/>
              <a:t>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718428" y="2540634"/>
            <a:ext cx="2602229" cy="3637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7</a:t>
            </a:r>
            <a:r>
              <a:rPr spc="-5" dirty="0"/>
              <a:t>/</a:t>
            </a:r>
            <a:r>
              <a:rPr spc="-10" dirty="0"/>
              <a:t>2</a:t>
            </a:r>
            <a:r>
              <a:rPr dirty="0"/>
              <a:t>6</a:t>
            </a:r>
            <a:r>
              <a:rPr spc="-10" dirty="0"/>
              <a:t>/2</a:t>
            </a:r>
            <a:r>
              <a:rPr dirty="0"/>
              <a:t>0</a:t>
            </a:r>
            <a:r>
              <a:rPr spc="-5" dirty="0"/>
              <a:t>1</a:t>
            </a:r>
            <a:r>
              <a:rPr dirty="0"/>
              <a:t>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dirty="0"/>
              <a:t>V</a:t>
            </a:r>
            <a:r>
              <a:rPr spc="-10" dirty="0"/>
              <a:t>Y</a:t>
            </a:r>
            <a:r>
              <a:rPr spc="-5" dirty="0"/>
              <a:t>BH</a:t>
            </a:r>
            <a:r>
              <a:rPr spc="-120" dirty="0"/>
              <a:t>A</a:t>
            </a:r>
            <a:r>
              <a:rPr spc="-114" dirty="0"/>
              <a:t>V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</a:t>
            </a:r>
            <a:r>
              <a:rPr spc="-30" dirty="0"/>
              <a:t>E</a:t>
            </a:r>
            <a:r>
              <a:rPr spc="-5" dirty="0"/>
              <a:t>C</a:t>
            </a:r>
            <a:r>
              <a:rPr spc="-10" dirty="0"/>
              <a:t>H</a:t>
            </a:r>
            <a:r>
              <a:rPr dirty="0"/>
              <a:t>N</a:t>
            </a:r>
            <a:r>
              <a:rPr spc="-10" dirty="0"/>
              <a:t>OLO</a:t>
            </a:r>
            <a:r>
              <a:rPr dirty="0"/>
              <a:t>G</a:t>
            </a:r>
            <a:r>
              <a:rPr spc="-5" dirty="0"/>
              <a:t>I</a:t>
            </a:r>
            <a:r>
              <a:rPr dirty="0"/>
              <a:t>ES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7</a:t>
            </a:r>
            <a:r>
              <a:rPr spc="-5" dirty="0"/>
              <a:t>/</a:t>
            </a:r>
            <a:r>
              <a:rPr spc="-10" dirty="0"/>
              <a:t>2</a:t>
            </a:r>
            <a:r>
              <a:rPr dirty="0"/>
              <a:t>6</a:t>
            </a:r>
            <a:r>
              <a:rPr spc="-10" dirty="0"/>
              <a:t>/2</a:t>
            </a:r>
            <a:r>
              <a:rPr dirty="0"/>
              <a:t>0</a:t>
            </a:r>
            <a:r>
              <a:rPr spc="-5" dirty="0"/>
              <a:t>1</a:t>
            </a:r>
            <a:r>
              <a:rPr dirty="0"/>
              <a:t>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dirty="0"/>
              <a:t>V</a:t>
            </a:r>
            <a:r>
              <a:rPr spc="-10" dirty="0"/>
              <a:t>Y</a:t>
            </a:r>
            <a:r>
              <a:rPr spc="-5" dirty="0"/>
              <a:t>BH</a:t>
            </a:r>
            <a:r>
              <a:rPr spc="-120" dirty="0"/>
              <a:t>A</a:t>
            </a:r>
            <a:r>
              <a:rPr spc="-114" dirty="0"/>
              <a:t>V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</a:t>
            </a:r>
            <a:r>
              <a:rPr spc="-30" dirty="0"/>
              <a:t>E</a:t>
            </a:r>
            <a:r>
              <a:rPr spc="-5" dirty="0"/>
              <a:t>C</a:t>
            </a:r>
            <a:r>
              <a:rPr spc="-10" dirty="0"/>
              <a:t>H</a:t>
            </a:r>
            <a:r>
              <a:rPr dirty="0"/>
              <a:t>N</a:t>
            </a:r>
            <a:r>
              <a:rPr spc="-10" dirty="0"/>
              <a:t>OLO</a:t>
            </a:r>
            <a:r>
              <a:rPr dirty="0"/>
              <a:t>G</a:t>
            </a:r>
            <a:r>
              <a:rPr spc="-5" dirty="0"/>
              <a:t>I</a:t>
            </a:r>
            <a:r>
              <a:rPr dirty="0"/>
              <a:t>ES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7</a:t>
            </a:r>
            <a:r>
              <a:rPr spc="-5" dirty="0"/>
              <a:t>/</a:t>
            </a:r>
            <a:r>
              <a:rPr spc="-10" dirty="0"/>
              <a:t>2</a:t>
            </a:r>
            <a:r>
              <a:rPr dirty="0"/>
              <a:t>6</a:t>
            </a:r>
            <a:r>
              <a:rPr spc="-10" dirty="0"/>
              <a:t>/2</a:t>
            </a:r>
            <a:r>
              <a:rPr dirty="0"/>
              <a:t>0</a:t>
            </a:r>
            <a:r>
              <a:rPr spc="-5" dirty="0"/>
              <a:t>1</a:t>
            </a:r>
            <a:r>
              <a:rPr dirty="0"/>
              <a:t>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dirty="0"/>
              <a:t>V</a:t>
            </a:r>
            <a:r>
              <a:rPr spc="-10" dirty="0"/>
              <a:t>Y</a:t>
            </a:r>
            <a:r>
              <a:rPr spc="-5" dirty="0"/>
              <a:t>BH</a:t>
            </a:r>
            <a:r>
              <a:rPr spc="-120" dirty="0"/>
              <a:t>A</a:t>
            </a:r>
            <a:r>
              <a:rPr spc="-114" dirty="0"/>
              <a:t>V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</a:t>
            </a:r>
            <a:r>
              <a:rPr spc="-30" dirty="0"/>
              <a:t>E</a:t>
            </a:r>
            <a:r>
              <a:rPr spc="-5" dirty="0"/>
              <a:t>C</a:t>
            </a:r>
            <a:r>
              <a:rPr spc="-10" dirty="0"/>
              <a:t>H</a:t>
            </a:r>
            <a:r>
              <a:rPr dirty="0"/>
              <a:t>N</a:t>
            </a:r>
            <a:r>
              <a:rPr spc="-10" dirty="0"/>
              <a:t>OLO</a:t>
            </a:r>
            <a:r>
              <a:rPr dirty="0"/>
              <a:t>G</a:t>
            </a:r>
            <a:r>
              <a:rPr spc="-5" dirty="0"/>
              <a:t>I</a:t>
            </a:r>
            <a:r>
              <a:rPr dirty="0"/>
              <a:t>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23"/>
            <a:ext cx="9143999" cy="1028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1357" y="0"/>
            <a:ext cx="4742641" cy="599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9088207" cy="10205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828" y="52323"/>
            <a:ext cx="9145590" cy="9018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56915" y="685546"/>
            <a:ext cx="2478404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4607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50" y="3270250"/>
            <a:ext cx="8020050" cy="2451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6555667"/>
            <a:ext cx="65976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7</a:t>
            </a:r>
            <a:r>
              <a:rPr spc="-5" dirty="0"/>
              <a:t>/</a:t>
            </a:r>
            <a:r>
              <a:rPr spc="-10" dirty="0"/>
              <a:t>2</a:t>
            </a:r>
            <a:r>
              <a:rPr dirty="0"/>
              <a:t>6</a:t>
            </a:r>
            <a:r>
              <a:rPr spc="-10" dirty="0"/>
              <a:t>/2</a:t>
            </a:r>
            <a:r>
              <a:rPr dirty="0"/>
              <a:t>0</a:t>
            </a:r>
            <a:r>
              <a:rPr spc="-5" dirty="0"/>
              <a:t>1</a:t>
            </a:r>
            <a:r>
              <a:rPr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54554" y="6555667"/>
            <a:ext cx="1906904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12700">
              <a:lnSpc>
                <a:spcPts val="1245"/>
              </a:lnSpc>
            </a:pPr>
            <a:r>
              <a:rPr dirty="0"/>
              <a:t>V</a:t>
            </a:r>
            <a:r>
              <a:rPr spc="-10" dirty="0"/>
              <a:t>Y</a:t>
            </a:r>
            <a:r>
              <a:rPr spc="-5" dirty="0"/>
              <a:t>BH</a:t>
            </a:r>
            <a:r>
              <a:rPr spc="-120" dirty="0"/>
              <a:t>A</a:t>
            </a:r>
            <a:r>
              <a:rPr spc="-114" dirty="0"/>
              <a:t>V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</a:t>
            </a:r>
            <a:r>
              <a:rPr spc="-30" dirty="0"/>
              <a:t>E</a:t>
            </a:r>
            <a:r>
              <a:rPr spc="-5" dirty="0"/>
              <a:t>C</a:t>
            </a:r>
            <a:r>
              <a:rPr spc="-10" dirty="0"/>
              <a:t>H</a:t>
            </a:r>
            <a:r>
              <a:rPr dirty="0"/>
              <a:t>N</a:t>
            </a:r>
            <a:r>
              <a:rPr spc="-10" dirty="0"/>
              <a:t>OLO</a:t>
            </a:r>
            <a:r>
              <a:rPr dirty="0"/>
              <a:t>G</a:t>
            </a:r>
            <a:r>
              <a:rPr spc="-5" dirty="0"/>
              <a:t>I</a:t>
            </a:r>
            <a:r>
              <a:rPr dirty="0"/>
              <a:t>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4521" y="6555667"/>
            <a:ext cx="23240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4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1EB52F-F466-3DD5-C58E-7BDBADC5FBB8}"/>
              </a:ext>
            </a:extLst>
          </p:cNvPr>
          <p:cNvSpPr/>
          <p:nvPr userDrawn="1"/>
        </p:nvSpPr>
        <p:spPr>
          <a:xfrm>
            <a:off x="6355976" y="6401023"/>
            <a:ext cx="2788024" cy="456977"/>
          </a:xfrm>
          <a:prstGeom prst="rect">
            <a:avLst/>
          </a:prstGeom>
          <a:blipFill dpi="0" rotWithShape="1">
            <a:blip r:embed="rId12" cstate="print">
              <a:alphaModFix amt="9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151CEB21-B75F-BD9E-C2E1-D161B7F87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7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C85F5C-2A9D-F07E-0C5F-EAAE2C4D7749}"/>
              </a:ext>
            </a:extLst>
          </p:cNvPr>
          <p:cNvSpPr txBox="1"/>
          <p:nvPr/>
        </p:nvSpPr>
        <p:spPr>
          <a:xfrm>
            <a:off x="228600" y="2438400"/>
            <a:ext cx="670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 </a:t>
            </a:r>
            <a:r>
              <a:rPr lang="en-IN" sz="4800" b="1" dirty="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OOPS</a:t>
            </a:r>
            <a:r>
              <a:rPr lang="en-IN" sz="4000" b="1" dirty="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concept </a:t>
            </a:r>
          </a:p>
        </p:txBody>
      </p:sp>
    </p:spTree>
    <p:extLst>
      <p:ext uri="{BB962C8B-B14F-4D97-AF65-F5344CB8AC3E}">
        <p14:creationId xmlns:p14="http://schemas.microsoft.com/office/powerpoint/2010/main" val="69181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4678" y="885190"/>
            <a:ext cx="1832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</a:t>
            </a:r>
            <a:r>
              <a:rPr sz="4000" spc="5" dirty="0"/>
              <a:t>t</a:t>
            </a:r>
            <a:r>
              <a:rPr sz="4000" spc="-5" dirty="0"/>
              <a:t>en</a:t>
            </a:r>
            <a:r>
              <a:rPr sz="4000" dirty="0"/>
              <a:t>t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8576818" y="6555667"/>
            <a:ext cx="15049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045C75"/>
                </a:solidFill>
                <a:latin typeface="Constantia"/>
                <a:cs typeface="Constantia"/>
              </a:rPr>
              <a:t>3</a:t>
            </a:fld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14245"/>
            <a:ext cx="6424295" cy="4279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10" dirty="0">
                <a:latin typeface="Constantia"/>
                <a:cs typeface="Constantia"/>
              </a:rPr>
              <a:t>Differences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Procedure</a:t>
            </a:r>
            <a:r>
              <a:rPr sz="2000" spc="-12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vs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Object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Oriented</a:t>
            </a:r>
            <a:r>
              <a:rPr sz="2000" spc="-1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Programming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75" dirty="0">
                <a:latin typeface="Constantia"/>
                <a:cs typeface="Constantia"/>
              </a:rPr>
              <a:t>F</a:t>
            </a:r>
            <a:r>
              <a:rPr sz="2000" dirty="0">
                <a:latin typeface="Constantia"/>
                <a:cs typeface="Constantia"/>
              </a:rPr>
              <a:t>eatu</a:t>
            </a:r>
            <a:r>
              <a:rPr sz="2000" spc="-30" dirty="0">
                <a:latin typeface="Constantia"/>
                <a:cs typeface="Constantia"/>
              </a:rPr>
              <a:t>r</a:t>
            </a:r>
            <a:r>
              <a:rPr sz="2000" dirty="0">
                <a:latin typeface="Constantia"/>
                <a:cs typeface="Constantia"/>
              </a:rPr>
              <a:t>es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of</a:t>
            </a:r>
            <a:r>
              <a:rPr sz="2000" spc="3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OOP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5" dirty="0">
                <a:latin typeface="Constantia"/>
                <a:cs typeface="Constantia"/>
              </a:rPr>
              <a:t>Fundamental</a:t>
            </a:r>
            <a:r>
              <a:rPr sz="2000" spc="-3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Concepts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of</a:t>
            </a:r>
            <a:r>
              <a:rPr sz="2000" spc="3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OOP</a:t>
            </a:r>
            <a:r>
              <a:rPr sz="2000" spc="-2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in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Python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dirty="0">
                <a:latin typeface="Constantia"/>
                <a:cs typeface="Constantia"/>
              </a:rPr>
              <a:t>What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is</a:t>
            </a:r>
            <a:r>
              <a:rPr sz="2000" spc="-6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Class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dirty="0">
                <a:latin typeface="Constantia"/>
                <a:cs typeface="Constantia"/>
              </a:rPr>
              <a:t>What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is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Object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5" dirty="0">
                <a:latin typeface="Constantia"/>
                <a:cs typeface="Constantia"/>
              </a:rPr>
              <a:t>Methods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in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Classes</a:t>
            </a:r>
            <a:endParaRPr sz="2000" dirty="0">
              <a:latin typeface="Constantia"/>
              <a:cs typeface="Constantia"/>
            </a:endParaRPr>
          </a:p>
          <a:p>
            <a:pPr marL="927100">
              <a:lnSpc>
                <a:spcPct val="100000"/>
              </a:lnSpc>
              <a:tabLst>
                <a:tab pos="4037329" algn="l"/>
                <a:tab pos="4733925" algn="l"/>
              </a:tabLst>
            </a:pPr>
            <a:r>
              <a:rPr sz="2000" dirty="0">
                <a:latin typeface="Constantia"/>
                <a:cs typeface="Constantia"/>
              </a:rPr>
              <a:t>Instantiating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objects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with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	</a:t>
            </a:r>
            <a:r>
              <a:rPr sz="2000" spc="-5" dirty="0">
                <a:latin typeface="Constantia"/>
                <a:cs typeface="Constantia"/>
              </a:rPr>
              <a:t>init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	</a:t>
            </a:r>
            <a:endParaRPr sz="2000" dirty="0">
              <a:latin typeface="Constantia"/>
              <a:cs typeface="Constanti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nstantia"/>
                <a:cs typeface="Constantia"/>
              </a:rPr>
              <a:t>self</a:t>
            </a: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dirty="0">
                <a:latin typeface="Constantia"/>
                <a:cs typeface="Constantia"/>
              </a:rPr>
              <a:t>Encapsulation</a:t>
            </a: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10" dirty="0">
                <a:latin typeface="Constantia"/>
                <a:cs typeface="Constantia"/>
              </a:rPr>
              <a:t>Data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Abstraction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dirty="0">
                <a:latin typeface="Constantia"/>
                <a:cs typeface="Constantia"/>
              </a:rPr>
              <a:t>Public,</a:t>
            </a:r>
            <a:r>
              <a:rPr sz="2000" spc="-2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Protected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and</a:t>
            </a:r>
            <a:r>
              <a:rPr sz="2000" spc="-3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Private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Data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5" dirty="0">
                <a:latin typeface="Constantia"/>
                <a:cs typeface="Constantia"/>
              </a:rPr>
              <a:t>Inheritance</a:t>
            </a:r>
            <a:endParaRPr sz="20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Char char="&gt;"/>
              <a:tabLst>
                <a:tab pos="286385" algn="l"/>
                <a:tab pos="287020" algn="l"/>
              </a:tabLst>
            </a:pPr>
            <a:r>
              <a:rPr sz="2000" spc="-10" dirty="0">
                <a:latin typeface="Constantia"/>
                <a:cs typeface="Constantia"/>
              </a:rPr>
              <a:t>Polymorphism</a:t>
            </a:r>
            <a:endParaRPr sz="2000" dirty="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"/>
              </a:spcBef>
              <a:buClr>
                <a:srgbClr val="0E6EC5"/>
              </a:buClr>
              <a:buSzPct val="84210"/>
              <a:buChar char="&gt;"/>
              <a:tabLst>
                <a:tab pos="652780" algn="l"/>
                <a:tab pos="653415" algn="l"/>
              </a:tabLst>
            </a:pPr>
            <a:r>
              <a:rPr sz="1900" spc="-15" dirty="0">
                <a:latin typeface="Constantia"/>
                <a:cs typeface="Constantia"/>
              </a:rPr>
              <a:t>Operator</a:t>
            </a:r>
            <a:r>
              <a:rPr sz="1900" spc="-80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Overloading</a:t>
            </a:r>
            <a:endParaRPr sz="19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4267" y="720597"/>
            <a:ext cx="74002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8080" marR="5080" indent="-1136015">
              <a:lnSpc>
                <a:spcPct val="100000"/>
              </a:lnSpc>
              <a:spcBef>
                <a:spcPts val="100"/>
              </a:spcBef>
            </a:pPr>
            <a:r>
              <a:rPr sz="3300" spc="-5" dirty="0"/>
              <a:t>Difference</a:t>
            </a:r>
            <a:r>
              <a:rPr sz="3300" spc="-35" dirty="0"/>
              <a:t> </a:t>
            </a:r>
            <a:r>
              <a:rPr sz="3300" dirty="0"/>
              <a:t>between</a:t>
            </a:r>
            <a:r>
              <a:rPr sz="3300" spc="-30" dirty="0"/>
              <a:t> </a:t>
            </a:r>
            <a:r>
              <a:rPr sz="3300" dirty="0"/>
              <a:t>Procedure</a:t>
            </a:r>
            <a:r>
              <a:rPr sz="3300" spc="-15" dirty="0"/>
              <a:t> </a:t>
            </a:r>
            <a:r>
              <a:rPr sz="3300" dirty="0"/>
              <a:t>Oriented</a:t>
            </a:r>
            <a:r>
              <a:rPr sz="3300" spc="-30" dirty="0"/>
              <a:t> </a:t>
            </a:r>
            <a:r>
              <a:rPr sz="3300" dirty="0"/>
              <a:t>and </a:t>
            </a:r>
            <a:r>
              <a:rPr sz="3300" spc="-810" dirty="0"/>
              <a:t> </a:t>
            </a:r>
            <a:r>
              <a:rPr sz="3300" dirty="0"/>
              <a:t>Object</a:t>
            </a:r>
            <a:r>
              <a:rPr sz="3300" spc="-25" dirty="0"/>
              <a:t> </a:t>
            </a:r>
            <a:r>
              <a:rPr sz="3300" dirty="0"/>
              <a:t>Oriented</a:t>
            </a:r>
            <a:r>
              <a:rPr sz="3300" spc="-25" dirty="0"/>
              <a:t> </a:t>
            </a:r>
            <a:r>
              <a:rPr sz="3300" dirty="0"/>
              <a:t>Programming</a:t>
            </a:r>
            <a:endParaRPr sz="33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21205"/>
            <a:ext cx="8073390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6385" marR="5715" indent="-274320" algn="just">
              <a:lnSpc>
                <a:spcPct val="901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Procedural </a:t>
            </a:r>
            <a:r>
              <a:rPr sz="2400" spc="-5" dirty="0">
                <a:latin typeface="Times New Roman"/>
                <a:cs typeface="Times New Roman"/>
              </a:rPr>
              <a:t>programming creates </a:t>
            </a:r>
            <a:r>
              <a:rPr sz="2400" dirty="0">
                <a:latin typeface="Times New Roman"/>
                <a:cs typeface="Times New Roman"/>
              </a:rPr>
              <a:t>a step </a:t>
            </a:r>
            <a:r>
              <a:rPr sz="2400" spc="-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step program that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guides the application through a sequence of instructions. </a:t>
            </a:r>
            <a:r>
              <a:rPr sz="2400" spc="-10" dirty="0">
                <a:latin typeface="Times New Roman"/>
                <a:cs typeface="Times New Roman"/>
              </a:rPr>
              <a:t>Each 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executed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order.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Procedural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programming</a:t>
            </a:r>
            <a:r>
              <a:rPr sz="2400" dirty="0">
                <a:latin typeface="Times New Roman"/>
                <a:cs typeface="Times New Roman"/>
              </a:rPr>
              <a:t> also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focuses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algorithms</a:t>
            </a:r>
            <a:r>
              <a:rPr sz="2400" dirty="0">
                <a:latin typeface="Times New Roman"/>
                <a:cs typeface="Times New Roman"/>
              </a:rPr>
              <a:t> 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executed</a:t>
            </a:r>
            <a:r>
              <a:rPr sz="2400" dirty="0">
                <a:latin typeface="Times New Roman"/>
                <a:cs typeface="Times New Roman"/>
              </a:rPr>
              <a:t> with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functions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programmer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change.</a:t>
            </a:r>
            <a:endParaRPr sz="24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ts val="2590"/>
              </a:lnSpc>
              <a:spcBef>
                <a:spcPts val="62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Object-Oriented programming </a:t>
            </a:r>
            <a:r>
              <a:rPr sz="2400" dirty="0">
                <a:latin typeface="Times New Roman"/>
                <a:cs typeface="Times New Roman"/>
              </a:rPr>
              <a:t>is much </a:t>
            </a:r>
            <a:r>
              <a:rPr sz="2400" spc="-5" dirty="0">
                <a:latin typeface="Times New Roman"/>
                <a:cs typeface="Times New Roman"/>
              </a:rPr>
              <a:t>more similar </a:t>
            </a:r>
            <a:r>
              <a:rPr sz="2400" dirty="0">
                <a:latin typeface="Times New Roman"/>
                <a:cs typeface="Times New Roman"/>
              </a:rPr>
              <a:t>to the </a:t>
            </a:r>
            <a:r>
              <a:rPr sz="2400" spc="-5" dirty="0">
                <a:latin typeface="Times New Roman"/>
                <a:cs typeface="Times New Roman"/>
              </a:rPr>
              <a:t>way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real world </a:t>
            </a:r>
            <a:r>
              <a:rPr sz="2400" dirty="0">
                <a:latin typeface="Times New Roman"/>
                <a:cs typeface="Times New Roman"/>
              </a:rPr>
              <a:t>works; it is </a:t>
            </a:r>
            <a:r>
              <a:rPr sz="2400" spc="-5" dirty="0">
                <a:latin typeface="Times New Roman"/>
                <a:cs typeface="Times New Roman"/>
              </a:rPr>
              <a:t>analogous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the human </a:t>
            </a:r>
            <a:r>
              <a:rPr sz="2400" dirty="0">
                <a:latin typeface="Times New Roman"/>
                <a:cs typeface="Times New Roman"/>
              </a:rPr>
              <a:t>brain. </a:t>
            </a:r>
            <a:r>
              <a:rPr sz="2400" spc="-5" dirty="0">
                <a:latin typeface="Times New Roman"/>
                <a:cs typeface="Times New Roman"/>
              </a:rPr>
              <a:t>Each </a:t>
            </a:r>
            <a:r>
              <a:rPr sz="2400" dirty="0">
                <a:latin typeface="Times New Roman"/>
                <a:cs typeface="Times New Roman"/>
              </a:rPr>
              <a:t> program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made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entities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2590"/>
              </a:lnSpc>
              <a:spcBef>
                <a:spcPts val="58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Instead,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message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sent </a:t>
            </a:r>
            <a:r>
              <a:rPr sz="2400" spc="-5" dirty="0">
                <a:latin typeface="Times New Roman"/>
                <a:cs typeface="Times New Roman"/>
              </a:rPr>
              <a:t>requesting </a:t>
            </a:r>
            <a:r>
              <a:rPr sz="2400" dirty="0">
                <a:latin typeface="Times New Roman"/>
                <a:cs typeface="Times New Roman"/>
              </a:rPr>
              <a:t>the data, </a:t>
            </a:r>
            <a:r>
              <a:rPr sz="2400" spc="-5" dirty="0">
                <a:latin typeface="Times New Roman"/>
                <a:cs typeface="Times New Roman"/>
              </a:rPr>
              <a:t>just </a:t>
            </a:r>
            <a:r>
              <a:rPr sz="2400" dirty="0">
                <a:latin typeface="Times New Roman"/>
                <a:cs typeface="Times New Roman"/>
              </a:rPr>
              <a:t>like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spc="-5" dirty="0">
                <a:latin typeface="Times New Roman"/>
                <a:cs typeface="Times New Roman"/>
              </a:rPr>
              <a:t>ask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another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information; we cannot see </a:t>
            </a:r>
            <a:r>
              <a:rPr sz="2400" dirty="0">
                <a:latin typeface="Times New Roman"/>
                <a:cs typeface="Times New Roman"/>
              </a:rPr>
              <a:t> inside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other’s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heads.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7814" y="1115313"/>
            <a:ext cx="301371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Featuers</a:t>
            </a:r>
            <a:r>
              <a:rPr sz="3500" spc="-70" dirty="0"/>
              <a:t> </a:t>
            </a:r>
            <a:r>
              <a:rPr sz="3500" dirty="0"/>
              <a:t>of</a:t>
            </a:r>
            <a:r>
              <a:rPr sz="3500" spc="-35" dirty="0"/>
              <a:t> </a:t>
            </a:r>
            <a:r>
              <a:rPr sz="3500" dirty="0"/>
              <a:t>OOP</a:t>
            </a:r>
            <a:endParaRPr sz="3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91245"/>
            <a:ext cx="8070850" cy="23742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35"/>
              </a:spcBef>
              <a:buClr>
                <a:srgbClr val="0AD0D9"/>
              </a:buClr>
              <a:buSzPct val="95454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Ability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simulate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real-world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event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much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more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effectively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0AD0D9"/>
              </a:buClr>
              <a:buSzPct val="93181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Code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reusable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thus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less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code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be </a:t>
            </a:r>
            <a:r>
              <a:rPr sz="2200" spc="-5" dirty="0">
                <a:latin typeface="Times New Roman"/>
                <a:cs typeface="Times New Roman"/>
              </a:rPr>
              <a:t>written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0AD0D9"/>
              </a:buClr>
              <a:buSzPct val="93181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becomes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active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0AD0D9"/>
              </a:buClr>
              <a:buSzPct val="93181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Better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able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create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GUI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(graphical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interface)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applications</a:t>
            </a:r>
            <a:endParaRPr sz="22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30"/>
              </a:spcBef>
              <a:buClr>
                <a:srgbClr val="0AD0D9"/>
              </a:buClr>
              <a:buSzPct val="93181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Programmers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able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produce</a:t>
            </a:r>
            <a:r>
              <a:rPr sz="2200" spc="36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faster,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more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accurate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3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better-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written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applications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844" y="961390"/>
            <a:ext cx="80867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/>
              <a:t>Fundamental</a:t>
            </a:r>
            <a:r>
              <a:rPr sz="3600" spc="105" dirty="0"/>
              <a:t> </a:t>
            </a:r>
            <a:r>
              <a:rPr sz="4000" dirty="0"/>
              <a:t>concepts</a:t>
            </a:r>
            <a:r>
              <a:rPr sz="4000" spc="-10" dirty="0"/>
              <a:t> </a:t>
            </a:r>
            <a:r>
              <a:rPr sz="4000" spc="-5" dirty="0"/>
              <a:t>of OOP</a:t>
            </a:r>
            <a:r>
              <a:rPr sz="4000" spc="-135" dirty="0"/>
              <a:t> </a:t>
            </a:r>
            <a:r>
              <a:rPr sz="4000" spc="-5" dirty="0"/>
              <a:t>in</a:t>
            </a:r>
            <a:r>
              <a:rPr sz="4000" spc="5" dirty="0"/>
              <a:t> </a:t>
            </a:r>
            <a:r>
              <a:rPr sz="4000" dirty="0"/>
              <a:t>Python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78304"/>
            <a:ext cx="6740525" cy="240347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four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major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principles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object</a:t>
            </a:r>
            <a:r>
              <a:rPr sz="2600" spc="-5" dirty="0">
                <a:latin typeface="Times New Roman"/>
                <a:cs typeface="Times New Roman"/>
              </a:rPr>
              <a:t> orientation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are:</a:t>
            </a:r>
            <a:endParaRPr sz="26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dirty="0">
                <a:latin typeface="Times New Roman"/>
                <a:cs typeface="Times New Roman"/>
              </a:rPr>
              <a:t>Encapsulation</a:t>
            </a:r>
            <a:endParaRPr sz="26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</a:t>
            </a:r>
            <a:endParaRPr sz="2600">
              <a:latin typeface="Times New Roman"/>
              <a:cs typeface="Times New Roman"/>
            </a:endParaRPr>
          </a:p>
          <a:p>
            <a:pPr marL="293370" indent="-28067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dirty="0">
                <a:latin typeface="Times New Roman"/>
                <a:cs typeface="Times New Roman"/>
              </a:rPr>
              <a:t>Inheritance</a:t>
            </a:r>
            <a:endParaRPr sz="26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dirty="0">
                <a:latin typeface="Times New Roman"/>
                <a:cs typeface="Times New Roman"/>
              </a:rPr>
              <a:t>Polymorphism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208278"/>
            <a:ext cx="415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What</a:t>
            </a:r>
            <a:r>
              <a:rPr sz="4000" spc="-20" dirty="0"/>
              <a:t> </a:t>
            </a:r>
            <a:r>
              <a:rPr sz="4000" dirty="0"/>
              <a:t>is</a:t>
            </a:r>
            <a:r>
              <a:rPr sz="4000" spc="-20" dirty="0"/>
              <a:t> </a:t>
            </a:r>
            <a:r>
              <a:rPr sz="4000" spc="-5" dirty="0"/>
              <a:t>an</a:t>
            </a:r>
            <a:r>
              <a:rPr sz="4000" spc="-20" dirty="0"/>
              <a:t> </a:t>
            </a:r>
            <a:r>
              <a:rPr sz="4000" spc="-5" dirty="0"/>
              <a:t>Object..?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7781"/>
            <a:ext cx="8072120" cy="3533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360680" algn="l"/>
                <a:tab pos="1423670" algn="l"/>
                <a:tab pos="1952625" algn="l"/>
                <a:tab pos="2479675" algn="l"/>
                <a:tab pos="3254375" algn="l"/>
                <a:tab pos="4429760" algn="l"/>
                <a:tab pos="5444490" algn="l"/>
                <a:tab pos="5842635" algn="l"/>
                <a:tab pos="6290310" algn="l"/>
              </a:tabLst>
            </a:pPr>
            <a:r>
              <a:rPr sz="2300" dirty="0">
                <a:latin typeface="Times New Roman"/>
                <a:cs typeface="Times New Roman"/>
              </a:rPr>
              <a:t>Objects	are	the	basic	</a:t>
            </a:r>
            <a:r>
              <a:rPr sz="2300" spc="-5" dirty="0">
                <a:latin typeface="Times New Roman"/>
                <a:cs typeface="Times New Roman"/>
              </a:rPr>
              <a:t>run-time	</a:t>
            </a:r>
            <a:r>
              <a:rPr sz="2300" dirty="0">
                <a:latin typeface="Times New Roman"/>
                <a:cs typeface="Times New Roman"/>
              </a:rPr>
              <a:t>entities	in	an	</a:t>
            </a:r>
            <a:r>
              <a:rPr sz="2300" spc="-5" dirty="0">
                <a:latin typeface="Times New Roman"/>
                <a:cs typeface="Times New Roman"/>
              </a:rPr>
              <a:t>object-oriented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imes New Roman"/>
                <a:cs typeface="Times New Roman"/>
              </a:rPr>
              <a:t>system.</a:t>
            </a:r>
            <a:endParaRPr sz="23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They</a:t>
            </a:r>
            <a:r>
              <a:rPr sz="2300" spc="2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may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represent</a:t>
            </a:r>
            <a:r>
              <a:rPr sz="2300" spc="1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person,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place,</a:t>
            </a:r>
            <a:r>
              <a:rPr sz="2300" spc="20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bank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account,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table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any</a:t>
            </a:r>
            <a:r>
              <a:rPr sz="2300" spc="-5" dirty="0">
                <a:latin typeface="Times New Roman"/>
                <a:cs typeface="Times New Roman"/>
              </a:rPr>
              <a:t> item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program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must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handle.</a:t>
            </a:r>
            <a:endParaRPr sz="23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  <a:tab pos="1146175" algn="l"/>
                <a:tab pos="1437640" algn="l"/>
                <a:tab pos="2588260" algn="l"/>
                <a:tab pos="2945130" algn="l"/>
                <a:tab pos="4147820" algn="l"/>
                <a:tab pos="4665980" algn="l"/>
                <a:tab pos="5656580" algn="l"/>
                <a:tab pos="6694805" algn="l"/>
                <a:tab pos="7150734" algn="l"/>
              </a:tabLst>
            </a:pPr>
            <a:r>
              <a:rPr sz="2300" dirty="0">
                <a:latin typeface="Times New Roman"/>
                <a:cs typeface="Times New Roman"/>
              </a:rPr>
              <a:t>Wh</a:t>
            </a:r>
            <a:r>
              <a:rPr sz="2300" spc="-10" dirty="0">
                <a:latin typeface="Times New Roman"/>
                <a:cs typeface="Times New Roman"/>
              </a:rPr>
              <a:t>e</a:t>
            </a:r>
            <a:r>
              <a:rPr sz="2300" dirty="0">
                <a:latin typeface="Times New Roman"/>
                <a:cs typeface="Times New Roman"/>
              </a:rPr>
              <a:t>n	a	progr</a:t>
            </a:r>
            <a:r>
              <a:rPr sz="2300" spc="-10" dirty="0">
                <a:latin typeface="Times New Roman"/>
                <a:cs typeface="Times New Roman"/>
              </a:rPr>
              <a:t>a</a:t>
            </a:r>
            <a:r>
              <a:rPr sz="2300" spc="5" dirty="0">
                <a:latin typeface="Times New Roman"/>
                <a:cs typeface="Times New Roman"/>
              </a:rPr>
              <a:t>m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" dirty="0">
                <a:latin typeface="Times New Roman"/>
                <a:cs typeface="Times New Roman"/>
              </a:rPr>
              <a:t>i</a:t>
            </a:r>
            <a:r>
              <a:rPr sz="2300" dirty="0">
                <a:latin typeface="Times New Roman"/>
                <a:cs typeface="Times New Roman"/>
              </a:rPr>
              <a:t>s	ex</a:t>
            </a:r>
            <a:r>
              <a:rPr sz="2300" spc="10" dirty="0">
                <a:latin typeface="Times New Roman"/>
                <a:cs typeface="Times New Roman"/>
              </a:rPr>
              <a:t>e</a:t>
            </a:r>
            <a:r>
              <a:rPr sz="2300" dirty="0">
                <a:latin typeface="Times New Roman"/>
                <a:cs typeface="Times New Roman"/>
              </a:rPr>
              <a:t>cu</a:t>
            </a:r>
            <a:r>
              <a:rPr sz="2300" spc="-15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ed	the	</a:t>
            </a:r>
            <a:r>
              <a:rPr sz="2300" spc="5" dirty="0">
                <a:latin typeface="Times New Roman"/>
                <a:cs typeface="Times New Roman"/>
              </a:rPr>
              <a:t>o</a:t>
            </a:r>
            <a:r>
              <a:rPr sz="2300" dirty="0">
                <a:latin typeface="Times New Roman"/>
                <a:cs typeface="Times New Roman"/>
              </a:rPr>
              <a:t>bj</a:t>
            </a:r>
            <a:r>
              <a:rPr sz="2300" spc="-15" dirty="0">
                <a:latin typeface="Times New Roman"/>
                <a:cs typeface="Times New Roman"/>
              </a:rPr>
              <a:t>e</a:t>
            </a: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-10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s	in</a:t>
            </a:r>
            <a:r>
              <a:rPr sz="2300" spc="-15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eract	</a:t>
            </a:r>
            <a:r>
              <a:rPr sz="2300" spc="-5" dirty="0">
                <a:latin typeface="Times New Roman"/>
                <a:cs typeface="Times New Roman"/>
              </a:rPr>
              <a:t>b</a:t>
            </a:r>
            <a:r>
              <a:rPr sz="2300" dirty="0">
                <a:latin typeface="Times New Roman"/>
                <a:cs typeface="Times New Roman"/>
              </a:rPr>
              <a:t>y	send</a:t>
            </a:r>
            <a:r>
              <a:rPr sz="2300" spc="-25" dirty="0">
                <a:latin typeface="Times New Roman"/>
                <a:cs typeface="Times New Roman"/>
              </a:rPr>
              <a:t>i</a:t>
            </a:r>
            <a:r>
              <a:rPr sz="2300" dirty="0">
                <a:latin typeface="Times New Roman"/>
                <a:cs typeface="Times New Roman"/>
              </a:rPr>
              <a:t>ng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300" spc="-5" dirty="0">
                <a:latin typeface="Times New Roman"/>
                <a:cs typeface="Times New Roman"/>
              </a:rPr>
              <a:t>messages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one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another.</a:t>
            </a:r>
            <a:endParaRPr sz="23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Objects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two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components:</a:t>
            </a:r>
            <a:endParaRPr sz="2300">
              <a:latin typeface="Times New Roman"/>
              <a:cs typeface="Times New Roman"/>
            </a:endParaRPr>
          </a:p>
          <a:p>
            <a:pPr marL="575310" lvl="1" indent="-170180">
              <a:lnSpc>
                <a:spcPct val="100000"/>
              </a:lnSpc>
              <a:spcBef>
                <a:spcPts val="555"/>
              </a:spcBef>
              <a:buChar char="-"/>
              <a:tabLst>
                <a:tab pos="575945" algn="l"/>
              </a:tabLst>
            </a:pP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5" dirty="0">
                <a:latin typeface="Times New Roman"/>
                <a:cs typeface="Times New Roman"/>
              </a:rPr>
              <a:t> (i.e., attributes)</a:t>
            </a:r>
            <a:endParaRPr sz="2300">
              <a:latin typeface="Times New Roman"/>
              <a:cs typeface="Times New Roman"/>
            </a:endParaRPr>
          </a:p>
          <a:p>
            <a:pPr marL="652780" lvl="1" indent="-247650">
              <a:lnSpc>
                <a:spcPct val="100000"/>
              </a:lnSpc>
              <a:spcBef>
                <a:spcPts val="555"/>
              </a:spcBef>
              <a:buClr>
                <a:srgbClr val="0E6EC5"/>
              </a:buClr>
              <a:buSzPct val="84782"/>
              <a:buChar char="-"/>
              <a:tabLst>
                <a:tab pos="652780" algn="l"/>
                <a:tab pos="653415" algn="l"/>
              </a:tabLst>
            </a:pPr>
            <a:r>
              <a:rPr sz="2300" dirty="0">
                <a:latin typeface="Times New Roman"/>
                <a:cs typeface="Times New Roman"/>
              </a:rPr>
              <a:t>Behaviors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(i.e.,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methods)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810513"/>
            <a:ext cx="719391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Object</a:t>
            </a:r>
            <a:r>
              <a:rPr sz="3500" spc="-215" dirty="0"/>
              <a:t> </a:t>
            </a:r>
            <a:r>
              <a:rPr sz="3500" dirty="0"/>
              <a:t>Attributes</a:t>
            </a:r>
            <a:r>
              <a:rPr sz="3500" spc="-5" dirty="0"/>
              <a:t> </a:t>
            </a:r>
            <a:r>
              <a:rPr sz="3500" dirty="0"/>
              <a:t>and</a:t>
            </a:r>
            <a:r>
              <a:rPr sz="3500" spc="-15" dirty="0"/>
              <a:t> </a:t>
            </a:r>
            <a:r>
              <a:rPr sz="3500" dirty="0"/>
              <a:t>Methods</a:t>
            </a:r>
            <a:r>
              <a:rPr sz="3500" spc="-15" dirty="0"/>
              <a:t> </a:t>
            </a:r>
            <a:r>
              <a:rPr sz="3500" dirty="0"/>
              <a:t>Example</a:t>
            </a:r>
            <a:endParaRPr sz="3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243963"/>
            <a:ext cx="414528" cy="3093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664586"/>
            <a:ext cx="414528" cy="3093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2" y="3111119"/>
            <a:ext cx="372465" cy="2773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2" y="3531438"/>
            <a:ext cx="372465" cy="2776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2" y="3952621"/>
            <a:ext cx="372465" cy="2773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2" y="4373245"/>
            <a:ext cx="372465" cy="277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0259" y="1525714"/>
            <a:ext cx="3342640" cy="31413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68020">
              <a:lnSpc>
                <a:spcPct val="129900"/>
              </a:lnSpc>
              <a:spcBef>
                <a:spcPts val="425"/>
              </a:spcBef>
            </a:pPr>
            <a:r>
              <a:rPr sz="2400" b="1" spc="-5" dirty="0">
                <a:solidFill>
                  <a:srgbClr val="04607A"/>
                </a:solidFill>
                <a:latin typeface="Times New Roman"/>
                <a:cs typeface="Times New Roman"/>
              </a:rPr>
              <a:t>Ob</a:t>
            </a:r>
            <a:r>
              <a:rPr sz="2400" b="1" dirty="0">
                <a:solidFill>
                  <a:srgbClr val="04607A"/>
                </a:solidFill>
                <a:latin typeface="Times New Roman"/>
                <a:cs typeface="Times New Roman"/>
              </a:rPr>
              <a:t>j</a:t>
            </a:r>
            <a:r>
              <a:rPr sz="2400" b="1" spc="-5" dirty="0">
                <a:solidFill>
                  <a:srgbClr val="04607A"/>
                </a:solidFill>
                <a:latin typeface="Times New Roman"/>
                <a:cs typeface="Times New Roman"/>
              </a:rPr>
              <a:t>ect</a:t>
            </a:r>
            <a:r>
              <a:rPr sz="2400" b="1" spc="-150" dirty="0">
                <a:solidFill>
                  <a:srgbClr val="0460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4607A"/>
                </a:solidFill>
                <a:latin typeface="Times New Roman"/>
                <a:cs typeface="Times New Roman"/>
              </a:rPr>
              <a:t>Attr</a:t>
            </a:r>
            <a:r>
              <a:rPr sz="2400" b="1" spc="5" dirty="0">
                <a:solidFill>
                  <a:srgbClr val="04607A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04607A"/>
                </a:solidFill>
                <a:latin typeface="Times New Roman"/>
                <a:cs typeface="Times New Roman"/>
              </a:rPr>
              <a:t>butes  </a:t>
            </a:r>
            <a:r>
              <a:rPr sz="2300" dirty="0">
                <a:latin typeface="Times New Roman"/>
                <a:cs typeface="Times New Roman"/>
              </a:rPr>
              <a:t>Store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object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Example (taxi):</a:t>
            </a:r>
            <a:endParaRPr sz="230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  <a:spcBef>
                <a:spcPts val="550"/>
              </a:spcBef>
            </a:pPr>
            <a:r>
              <a:rPr sz="2300" dirty="0">
                <a:latin typeface="Times New Roman"/>
                <a:cs typeface="Times New Roman"/>
              </a:rPr>
              <a:t>Driver</a:t>
            </a:r>
            <a:endParaRPr sz="2300">
              <a:latin typeface="Times New Roman"/>
              <a:cs typeface="Times New Roman"/>
            </a:endParaRPr>
          </a:p>
          <a:p>
            <a:pPr marL="378460" marR="1087120">
              <a:lnSpc>
                <a:spcPct val="120000"/>
              </a:lnSpc>
            </a:pPr>
            <a:r>
              <a:rPr sz="2300" dirty="0">
                <a:latin typeface="Times New Roman"/>
                <a:cs typeface="Times New Roman"/>
              </a:rPr>
              <a:t>OnDuty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Nu</a:t>
            </a:r>
            <a:r>
              <a:rPr sz="2300" spc="-15" dirty="0">
                <a:latin typeface="Times New Roman"/>
                <a:cs typeface="Times New Roman"/>
              </a:rPr>
              <a:t>m</a:t>
            </a:r>
            <a:r>
              <a:rPr sz="2300" dirty="0">
                <a:latin typeface="Times New Roman"/>
                <a:cs typeface="Times New Roman"/>
              </a:rPr>
              <a:t>Passengers  </a:t>
            </a:r>
            <a:r>
              <a:rPr sz="2300" spc="-5" dirty="0">
                <a:latin typeface="Times New Roman"/>
                <a:cs typeface="Times New Roman"/>
              </a:rPr>
              <a:t>Location</a:t>
            </a:r>
            <a:endParaRPr sz="23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7227" y="2243963"/>
            <a:ext cx="414527" cy="3093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7227" y="3015107"/>
            <a:ext cx="414527" cy="3093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98846" y="1607946"/>
            <a:ext cx="3304540" cy="467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53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4607A"/>
                </a:solidFill>
                <a:latin typeface="Times New Roman"/>
                <a:cs typeface="Times New Roman"/>
              </a:rPr>
              <a:t>Object</a:t>
            </a:r>
            <a:r>
              <a:rPr sz="2400" b="1" spc="-60" dirty="0">
                <a:solidFill>
                  <a:srgbClr val="04607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4607A"/>
                </a:solidFill>
                <a:latin typeface="Times New Roman"/>
                <a:cs typeface="Times New Roman"/>
              </a:rPr>
              <a:t>Methods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685"/>
              </a:spcBef>
            </a:pPr>
            <a:r>
              <a:rPr sz="2300" dirty="0">
                <a:latin typeface="Times New Roman"/>
                <a:cs typeface="Times New Roman"/>
              </a:rPr>
              <a:t>Define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behaviors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object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300" spc="-5" dirty="0">
                <a:latin typeface="Times New Roman"/>
                <a:cs typeface="Times New Roman"/>
              </a:rPr>
              <a:t>Example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(taxi):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0"/>
              </a:spcBef>
              <a:buChar char="-"/>
              <a:tabLst>
                <a:tab pos="300990" algn="l"/>
              </a:tabLst>
            </a:pPr>
            <a:r>
              <a:rPr sz="2300" dirty="0">
                <a:latin typeface="Times New Roman"/>
                <a:cs typeface="Times New Roman"/>
              </a:rPr>
              <a:t>PickUp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5"/>
              </a:spcBef>
              <a:buChar char="-"/>
              <a:tabLst>
                <a:tab pos="300990" algn="l"/>
              </a:tabLst>
            </a:pPr>
            <a:r>
              <a:rPr sz="2300" spc="-5" dirty="0">
                <a:latin typeface="Times New Roman"/>
                <a:cs typeface="Times New Roman"/>
              </a:rPr>
              <a:t>DropOff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5"/>
              </a:spcBef>
              <a:buChar char="-"/>
              <a:tabLst>
                <a:tab pos="300990" algn="l"/>
              </a:tabLst>
            </a:pPr>
            <a:r>
              <a:rPr sz="2300" dirty="0">
                <a:latin typeface="Times New Roman"/>
                <a:cs typeface="Times New Roman"/>
              </a:rPr>
              <a:t>GoOnDuty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0"/>
              </a:spcBef>
              <a:buChar char="-"/>
              <a:tabLst>
                <a:tab pos="300990" algn="l"/>
              </a:tabLst>
            </a:pPr>
            <a:r>
              <a:rPr sz="2300" spc="-5" dirty="0">
                <a:latin typeface="Times New Roman"/>
                <a:cs typeface="Times New Roman"/>
              </a:rPr>
              <a:t>GoOffDuty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0"/>
              </a:spcBef>
              <a:buChar char="-"/>
              <a:tabLst>
                <a:tab pos="300990" algn="l"/>
              </a:tabLst>
            </a:pPr>
            <a:r>
              <a:rPr sz="2300" dirty="0">
                <a:latin typeface="Times New Roman"/>
                <a:cs typeface="Times New Roman"/>
              </a:rPr>
              <a:t>GetDriver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5"/>
              </a:spcBef>
              <a:buChar char="-"/>
              <a:tabLst>
                <a:tab pos="300990" algn="l"/>
              </a:tabLst>
            </a:pPr>
            <a:r>
              <a:rPr sz="2300" dirty="0">
                <a:latin typeface="Times New Roman"/>
                <a:cs typeface="Times New Roman"/>
              </a:rPr>
              <a:t>SetDriver</a:t>
            </a:r>
            <a:endParaRPr sz="2300">
              <a:latin typeface="Times New Roman"/>
              <a:cs typeface="Times New Roman"/>
            </a:endParaRPr>
          </a:p>
          <a:p>
            <a:pPr marL="300355" indent="-169545">
              <a:lnSpc>
                <a:spcPct val="100000"/>
              </a:lnSpc>
              <a:spcBef>
                <a:spcPts val="555"/>
              </a:spcBef>
              <a:buChar char="-"/>
              <a:tabLst>
                <a:tab pos="300990" algn="l"/>
              </a:tabLst>
            </a:pPr>
            <a:r>
              <a:rPr sz="2300" dirty="0">
                <a:latin typeface="Times New Roman"/>
                <a:cs typeface="Times New Roman"/>
              </a:rPr>
              <a:t>GetNumPassengers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238757"/>
            <a:ext cx="34683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dirty="0"/>
              <a:t>What</a:t>
            </a:r>
            <a:r>
              <a:rPr sz="3800" spc="-20" dirty="0"/>
              <a:t> </a:t>
            </a:r>
            <a:r>
              <a:rPr sz="3800" dirty="0"/>
              <a:t>is</a:t>
            </a:r>
            <a:r>
              <a:rPr sz="3800" spc="-50" dirty="0"/>
              <a:t> </a:t>
            </a:r>
            <a:r>
              <a:rPr sz="3800" dirty="0"/>
              <a:t>a</a:t>
            </a:r>
            <a:r>
              <a:rPr sz="3800" spc="-15" dirty="0"/>
              <a:t> </a:t>
            </a:r>
            <a:r>
              <a:rPr sz="3800" spc="-5" dirty="0"/>
              <a:t>Class..?</a:t>
            </a:r>
            <a:endParaRPr sz="3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22729"/>
            <a:ext cx="8074025" cy="318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ts val="2625"/>
              </a:lnSpc>
              <a:spcBef>
                <a:spcPts val="10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class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special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type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which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defines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how</a:t>
            </a:r>
            <a:r>
              <a:rPr sz="2300" spc="7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to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build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certain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ts val="2625"/>
              </a:lnSpc>
            </a:pPr>
            <a:r>
              <a:rPr sz="2300" dirty="0">
                <a:latin typeface="Times New Roman"/>
                <a:cs typeface="Times New Roman"/>
              </a:rPr>
              <a:t>kind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object.</a:t>
            </a:r>
            <a:endParaRPr sz="2300">
              <a:latin typeface="Times New Roman"/>
              <a:cs typeface="Times New Roman"/>
            </a:endParaRPr>
          </a:p>
          <a:p>
            <a:pPr marL="286385" marR="7620" indent="-274320">
              <a:lnSpc>
                <a:spcPts val="2480"/>
              </a:lnSpc>
              <a:spcBef>
                <a:spcPts val="59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class</a:t>
            </a:r>
            <a:r>
              <a:rPr sz="2300" spc="3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also</a:t>
            </a:r>
            <a:r>
              <a:rPr sz="2300" spc="3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stores</a:t>
            </a:r>
            <a:r>
              <a:rPr sz="2300" spc="3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some</a:t>
            </a:r>
            <a:r>
              <a:rPr sz="2300" spc="3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3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items</a:t>
            </a:r>
            <a:r>
              <a:rPr sz="2300" spc="3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3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3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shared</a:t>
            </a:r>
            <a:r>
              <a:rPr sz="2300" spc="3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</a:t>
            </a:r>
            <a:r>
              <a:rPr sz="2300" spc="3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all</a:t>
            </a:r>
            <a:r>
              <a:rPr sz="2300" spc="3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instances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this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class</a:t>
            </a:r>
            <a:endParaRPr sz="2300">
              <a:latin typeface="Times New Roman"/>
              <a:cs typeface="Times New Roman"/>
            </a:endParaRPr>
          </a:p>
          <a:p>
            <a:pPr marL="360045" indent="-347980">
              <a:lnSpc>
                <a:spcPts val="2625"/>
              </a:lnSpc>
              <a:spcBef>
                <a:spcPts val="24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360680" algn="l"/>
              </a:tabLst>
            </a:pPr>
            <a:r>
              <a:rPr sz="2300" dirty="0">
                <a:latin typeface="Times New Roman"/>
                <a:cs typeface="Times New Roman"/>
              </a:rPr>
              <a:t>Instances</a:t>
            </a:r>
            <a:r>
              <a:rPr sz="2300" spc="1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objects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1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created</a:t>
            </a:r>
            <a:r>
              <a:rPr sz="2300" spc="1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which</a:t>
            </a:r>
            <a:r>
              <a:rPr sz="2300" spc="1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follow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definition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ts val="2625"/>
              </a:lnSpc>
            </a:pPr>
            <a:r>
              <a:rPr sz="2300" spc="-5" dirty="0">
                <a:latin typeface="Times New Roman"/>
                <a:cs typeface="Times New Roman"/>
              </a:rPr>
              <a:t>given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inside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class</a:t>
            </a:r>
            <a:endParaRPr sz="2300">
              <a:latin typeface="Times New Roman"/>
              <a:cs typeface="Times New Roman"/>
            </a:endParaRPr>
          </a:p>
          <a:p>
            <a:pPr marL="286385" marR="8255" indent="-274320">
              <a:lnSpc>
                <a:spcPts val="2480"/>
              </a:lnSpc>
              <a:spcBef>
                <a:spcPts val="59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1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doesn’t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</a:t>
            </a:r>
            <a:r>
              <a:rPr sz="2300" spc="1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separate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class</a:t>
            </a:r>
            <a:r>
              <a:rPr sz="2300" spc="1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interface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definitions</a:t>
            </a:r>
            <a:r>
              <a:rPr sz="2300" spc="1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as</a:t>
            </a:r>
            <a:r>
              <a:rPr sz="2300" spc="1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some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languages</a:t>
            </a:r>
            <a:endParaRPr sz="23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spc="-75" dirty="0">
                <a:latin typeface="Times New Roman"/>
                <a:cs typeface="Times New Roman"/>
              </a:rPr>
              <a:t>You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just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define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5" dirty="0">
                <a:latin typeface="Times New Roman"/>
                <a:cs typeface="Times New Roman"/>
              </a:rPr>
              <a:t> class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" dirty="0">
                <a:latin typeface="Times New Roman"/>
                <a:cs typeface="Times New Roman"/>
              </a:rPr>
              <a:t> then </a:t>
            </a:r>
            <a:r>
              <a:rPr sz="2300" dirty="0">
                <a:latin typeface="Times New Roman"/>
                <a:cs typeface="Times New Roman"/>
              </a:rPr>
              <a:t>use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it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6389" y="1039113"/>
            <a:ext cx="348869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Methods</a:t>
            </a:r>
            <a:r>
              <a:rPr sz="3500" spc="-40" dirty="0"/>
              <a:t> </a:t>
            </a:r>
            <a:r>
              <a:rPr sz="3500" dirty="0"/>
              <a:t>in</a:t>
            </a:r>
            <a:r>
              <a:rPr sz="3500" spc="-25" dirty="0"/>
              <a:t> </a:t>
            </a:r>
            <a:r>
              <a:rPr sz="3500" dirty="0"/>
              <a:t>Classes</a:t>
            </a:r>
            <a:endParaRPr sz="3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8467"/>
            <a:ext cx="80708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</a:tabLst>
            </a:pPr>
            <a:r>
              <a:rPr sz="2500" dirty="0">
                <a:latin typeface="Times New Roman"/>
                <a:cs typeface="Times New Roman"/>
              </a:rPr>
              <a:t>Define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1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method</a:t>
            </a:r>
            <a:r>
              <a:rPr sz="2500" spc="1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1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class</a:t>
            </a:r>
            <a:r>
              <a:rPr sz="2500" spc="1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by</a:t>
            </a:r>
            <a:r>
              <a:rPr sz="2500" spc="1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including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function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definitions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within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scope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class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block</a:t>
            </a:r>
            <a:endParaRPr sz="25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</a:tabLst>
            </a:pPr>
            <a:r>
              <a:rPr sz="2500" spc="-5" dirty="0">
                <a:latin typeface="Times New Roman"/>
                <a:cs typeface="Times New Roman"/>
              </a:rPr>
              <a:t>There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must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be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special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first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argument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self</a:t>
            </a:r>
            <a:r>
              <a:rPr sz="2500" b="1" spc="19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method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definitions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which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gets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bound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 the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calling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instance</a:t>
            </a:r>
            <a:endParaRPr sz="2500">
              <a:latin typeface="Times New Roman"/>
              <a:cs typeface="Times New Roman"/>
            </a:endParaRPr>
          </a:p>
          <a:p>
            <a:pPr marL="286385" marR="5715" indent="-274320">
              <a:lnSpc>
                <a:spcPct val="100000"/>
              </a:lnSpc>
              <a:spcBef>
                <a:spcPts val="600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  <a:tab pos="1160145" algn="l"/>
                <a:tab pos="1506220" algn="l"/>
                <a:tab pos="2559685" algn="l"/>
                <a:tab pos="2832100" algn="l"/>
                <a:tab pos="3851910" algn="l"/>
                <a:tab pos="4937125" algn="l"/>
                <a:tab pos="5828665" algn="l"/>
                <a:tab pos="6146800" algn="l"/>
                <a:tab pos="6999605" algn="l"/>
                <a:tab pos="7440295" algn="l"/>
              </a:tabLst>
            </a:pPr>
            <a:r>
              <a:rPr sz="2500" spc="-5" dirty="0">
                <a:latin typeface="Times New Roman"/>
                <a:cs typeface="Times New Roman"/>
              </a:rPr>
              <a:t>Th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5" dirty="0">
                <a:latin typeface="Times New Roman"/>
                <a:cs typeface="Times New Roman"/>
              </a:rPr>
              <a:t>re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u</a:t>
            </a:r>
            <a:r>
              <a:rPr sz="2500" spc="5" dirty="0">
                <a:latin typeface="Times New Roman"/>
                <a:cs typeface="Times New Roman"/>
              </a:rPr>
              <a:t>s</a:t>
            </a:r>
            <a:r>
              <a:rPr sz="2500" spc="-5" dirty="0">
                <a:latin typeface="Times New Roman"/>
                <a:cs typeface="Times New Roman"/>
              </a:rPr>
              <a:t>ua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spc="-5" dirty="0">
                <a:latin typeface="Times New Roman"/>
                <a:cs typeface="Times New Roman"/>
              </a:rPr>
              <a:t>ly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s</a:t>
            </a:r>
            <a:r>
              <a:rPr sz="2500" spc="5" dirty="0">
                <a:latin typeface="Times New Roman"/>
                <a:cs typeface="Times New Roman"/>
              </a:rPr>
              <a:t>p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5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5" dirty="0">
                <a:latin typeface="Times New Roman"/>
                <a:cs typeface="Times New Roman"/>
              </a:rPr>
              <a:t>al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5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5" dirty="0">
                <a:latin typeface="Times New Roman"/>
                <a:cs typeface="Times New Roman"/>
              </a:rPr>
              <a:t>thod</a:t>
            </a:r>
            <a:r>
              <a:rPr sz="2500" dirty="0">
                <a:latin typeface="Times New Roman"/>
                <a:cs typeface="Times New Roman"/>
              </a:rPr>
              <a:t>	c</a:t>
            </a:r>
            <a:r>
              <a:rPr sz="2500" spc="-5" dirty="0">
                <a:latin typeface="Times New Roman"/>
                <a:cs typeface="Times New Roman"/>
              </a:rPr>
              <a:t>al</a:t>
            </a:r>
            <a:r>
              <a:rPr sz="2500" spc="5" dirty="0">
                <a:latin typeface="Times New Roman"/>
                <a:cs typeface="Times New Roman"/>
              </a:rPr>
              <a:t>l</a:t>
            </a:r>
            <a:r>
              <a:rPr sz="2500" spc="-5" dirty="0">
                <a:latin typeface="Times New Roman"/>
                <a:cs typeface="Times New Roman"/>
              </a:rPr>
              <a:t>ed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500" b="1" spc="5" dirty="0">
                <a:latin typeface="Times New Roman"/>
                <a:cs typeface="Times New Roman"/>
              </a:rPr>
              <a:t>i</a:t>
            </a:r>
            <a:r>
              <a:rPr sz="2500" b="1" spc="-5" dirty="0">
                <a:latin typeface="Times New Roman"/>
                <a:cs typeface="Times New Roman"/>
              </a:rPr>
              <a:t>nit</a:t>
            </a:r>
            <a:r>
              <a:rPr sz="25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500" b="1" spc="-1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most  classes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7250" y="734313"/>
            <a:ext cx="504126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A</a:t>
            </a:r>
            <a:r>
              <a:rPr sz="3500" spc="-210" dirty="0"/>
              <a:t> </a:t>
            </a:r>
            <a:r>
              <a:rPr sz="3500" spc="-5" dirty="0"/>
              <a:t>Simple</a:t>
            </a:r>
            <a:r>
              <a:rPr sz="3500" spc="-10" dirty="0"/>
              <a:t> </a:t>
            </a:r>
            <a:r>
              <a:rPr sz="3500" dirty="0"/>
              <a:t>Class</a:t>
            </a:r>
            <a:r>
              <a:rPr sz="3500" spc="-30" dirty="0"/>
              <a:t> </a:t>
            </a:r>
            <a:r>
              <a:rPr sz="3500" dirty="0"/>
              <a:t>def:</a:t>
            </a:r>
            <a:r>
              <a:rPr sz="3500" spc="-10" dirty="0"/>
              <a:t> </a:t>
            </a:r>
            <a:r>
              <a:rPr sz="3500" dirty="0"/>
              <a:t>Student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810259" y="1319529"/>
            <a:ext cx="415544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9933"/>
                </a:solidFill>
                <a:latin typeface="Times New Roman"/>
                <a:cs typeface="Times New Roman"/>
              </a:rPr>
              <a:t>class</a:t>
            </a:r>
            <a:r>
              <a:rPr sz="2200" spc="-2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9DD9"/>
                </a:solidFill>
                <a:latin typeface="Times New Roman"/>
                <a:cs typeface="Times New Roman"/>
              </a:rPr>
              <a:t>student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008000"/>
                </a:solidFill>
                <a:latin typeface="Times New Roman"/>
                <a:cs typeface="Times New Roman"/>
              </a:rPr>
              <a:t>“““A</a:t>
            </a:r>
            <a:r>
              <a:rPr sz="2200" spc="-114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8000"/>
                </a:solidFill>
                <a:latin typeface="Times New Roman"/>
                <a:cs typeface="Times New Roman"/>
              </a:rPr>
              <a:t>class</a:t>
            </a:r>
            <a:r>
              <a:rPr sz="2200" spc="-1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8000"/>
                </a:solidFill>
                <a:latin typeface="Times New Roman"/>
                <a:cs typeface="Times New Roman"/>
              </a:rPr>
              <a:t>representing</a:t>
            </a:r>
            <a:r>
              <a:rPr sz="2200" spc="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8000"/>
                </a:solidFill>
                <a:latin typeface="Times New Roman"/>
                <a:cs typeface="Times New Roman"/>
              </a:rPr>
              <a:t>student </a:t>
            </a:r>
            <a:r>
              <a:rPr sz="2200" spc="-10" dirty="0">
                <a:solidFill>
                  <a:srgbClr val="008000"/>
                </a:solidFill>
                <a:latin typeface="Times New Roman"/>
                <a:cs typeface="Times New Roman"/>
              </a:rPr>
              <a:t>”””</a:t>
            </a:r>
            <a:endParaRPr sz="2200">
              <a:latin typeface="Times New Roman"/>
              <a:cs typeface="Times New Roman"/>
            </a:endParaRPr>
          </a:p>
          <a:p>
            <a:pPr marL="291465" marR="1494790" indent="-279400">
              <a:lnSpc>
                <a:spcPct val="100000"/>
              </a:lnSpc>
              <a:tabLst>
                <a:tab pos="719455" algn="l"/>
                <a:tab pos="1373505" algn="l"/>
              </a:tabLst>
            </a:pPr>
            <a:r>
              <a:rPr sz="2200" spc="-5" dirty="0">
                <a:solidFill>
                  <a:srgbClr val="FF9933"/>
                </a:solidFill>
                <a:latin typeface="Times New Roman"/>
                <a:cs typeface="Times New Roman"/>
              </a:rPr>
              <a:t>def</a:t>
            </a:r>
            <a:r>
              <a:rPr sz="2200" u="sng" spc="-5" dirty="0">
                <a:solidFill>
                  <a:srgbClr val="FF9933"/>
                </a:solidFill>
                <a:uFill>
                  <a:solidFill>
                    <a:srgbClr val="009CD8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00" spc="-5" dirty="0">
                <a:solidFill>
                  <a:srgbClr val="009DD9"/>
                </a:solidFill>
                <a:latin typeface="Times New Roman"/>
                <a:cs typeface="Times New Roman"/>
              </a:rPr>
              <a:t>init</a:t>
            </a:r>
            <a:r>
              <a:rPr sz="2200" u="sng" spc="-5" dirty="0">
                <a:solidFill>
                  <a:srgbClr val="009DD9"/>
                </a:solidFill>
                <a:uFill>
                  <a:solidFill>
                    <a:srgbClr val="009CD8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(self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a):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self.full_name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self.age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9878" y="2996311"/>
            <a:ext cx="10350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8000"/>
                </a:solidFill>
                <a:latin typeface="Times New Roman"/>
                <a:cs typeface="Times New Roman"/>
              </a:rPr>
              <a:t>#Method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996311"/>
            <a:ext cx="2261235" cy="109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9933"/>
                </a:solidFill>
                <a:latin typeface="Times New Roman"/>
                <a:cs typeface="Times New Roman"/>
              </a:rPr>
              <a:t>def</a:t>
            </a:r>
            <a:r>
              <a:rPr sz="2200" spc="-3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9DD9"/>
                </a:solidFill>
                <a:latin typeface="Times New Roman"/>
                <a:cs typeface="Times New Roman"/>
              </a:rPr>
              <a:t>get_age</a:t>
            </a:r>
            <a:r>
              <a:rPr sz="2200" spc="-5" dirty="0">
                <a:latin typeface="Times New Roman"/>
                <a:cs typeface="Times New Roman"/>
              </a:rPr>
              <a:t>(self):</a:t>
            </a:r>
            <a:endParaRPr sz="220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</a:pPr>
            <a:r>
              <a:rPr sz="2200" spc="-5" dirty="0">
                <a:solidFill>
                  <a:srgbClr val="FF9933"/>
                </a:solidFill>
                <a:latin typeface="Times New Roman"/>
                <a:cs typeface="Times New Roman"/>
              </a:rPr>
              <a:t>return </a:t>
            </a:r>
            <a:r>
              <a:rPr sz="2200" spc="-5" dirty="0">
                <a:latin typeface="Times New Roman"/>
                <a:cs typeface="Times New Roman"/>
              </a:rPr>
              <a:t>self.age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0AD0D9"/>
              </a:buClr>
              <a:buSzPct val="93181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Define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class: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32" y="4214748"/>
            <a:ext cx="357225" cy="2651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32" y="4617084"/>
            <a:ext cx="357225" cy="2651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32" y="5422087"/>
            <a:ext cx="357225" cy="2651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32" y="5824423"/>
            <a:ext cx="357225" cy="2651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5940" y="4068851"/>
            <a:ext cx="7778115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780" marR="1336040">
              <a:lnSpc>
                <a:spcPct val="12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Class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name,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begin with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capital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letter,</a:t>
            </a:r>
            <a:r>
              <a:rPr sz="2200" dirty="0">
                <a:latin typeface="Times New Roman"/>
                <a:cs typeface="Times New Roman"/>
              </a:rPr>
              <a:t> by</a:t>
            </a:r>
            <a:r>
              <a:rPr sz="2200" spc="-5" dirty="0">
                <a:latin typeface="Times New Roman"/>
                <a:cs typeface="Times New Roman"/>
              </a:rPr>
              <a:t> convention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object: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class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based 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(Python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built-in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type)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0AD0D9"/>
              </a:buClr>
              <a:buSzPct val="95454"/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Define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</a:t>
            </a:r>
            <a:endParaRPr sz="22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  <a:spcBef>
                <a:spcPts val="535"/>
              </a:spcBef>
            </a:pPr>
            <a:r>
              <a:rPr sz="2200" spc="-5" dirty="0">
                <a:latin typeface="Times New Roman"/>
                <a:cs typeface="Times New Roman"/>
              </a:rPr>
              <a:t>Like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defining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function</a:t>
            </a:r>
            <a:endParaRPr sz="2200">
              <a:latin typeface="Times New Roman"/>
              <a:cs typeface="Times New Roman"/>
            </a:endParaRPr>
          </a:p>
          <a:p>
            <a:pPr marL="652780" marR="508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Must </a:t>
            </a:r>
            <a:r>
              <a:rPr sz="2200" b="1" spc="-5" dirty="0">
                <a:latin typeface="Times New Roman"/>
                <a:cs typeface="Times New Roman"/>
              </a:rPr>
              <a:t>have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a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special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first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parameter</a:t>
            </a:r>
            <a:r>
              <a:rPr sz="2200" spc="-5" dirty="0">
                <a:latin typeface="Times New Roman"/>
                <a:cs typeface="Times New Roman"/>
              </a:rPr>
              <a:t>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self,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provides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way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 a method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refer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object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itself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0688" y="1238757"/>
            <a:ext cx="70624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40200" algn="l"/>
                <a:tab pos="5762625" algn="l"/>
                <a:tab pos="6888480" algn="l"/>
              </a:tabLst>
            </a:pPr>
            <a:r>
              <a:rPr sz="3800" dirty="0"/>
              <a:t>Insta</a:t>
            </a:r>
            <a:r>
              <a:rPr sz="3800" spc="10" dirty="0"/>
              <a:t>n</a:t>
            </a:r>
            <a:r>
              <a:rPr sz="3800" spc="-15" dirty="0"/>
              <a:t>t</a:t>
            </a:r>
            <a:r>
              <a:rPr sz="3800" dirty="0"/>
              <a:t>ia</a:t>
            </a:r>
            <a:r>
              <a:rPr sz="3800" spc="-15" dirty="0"/>
              <a:t>t</a:t>
            </a:r>
            <a:r>
              <a:rPr sz="3800" dirty="0"/>
              <a:t>ing</a:t>
            </a:r>
            <a:r>
              <a:rPr sz="3800" spc="-45" dirty="0"/>
              <a:t> </a:t>
            </a:r>
            <a:r>
              <a:rPr sz="3500" dirty="0"/>
              <a:t>Objects	</a:t>
            </a:r>
            <a:r>
              <a:rPr sz="3800" spc="-5" dirty="0"/>
              <a:t>wit</a:t>
            </a:r>
            <a:r>
              <a:rPr sz="3800" dirty="0"/>
              <a:t>h</a:t>
            </a:r>
            <a:r>
              <a:rPr sz="3800" spc="-5" dirty="0"/>
              <a:t> </a:t>
            </a:r>
            <a:r>
              <a:rPr sz="3800" dirty="0"/>
              <a:t>‘</a:t>
            </a:r>
            <a:r>
              <a:rPr sz="3800" u="heavy" dirty="0">
                <a:uFill>
                  <a:solidFill>
                    <a:srgbClr val="035F79"/>
                  </a:solidFill>
                </a:uFill>
              </a:rPr>
              <a:t> 	</a:t>
            </a:r>
            <a:r>
              <a:rPr sz="3800" dirty="0"/>
              <a:t>init</a:t>
            </a:r>
            <a:r>
              <a:rPr sz="3800" u="heavy" dirty="0">
                <a:uFill>
                  <a:solidFill>
                    <a:srgbClr val="035F79"/>
                  </a:solidFill>
                </a:uFill>
              </a:rPr>
              <a:t> 	</a:t>
            </a:r>
            <a:r>
              <a:rPr sz="3800" dirty="0"/>
              <a:t>’</a:t>
            </a:r>
            <a:endParaRPr sz="3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70989"/>
            <a:ext cx="7904480" cy="3354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02590" indent="-390525">
              <a:lnSpc>
                <a:spcPct val="100000"/>
              </a:lnSpc>
              <a:spcBef>
                <a:spcPts val="770"/>
              </a:spcBef>
              <a:buFont typeface="Wingdings"/>
              <a:buChar char=""/>
              <a:tabLst>
                <a:tab pos="403225" algn="l"/>
                <a:tab pos="758825" algn="l"/>
                <a:tab pos="1676400" algn="l"/>
              </a:tabLst>
            </a:pPr>
            <a:r>
              <a:rPr sz="2650" u="heavy" dirty="0">
                <a:solidFill>
                  <a:srgbClr val="0AD0D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dirty="0">
                <a:latin typeface="Times New Roman"/>
                <a:cs typeface="Times New Roman"/>
              </a:rPr>
              <a:t>init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default constructor</a:t>
            </a:r>
            <a:endParaRPr sz="28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75"/>
              </a:spcBef>
              <a:buFont typeface="Wingdings"/>
              <a:buChar char=""/>
              <a:tabLst>
                <a:tab pos="314960" algn="l"/>
                <a:tab pos="670560" algn="l"/>
                <a:tab pos="1587500" algn="l"/>
              </a:tabLst>
            </a:pPr>
            <a:r>
              <a:rPr sz="2650" u="heavy" dirty="0">
                <a:solidFill>
                  <a:srgbClr val="0AD0D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dirty="0">
                <a:latin typeface="Times New Roman"/>
                <a:cs typeface="Times New Roman"/>
              </a:rPr>
              <a:t>init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serves as a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constructor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the</a:t>
            </a:r>
            <a:r>
              <a:rPr sz="2800" spc="-5" dirty="0">
                <a:latin typeface="Times New Roman"/>
                <a:cs typeface="Times New Roman"/>
              </a:rPr>
              <a:t> class.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Usually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some initialization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work</a:t>
            </a:r>
            <a:endParaRPr sz="2800">
              <a:latin typeface="Times New Roman"/>
              <a:cs typeface="Times New Roman"/>
            </a:endParaRPr>
          </a:p>
          <a:p>
            <a:pPr marL="286385" marR="1289685" indent="-274320">
              <a:lnSpc>
                <a:spcPct val="100000"/>
              </a:lnSpc>
              <a:spcBef>
                <a:spcPts val="670"/>
              </a:spcBef>
              <a:buClr>
                <a:srgbClr val="0AD0D9"/>
              </a:buClr>
              <a:buSzPct val="94642"/>
              <a:buFont typeface="Wingdings"/>
              <a:buChar char=""/>
              <a:tabLst>
                <a:tab pos="315595" algn="l"/>
                <a:tab pos="1195705" algn="l"/>
                <a:tab pos="2112645" algn="l"/>
              </a:tabLst>
            </a:pP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dirty="0">
                <a:latin typeface="Times New Roman"/>
                <a:cs typeface="Times New Roman"/>
              </a:rPr>
              <a:t>init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method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take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arguments</a:t>
            </a:r>
            <a:endParaRPr sz="2800">
              <a:latin typeface="Times New Roman"/>
              <a:cs typeface="Times New Roman"/>
            </a:endParaRPr>
          </a:p>
          <a:p>
            <a:pPr marL="314325" indent="-30226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Wingdings"/>
              <a:buChar char=""/>
              <a:tabLst>
                <a:tab pos="314960" algn="l"/>
              </a:tabLst>
            </a:pPr>
            <a:r>
              <a:rPr sz="2800" spc="-15" dirty="0">
                <a:latin typeface="Times New Roman"/>
                <a:cs typeface="Times New Roman"/>
              </a:rPr>
              <a:t>However,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10" dirty="0">
                <a:latin typeface="Times New Roman"/>
                <a:cs typeface="Times New Roman"/>
              </a:rPr>
              <a:t> argument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self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definition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endParaRPr sz="28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tabLst>
                <a:tab pos="642620" algn="l"/>
                <a:tab pos="155765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dirty="0">
                <a:latin typeface="Times New Roman"/>
                <a:cs typeface="Times New Roman"/>
              </a:rPr>
              <a:t>init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special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3195" y="734313"/>
            <a:ext cx="74231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Self</a:t>
            </a:r>
            <a:endParaRPr sz="3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2806"/>
            <a:ext cx="8073390" cy="4297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2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argument</a:t>
            </a:r>
            <a:r>
              <a:rPr sz="2300" spc="2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2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every</a:t>
            </a:r>
            <a:r>
              <a:rPr sz="2300" spc="2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</a:t>
            </a:r>
            <a:r>
              <a:rPr sz="2300" spc="25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25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2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reference</a:t>
            </a:r>
            <a:r>
              <a:rPr sz="2300" spc="2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25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current</a:t>
            </a:r>
            <a:endParaRPr sz="2300">
              <a:latin typeface="Times New Roman"/>
              <a:cs typeface="Times New Roman"/>
            </a:endParaRPr>
          </a:p>
          <a:p>
            <a:pPr marL="286385" algn="just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instance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class</a:t>
            </a:r>
            <a:endParaRPr sz="23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By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convention,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 </a:t>
            </a:r>
            <a:r>
              <a:rPr sz="2300" spc="-5" dirty="0">
                <a:latin typeface="Times New Roman"/>
                <a:cs typeface="Times New Roman"/>
              </a:rPr>
              <a:t>name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this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argument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self</a:t>
            </a:r>
            <a:endParaRPr sz="23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5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init</a:t>
            </a:r>
            <a:r>
              <a:rPr sz="2300" u="sng" spc="5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, self refers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the object currently </a:t>
            </a:r>
            <a:r>
              <a:rPr sz="2300" spc="-5" dirty="0">
                <a:latin typeface="Times New Roman"/>
                <a:cs typeface="Times New Roman"/>
              </a:rPr>
              <a:t>being created; </a:t>
            </a:r>
            <a:r>
              <a:rPr sz="2300" dirty="0">
                <a:latin typeface="Times New Roman"/>
                <a:cs typeface="Times New Roman"/>
              </a:rPr>
              <a:t>so, </a:t>
            </a:r>
            <a:r>
              <a:rPr sz="2300" spc="-5" dirty="0">
                <a:latin typeface="Times New Roman"/>
                <a:cs typeface="Times New Roman"/>
              </a:rPr>
              <a:t>in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other class methods, </a:t>
            </a:r>
            <a:r>
              <a:rPr sz="2300" dirty="0">
                <a:latin typeface="Times New Roman"/>
                <a:cs typeface="Times New Roman"/>
              </a:rPr>
              <a:t>it refers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the instance whose </a:t>
            </a:r>
            <a:r>
              <a:rPr sz="2300" spc="-5" dirty="0">
                <a:latin typeface="Times New Roman"/>
                <a:cs typeface="Times New Roman"/>
              </a:rPr>
              <a:t>method </a:t>
            </a:r>
            <a:r>
              <a:rPr sz="2300" spc="5" dirty="0">
                <a:latin typeface="Times New Roman"/>
                <a:cs typeface="Times New Roman"/>
              </a:rPr>
              <a:t>was 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called</a:t>
            </a:r>
            <a:endParaRPr sz="23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55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spc="-5" dirty="0">
                <a:latin typeface="Times New Roman"/>
                <a:cs typeface="Times New Roman"/>
              </a:rPr>
              <a:t>Similar to</a:t>
            </a:r>
            <a:r>
              <a:rPr sz="2300" dirty="0">
                <a:latin typeface="Times New Roman"/>
                <a:cs typeface="Times New Roman"/>
              </a:rPr>
              <a:t> 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keyword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this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dirty="0">
                <a:latin typeface="Times New Roman"/>
                <a:cs typeface="Times New Roman"/>
              </a:rPr>
              <a:t> Java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C++</a:t>
            </a:r>
            <a:endParaRPr sz="23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But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self </a:t>
            </a:r>
            <a:r>
              <a:rPr sz="2300" spc="-5" dirty="0">
                <a:latin typeface="Times New Roman"/>
                <a:cs typeface="Times New Roman"/>
              </a:rPr>
              <a:t>more </a:t>
            </a:r>
            <a:r>
              <a:rPr sz="2300" dirty="0">
                <a:latin typeface="Times New Roman"/>
                <a:cs typeface="Times New Roman"/>
              </a:rPr>
              <a:t>often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than</a:t>
            </a:r>
            <a:r>
              <a:rPr sz="2300" dirty="0">
                <a:latin typeface="Times New Roman"/>
                <a:cs typeface="Times New Roman"/>
              </a:rPr>
              <a:t> Java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this</a:t>
            </a:r>
            <a:endParaRPr sz="23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spc="-75" dirty="0">
                <a:latin typeface="Times New Roman"/>
                <a:cs typeface="Times New Roman"/>
              </a:rPr>
              <a:t>You </a:t>
            </a:r>
            <a:r>
              <a:rPr sz="2300" b="1" spc="-5" dirty="0">
                <a:latin typeface="Times New Roman"/>
                <a:cs typeface="Times New Roman"/>
              </a:rPr>
              <a:t>do not </a:t>
            </a:r>
            <a:r>
              <a:rPr sz="2300" dirty="0">
                <a:latin typeface="Times New Roman"/>
                <a:cs typeface="Times New Roman"/>
              </a:rPr>
              <a:t>give a value for </a:t>
            </a:r>
            <a:r>
              <a:rPr sz="2300" spc="-5" dirty="0">
                <a:latin typeface="Times New Roman"/>
                <a:cs typeface="Times New Roman"/>
              </a:rPr>
              <a:t>this </a:t>
            </a:r>
            <a:r>
              <a:rPr sz="2300" dirty="0">
                <a:latin typeface="Times New Roman"/>
                <a:cs typeface="Times New Roman"/>
              </a:rPr>
              <a:t>parameter(self) when </a:t>
            </a:r>
            <a:r>
              <a:rPr sz="2300" spc="-5" dirty="0">
                <a:latin typeface="Times New Roman"/>
                <a:cs typeface="Times New Roman"/>
              </a:rPr>
              <a:t>you </a:t>
            </a:r>
            <a:r>
              <a:rPr sz="2300" dirty="0">
                <a:latin typeface="Times New Roman"/>
                <a:cs typeface="Times New Roman"/>
              </a:rPr>
              <a:t>call the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method,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will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provide</a:t>
            </a:r>
            <a:r>
              <a:rPr sz="2300" spc="-5" dirty="0">
                <a:latin typeface="Times New Roman"/>
                <a:cs typeface="Times New Roman"/>
              </a:rPr>
              <a:t> it.</a:t>
            </a:r>
            <a:endParaRPr sz="2300">
              <a:latin typeface="Times New Roman"/>
              <a:cs typeface="Times New Roman"/>
            </a:endParaRPr>
          </a:p>
          <a:p>
            <a:pPr marR="1233805" algn="r">
              <a:lnSpc>
                <a:spcPct val="100000"/>
              </a:lnSpc>
              <a:spcBef>
                <a:spcPts val="509"/>
              </a:spcBef>
            </a:pPr>
            <a:r>
              <a:rPr sz="2300" i="1" dirty="0">
                <a:latin typeface="Times New Roman"/>
                <a:cs typeface="Times New Roman"/>
              </a:rPr>
              <a:t>Continue…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60806"/>
            <a:ext cx="7327900" cy="1989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i="1" spc="-5" dirty="0">
                <a:latin typeface="Times New Roman"/>
                <a:cs typeface="Times New Roman"/>
              </a:rPr>
              <a:t>…Continue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Although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must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specify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self</a:t>
            </a:r>
            <a:r>
              <a:rPr sz="2300" spc="-5" dirty="0">
                <a:latin typeface="Times New Roman"/>
                <a:cs typeface="Times New Roman"/>
              </a:rPr>
              <a:t> explicitly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when </a:t>
            </a:r>
            <a:r>
              <a:rPr sz="2300" spc="-5" dirty="0">
                <a:latin typeface="Times New Roman"/>
                <a:cs typeface="Times New Roman"/>
              </a:rPr>
              <a:t>defining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300" spc="-5" dirty="0">
                <a:latin typeface="Times New Roman"/>
                <a:cs typeface="Times New Roman"/>
              </a:rPr>
              <a:t>method,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don’t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include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when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calling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5" dirty="0">
                <a:latin typeface="Times New Roman"/>
                <a:cs typeface="Times New Roman"/>
              </a:rPr>
              <a:t> method.</a:t>
            </a:r>
            <a:endParaRPr sz="23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5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287020" algn="l"/>
              </a:tabLst>
            </a:pP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passes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 for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automatically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108828" y="3314522"/>
            <a:ext cx="211899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5" dirty="0">
                <a:latin typeface="Times New Roman"/>
                <a:cs typeface="Times New Roman"/>
              </a:rPr>
              <a:t>Calling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method: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8828" y="4156328"/>
            <a:ext cx="220980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" dirty="0">
                <a:solidFill>
                  <a:srgbClr val="660066"/>
                </a:solidFill>
                <a:latin typeface="Times New Roman"/>
                <a:cs typeface="Times New Roman"/>
              </a:rPr>
              <a:t>&gt;&gt;&gt;</a:t>
            </a:r>
            <a:r>
              <a:rPr sz="2300" spc="-70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x.get_age(23)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244762"/>
            <a:ext cx="4180204" cy="16389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655"/>
              </a:spcBef>
            </a:pPr>
            <a:r>
              <a:rPr sz="2300" dirty="0">
                <a:latin typeface="Times New Roman"/>
                <a:cs typeface="Times New Roman"/>
              </a:rPr>
              <a:t>Defining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method: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300" i="1" spc="-10" dirty="0">
                <a:latin typeface="Times New Roman"/>
                <a:cs typeface="Times New Roman"/>
              </a:rPr>
              <a:t>(this</a:t>
            </a:r>
            <a:r>
              <a:rPr sz="2300" i="1" spc="2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code</a:t>
            </a:r>
            <a:r>
              <a:rPr sz="2300" i="1" spc="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inside</a:t>
            </a:r>
            <a:r>
              <a:rPr sz="2300" i="1" spc="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a</a:t>
            </a:r>
            <a:r>
              <a:rPr sz="2300" i="1" spc="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class</a:t>
            </a:r>
            <a:r>
              <a:rPr sz="2300" i="1" spc="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definition.)</a:t>
            </a:r>
            <a:endParaRPr sz="2300">
              <a:latin typeface="Times New Roman"/>
              <a:cs typeface="Times New Roman"/>
            </a:endParaRPr>
          </a:p>
          <a:p>
            <a:pPr marL="286385" marR="1441450" indent="-274320">
              <a:lnSpc>
                <a:spcPct val="100000"/>
              </a:lnSpc>
              <a:spcBef>
                <a:spcPts val="550"/>
              </a:spcBef>
            </a:pPr>
            <a:r>
              <a:rPr sz="2300" dirty="0">
                <a:solidFill>
                  <a:srgbClr val="FF9933"/>
                </a:solidFill>
                <a:latin typeface="Times New Roman"/>
                <a:cs typeface="Times New Roman"/>
              </a:rPr>
              <a:t>def</a:t>
            </a:r>
            <a:r>
              <a:rPr sz="2300" spc="-4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9DD9"/>
                </a:solidFill>
                <a:latin typeface="Times New Roman"/>
                <a:cs typeface="Times New Roman"/>
              </a:rPr>
              <a:t>get_age</a:t>
            </a:r>
            <a:r>
              <a:rPr sz="2300" dirty="0">
                <a:latin typeface="Times New Roman"/>
                <a:cs typeface="Times New Roman"/>
              </a:rPr>
              <a:t>(self,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num):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self.age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=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num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886713"/>
            <a:ext cx="677481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5" dirty="0"/>
              <a:t>Deleting</a:t>
            </a:r>
            <a:r>
              <a:rPr sz="3500" spc="-30" dirty="0"/>
              <a:t> </a:t>
            </a:r>
            <a:r>
              <a:rPr sz="3500" dirty="0"/>
              <a:t>instances:</a:t>
            </a:r>
            <a:r>
              <a:rPr sz="3500" spc="-40" dirty="0"/>
              <a:t> </a:t>
            </a:r>
            <a:r>
              <a:rPr sz="3500" spc="-5" dirty="0"/>
              <a:t>No</a:t>
            </a:r>
            <a:r>
              <a:rPr sz="3500" spc="-10" dirty="0"/>
              <a:t> </a:t>
            </a:r>
            <a:r>
              <a:rPr sz="3500" spc="-5" dirty="0"/>
              <a:t>Need</a:t>
            </a:r>
            <a:r>
              <a:rPr sz="3500" spc="-30" dirty="0"/>
              <a:t> </a:t>
            </a:r>
            <a:r>
              <a:rPr sz="3500" dirty="0"/>
              <a:t>to</a:t>
            </a:r>
            <a:r>
              <a:rPr sz="3500" spc="-5" dirty="0"/>
              <a:t> </a:t>
            </a:r>
            <a:r>
              <a:rPr sz="3500" dirty="0"/>
              <a:t>“free”</a:t>
            </a:r>
            <a:endParaRPr sz="35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851101"/>
            <a:ext cx="7614284" cy="1569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356235" algn="l"/>
              </a:tabLst>
            </a:pPr>
            <a:r>
              <a:rPr sz="2300" dirty="0">
                <a:latin typeface="Times New Roman"/>
                <a:cs typeface="Times New Roman"/>
              </a:rPr>
              <a:t>When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are</a:t>
            </a:r>
            <a:r>
              <a:rPr sz="2300" spc="18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done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object,</a:t>
            </a:r>
            <a:r>
              <a:rPr sz="2300" spc="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don’t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19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delete</a:t>
            </a:r>
            <a:endParaRPr sz="23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free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explicitly.</a:t>
            </a: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50"/>
              </a:spcBef>
              <a:buFont typeface="Wingdings"/>
              <a:buChar char=""/>
              <a:tabLst>
                <a:tab pos="356235" algn="l"/>
              </a:tabLst>
            </a:pP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has </a:t>
            </a:r>
            <a:r>
              <a:rPr sz="2300" spc="-5" dirty="0">
                <a:latin typeface="Times New Roman"/>
                <a:cs typeface="Times New Roman"/>
              </a:rPr>
              <a:t>automatic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garbage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collection.</a:t>
            </a: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50"/>
              </a:spcBef>
              <a:buFont typeface="Wingdings"/>
              <a:buChar char=""/>
              <a:tabLst>
                <a:tab pos="356235" algn="l"/>
              </a:tabLst>
            </a:pP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will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automatically</a:t>
            </a:r>
            <a:r>
              <a:rPr sz="2300" spc="7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detect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when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all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references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672" y="3393769"/>
            <a:ext cx="169735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Times New Roman"/>
                <a:cs typeface="Times New Roman"/>
              </a:rPr>
              <a:t>Auto</a:t>
            </a:r>
            <a:r>
              <a:rPr sz="2300" spc="-25" dirty="0">
                <a:latin typeface="Times New Roman"/>
                <a:cs typeface="Times New Roman"/>
              </a:rPr>
              <a:t>m</a:t>
            </a:r>
            <a:r>
              <a:rPr sz="2300" dirty="0">
                <a:latin typeface="Times New Roman"/>
                <a:cs typeface="Times New Roman"/>
              </a:rPr>
              <a:t>atical</a:t>
            </a:r>
            <a:r>
              <a:rPr sz="2300" spc="-10" dirty="0">
                <a:latin typeface="Times New Roman"/>
                <a:cs typeface="Times New Roman"/>
              </a:rPr>
              <a:t>l</a:t>
            </a:r>
            <a:r>
              <a:rPr sz="2300" dirty="0">
                <a:latin typeface="Times New Roman"/>
                <a:cs typeface="Times New Roman"/>
              </a:rPr>
              <a:t>y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3393769"/>
            <a:ext cx="5904230" cy="1569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piece</a:t>
            </a:r>
            <a:r>
              <a:rPr sz="2300" spc="3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memory</a:t>
            </a:r>
            <a:r>
              <a:rPr sz="2300" spc="3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3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gone</a:t>
            </a:r>
            <a:r>
              <a:rPr sz="2300" spc="30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out</a:t>
            </a:r>
            <a:r>
              <a:rPr sz="2300" spc="3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scope.</a:t>
            </a:r>
            <a:endParaRPr sz="23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frees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memory.</a:t>
            </a: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55"/>
              </a:spcBef>
              <a:buFont typeface="Wingdings"/>
              <a:buChar char=""/>
              <a:tabLst>
                <a:tab pos="356235" algn="l"/>
              </a:tabLst>
            </a:pPr>
            <a:r>
              <a:rPr sz="2300" dirty="0">
                <a:latin typeface="Times New Roman"/>
                <a:cs typeface="Times New Roman"/>
              </a:rPr>
              <a:t>Generally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works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well,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few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memory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leaks</a:t>
            </a: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50"/>
              </a:spcBef>
              <a:buFont typeface="Wingdings"/>
              <a:buChar char=""/>
              <a:tabLst>
                <a:tab pos="356235" algn="l"/>
              </a:tabLst>
            </a:pPr>
            <a:r>
              <a:rPr sz="2300" spc="-20" dirty="0">
                <a:latin typeface="Times New Roman"/>
                <a:cs typeface="Times New Roman"/>
              </a:rPr>
              <a:t>There’s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also </a:t>
            </a:r>
            <a:r>
              <a:rPr sz="2300" dirty="0">
                <a:latin typeface="Times New Roman"/>
                <a:cs typeface="Times New Roman"/>
              </a:rPr>
              <a:t>no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“destructor”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classes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763" y="1286001"/>
            <a:ext cx="784987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Syntax</a:t>
            </a:r>
            <a:r>
              <a:rPr sz="3500" spc="5" dirty="0"/>
              <a:t> </a:t>
            </a:r>
            <a:r>
              <a:rPr sz="3500" dirty="0"/>
              <a:t>for</a:t>
            </a:r>
            <a:r>
              <a:rPr sz="3500" spc="-5" dirty="0"/>
              <a:t> </a:t>
            </a:r>
            <a:r>
              <a:rPr sz="3500" dirty="0"/>
              <a:t>accessing</a:t>
            </a:r>
            <a:r>
              <a:rPr sz="3500" spc="-50" dirty="0"/>
              <a:t> </a:t>
            </a:r>
            <a:r>
              <a:rPr sz="3500" dirty="0"/>
              <a:t>attributes</a:t>
            </a:r>
            <a:r>
              <a:rPr sz="3500" spc="10" dirty="0"/>
              <a:t> </a:t>
            </a:r>
            <a:r>
              <a:rPr sz="3500" dirty="0"/>
              <a:t>and</a:t>
            </a:r>
            <a:r>
              <a:rPr sz="3500" spc="-5" dirty="0"/>
              <a:t> </a:t>
            </a:r>
            <a:r>
              <a:rPr sz="3500" dirty="0"/>
              <a:t>methods</a:t>
            </a:r>
            <a:endParaRPr sz="3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7781"/>
            <a:ext cx="4123690" cy="290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660066"/>
                </a:solidFill>
                <a:latin typeface="Times New Roman"/>
                <a:cs typeface="Times New Roman"/>
              </a:rPr>
              <a:t>&gt;&gt;&gt;</a:t>
            </a:r>
            <a:r>
              <a:rPr sz="2300" spc="-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=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student(</a:t>
            </a:r>
            <a:r>
              <a:rPr sz="2300" dirty="0">
                <a:solidFill>
                  <a:srgbClr val="008000"/>
                </a:solidFill>
                <a:latin typeface="Times New Roman"/>
                <a:cs typeface="Times New Roman"/>
              </a:rPr>
              <a:t>“Python”</a:t>
            </a:r>
            <a:r>
              <a:rPr sz="2300" dirty="0">
                <a:latin typeface="Times New Roman"/>
                <a:cs typeface="Times New Roman"/>
              </a:rPr>
              <a:t>,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14)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29209">
              <a:lnSpc>
                <a:spcPct val="120000"/>
              </a:lnSpc>
              <a:spcBef>
                <a:spcPts val="5"/>
              </a:spcBef>
            </a:pPr>
            <a:r>
              <a:rPr sz="2300" spc="-5" dirty="0">
                <a:solidFill>
                  <a:srgbClr val="660066"/>
                </a:solidFill>
                <a:latin typeface="Times New Roman"/>
                <a:cs typeface="Times New Roman"/>
              </a:rPr>
              <a:t>&gt;&gt;&gt;</a:t>
            </a:r>
            <a:r>
              <a:rPr sz="2300" spc="10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f.full_name </a:t>
            </a:r>
            <a:r>
              <a:rPr sz="2300" dirty="0">
                <a:solidFill>
                  <a:srgbClr val="FF3300"/>
                </a:solidFill>
                <a:latin typeface="Times New Roman"/>
                <a:cs typeface="Times New Roman"/>
              </a:rPr>
              <a:t>#</a:t>
            </a:r>
            <a:r>
              <a:rPr sz="2300" spc="-1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3300"/>
                </a:solidFill>
                <a:latin typeface="Times New Roman"/>
                <a:cs typeface="Times New Roman"/>
              </a:rPr>
              <a:t>Access</a:t>
            </a:r>
            <a:r>
              <a:rPr sz="2300" spc="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FF3300"/>
                </a:solidFill>
                <a:latin typeface="Times New Roman"/>
                <a:cs typeface="Times New Roman"/>
              </a:rPr>
              <a:t>attribute </a:t>
            </a:r>
            <a:r>
              <a:rPr sz="2300" spc="-56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9DD9"/>
                </a:solidFill>
                <a:latin typeface="Times New Roman"/>
                <a:cs typeface="Times New Roman"/>
              </a:rPr>
              <a:t>“Python”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300" spc="-5" dirty="0">
                <a:solidFill>
                  <a:srgbClr val="660066"/>
                </a:solidFill>
                <a:latin typeface="Times New Roman"/>
                <a:cs typeface="Times New Roman"/>
              </a:rPr>
              <a:t>&gt;&gt;&gt; </a:t>
            </a:r>
            <a:r>
              <a:rPr sz="2300" dirty="0">
                <a:latin typeface="Times New Roman"/>
                <a:cs typeface="Times New Roman"/>
              </a:rPr>
              <a:t>f.get_age()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3300"/>
                </a:solidFill>
                <a:latin typeface="Times New Roman"/>
                <a:cs typeface="Times New Roman"/>
              </a:rPr>
              <a:t>#</a:t>
            </a:r>
            <a:r>
              <a:rPr sz="2300" spc="-14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3300"/>
                </a:solidFill>
                <a:latin typeface="Times New Roman"/>
                <a:cs typeface="Times New Roman"/>
              </a:rPr>
              <a:t>Access a</a:t>
            </a:r>
            <a:r>
              <a:rPr sz="23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FF3300"/>
                </a:solidFill>
                <a:latin typeface="Times New Roman"/>
                <a:cs typeface="Times New Roman"/>
              </a:rPr>
              <a:t>method </a:t>
            </a:r>
            <a:r>
              <a:rPr sz="2300" spc="-56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9DD9"/>
                </a:solidFill>
                <a:latin typeface="Times New Roman"/>
                <a:cs typeface="Times New Roman"/>
              </a:rPr>
              <a:t>14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0779" y="839470"/>
            <a:ext cx="2978785" cy="650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00" dirty="0"/>
              <a:t>Encapsulation</a:t>
            </a:r>
            <a:endParaRPr sz="41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53285"/>
            <a:ext cx="8081009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6385" marR="10795" indent="-274320" algn="just">
              <a:lnSpc>
                <a:spcPct val="901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dirty="0">
                <a:latin typeface="Constantia"/>
                <a:cs typeface="Constantia"/>
              </a:rPr>
              <a:t>Important </a:t>
            </a:r>
            <a:r>
              <a:rPr sz="2400" spc="-15" dirty="0">
                <a:latin typeface="Constantia"/>
                <a:cs typeface="Constantia"/>
              </a:rPr>
              <a:t>advantage </a:t>
            </a:r>
            <a:r>
              <a:rPr sz="2400" spc="-5" dirty="0">
                <a:latin typeface="Constantia"/>
                <a:cs typeface="Constantia"/>
              </a:rPr>
              <a:t>of </a:t>
            </a:r>
            <a:r>
              <a:rPr sz="2400" spc="-10" dirty="0">
                <a:latin typeface="Constantia"/>
                <a:cs typeface="Constantia"/>
              </a:rPr>
              <a:t>OOP consists </a:t>
            </a:r>
            <a:r>
              <a:rPr sz="2400" dirty="0">
                <a:latin typeface="Constantia"/>
                <a:cs typeface="Constantia"/>
              </a:rPr>
              <a:t>in </a:t>
            </a:r>
            <a:r>
              <a:rPr sz="2400" spc="-5" dirty="0">
                <a:latin typeface="Constantia"/>
                <a:cs typeface="Constantia"/>
              </a:rPr>
              <a:t>the </a:t>
            </a:r>
            <a:r>
              <a:rPr sz="2400" dirty="0">
                <a:latin typeface="Constantia"/>
                <a:cs typeface="Constantia"/>
              </a:rPr>
              <a:t>encapsulation </a:t>
            </a:r>
            <a:r>
              <a:rPr sz="2400" spc="-59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of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data.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80" dirty="0">
                <a:latin typeface="Constantia"/>
                <a:cs typeface="Constantia"/>
              </a:rPr>
              <a:t>We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can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say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that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object-oriented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programming 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relies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heavily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on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encapsulation.</a:t>
            </a:r>
            <a:endParaRPr sz="2400">
              <a:latin typeface="Constantia"/>
              <a:cs typeface="Constantia"/>
            </a:endParaRPr>
          </a:p>
          <a:p>
            <a:pPr marL="286385" marR="12700" indent="-274320" algn="just">
              <a:lnSpc>
                <a:spcPts val="2590"/>
              </a:lnSpc>
              <a:spcBef>
                <a:spcPts val="61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terms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encapsulation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and</a:t>
            </a:r>
            <a:r>
              <a:rPr sz="2400" spc="-5" dirty="0">
                <a:latin typeface="Constantia"/>
                <a:cs typeface="Constantia"/>
              </a:rPr>
              <a:t> abstraction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(also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data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hiding) </a:t>
            </a:r>
            <a:r>
              <a:rPr sz="2400" spc="-59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are</a:t>
            </a:r>
            <a:r>
              <a:rPr sz="2400" spc="1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often</a:t>
            </a:r>
            <a:r>
              <a:rPr sz="2400" spc="1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used</a:t>
            </a:r>
            <a:r>
              <a:rPr sz="2400" spc="2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as</a:t>
            </a:r>
            <a:r>
              <a:rPr sz="2400" spc="18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synonyms.</a:t>
            </a:r>
            <a:r>
              <a:rPr sz="2400" spc="204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They</a:t>
            </a:r>
            <a:r>
              <a:rPr sz="2400" spc="16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are</a:t>
            </a:r>
            <a:r>
              <a:rPr sz="2400" spc="16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nearly</a:t>
            </a:r>
            <a:r>
              <a:rPr sz="2400" spc="16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synonymous,</a:t>
            </a:r>
            <a:endParaRPr sz="2400">
              <a:latin typeface="Constantia"/>
              <a:cs typeface="Constantia"/>
            </a:endParaRPr>
          </a:p>
          <a:p>
            <a:pPr marL="286385" algn="just">
              <a:lnSpc>
                <a:spcPts val="2555"/>
              </a:lnSpc>
            </a:pPr>
            <a:r>
              <a:rPr sz="2400" spc="-5" dirty="0">
                <a:latin typeface="Constantia"/>
                <a:cs typeface="Constantia"/>
              </a:rPr>
              <a:t>i.e.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abstraction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is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achieved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though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encapsulation.</a:t>
            </a:r>
            <a:endParaRPr sz="2400">
              <a:latin typeface="Constantia"/>
              <a:cs typeface="Constantia"/>
            </a:endParaRPr>
          </a:p>
          <a:p>
            <a:pPr marL="286385" marR="5080" indent="-274320" algn="just">
              <a:lnSpc>
                <a:spcPts val="2590"/>
              </a:lnSpc>
              <a:spcBef>
                <a:spcPts val="62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10" dirty="0">
                <a:latin typeface="Constantia"/>
                <a:cs typeface="Constantia"/>
              </a:rPr>
              <a:t>Data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hiding</a:t>
            </a:r>
            <a:r>
              <a:rPr sz="2400" spc="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and </a:t>
            </a:r>
            <a:r>
              <a:rPr sz="2400" spc="-5" dirty="0">
                <a:latin typeface="Constantia"/>
                <a:cs typeface="Constantia"/>
              </a:rPr>
              <a:t>encapsulation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are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same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concept,</a:t>
            </a:r>
            <a:r>
              <a:rPr sz="2400" spc="1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so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it's </a:t>
            </a:r>
            <a:r>
              <a:rPr sz="2400" spc="-590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correct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use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them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synonyms</a:t>
            </a:r>
            <a:endParaRPr sz="2400">
              <a:latin typeface="Constantia"/>
              <a:cs typeface="Constantia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54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10" dirty="0">
                <a:latin typeface="Constantia"/>
                <a:cs typeface="Constantia"/>
              </a:rPr>
              <a:t>Generally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speaking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encapsulation</a:t>
            </a:r>
            <a:r>
              <a:rPr sz="2400" dirty="0">
                <a:latin typeface="Constantia"/>
                <a:cs typeface="Constantia"/>
              </a:rPr>
              <a:t> is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mechanism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for </a:t>
            </a:r>
            <a:r>
              <a:rPr sz="2400" spc="-5" dirty="0">
                <a:latin typeface="Constantia"/>
                <a:cs typeface="Constantia"/>
              </a:rPr>
              <a:t> restricting the </a:t>
            </a:r>
            <a:r>
              <a:rPr sz="2400" spc="-20" dirty="0">
                <a:latin typeface="Constantia"/>
                <a:cs typeface="Constantia"/>
              </a:rPr>
              <a:t>access to </a:t>
            </a:r>
            <a:r>
              <a:rPr sz="2400" spc="-5" dirty="0">
                <a:latin typeface="Constantia"/>
                <a:cs typeface="Constantia"/>
              </a:rPr>
              <a:t>some of an objects's </a:t>
            </a:r>
            <a:r>
              <a:rPr sz="2400" spc="-10" dirty="0">
                <a:latin typeface="Constantia"/>
                <a:cs typeface="Constantia"/>
              </a:rPr>
              <a:t>components, </a:t>
            </a:r>
            <a:r>
              <a:rPr sz="2400" spc="-5" dirty="0">
                <a:latin typeface="Constantia"/>
                <a:cs typeface="Constantia"/>
              </a:rPr>
              <a:t> this </a:t>
            </a:r>
            <a:r>
              <a:rPr sz="2400" spc="-10" dirty="0">
                <a:latin typeface="Constantia"/>
                <a:cs typeface="Constantia"/>
              </a:rPr>
              <a:t>means, </a:t>
            </a:r>
            <a:r>
              <a:rPr sz="2400" spc="-5" dirty="0">
                <a:latin typeface="Constantia"/>
                <a:cs typeface="Constantia"/>
              </a:rPr>
              <a:t>that the </a:t>
            </a:r>
            <a:r>
              <a:rPr sz="2400" spc="-10" dirty="0">
                <a:latin typeface="Constantia"/>
                <a:cs typeface="Constantia"/>
              </a:rPr>
              <a:t>internal </a:t>
            </a:r>
            <a:r>
              <a:rPr sz="2400" spc="-5" dirty="0">
                <a:latin typeface="Constantia"/>
                <a:cs typeface="Constantia"/>
              </a:rPr>
              <a:t>representation of </a:t>
            </a:r>
            <a:r>
              <a:rPr sz="2400" dirty="0">
                <a:latin typeface="Constantia"/>
                <a:cs typeface="Constantia"/>
              </a:rPr>
              <a:t>an </a:t>
            </a:r>
            <a:r>
              <a:rPr sz="2400" spc="-5" dirty="0">
                <a:latin typeface="Constantia"/>
                <a:cs typeface="Constantia"/>
              </a:rPr>
              <a:t>object 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can't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be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seen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from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outside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of</a:t>
            </a:r>
            <a:r>
              <a:rPr sz="2400" spc="2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objects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definition.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3226" y="1004061"/>
            <a:ext cx="1090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nstantia"/>
                <a:cs typeface="Constantia"/>
              </a:rPr>
              <a:t>th</a:t>
            </a:r>
            <a:r>
              <a:rPr sz="2400" spc="-30" dirty="0">
                <a:latin typeface="Constantia"/>
                <a:cs typeface="Constantia"/>
              </a:rPr>
              <a:t>r</a:t>
            </a:r>
            <a:r>
              <a:rPr sz="2400" dirty="0">
                <a:latin typeface="Constantia"/>
                <a:cs typeface="Constantia"/>
              </a:rPr>
              <a:t>ou</a:t>
            </a:r>
            <a:r>
              <a:rPr sz="2400" spc="-20" dirty="0">
                <a:latin typeface="Constantia"/>
                <a:cs typeface="Constantia"/>
              </a:rPr>
              <a:t>g</a:t>
            </a:r>
            <a:r>
              <a:rPr sz="2400" dirty="0">
                <a:latin typeface="Constantia"/>
                <a:cs typeface="Constantia"/>
              </a:rPr>
              <a:t>h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04061"/>
            <a:ext cx="8081009" cy="1929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253490" indent="-274320" algn="just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358775" algn="l"/>
              </a:tabLst>
            </a:pPr>
            <a:r>
              <a:rPr sz="2400" spc="-20" dirty="0">
                <a:latin typeface="Constantia"/>
                <a:cs typeface="Constantia"/>
              </a:rPr>
              <a:t>Access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to</a:t>
            </a:r>
            <a:r>
              <a:rPr sz="2400" spc="-5" dirty="0">
                <a:latin typeface="Constantia"/>
                <a:cs typeface="Constantia"/>
              </a:rPr>
              <a:t> this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data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is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typically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only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achieved 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special</a:t>
            </a:r>
            <a:r>
              <a:rPr sz="2400" spc="-1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methods: </a:t>
            </a:r>
            <a:r>
              <a:rPr sz="2400" b="1" i="1" spc="-20" dirty="0">
                <a:latin typeface="Constantia"/>
                <a:cs typeface="Constantia"/>
              </a:rPr>
              <a:t>Getters</a:t>
            </a:r>
            <a:r>
              <a:rPr sz="2400" b="1" i="1" spc="-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and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b="1" i="1" spc="-15" dirty="0">
                <a:latin typeface="Constantia"/>
                <a:cs typeface="Constantia"/>
              </a:rPr>
              <a:t>Setters</a:t>
            </a:r>
            <a:endParaRPr sz="2400">
              <a:latin typeface="Constantia"/>
              <a:cs typeface="Constantia"/>
            </a:endParaRPr>
          </a:p>
          <a:p>
            <a:pPr marL="286385" marR="5080" indent="-274320" algn="just">
              <a:lnSpc>
                <a:spcPct val="100299"/>
              </a:lnSpc>
              <a:spcBef>
                <a:spcPts val="56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Constantia"/>
                <a:cs typeface="Constantia"/>
              </a:rPr>
              <a:t>By using solely </a:t>
            </a:r>
            <a:r>
              <a:rPr sz="2400" spc="-10" dirty="0">
                <a:latin typeface="Constantia"/>
                <a:cs typeface="Constantia"/>
              </a:rPr>
              <a:t>get() </a:t>
            </a:r>
            <a:r>
              <a:rPr sz="2400" dirty="0">
                <a:latin typeface="Constantia"/>
                <a:cs typeface="Constantia"/>
              </a:rPr>
              <a:t>and set() </a:t>
            </a:r>
            <a:r>
              <a:rPr sz="2400" spc="-10" dirty="0">
                <a:latin typeface="Constantia"/>
                <a:cs typeface="Constantia"/>
              </a:rPr>
              <a:t>methods, </a:t>
            </a:r>
            <a:r>
              <a:rPr sz="2400" spc="-35" dirty="0">
                <a:latin typeface="Constantia"/>
                <a:cs typeface="Constantia"/>
              </a:rPr>
              <a:t>we </a:t>
            </a:r>
            <a:r>
              <a:rPr sz="2400" dirty="0">
                <a:latin typeface="Constantia"/>
                <a:cs typeface="Constantia"/>
              </a:rPr>
              <a:t>can </a:t>
            </a:r>
            <a:r>
              <a:rPr sz="2400" spc="-20" dirty="0">
                <a:latin typeface="Constantia"/>
                <a:cs typeface="Constantia"/>
              </a:rPr>
              <a:t>make </a:t>
            </a:r>
            <a:r>
              <a:rPr sz="2400" spc="-10" dirty="0">
                <a:latin typeface="Constantia"/>
                <a:cs typeface="Constantia"/>
              </a:rPr>
              <a:t>sure </a:t>
            </a:r>
            <a:r>
              <a:rPr sz="2400" spc="-5" dirty="0">
                <a:latin typeface="Constantia"/>
                <a:cs typeface="Constantia"/>
              </a:rPr>
              <a:t> that the </a:t>
            </a:r>
            <a:r>
              <a:rPr sz="2400" spc="-10" dirty="0">
                <a:latin typeface="Constantia"/>
                <a:cs typeface="Constantia"/>
              </a:rPr>
              <a:t>internal </a:t>
            </a:r>
            <a:r>
              <a:rPr sz="2400" spc="-5" dirty="0">
                <a:latin typeface="Constantia"/>
                <a:cs typeface="Constantia"/>
              </a:rPr>
              <a:t>data cannot be </a:t>
            </a:r>
            <a:r>
              <a:rPr sz="2400" spc="-10" dirty="0">
                <a:latin typeface="Constantia"/>
                <a:cs typeface="Constantia"/>
              </a:rPr>
              <a:t>accidentally </a:t>
            </a:r>
            <a:r>
              <a:rPr sz="2400" dirty="0">
                <a:latin typeface="Constantia"/>
                <a:cs typeface="Constantia"/>
              </a:rPr>
              <a:t>set </a:t>
            </a:r>
            <a:r>
              <a:rPr sz="2400" spc="-10" dirty="0">
                <a:latin typeface="Constantia"/>
                <a:cs typeface="Constantia"/>
              </a:rPr>
              <a:t>into </a:t>
            </a:r>
            <a:r>
              <a:rPr sz="2400" dirty="0">
                <a:latin typeface="Constantia"/>
                <a:cs typeface="Constantia"/>
              </a:rPr>
              <a:t>an 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inconsistent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or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invalid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state.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79546"/>
            <a:ext cx="8080375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10" dirty="0">
                <a:latin typeface="Constantia"/>
                <a:cs typeface="Constantia"/>
              </a:rPr>
              <a:t>C++,</a:t>
            </a:r>
            <a:r>
              <a:rPr sz="2400" spc="118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Java,</a:t>
            </a:r>
            <a:r>
              <a:rPr sz="2400" spc="1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and  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C#</a:t>
            </a:r>
            <a:r>
              <a:rPr sz="2400" spc="1190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rely</a:t>
            </a:r>
            <a:r>
              <a:rPr sz="2400" spc="570" dirty="0">
                <a:latin typeface="Constantia"/>
                <a:cs typeface="Constantia"/>
              </a:rPr>
              <a:t>  </a:t>
            </a:r>
            <a:r>
              <a:rPr sz="2400" spc="5" dirty="0">
                <a:latin typeface="Constantia"/>
                <a:cs typeface="Constantia"/>
              </a:rPr>
              <a:t>on   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590" dirty="0">
                <a:latin typeface="Constantia"/>
                <a:cs typeface="Constantia"/>
              </a:rPr>
              <a:t>  </a:t>
            </a:r>
            <a:r>
              <a:rPr sz="2400" spc="-5" dirty="0">
                <a:latin typeface="Constantia"/>
                <a:cs typeface="Constantia"/>
              </a:rPr>
              <a:t>public,</a:t>
            </a:r>
            <a:r>
              <a:rPr sz="2400" spc="590" dirty="0">
                <a:latin typeface="Constantia"/>
                <a:cs typeface="Constantia"/>
              </a:rPr>
              <a:t> </a:t>
            </a:r>
            <a:r>
              <a:rPr sz="2400" spc="5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private, </a:t>
            </a:r>
            <a:r>
              <a:rPr sz="2400" spc="-5" dirty="0">
                <a:latin typeface="Constantia"/>
                <a:cs typeface="Constantia"/>
              </a:rPr>
              <a:t> and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protected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keywords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order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implement variable 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scoping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and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encapsulation</a:t>
            </a:r>
            <a:endParaRPr sz="2400">
              <a:latin typeface="Constantia"/>
              <a:cs typeface="Constanti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363220" algn="l"/>
              </a:tabLst>
            </a:pPr>
            <a:r>
              <a:rPr sz="2400" spc="-15" dirty="0">
                <a:latin typeface="Constantia"/>
                <a:cs typeface="Constantia"/>
              </a:rPr>
              <a:t>It's nearly </a:t>
            </a:r>
            <a:r>
              <a:rPr sz="2400" spc="-25" dirty="0">
                <a:latin typeface="Constantia"/>
                <a:cs typeface="Constantia"/>
              </a:rPr>
              <a:t>always </a:t>
            </a:r>
            <a:r>
              <a:rPr sz="2400" dirty="0">
                <a:latin typeface="Constantia"/>
                <a:cs typeface="Constantia"/>
              </a:rPr>
              <a:t>possible </a:t>
            </a:r>
            <a:r>
              <a:rPr sz="2400" spc="-20" dirty="0">
                <a:latin typeface="Constantia"/>
                <a:cs typeface="Constantia"/>
              </a:rPr>
              <a:t>to </a:t>
            </a:r>
            <a:r>
              <a:rPr sz="2400" spc="-15" dirty="0">
                <a:latin typeface="Constantia"/>
                <a:cs typeface="Constantia"/>
              </a:rPr>
              <a:t>circumvent </a:t>
            </a:r>
            <a:r>
              <a:rPr sz="2400" spc="-5" dirty="0">
                <a:latin typeface="Constantia"/>
                <a:cs typeface="Constantia"/>
              </a:rPr>
              <a:t>this </a:t>
            </a:r>
            <a:r>
              <a:rPr sz="2400" spc="-10" dirty="0">
                <a:latin typeface="Constantia"/>
                <a:cs typeface="Constantia"/>
              </a:rPr>
              <a:t>protection </a:t>
            </a:r>
            <a:r>
              <a:rPr sz="2400" spc="-5" dirty="0">
                <a:latin typeface="Constantia"/>
                <a:cs typeface="Constantia"/>
              </a:rPr>
              <a:t> mechanism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638" y="933957"/>
            <a:ext cx="5612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Public,</a:t>
            </a:r>
            <a:r>
              <a:rPr sz="3200" spc="-25" dirty="0"/>
              <a:t> </a:t>
            </a:r>
            <a:r>
              <a:rPr sz="3200" dirty="0"/>
              <a:t>Protected</a:t>
            </a:r>
            <a:r>
              <a:rPr sz="3200" spc="-35" dirty="0"/>
              <a:t> </a:t>
            </a:r>
            <a:r>
              <a:rPr sz="3200" dirty="0"/>
              <a:t>and</a:t>
            </a:r>
            <a:r>
              <a:rPr sz="3200" spc="-25" dirty="0"/>
              <a:t> </a:t>
            </a:r>
            <a:r>
              <a:rPr sz="3200" dirty="0"/>
              <a:t>Private</a:t>
            </a:r>
            <a:r>
              <a:rPr sz="3200" spc="-25" dirty="0"/>
              <a:t> </a:t>
            </a:r>
            <a:r>
              <a:rPr sz="3200" dirty="0"/>
              <a:t>Data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774901"/>
            <a:ext cx="8073390" cy="3743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715" indent="-27432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360680" algn="l"/>
              </a:tabLst>
            </a:pPr>
            <a:r>
              <a:rPr dirty="0"/>
              <a:t>	</a:t>
            </a:r>
            <a:r>
              <a:rPr sz="2300" dirty="0">
                <a:latin typeface="Times New Roman"/>
                <a:cs typeface="Times New Roman"/>
              </a:rPr>
              <a:t>If an </a:t>
            </a:r>
            <a:r>
              <a:rPr sz="2300" spc="-5" dirty="0">
                <a:latin typeface="Times New Roman"/>
                <a:cs typeface="Times New Roman"/>
              </a:rPr>
              <a:t>identifier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doesn't </a:t>
            </a:r>
            <a:r>
              <a:rPr sz="2300" dirty="0">
                <a:latin typeface="Times New Roman"/>
                <a:cs typeface="Times New Roman"/>
              </a:rPr>
              <a:t>start with an underscore </a:t>
            </a:r>
            <a:r>
              <a:rPr sz="2300" spc="-5" dirty="0">
                <a:latin typeface="Times New Roman"/>
                <a:cs typeface="Times New Roman"/>
              </a:rPr>
              <a:t>character</a:t>
            </a:r>
            <a:r>
              <a:rPr sz="2300" spc="5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"_" </a:t>
            </a:r>
            <a:r>
              <a:rPr sz="2300" spc="-5" dirty="0">
                <a:latin typeface="Times New Roman"/>
                <a:cs typeface="Times New Roman"/>
              </a:rPr>
              <a:t>it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dirty="0">
                <a:latin typeface="Times New Roman"/>
                <a:cs typeface="Times New Roman"/>
              </a:rPr>
              <a:t> be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accessed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outside,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i.e.</a:t>
            </a:r>
            <a:r>
              <a:rPr sz="2300" dirty="0">
                <a:latin typeface="Times New Roman"/>
                <a:cs typeface="Times New Roman"/>
              </a:rPr>
              <a:t> 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value</a:t>
            </a:r>
            <a:r>
              <a:rPr sz="2300" dirty="0">
                <a:latin typeface="Times New Roman"/>
                <a:cs typeface="Times New Roman"/>
              </a:rPr>
              <a:t> can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read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changed</a:t>
            </a:r>
            <a:endParaRPr sz="2300">
              <a:latin typeface="Times New Roman"/>
              <a:cs typeface="Times New Roman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55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360680" algn="l"/>
              </a:tabLst>
            </a:pPr>
            <a:r>
              <a:rPr dirty="0"/>
              <a:t>	</a:t>
            </a:r>
            <a:r>
              <a:rPr sz="2300" dirty="0">
                <a:latin typeface="Times New Roman"/>
                <a:cs typeface="Times New Roman"/>
              </a:rPr>
              <a:t>Data </a:t>
            </a:r>
            <a:r>
              <a:rPr sz="2300" spc="-5" dirty="0">
                <a:latin typeface="Times New Roman"/>
                <a:cs typeface="Times New Roman"/>
              </a:rPr>
              <a:t>can </a:t>
            </a:r>
            <a:r>
              <a:rPr sz="2300" spc="5" dirty="0">
                <a:latin typeface="Times New Roman"/>
                <a:cs typeface="Times New Roman"/>
              </a:rPr>
              <a:t>be </a:t>
            </a:r>
            <a:r>
              <a:rPr sz="2300" spc="-5" dirty="0">
                <a:latin typeface="Times New Roman"/>
                <a:cs typeface="Times New Roman"/>
              </a:rPr>
              <a:t>protected </a:t>
            </a:r>
            <a:r>
              <a:rPr sz="2300" spc="5" dirty="0">
                <a:latin typeface="Times New Roman"/>
                <a:cs typeface="Times New Roman"/>
              </a:rPr>
              <a:t>by </a:t>
            </a:r>
            <a:r>
              <a:rPr sz="2300" spc="-5" dirty="0">
                <a:latin typeface="Times New Roman"/>
                <a:cs typeface="Times New Roman"/>
              </a:rPr>
              <a:t>making members private </a:t>
            </a:r>
            <a:r>
              <a:rPr sz="2300" dirty="0">
                <a:latin typeface="Times New Roman"/>
                <a:cs typeface="Times New Roman"/>
              </a:rPr>
              <a:t>or protected.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Instance </a:t>
            </a:r>
            <a:r>
              <a:rPr sz="2300" spc="-5" dirty="0">
                <a:latin typeface="Times New Roman"/>
                <a:cs typeface="Times New Roman"/>
              </a:rPr>
              <a:t>variable </a:t>
            </a:r>
            <a:r>
              <a:rPr sz="2300" dirty="0">
                <a:latin typeface="Times New Roman"/>
                <a:cs typeface="Times New Roman"/>
              </a:rPr>
              <a:t>names starting with two underscore characters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cannot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accessed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outside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 the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class.</a:t>
            </a:r>
            <a:endParaRPr sz="2300">
              <a:latin typeface="Times New Roman"/>
              <a:cs typeface="Times New Roman"/>
            </a:endParaRPr>
          </a:p>
          <a:p>
            <a:pPr marL="287020" marR="6985" indent="-274320" algn="just">
              <a:lnSpc>
                <a:spcPct val="100000"/>
              </a:lnSpc>
              <a:spcBef>
                <a:spcPts val="555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343535" algn="l"/>
              </a:tabLst>
            </a:pPr>
            <a:r>
              <a:rPr dirty="0"/>
              <a:t>	</a:t>
            </a:r>
            <a:r>
              <a:rPr sz="2300" dirty="0">
                <a:latin typeface="Times New Roman"/>
                <a:cs typeface="Times New Roman"/>
              </a:rPr>
              <a:t>At least not </a:t>
            </a:r>
            <a:r>
              <a:rPr sz="2300" spc="-20" dirty="0">
                <a:latin typeface="Times New Roman"/>
                <a:cs typeface="Times New Roman"/>
              </a:rPr>
              <a:t>directly, </a:t>
            </a:r>
            <a:r>
              <a:rPr sz="2300" spc="-5" dirty="0">
                <a:latin typeface="Times New Roman"/>
                <a:cs typeface="Times New Roman"/>
              </a:rPr>
              <a:t>but they can </a:t>
            </a:r>
            <a:r>
              <a:rPr sz="2300" spc="-10" dirty="0">
                <a:latin typeface="Times New Roman"/>
                <a:cs typeface="Times New Roman"/>
              </a:rPr>
              <a:t>be </a:t>
            </a:r>
            <a:r>
              <a:rPr sz="2300" dirty="0">
                <a:latin typeface="Times New Roman"/>
                <a:cs typeface="Times New Roman"/>
              </a:rPr>
              <a:t>accessed through </a:t>
            </a:r>
            <a:r>
              <a:rPr sz="2300" spc="-5" dirty="0">
                <a:latin typeface="Times New Roman"/>
                <a:cs typeface="Times New Roman"/>
              </a:rPr>
              <a:t>private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name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mangling.</a:t>
            </a:r>
            <a:endParaRPr sz="2300">
              <a:latin typeface="Times New Roman"/>
              <a:cs typeface="Times New Roman"/>
            </a:endParaRPr>
          </a:p>
          <a:p>
            <a:pPr marL="287020" marR="6985" indent="-274320" algn="just">
              <a:lnSpc>
                <a:spcPct val="100000"/>
              </a:lnSpc>
              <a:spcBef>
                <a:spcPts val="550"/>
              </a:spcBef>
              <a:buClr>
                <a:srgbClr val="0AD0D9"/>
              </a:buClr>
              <a:buSzPct val="93478"/>
              <a:buFont typeface="Wingdings"/>
              <a:buChar char=""/>
              <a:tabLst>
                <a:tab pos="355600" algn="l"/>
              </a:tabLst>
            </a:pPr>
            <a:r>
              <a:rPr dirty="0"/>
              <a:t>	</a:t>
            </a:r>
            <a:r>
              <a:rPr sz="2300" dirty="0">
                <a:latin typeface="Times New Roman"/>
                <a:cs typeface="Times New Roman"/>
              </a:rPr>
              <a:t>That </a:t>
            </a:r>
            <a:r>
              <a:rPr sz="2300" spc="-5" dirty="0">
                <a:latin typeface="Times New Roman"/>
                <a:cs typeface="Times New Roman"/>
              </a:rPr>
              <a:t>means, private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u="sng" spc="5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spc="-5" dirty="0">
                <a:latin typeface="Times New Roman"/>
                <a:cs typeface="Times New Roman"/>
              </a:rPr>
              <a:t>can </a:t>
            </a:r>
            <a:r>
              <a:rPr sz="2300" dirty="0">
                <a:latin typeface="Times New Roman"/>
                <a:cs typeface="Times New Roman"/>
              </a:rPr>
              <a:t>be accessed by the following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name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construct: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b="1" i="1" dirty="0">
                <a:latin typeface="Times New Roman"/>
                <a:cs typeface="Times New Roman"/>
              </a:rPr>
              <a:t>instance_name._classname</a:t>
            </a:r>
            <a:r>
              <a:rPr sz="2300" b="1" i="1" u="heavy" spc="5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b="1" i="1" dirty="0">
                <a:latin typeface="Times New Roman"/>
                <a:cs typeface="Times New Roman"/>
              </a:rPr>
              <a:t>A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13205"/>
            <a:ext cx="8073390" cy="419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715" indent="-27432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36322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identifier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preceded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underscore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character,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protected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member.</a:t>
            </a:r>
            <a:endParaRPr sz="2400">
              <a:latin typeface="Times New Roman"/>
              <a:cs typeface="Times New Roman"/>
            </a:endParaRPr>
          </a:p>
          <a:p>
            <a:pPr marL="363220" indent="-350520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363220" algn="l"/>
              </a:tabLst>
            </a:pPr>
            <a:r>
              <a:rPr sz="2400" dirty="0">
                <a:latin typeface="Times New Roman"/>
                <a:cs typeface="Times New Roman"/>
              </a:rPr>
              <a:t>Protected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members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accessed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like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members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outside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C00000"/>
                </a:solidFill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927100" marR="4048760" indent="-640715">
              <a:lnSpc>
                <a:spcPct val="120000"/>
              </a:lnSpc>
              <a:tabLst>
                <a:tab pos="1696720" algn="l"/>
                <a:tab pos="240982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class </a:t>
            </a:r>
            <a:r>
              <a:rPr sz="2400" spc="-5" dirty="0">
                <a:solidFill>
                  <a:srgbClr val="C00000"/>
                </a:solidFill>
                <a:latin typeface="Times New Roman"/>
                <a:cs typeface="Times New Roman"/>
              </a:rPr>
              <a:t>Encapsulation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(object):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 def</a:t>
            </a:r>
            <a:r>
              <a:rPr sz="2400" u="sng" dirty="0">
                <a:solidFill>
                  <a:srgbClr val="00AF5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init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(self,</a:t>
            </a:r>
            <a:r>
              <a:rPr sz="2400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a,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b,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c):</a:t>
            </a:r>
            <a:endParaRPr sz="2400">
              <a:latin typeface="Times New Roman"/>
              <a:cs typeface="Times New Roman"/>
            </a:endParaRPr>
          </a:p>
          <a:p>
            <a:pPr marL="1841500" marR="3945890">
              <a:lnSpc>
                <a:spcPct val="120000"/>
              </a:lnSpc>
              <a:tabLst>
                <a:tab pos="2663190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self.public = a 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self._protected</a:t>
            </a:r>
            <a:r>
              <a:rPr sz="2400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b </a:t>
            </a:r>
            <a:r>
              <a:rPr sz="2400" spc="-5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self.</a:t>
            </a:r>
            <a:r>
              <a:rPr sz="2400" u="sng" spc="-5" dirty="0">
                <a:solidFill>
                  <a:srgbClr val="00AF50"/>
                </a:solidFill>
                <a:uFill>
                  <a:solidFill>
                    <a:srgbClr val="00AE4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private</a:t>
            </a:r>
            <a:r>
              <a:rPr sz="2400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=</a:t>
            </a:r>
            <a:r>
              <a:rPr sz="24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921765"/>
            <a:ext cx="78670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following</a:t>
            </a:r>
            <a:r>
              <a:rPr sz="2400" spc="-10" dirty="0"/>
              <a:t> </a:t>
            </a:r>
            <a:r>
              <a:rPr sz="2400" dirty="0"/>
              <a:t>interactive</a:t>
            </a:r>
            <a:r>
              <a:rPr sz="2400" spc="-60" dirty="0"/>
              <a:t> </a:t>
            </a:r>
            <a:r>
              <a:rPr sz="2400" dirty="0"/>
              <a:t>sessions</a:t>
            </a:r>
            <a:r>
              <a:rPr sz="2400" spc="-10" dirty="0"/>
              <a:t> </a:t>
            </a:r>
            <a:r>
              <a:rPr sz="2400" spc="-5" dirty="0"/>
              <a:t>shows</a:t>
            </a:r>
            <a:r>
              <a:rPr sz="2400" dirty="0"/>
              <a:t> the</a:t>
            </a:r>
            <a:r>
              <a:rPr sz="2400" spc="-10" dirty="0"/>
              <a:t> </a:t>
            </a:r>
            <a:r>
              <a:rPr sz="2400" dirty="0"/>
              <a:t>behavior</a:t>
            </a:r>
            <a:r>
              <a:rPr sz="2400" spc="-30" dirty="0"/>
              <a:t> </a:t>
            </a:r>
            <a:r>
              <a:rPr sz="2400" dirty="0"/>
              <a:t>of</a:t>
            </a:r>
            <a:r>
              <a:rPr sz="2400" spc="-10" dirty="0"/>
              <a:t> </a:t>
            </a:r>
            <a:r>
              <a:rPr sz="2400" dirty="0"/>
              <a:t>public, </a:t>
            </a:r>
            <a:r>
              <a:rPr sz="2400" spc="-585" dirty="0"/>
              <a:t> </a:t>
            </a:r>
            <a:r>
              <a:rPr sz="2400" dirty="0"/>
              <a:t>protected</a:t>
            </a:r>
            <a:r>
              <a:rPr sz="2400" spc="-40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dirty="0"/>
              <a:t>private</a:t>
            </a:r>
            <a:r>
              <a:rPr sz="2400" spc="-30" dirty="0"/>
              <a:t> </a:t>
            </a:r>
            <a:r>
              <a:rPr sz="2400" spc="-5" dirty="0"/>
              <a:t>members: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795233"/>
            <a:ext cx="6603365" cy="454469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900" spc="-5" dirty="0">
                <a:latin typeface="Times New Roman"/>
                <a:cs typeface="Times New Roman"/>
              </a:rPr>
              <a:t>&gt;&gt;&gt;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19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=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Encapsulation</a:t>
            </a:r>
            <a:r>
              <a:rPr sz="1900" spc="-5" dirty="0">
                <a:latin typeface="Times New Roman"/>
                <a:cs typeface="Times New Roman"/>
              </a:rPr>
              <a:t>(11,13,17)</a:t>
            </a:r>
            <a:endParaRPr sz="1900">
              <a:latin typeface="Times New Roman"/>
              <a:cs typeface="Times New Roman"/>
            </a:endParaRPr>
          </a:p>
          <a:p>
            <a:pPr marL="73025" marR="5329555" indent="-60960">
              <a:lnSpc>
                <a:spcPct val="120000"/>
              </a:lnSpc>
              <a:spcBef>
                <a:spcPts val="5"/>
              </a:spcBef>
            </a:pPr>
            <a:r>
              <a:rPr sz="1900" spc="-10" dirty="0">
                <a:latin typeface="Times New Roman"/>
                <a:cs typeface="Times New Roman"/>
              </a:rPr>
              <a:t>&gt;&gt;&gt;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x.public </a:t>
            </a:r>
            <a:r>
              <a:rPr sz="1900" spc="-459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11</a:t>
            </a:r>
            <a:endParaRPr sz="1900">
              <a:latin typeface="Times New Roman"/>
              <a:cs typeface="Times New Roman"/>
            </a:endParaRPr>
          </a:p>
          <a:p>
            <a:pPr marL="12700" marR="4915535">
              <a:lnSpc>
                <a:spcPct val="120000"/>
              </a:lnSpc>
            </a:pPr>
            <a:r>
              <a:rPr sz="1900" spc="-10" dirty="0">
                <a:latin typeface="Times New Roman"/>
                <a:cs typeface="Times New Roman"/>
              </a:rPr>
              <a:t>&gt;&gt;&gt;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x._protected </a:t>
            </a:r>
            <a:r>
              <a:rPr sz="1900" spc="-45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13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900" spc="-10" dirty="0">
                <a:latin typeface="Times New Roman"/>
                <a:cs typeface="Times New Roman"/>
              </a:rPr>
              <a:t>&gt;&gt;&gt;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x._protected</a:t>
            </a:r>
            <a:r>
              <a:rPr sz="19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= 23</a:t>
            </a:r>
            <a:endParaRPr sz="1900">
              <a:latin typeface="Times New Roman"/>
              <a:cs typeface="Times New Roman"/>
            </a:endParaRPr>
          </a:p>
          <a:p>
            <a:pPr marL="12700" marR="4915535">
              <a:lnSpc>
                <a:spcPct val="120000"/>
              </a:lnSpc>
            </a:pPr>
            <a:r>
              <a:rPr sz="1900" spc="-10" dirty="0">
                <a:latin typeface="Times New Roman"/>
                <a:cs typeface="Times New Roman"/>
              </a:rPr>
              <a:t>&gt;&gt;&gt;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C00000"/>
                </a:solidFill>
                <a:latin typeface="Times New Roman"/>
                <a:cs typeface="Times New Roman"/>
              </a:rPr>
              <a:t>x._protected </a:t>
            </a:r>
            <a:r>
              <a:rPr sz="1900" spc="-45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23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903605" algn="l"/>
              </a:tabLst>
            </a:pPr>
            <a:r>
              <a:rPr sz="1900" spc="-10" dirty="0">
                <a:latin typeface="Times New Roman"/>
                <a:cs typeface="Times New Roman"/>
              </a:rPr>
              <a:t>&gt;&gt;&gt;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x.</a:t>
            </a:r>
            <a:r>
              <a:rPr sz="1900" u="sng" spc="-5" dirty="0">
                <a:solidFill>
                  <a:srgbClr val="00AF50"/>
                </a:solidFill>
                <a:uFill>
                  <a:solidFill>
                    <a:srgbClr val="00AE4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0" spc="-5" dirty="0">
                <a:solidFill>
                  <a:srgbClr val="00AF50"/>
                </a:solidFill>
                <a:latin typeface="Times New Roman"/>
                <a:cs typeface="Times New Roman"/>
              </a:rPr>
              <a:t>private</a:t>
            </a:r>
            <a:endParaRPr sz="19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455"/>
              </a:spcBef>
            </a:pPr>
            <a:r>
              <a:rPr sz="1900" spc="-15" dirty="0">
                <a:solidFill>
                  <a:srgbClr val="6F2F9F"/>
                </a:solidFill>
                <a:latin typeface="Times New Roman"/>
                <a:cs typeface="Times New Roman"/>
              </a:rPr>
              <a:t>Traceback </a:t>
            </a:r>
            <a:r>
              <a:rPr sz="1900" spc="-10" dirty="0">
                <a:solidFill>
                  <a:srgbClr val="6F2F9F"/>
                </a:solidFill>
                <a:latin typeface="Times New Roman"/>
                <a:cs typeface="Times New Roman"/>
              </a:rPr>
              <a:t>(most</a:t>
            </a:r>
            <a:r>
              <a:rPr sz="1900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recent</a:t>
            </a:r>
            <a:r>
              <a:rPr sz="19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call</a:t>
            </a:r>
            <a:r>
              <a:rPr sz="19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last):</a:t>
            </a:r>
            <a:endParaRPr sz="19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File</a:t>
            </a:r>
            <a:r>
              <a:rPr sz="19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"&lt;stdin&gt;",</a:t>
            </a:r>
            <a:r>
              <a:rPr sz="1900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line</a:t>
            </a:r>
            <a:r>
              <a:rPr sz="19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1,</a:t>
            </a:r>
            <a:r>
              <a:rPr sz="19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in </a:t>
            </a:r>
            <a:r>
              <a:rPr sz="1900" spc="-10" dirty="0">
                <a:solidFill>
                  <a:srgbClr val="6F2F9F"/>
                </a:solidFill>
                <a:latin typeface="Times New Roman"/>
                <a:cs typeface="Times New Roman"/>
              </a:rPr>
              <a:t>&lt;module&gt;</a:t>
            </a:r>
            <a:endParaRPr sz="1900">
              <a:latin typeface="Times New Roman"/>
              <a:cs typeface="Times New Roman"/>
            </a:endParaRPr>
          </a:p>
          <a:p>
            <a:pPr marL="334010">
              <a:lnSpc>
                <a:spcPct val="100000"/>
              </a:lnSpc>
              <a:spcBef>
                <a:spcPts val="455"/>
              </a:spcBef>
              <a:tabLst>
                <a:tab pos="5839460" algn="l"/>
              </a:tabLst>
            </a:pP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AttributeError:</a:t>
            </a:r>
            <a:r>
              <a:rPr sz="1900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'Encapsulation'</a:t>
            </a:r>
            <a:r>
              <a:rPr sz="1900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6F2F9F"/>
                </a:solidFill>
                <a:latin typeface="Times New Roman"/>
                <a:cs typeface="Times New Roman"/>
              </a:rPr>
              <a:t>object</a:t>
            </a:r>
            <a:r>
              <a:rPr sz="1900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has</a:t>
            </a:r>
            <a:r>
              <a:rPr sz="1900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no</a:t>
            </a:r>
            <a:r>
              <a:rPr sz="1900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attribute</a:t>
            </a:r>
            <a:r>
              <a:rPr sz="1900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6F2F9F"/>
                </a:solidFill>
                <a:latin typeface="Times New Roman"/>
                <a:cs typeface="Times New Roman"/>
              </a:rPr>
              <a:t>'</a:t>
            </a:r>
            <a:r>
              <a:rPr sz="1900" u="sng" spc="-10" dirty="0">
                <a:solidFill>
                  <a:srgbClr val="6F2F9F"/>
                </a:solidFill>
                <a:uFill>
                  <a:solidFill>
                    <a:srgbClr val="6E2E9E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0" spc="-5" dirty="0">
                <a:solidFill>
                  <a:srgbClr val="6F2F9F"/>
                </a:solidFill>
                <a:latin typeface="Times New Roman"/>
                <a:cs typeface="Times New Roman"/>
              </a:rPr>
              <a:t>private‘</a:t>
            </a:r>
            <a:endParaRPr sz="19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455"/>
              </a:spcBef>
            </a:pPr>
            <a:r>
              <a:rPr sz="1900" spc="-10" dirty="0">
                <a:latin typeface="Times New Roman"/>
                <a:cs typeface="Times New Roman"/>
              </a:rPr>
              <a:t>&gt;&gt;&gt;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969010"/>
            <a:ext cx="804925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The</a:t>
            </a:r>
            <a:r>
              <a:rPr sz="2800" spc="10" dirty="0"/>
              <a:t> </a:t>
            </a:r>
            <a:r>
              <a:rPr sz="2800" spc="-5" dirty="0"/>
              <a:t>following</a:t>
            </a:r>
            <a:r>
              <a:rPr sz="2800" spc="-10" dirty="0"/>
              <a:t> </a:t>
            </a:r>
            <a:r>
              <a:rPr sz="2800" spc="-5" dirty="0"/>
              <a:t>table</a:t>
            </a:r>
            <a:r>
              <a:rPr sz="2800" spc="10" dirty="0"/>
              <a:t> </a:t>
            </a:r>
            <a:r>
              <a:rPr sz="2800" spc="-5" dirty="0"/>
              <a:t>shows</a:t>
            </a:r>
            <a:r>
              <a:rPr sz="2800" spc="10" dirty="0"/>
              <a:t> </a:t>
            </a:r>
            <a:r>
              <a:rPr sz="2800" spc="-5" dirty="0"/>
              <a:t>the</a:t>
            </a:r>
            <a:r>
              <a:rPr sz="2800" dirty="0"/>
              <a:t> </a:t>
            </a:r>
            <a:r>
              <a:rPr sz="2800" spc="-10" dirty="0"/>
              <a:t>different</a:t>
            </a:r>
            <a:r>
              <a:rPr sz="2800" spc="10" dirty="0"/>
              <a:t> </a:t>
            </a:r>
            <a:r>
              <a:rPr sz="2800" spc="-5" dirty="0"/>
              <a:t>behavior</a:t>
            </a:r>
            <a:r>
              <a:rPr sz="2800" spc="-10" dirty="0"/>
              <a:t> </a:t>
            </a:r>
            <a:r>
              <a:rPr sz="2800" spc="-5" dirty="0"/>
              <a:t>Public, </a:t>
            </a:r>
            <a:r>
              <a:rPr sz="2800" spc="-685" dirty="0"/>
              <a:t> </a:t>
            </a:r>
            <a:r>
              <a:rPr sz="2800" spc="-5" dirty="0"/>
              <a:t>Protected</a:t>
            </a:r>
            <a:r>
              <a:rPr sz="2800" spc="-10" dirty="0"/>
              <a:t> </a:t>
            </a:r>
            <a:r>
              <a:rPr sz="2800" spc="-5" dirty="0"/>
              <a:t>and Private</a:t>
            </a:r>
            <a:r>
              <a:rPr sz="2800" spc="-15" dirty="0"/>
              <a:t> </a:t>
            </a:r>
            <a:r>
              <a:rPr sz="2800" spc="-5" dirty="0"/>
              <a:t>Data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2203450"/>
          <a:ext cx="8001632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1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solidFill>
                            <a:srgbClr val="C00000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28575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onstantia"/>
                          <a:cs typeface="Constantia"/>
                        </a:rPr>
                        <a:t>Notation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28575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onstantia"/>
                          <a:cs typeface="Constantia"/>
                        </a:rPr>
                        <a:t>Behavior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28575">
                      <a:solidFill>
                        <a:srgbClr val="0AD0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name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28575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Public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28575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Can</a:t>
                      </a:r>
                      <a:r>
                        <a:rPr sz="1800" spc="-4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be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accessed</a:t>
                      </a:r>
                      <a:r>
                        <a:rPr sz="1800" spc="-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from</a:t>
                      </a:r>
                      <a:r>
                        <a:rPr sz="1800" spc="-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inside</a:t>
                      </a:r>
                      <a:r>
                        <a:rPr sz="1800" spc="-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and</a:t>
                      </a:r>
                      <a:endParaRPr sz="1800">
                        <a:latin typeface="Constantia"/>
                        <a:cs typeface="Constant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outside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28575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6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_name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Protected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 marR="294005" indent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onstantia"/>
                          <a:cs typeface="Constantia"/>
                        </a:rPr>
                        <a:t>Like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a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public 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member,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but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they </a:t>
                      </a:r>
                      <a:r>
                        <a:rPr sz="1800" spc="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shoul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dn'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t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5" dirty="0">
                          <a:latin typeface="Constantia"/>
                          <a:cs typeface="Constantia"/>
                        </a:rPr>
                        <a:t>b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e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d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i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r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ect</a:t>
                      </a:r>
                      <a:r>
                        <a:rPr sz="1800" spc="-15" dirty="0">
                          <a:latin typeface="Constantia"/>
                          <a:cs typeface="Constantia"/>
                        </a:rPr>
                        <a:t>l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y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a</a:t>
                      </a:r>
                      <a:r>
                        <a:rPr sz="1800" spc="-40" dirty="0">
                          <a:latin typeface="Constantia"/>
                          <a:cs typeface="Constantia"/>
                        </a:rPr>
                        <a:t>cc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es</a:t>
                      </a:r>
                      <a:r>
                        <a:rPr sz="1800" spc="5" dirty="0">
                          <a:latin typeface="Constantia"/>
                          <a:cs typeface="Constantia"/>
                        </a:rPr>
                        <a:t>s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ed</a:t>
                      </a:r>
                      <a:r>
                        <a:rPr sz="1800" spc="-3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f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r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om 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outside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228600" algn="l"/>
                        </a:tabLst>
                      </a:pP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 	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name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Private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marL="1654810" marR="436245" indent="-12071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Can't</a:t>
                      </a:r>
                      <a:r>
                        <a:rPr sz="18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be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seen</a:t>
                      </a:r>
                      <a:r>
                        <a:rPr sz="18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and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accessed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from </a:t>
                      </a:r>
                      <a:r>
                        <a:rPr sz="1800" spc="-43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outside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Inheri</a:t>
            </a:r>
            <a:r>
              <a:rPr spc="-25" dirty="0"/>
              <a:t>t</a:t>
            </a:r>
            <a:r>
              <a:rPr spc="-5" dirty="0"/>
              <a:t>an</a:t>
            </a:r>
            <a:r>
              <a:rPr dirty="0"/>
              <a:t>c</a:t>
            </a:r>
            <a:r>
              <a:rPr spc="-5" dirty="0"/>
              <a:t>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535940" y="1362542"/>
            <a:ext cx="8073390" cy="43446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50"/>
              </a:spcBef>
              <a:buClr>
                <a:srgbClr val="0AD0D9"/>
              </a:buClr>
              <a:buSzPct val="95238"/>
              <a:buFont typeface="Wingdings"/>
              <a:buChar char=""/>
              <a:tabLst>
                <a:tab pos="287020" algn="l"/>
              </a:tabLst>
            </a:pPr>
            <a:r>
              <a:rPr sz="2100" dirty="0">
                <a:latin typeface="Times New Roman"/>
                <a:cs typeface="Times New Roman"/>
              </a:rPr>
              <a:t>Inheritance </a:t>
            </a:r>
            <a:r>
              <a:rPr sz="2100" spc="-5" dirty="0">
                <a:latin typeface="Times New Roman"/>
                <a:cs typeface="Times New Roman"/>
              </a:rPr>
              <a:t>is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powerful feature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object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oriented</a:t>
            </a:r>
            <a:r>
              <a:rPr sz="2100" spc="-5" dirty="0">
                <a:latin typeface="Times New Roman"/>
                <a:cs typeface="Times New Roman"/>
              </a:rPr>
              <a:t> programming</a:t>
            </a:r>
            <a:endParaRPr sz="2100">
              <a:latin typeface="Times New Roman"/>
              <a:cs typeface="Times New Roman"/>
            </a:endParaRPr>
          </a:p>
          <a:p>
            <a:pPr marL="287020" indent="-274320">
              <a:lnSpc>
                <a:spcPts val="2395"/>
              </a:lnSpc>
              <a:spcBef>
                <a:spcPts val="250"/>
              </a:spcBef>
              <a:buClr>
                <a:srgbClr val="0AD0D9"/>
              </a:buClr>
              <a:buSzPct val="95238"/>
              <a:buFont typeface="Wingdings"/>
              <a:buChar char=""/>
              <a:tabLst>
                <a:tab pos="287020" algn="l"/>
              </a:tabLst>
            </a:pPr>
            <a:r>
              <a:rPr sz="2100" spc="-5" dirty="0">
                <a:latin typeface="Times New Roman"/>
                <a:cs typeface="Times New Roman"/>
              </a:rPr>
              <a:t>It</a:t>
            </a:r>
            <a:r>
              <a:rPr sz="2100" spc="4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refers</a:t>
            </a:r>
            <a:r>
              <a:rPr sz="2100" spc="40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4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defining</a:t>
            </a:r>
            <a:r>
              <a:rPr sz="2100" spc="4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4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new</a:t>
            </a:r>
            <a:r>
              <a:rPr sz="2100" spc="40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</a:t>
            </a:r>
            <a:r>
              <a:rPr sz="2100" spc="409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with</a:t>
            </a:r>
            <a:r>
              <a:rPr sz="2100" spc="4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little</a:t>
            </a:r>
            <a:r>
              <a:rPr sz="2100" spc="4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3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</a:t>
            </a:r>
            <a:r>
              <a:rPr sz="2100" spc="4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modification</a:t>
            </a:r>
            <a:r>
              <a:rPr sz="2100" spc="4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39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</a:t>
            </a:r>
            <a:endParaRPr sz="2100">
              <a:latin typeface="Times New Roman"/>
              <a:cs typeface="Times New Roman"/>
            </a:endParaRPr>
          </a:p>
          <a:p>
            <a:pPr marL="286385">
              <a:lnSpc>
                <a:spcPts val="2395"/>
              </a:lnSpc>
            </a:pPr>
            <a:r>
              <a:rPr sz="2100" dirty="0">
                <a:latin typeface="Times New Roman"/>
                <a:cs typeface="Times New Roman"/>
              </a:rPr>
              <a:t>existing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class.</a:t>
            </a:r>
            <a:endParaRPr sz="2100">
              <a:latin typeface="Times New Roman"/>
              <a:cs typeface="Times New Roman"/>
            </a:endParaRPr>
          </a:p>
          <a:p>
            <a:pPr marL="286385" marR="6985" indent="-274320">
              <a:lnSpc>
                <a:spcPts val="2270"/>
              </a:lnSpc>
              <a:spcBef>
                <a:spcPts val="535"/>
              </a:spcBef>
              <a:buClr>
                <a:srgbClr val="0AD0D9"/>
              </a:buClr>
              <a:buSzPct val="95238"/>
              <a:buFont typeface="Wingdings"/>
              <a:buChar char=""/>
              <a:tabLst>
                <a:tab pos="287020" algn="l"/>
              </a:tabLst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new</a:t>
            </a:r>
            <a:r>
              <a:rPr sz="2100" spc="10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</a:t>
            </a:r>
            <a:r>
              <a:rPr sz="2100" spc="10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is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called</a:t>
            </a:r>
            <a:r>
              <a:rPr sz="2100" spc="1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derived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(or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child)</a:t>
            </a:r>
            <a:r>
              <a:rPr sz="2100" spc="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10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one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from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 </a:t>
            </a:r>
            <a:r>
              <a:rPr sz="2100" spc="-50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inherits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is</a:t>
            </a:r>
            <a:r>
              <a:rPr sz="2100" dirty="0">
                <a:latin typeface="Times New Roman"/>
                <a:cs typeface="Times New Roman"/>
              </a:rPr>
              <a:t> called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base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(or parent)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class.</a:t>
            </a:r>
            <a:endParaRPr sz="2100">
              <a:latin typeface="Times New Roman"/>
              <a:cs typeface="Times New Roman"/>
            </a:endParaRPr>
          </a:p>
          <a:p>
            <a:pPr marL="287020" indent="-274320">
              <a:lnSpc>
                <a:spcPts val="2395"/>
              </a:lnSpc>
              <a:spcBef>
                <a:spcPts val="215"/>
              </a:spcBef>
              <a:buClr>
                <a:srgbClr val="0AD0D9"/>
              </a:buClr>
              <a:buSzPct val="95238"/>
              <a:buFont typeface="Wingdings"/>
              <a:buChar char=""/>
              <a:tabLst>
                <a:tab pos="287020" algn="l"/>
              </a:tabLst>
            </a:pPr>
            <a:r>
              <a:rPr sz="2100" dirty="0">
                <a:latin typeface="Times New Roman"/>
                <a:cs typeface="Times New Roman"/>
              </a:rPr>
              <a:t>Derived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inherits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features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from</a:t>
            </a:r>
            <a:r>
              <a:rPr sz="2100" spc="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base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class,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adding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new</a:t>
            </a:r>
            <a:r>
              <a:rPr sz="2100" spc="1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features</a:t>
            </a:r>
            <a:endParaRPr sz="2100">
              <a:latin typeface="Times New Roman"/>
              <a:cs typeface="Times New Roman"/>
            </a:endParaRPr>
          </a:p>
          <a:p>
            <a:pPr marL="286385">
              <a:lnSpc>
                <a:spcPts val="2395"/>
              </a:lnSpc>
            </a:pP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it.</a:t>
            </a:r>
            <a:endParaRPr sz="2100">
              <a:latin typeface="Times New Roman"/>
              <a:cs typeface="Times New Roman"/>
            </a:endParaRPr>
          </a:p>
          <a:p>
            <a:pPr marL="12700" marR="3844290">
              <a:lnSpc>
                <a:spcPct val="110000"/>
              </a:lnSpc>
              <a:spcBef>
                <a:spcPts val="5"/>
              </a:spcBef>
              <a:buClr>
                <a:srgbClr val="0AD0D9"/>
              </a:buClr>
              <a:buSzPct val="95238"/>
              <a:buFont typeface="Wingdings"/>
              <a:buChar char=""/>
              <a:tabLst>
                <a:tab pos="287020" algn="l"/>
              </a:tabLst>
            </a:pPr>
            <a:r>
              <a:rPr sz="2100" spc="-5" dirty="0">
                <a:latin typeface="Times New Roman"/>
                <a:cs typeface="Times New Roman"/>
              </a:rPr>
              <a:t>This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results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into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re-usability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code. </a:t>
            </a:r>
            <a:r>
              <a:rPr sz="2100" spc="-509" dirty="0"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C00000"/>
                </a:solidFill>
                <a:latin typeface="Times New Roman"/>
                <a:cs typeface="Times New Roman"/>
              </a:rPr>
              <a:t>Syntax:</a:t>
            </a:r>
            <a:endParaRPr sz="2100">
              <a:latin typeface="Times New Roman"/>
              <a:cs typeface="Times New Roman"/>
            </a:endParaRPr>
          </a:p>
          <a:p>
            <a:pPr marL="927100" marR="5130800" indent="-640715">
              <a:lnSpc>
                <a:spcPct val="112100"/>
              </a:lnSpc>
              <a:spcBef>
                <a:spcPts val="175"/>
              </a:spcBef>
            </a:pP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class </a:t>
            </a: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Baseclass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(Object):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body_o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_base_</a:t>
            </a:r>
            <a:r>
              <a:rPr sz="19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c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lass</a:t>
            </a:r>
            <a:endParaRPr sz="19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445"/>
              </a:spcBef>
            </a:pP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class</a:t>
            </a:r>
            <a:r>
              <a:rPr sz="19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DerivedClass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(BaseClass):</a:t>
            </a:r>
            <a:endParaRPr sz="19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80"/>
              </a:spcBef>
            </a:pP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body_of_derived_clas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4411217"/>
            <a:ext cx="784161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i="1" spc="-5" dirty="0">
                <a:latin typeface="Times New Roman"/>
                <a:cs typeface="Times New Roman"/>
              </a:rPr>
              <a:t>While</a:t>
            </a:r>
            <a:r>
              <a:rPr sz="2200" b="1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designing</a:t>
            </a:r>
            <a:r>
              <a:rPr sz="2200" b="1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a</a:t>
            </a:r>
            <a:r>
              <a:rPr sz="2200" b="1" i="1" spc="1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inheritance</a:t>
            </a:r>
            <a:r>
              <a:rPr sz="2200" b="1" i="1" spc="1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concept,</a:t>
            </a:r>
            <a:r>
              <a:rPr sz="2200" b="1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following</a:t>
            </a:r>
            <a:r>
              <a:rPr sz="2200" b="1" i="1" spc="1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key</a:t>
            </a:r>
            <a:r>
              <a:rPr sz="2200" b="1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pointes</a:t>
            </a:r>
            <a:r>
              <a:rPr sz="2200" b="1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keep</a:t>
            </a:r>
            <a:r>
              <a:rPr sz="2200" b="1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it </a:t>
            </a:r>
            <a:r>
              <a:rPr sz="2200" b="1" i="1" spc="-53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in mind</a:t>
            </a:r>
            <a:endParaRPr sz="2200">
              <a:latin typeface="Times New Roman"/>
              <a:cs typeface="Times New Roman"/>
            </a:endParaRPr>
          </a:p>
          <a:p>
            <a:pPr marL="262255" indent="-250190">
              <a:lnSpc>
                <a:spcPct val="100000"/>
              </a:lnSpc>
              <a:buClr>
                <a:srgbClr val="00AFEF"/>
              </a:buClr>
              <a:buSzPct val="95454"/>
              <a:buFont typeface="Wingdings"/>
              <a:buChar char=""/>
              <a:tabLst>
                <a:tab pos="26289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sub</a:t>
            </a:r>
            <a:r>
              <a:rPr sz="2200" dirty="0">
                <a:latin typeface="Times New Roman"/>
                <a:cs typeface="Times New Roman"/>
              </a:rPr>
              <a:t> type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never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implements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less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functionality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super</a:t>
            </a:r>
            <a:r>
              <a:rPr sz="2200" dirty="0">
                <a:latin typeface="Times New Roman"/>
                <a:cs typeface="Times New Roman"/>
              </a:rPr>
              <a:t> type</a:t>
            </a:r>
            <a:endParaRPr sz="2200">
              <a:latin typeface="Times New Roman"/>
              <a:cs typeface="Times New Roman"/>
            </a:endParaRPr>
          </a:p>
          <a:p>
            <a:pPr marL="262255" indent="-250190">
              <a:lnSpc>
                <a:spcPct val="100000"/>
              </a:lnSpc>
              <a:buClr>
                <a:srgbClr val="00AFEF"/>
              </a:buClr>
              <a:buSzPct val="95454"/>
              <a:buFont typeface="Wingdings"/>
              <a:buChar char=""/>
              <a:tabLst>
                <a:tab pos="262890" algn="l"/>
              </a:tabLst>
            </a:pPr>
            <a:r>
              <a:rPr sz="2200" spc="-5" dirty="0">
                <a:latin typeface="Times New Roman"/>
                <a:cs typeface="Times New Roman"/>
              </a:rPr>
              <a:t>Inheritance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should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never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more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levels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deep</a:t>
            </a:r>
            <a:endParaRPr sz="2200">
              <a:latin typeface="Times New Roman"/>
              <a:cs typeface="Times New Roman"/>
            </a:endParaRPr>
          </a:p>
          <a:p>
            <a:pPr marL="262255" indent="-250190">
              <a:lnSpc>
                <a:spcPct val="100000"/>
              </a:lnSpc>
              <a:buClr>
                <a:srgbClr val="00AFEF"/>
              </a:buClr>
              <a:buSzPct val="95454"/>
              <a:buFont typeface="Wingdings"/>
              <a:buChar char=""/>
              <a:tabLst>
                <a:tab pos="262890" algn="l"/>
              </a:tabLst>
            </a:pPr>
            <a:r>
              <a:rPr sz="2200" spc="-95" dirty="0">
                <a:latin typeface="Times New Roman"/>
                <a:cs typeface="Times New Roman"/>
              </a:rPr>
              <a:t>We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inheritance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when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want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avoid redundant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code.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850391"/>
            <a:ext cx="3346704" cy="34930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89405"/>
            <a:ext cx="807212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>
              <a:lnSpc>
                <a:spcPct val="100000"/>
              </a:lnSpc>
              <a:spcBef>
                <a:spcPts val="95"/>
              </a:spcBef>
            </a:pPr>
            <a:r>
              <a:rPr sz="2500" spc="-65" dirty="0">
                <a:latin typeface="Times New Roman"/>
                <a:cs typeface="Times New Roman"/>
              </a:rPr>
              <a:t>Two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built-in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functions</a:t>
            </a:r>
            <a:r>
              <a:rPr sz="2500" spc="15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isinstance()</a:t>
            </a:r>
            <a:r>
              <a:rPr sz="2500" i="1" spc="1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issubclass()</a:t>
            </a:r>
            <a:r>
              <a:rPr sz="2500" i="1" spc="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used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check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inheritances.</a:t>
            </a:r>
            <a:endParaRPr sz="2500">
              <a:latin typeface="Times New Roman"/>
              <a:cs typeface="Times New Roman"/>
            </a:endParaRPr>
          </a:p>
          <a:p>
            <a:pPr marL="286385" marR="6350" indent="-274320">
              <a:lnSpc>
                <a:spcPct val="100000"/>
              </a:lnSpc>
              <a:spcBef>
                <a:spcPts val="600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</a:tabLst>
            </a:pPr>
            <a:r>
              <a:rPr sz="2500" spc="-5" dirty="0">
                <a:latin typeface="Times New Roman"/>
                <a:cs typeface="Times New Roman"/>
              </a:rPr>
              <a:t>Function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isinstance()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returns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True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if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object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an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instance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class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or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other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classes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derived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from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it.</a:t>
            </a:r>
            <a:endParaRPr sz="2500">
              <a:latin typeface="Times New Roman"/>
              <a:cs typeface="Times New Roman"/>
            </a:endParaRPr>
          </a:p>
          <a:p>
            <a:pPr marL="286385" marR="6350" indent="-274320">
              <a:lnSpc>
                <a:spcPct val="100000"/>
              </a:lnSpc>
              <a:spcBef>
                <a:spcPts val="600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  <a:tab pos="1108075" algn="l"/>
                <a:tab pos="1753235" algn="l"/>
                <a:tab pos="2644775" algn="l"/>
                <a:tab pos="3451225" algn="l"/>
                <a:tab pos="3883660" algn="l"/>
                <a:tab pos="4970780" algn="l"/>
                <a:tab pos="6112510" algn="l"/>
                <a:tab pos="6917055" algn="l"/>
                <a:tab pos="7491730" algn="l"/>
              </a:tabLst>
            </a:pPr>
            <a:r>
              <a:rPr sz="2500" spc="-5" dirty="0">
                <a:latin typeface="Times New Roman"/>
                <a:cs typeface="Times New Roman"/>
              </a:rPr>
              <a:t>Each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5" dirty="0">
                <a:latin typeface="Times New Roman"/>
                <a:cs typeface="Times New Roman"/>
              </a:rPr>
              <a:t>ery</a:t>
            </a:r>
            <a:r>
              <a:rPr sz="2500" dirty="0">
                <a:latin typeface="Times New Roman"/>
                <a:cs typeface="Times New Roman"/>
              </a:rPr>
              <a:t>	c</a:t>
            </a:r>
            <a:r>
              <a:rPr sz="2500" spc="-5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" dirty="0">
                <a:latin typeface="Times New Roman"/>
                <a:cs typeface="Times New Roman"/>
              </a:rPr>
              <a:t>ss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Python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inh</a:t>
            </a:r>
            <a:r>
              <a:rPr sz="2500" dirty="0">
                <a:latin typeface="Times New Roman"/>
                <a:cs typeface="Times New Roman"/>
              </a:rPr>
              <a:t>er</a:t>
            </a:r>
            <a:r>
              <a:rPr sz="2500" spc="-5" dirty="0">
                <a:latin typeface="Times New Roman"/>
                <a:cs typeface="Times New Roman"/>
              </a:rPr>
              <a:t>its</a:t>
            </a:r>
            <a:r>
              <a:rPr sz="2500" dirty="0">
                <a:latin typeface="Times New Roman"/>
                <a:cs typeface="Times New Roman"/>
              </a:rPr>
              <a:t>	fr</a:t>
            </a:r>
            <a:r>
              <a:rPr sz="2500" spc="5" dirty="0">
                <a:latin typeface="Times New Roman"/>
                <a:cs typeface="Times New Roman"/>
              </a:rPr>
              <a:t>o</a:t>
            </a:r>
            <a:r>
              <a:rPr sz="2500" spc="-5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t</a:t>
            </a:r>
            <a:r>
              <a:rPr sz="2500" spc="5" dirty="0">
                <a:latin typeface="Times New Roman"/>
                <a:cs typeface="Times New Roman"/>
              </a:rPr>
              <a:t>h</a:t>
            </a:r>
            <a:r>
              <a:rPr sz="2500" spc="-5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" dirty="0">
                <a:latin typeface="Times New Roman"/>
                <a:cs typeface="Times New Roman"/>
              </a:rPr>
              <a:t>b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" dirty="0">
                <a:latin typeface="Times New Roman"/>
                <a:cs typeface="Times New Roman"/>
              </a:rPr>
              <a:t>se  class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object.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0085" y="610870"/>
            <a:ext cx="33210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Polymorphism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8467"/>
            <a:ext cx="8070850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  <a:tab pos="2348865" algn="l"/>
                <a:tab pos="2785110" algn="l"/>
                <a:tab pos="3647440" algn="l"/>
                <a:tab pos="4488815" algn="l"/>
                <a:tab pos="5457190" algn="l"/>
                <a:tab pos="6334760" algn="l"/>
                <a:tab pos="6840855" algn="l"/>
                <a:tab pos="7298055" algn="l"/>
              </a:tabLst>
            </a:pPr>
            <a:r>
              <a:rPr sz="2500" spc="-5" dirty="0">
                <a:latin typeface="Times New Roman"/>
                <a:cs typeface="Times New Roman"/>
              </a:rPr>
              <a:t>Pol</a:t>
            </a:r>
            <a:r>
              <a:rPr sz="2500" spc="10" dirty="0">
                <a:latin typeface="Times New Roman"/>
                <a:cs typeface="Times New Roman"/>
              </a:rPr>
              <a:t>y</a:t>
            </a:r>
            <a:r>
              <a:rPr sz="2500" spc="-5" dirty="0">
                <a:latin typeface="Times New Roman"/>
                <a:cs typeface="Times New Roman"/>
              </a:rPr>
              <a:t>morph</a:t>
            </a:r>
            <a:r>
              <a:rPr sz="2500" spc="5" dirty="0">
                <a:latin typeface="Times New Roman"/>
                <a:cs typeface="Times New Roman"/>
              </a:rPr>
              <a:t>is</a:t>
            </a:r>
            <a:r>
              <a:rPr sz="2500" spc="-5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dirty="0">
                <a:latin typeface="Times New Roman"/>
                <a:cs typeface="Times New Roman"/>
              </a:rPr>
              <a:t>	L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5" dirty="0">
                <a:latin typeface="Times New Roman"/>
                <a:cs typeface="Times New Roman"/>
              </a:rPr>
              <a:t>i</a:t>
            </a:r>
            <a:r>
              <a:rPr sz="2500" spc="-5" dirty="0">
                <a:latin typeface="Times New Roman"/>
                <a:cs typeface="Times New Roman"/>
              </a:rPr>
              <a:t>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5" dirty="0">
                <a:latin typeface="Times New Roman"/>
                <a:cs typeface="Times New Roman"/>
              </a:rPr>
              <a:t>rd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" dirty="0">
                <a:latin typeface="Times New Roman"/>
                <a:cs typeface="Times New Roman"/>
              </a:rPr>
              <a:t>w</a:t>
            </a:r>
            <a:r>
              <a:rPr sz="2500" spc="-5" dirty="0">
                <a:latin typeface="Times New Roman"/>
                <a:cs typeface="Times New Roman"/>
              </a:rPr>
              <a:t>hich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5" dirty="0">
                <a:latin typeface="Times New Roman"/>
                <a:cs typeface="Times New Roman"/>
              </a:rPr>
              <a:t>m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5" dirty="0">
                <a:latin typeface="Times New Roman"/>
                <a:cs typeface="Times New Roman"/>
              </a:rPr>
              <a:t>d</a:t>
            </a:r>
            <a:r>
              <a:rPr sz="2500" spc="-5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up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" dirty="0">
                <a:latin typeface="Times New Roman"/>
                <a:cs typeface="Times New Roman"/>
              </a:rPr>
              <a:t>o</a:t>
            </a:r>
            <a:r>
              <a:rPr sz="2500" spc="-5" dirty="0">
                <a:latin typeface="Times New Roman"/>
                <a:cs typeface="Times New Roman"/>
              </a:rPr>
              <a:t>f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b="1" i="1" spc="-5" dirty="0">
                <a:latin typeface="Times New Roman"/>
                <a:cs typeface="Times New Roman"/>
              </a:rPr>
              <a:t>‘p</a:t>
            </a:r>
            <a:r>
              <a:rPr sz="2500" b="1" i="1" dirty="0">
                <a:latin typeface="Times New Roman"/>
                <a:cs typeface="Times New Roman"/>
              </a:rPr>
              <a:t>l</a:t>
            </a:r>
            <a:r>
              <a:rPr sz="2500" b="1" i="1" spc="-5" dirty="0">
                <a:latin typeface="Times New Roman"/>
                <a:cs typeface="Times New Roman"/>
              </a:rPr>
              <a:t>o</a:t>
            </a:r>
            <a:r>
              <a:rPr sz="2500" b="1" i="1" dirty="0">
                <a:latin typeface="Times New Roman"/>
                <a:cs typeface="Times New Roman"/>
              </a:rPr>
              <a:t>y</a:t>
            </a:r>
            <a:r>
              <a:rPr sz="2500" b="1" i="1" spc="-5" dirty="0">
                <a:latin typeface="Times New Roman"/>
                <a:cs typeface="Times New Roman"/>
              </a:rPr>
              <a:t>’</a:t>
            </a:r>
            <a:endParaRPr sz="25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500" spc="-10" dirty="0">
                <a:latin typeface="Times New Roman"/>
                <a:cs typeface="Times New Roman"/>
              </a:rPr>
              <a:t>means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many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b="1" i="1" spc="-5" dirty="0">
                <a:latin typeface="Times New Roman"/>
                <a:cs typeface="Times New Roman"/>
              </a:rPr>
              <a:t>‘morphs’</a:t>
            </a:r>
            <a:r>
              <a:rPr sz="2500" b="1" i="1" spc="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means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forms</a:t>
            </a:r>
            <a:endParaRPr sz="2500">
              <a:latin typeface="Times New Roman"/>
              <a:cs typeface="Times New Roman"/>
            </a:endParaRPr>
          </a:p>
          <a:p>
            <a:pPr marL="286385" marR="1199515" indent="-274320">
              <a:lnSpc>
                <a:spcPct val="120000"/>
              </a:lnSpc>
              <a:buClr>
                <a:srgbClr val="0AD0D9"/>
              </a:buClr>
              <a:buSzPct val="90000"/>
              <a:buFont typeface="Wingdings"/>
              <a:buChar char=""/>
              <a:tabLst>
                <a:tab pos="287020" algn="l"/>
              </a:tabLst>
            </a:pPr>
            <a:r>
              <a:rPr sz="2500" spc="-5" dirty="0">
                <a:latin typeface="Times New Roman"/>
                <a:cs typeface="Times New Roman"/>
              </a:rPr>
              <a:t>From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Greek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,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Polymorphism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means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b="1" i="1" spc="-5" dirty="0">
                <a:latin typeface="Times New Roman"/>
                <a:cs typeface="Times New Roman"/>
              </a:rPr>
              <a:t>many(poly) </a:t>
            </a:r>
            <a:r>
              <a:rPr sz="2500" b="1" i="1" spc="-610" dirty="0">
                <a:latin typeface="Times New Roman"/>
                <a:cs typeface="Times New Roman"/>
              </a:rPr>
              <a:t> </a:t>
            </a:r>
            <a:r>
              <a:rPr sz="2500" b="1" i="1" spc="-5" dirty="0">
                <a:latin typeface="Times New Roman"/>
                <a:cs typeface="Times New Roman"/>
              </a:rPr>
              <a:t>shapes</a:t>
            </a:r>
            <a:r>
              <a:rPr sz="2500" b="1" i="1" dirty="0">
                <a:latin typeface="Times New Roman"/>
                <a:cs typeface="Times New Roman"/>
              </a:rPr>
              <a:t> </a:t>
            </a:r>
            <a:r>
              <a:rPr sz="2500" b="1" i="1" spc="-5" dirty="0">
                <a:latin typeface="Times New Roman"/>
                <a:cs typeface="Times New Roman"/>
              </a:rPr>
              <a:t>(morph)</a:t>
            </a:r>
            <a:endParaRPr sz="25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360680" algn="l"/>
              </a:tabLst>
            </a:pPr>
            <a:r>
              <a:rPr sz="2500" spc="-5" dirty="0">
                <a:latin typeface="Times New Roman"/>
                <a:cs typeface="Times New Roman"/>
              </a:rPr>
              <a:t>This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something</a:t>
            </a:r>
            <a:r>
              <a:rPr sz="25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similar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word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having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several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different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meanings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depending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 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context</a:t>
            </a:r>
            <a:endParaRPr sz="25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0AD0D9"/>
              </a:buClr>
              <a:buSzPct val="90000"/>
              <a:buFont typeface="Wingdings"/>
              <a:buChar char=""/>
              <a:tabLst>
                <a:tab pos="366395" algn="l"/>
              </a:tabLst>
            </a:pPr>
            <a:r>
              <a:rPr sz="2500" dirty="0">
                <a:latin typeface="Times New Roman"/>
                <a:cs typeface="Times New Roman"/>
              </a:rPr>
              <a:t>Generally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speaking,</a:t>
            </a:r>
            <a:r>
              <a:rPr sz="2500" spc="1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polymorphism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means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method</a:t>
            </a:r>
            <a:r>
              <a:rPr sz="2500" spc="2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or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function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able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cope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with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different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types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input.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6710" y="845565"/>
            <a:ext cx="5908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0325" marR="5080" indent="-131826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A</a:t>
            </a:r>
            <a:r>
              <a:rPr sz="2400" spc="-130" dirty="0"/>
              <a:t> </a:t>
            </a:r>
            <a:r>
              <a:rPr sz="2400" spc="-5" dirty="0"/>
              <a:t>si</a:t>
            </a:r>
            <a:r>
              <a:rPr sz="2400" spc="-15" dirty="0"/>
              <a:t>m</a:t>
            </a:r>
            <a:r>
              <a:rPr sz="2400" dirty="0"/>
              <a:t>ple </a:t>
            </a:r>
            <a:r>
              <a:rPr sz="2400" spc="-10" dirty="0"/>
              <a:t>w</a:t>
            </a:r>
            <a:r>
              <a:rPr sz="2400" dirty="0"/>
              <a:t>ord</a:t>
            </a:r>
            <a:r>
              <a:rPr sz="2400" spc="10" dirty="0"/>
              <a:t> </a:t>
            </a:r>
            <a:r>
              <a:rPr sz="2400" dirty="0"/>
              <a:t>‘Cut’</a:t>
            </a:r>
            <a:r>
              <a:rPr sz="2400" spc="-185" dirty="0"/>
              <a:t> </a:t>
            </a:r>
            <a:r>
              <a:rPr sz="2400" dirty="0"/>
              <a:t>can</a:t>
            </a:r>
            <a:r>
              <a:rPr sz="2400" spc="-10" dirty="0"/>
              <a:t> </a:t>
            </a:r>
            <a:r>
              <a:rPr sz="2400" dirty="0"/>
              <a:t>have</a:t>
            </a:r>
            <a:r>
              <a:rPr sz="2400" spc="-10" dirty="0"/>
              <a:t> </a:t>
            </a:r>
            <a:r>
              <a:rPr sz="2400" dirty="0"/>
              <a:t>di</a:t>
            </a:r>
            <a:r>
              <a:rPr sz="2400" spc="-55" dirty="0"/>
              <a:t>f</a:t>
            </a:r>
            <a:r>
              <a:rPr sz="2400" dirty="0"/>
              <a:t>ferent</a:t>
            </a:r>
            <a:r>
              <a:rPr sz="2400" spc="-10" dirty="0"/>
              <a:t> </a:t>
            </a:r>
            <a:r>
              <a:rPr sz="2400" spc="-20" dirty="0"/>
              <a:t>m</a:t>
            </a:r>
            <a:r>
              <a:rPr sz="2400" dirty="0"/>
              <a:t>ean</a:t>
            </a:r>
            <a:r>
              <a:rPr sz="2400" spc="5" dirty="0"/>
              <a:t>i</a:t>
            </a:r>
            <a:r>
              <a:rPr sz="2400" dirty="0"/>
              <a:t>ng  depending</a:t>
            </a:r>
            <a:r>
              <a:rPr sz="2400" spc="-25" dirty="0"/>
              <a:t> </a:t>
            </a:r>
            <a:r>
              <a:rPr sz="2400" dirty="0"/>
              <a:t>where it</a:t>
            </a:r>
            <a:r>
              <a:rPr sz="2400" spc="-10" dirty="0"/>
              <a:t> </a:t>
            </a:r>
            <a:r>
              <a:rPr sz="2400" spc="-5" dirty="0"/>
              <a:t>is</a:t>
            </a:r>
            <a:r>
              <a:rPr sz="2400" dirty="0"/>
              <a:t> used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902144" y="3645344"/>
            <a:ext cx="1016635" cy="1016635"/>
            <a:chOff x="902144" y="3645344"/>
            <a:chExt cx="1016635" cy="1016635"/>
          </a:xfrm>
        </p:grpSpPr>
        <p:sp>
          <p:nvSpPr>
            <p:cNvPr id="4" name="object 4"/>
            <p:cNvSpPr/>
            <p:nvPr/>
          </p:nvSpPr>
          <p:spPr>
            <a:xfrm>
              <a:off x="915162" y="3658362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495300" y="0"/>
                  </a:moveTo>
                  <a:lnTo>
                    <a:pt x="447599" y="2267"/>
                  </a:lnTo>
                  <a:lnTo>
                    <a:pt x="401181" y="8930"/>
                  </a:lnTo>
                  <a:lnTo>
                    <a:pt x="356254" y="19782"/>
                  </a:lnTo>
                  <a:lnTo>
                    <a:pt x="313025" y="34615"/>
                  </a:lnTo>
                  <a:lnTo>
                    <a:pt x="271701" y="53222"/>
                  </a:lnTo>
                  <a:lnTo>
                    <a:pt x="232490" y="75394"/>
                  </a:lnTo>
                  <a:lnTo>
                    <a:pt x="195600" y="100925"/>
                  </a:lnTo>
                  <a:lnTo>
                    <a:pt x="161238" y="129607"/>
                  </a:lnTo>
                  <a:lnTo>
                    <a:pt x="129612" y="161233"/>
                  </a:lnTo>
                  <a:lnTo>
                    <a:pt x="100929" y="195594"/>
                  </a:lnTo>
                  <a:lnTo>
                    <a:pt x="75397" y="232484"/>
                  </a:lnTo>
                  <a:lnTo>
                    <a:pt x="53224" y="271695"/>
                  </a:lnTo>
                  <a:lnTo>
                    <a:pt x="34617" y="313019"/>
                  </a:lnTo>
                  <a:lnTo>
                    <a:pt x="19783" y="356249"/>
                  </a:lnTo>
                  <a:lnTo>
                    <a:pt x="8931" y="401178"/>
                  </a:lnTo>
                  <a:lnTo>
                    <a:pt x="2267" y="447597"/>
                  </a:lnTo>
                  <a:lnTo>
                    <a:pt x="0" y="495300"/>
                  </a:lnTo>
                  <a:lnTo>
                    <a:pt x="2267" y="543002"/>
                  </a:lnTo>
                  <a:lnTo>
                    <a:pt x="8931" y="589421"/>
                  </a:lnTo>
                  <a:lnTo>
                    <a:pt x="19783" y="634350"/>
                  </a:lnTo>
                  <a:lnTo>
                    <a:pt x="34617" y="677580"/>
                  </a:lnTo>
                  <a:lnTo>
                    <a:pt x="53224" y="718904"/>
                  </a:lnTo>
                  <a:lnTo>
                    <a:pt x="75397" y="758115"/>
                  </a:lnTo>
                  <a:lnTo>
                    <a:pt x="100929" y="795005"/>
                  </a:lnTo>
                  <a:lnTo>
                    <a:pt x="129612" y="829366"/>
                  </a:lnTo>
                  <a:lnTo>
                    <a:pt x="161238" y="860992"/>
                  </a:lnTo>
                  <a:lnTo>
                    <a:pt x="195600" y="889674"/>
                  </a:lnTo>
                  <a:lnTo>
                    <a:pt x="232490" y="915205"/>
                  </a:lnTo>
                  <a:lnTo>
                    <a:pt x="271701" y="937377"/>
                  </a:lnTo>
                  <a:lnTo>
                    <a:pt x="313025" y="955984"/>
                  </a:lnTo>
                  <a:lnTo>
                    <a:pt x="356254" y="970817"/>
                  </a:lnTo>
                  <a:lnTo>
                    <a:pt x="401181" y="981669"/>
                  </a:lnTo>
                  <a:lnTo>
                    <a:pt x="447599" y="988332"/>
                  </a:lnTo>
                  <a:lnTo>
                    <a:pt x="495300" y="990600"/>
                  </a:lnTo>
                  <a:lnTo>
                    <a:pt x="543002" y="988332"/>
                  </a:lnTo>
                  <a:lnTo>
                    <a:pt x="589421" y="981669"/>
                  </a:lnTo>
                  <a:lnTo>
                    <a:pt x="634350" y="970817"/>
                  </a:lnTo>
                  <a:lnTo>
                    <a:pt x="677580" y="955984"/>
                  </a:lnTo>
                  <a:lnTo>
                    <a:pt x="718904" y="937377"/>
                  </a:lnTo>
                  <a:lnTo>
                    <a:pt x="758115" y="915205"/>
                  </a:lnTo>
                  <a:lnTo>
                    <a:pt x="795005" y="889674"/>
                  </a:lnTo>
                  <a:lnTo>
                    <a:pt x="829366" y="860992"/>
                  </a:lnTo>
                  <a:lnTo>
                    <a:pt x="860992" y="829366"/>
                  </a:lnTo>
                  <a:lnTo>
                    <a:pt x="889674" y="795005"/>
                  </a:lnTo>
                  <a:lnTo>
                    <a:pt x="915205" y="758115"/>
                  </a:lnTo>
                  <a:lnTo>
                    <a:pt x="937377" y="718904"/>
                  </a:lnTo>
                  <a:lnTo>
                    <a:pt x="955984" y="677580"/>
                  </a:lnTo>
                  <a:lnTo>
                    <a:pt x="970817" y="634350"/>
                  </a:lnTo>
                  <a:lnTo>
                    <a:pt x="981669" y="589421"/>
                  </a:lnTo>
                  <a:lnTo>
                    <a:pt x="988332" y="543002"/>
                  </a:lnTo>
                  <a:lnTo>
                    <a:pt x="990600" y="495300"/>
                  </a:lnTo>
                  <a:lnTo>
                    <a:pt x="988332" y="447597"/>
                  </a:lnTo>
                  <a:lnTo>
                    <a:pt x="981669" y="401178"/>
                  </a:lnTo>
                  <a:lnTo>
                    <a:pt x="970817" y="356249"/>
                  </a:lnTo>
                  <a:lnTo>
                    <a:pt x="955984" y="313019"/>
                  </a:lnTo>
                  <a:lnTo>
                    <a:pt x="937377" y="271695"/>
                  </a:lnTo>
                  <a:lnTo>
                    <a:pt x="915205" y="232484"/>
                  </a:lnTo>
                  <a:lnTo>
                    <a:pt x="889674" y="195594"/>
                  </a:lnTo>
                  <a:lnTo>
                    <a:pt x="860992" y="161233"/>
                  </a:lnTo>
                  <a:lnTo>
                    <a:pt x="829366" y="129607"/>
                  </a:lnTo>
                  <a:lnTo>
                    <a:pt x="795005" y="100925"/>
                  </a:lnTo>
                  <a:lnTo>
                    <a:pt x="758115" y="75394"/>
                  </a:lnTo>
                  <a:lnTo>
                    <a:pt x="718904" y="53222"/>
                  </a:lnTo>
                  <a:lnTo>
                    <a:pt x="677580" y="34615"/>
                  </a:lnTo>
                  <a:lnTo>
                    <a:pt x="634350" y="19782"/>
                  </a:lnTo>
                  <a:lnTo>
                    <a:pt x="589421" y="8930"/>
                  </a:lnTo>
                  <a:lnTo>
                    <a:pt x="543002" y="2267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2" y="3658362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495300"/>
                  </a:moveTo>
                  <a:lnTo>
                    <a:pt x="2267" y="447597"/>
                  </a:lnTo>
                  <a:lnTo>
                    <a:pt x="8931" y="401178"/>
                  </a:lnTo>
                  <a:lnTo>
                    <a:pt x="19783" y="356249"/>
                  </a:lnTo>
                  <a:lnTo>
                    <a:pt x="34617" y="313019"/>
                  </a:lnTo>
                  <a:lnTo>
                    <a:pt x="53224" y="271695"/>
                  </a:lnTo>
                  <a:lnTo>
                    <a:pt x="75397" y="232484"/>
                  </a:lnTo>
                  <a:lnTo>
                    <a:pt x="100929" y="195594"/>
                  </a:lnTo>
                  <a:lnTo>
                    <a:pt x="129612" y="161233"/>
                  </a:lnTo>
                  <a:lnTo>
                    <a:pt x="161238" y="129607"/>
                  </a:lnTo>
                  <a:lnTo>
                    <a:pt x="195600" y="100925"/>
                  </a:lnTo>
                  <a:lnTo>
                    <a:pt x="232490" y="75394"/>
                  </a:lnTo>
                  <a:lnTo>
                    <a:pt x="271701" y="53222"/>
                  </a:lnTo>
                  <a:lnTo>
                    <a:pt x="313025" y="34615"/>
                  </a:lnTo>
                  <a:lnTo>
                    <a:pt x="356254" y="19782"/>
                  </a:lnTo>
                  <a:lnTo>
                    <a:pt x="401181" y="8930"/>
                  </a:lnTo>
                  <a:lnTo>
                    <a:pt x="447599" y="2267"/>
                  </a:lnTo>
                  <a:lnTo>
                    <a:pt x="495300" y="0"/>
                  </a:lnTo>
                  <a:lnTo>
                    <a:pt x="543002" y="2267"/>
                  </a:lnTo>
                  <a:lnTo>
                    <a:pt x="589421" y="8930"/>
                  </a:lnTo>
                  <a:lnTo>
                    <a:pt x="634350" y="19782"/>
                  </a:lnTo>
                  <a:lnTo>
                    <a:pt x="677580" y="34615"/>
                  </a:lnTo>
                  <a:lnTo>
                    <a:pt x="718904" y="53222"/>
                  </a:lnTo>
                  <a:lnTo>
                    <a:pt x="758115" y="75394"/>
                  </a:lnTo>
                  <a:lnTo>
                    <a:pt x="795005" y="100925"/>
                  </a:lnTo>
                  <a:lnTo>
                    <a:pt x="829366" y="129607"/>
                  </a:lnTo>
                  <a:lnTo>
                    <a:pt x="860992" y="161233"/>
                  </a:lnTo>
                  <a:lnTo>
                    <a:pt x="889674" y="195594"/>
                  </a:lnTo>
                  <a:lnTo>
                    <a:pt x="915205" y="232484"/>
                  </a:lnTo>
                  <a:lnTo>
                    <a:pt x="937377" y="271695"/>
                  </a:lnTo>
                  <a:lnTo>
                    <a:pt x="955984" y="313019"/>
                  </a:lnTo>
                  <a:lnTo>
                    <a:pt x="970817" y="356249"/>
                  </a:lnTo>
                  <a:lnTo>
                    <a:pt x="981669" y="401178"/>
                  </a:lnTo>
                  <a:lnTo>
                    <a:pt x="988332" y="447597"/>
                  </a:lnTo>
                  <a:lnTo>
                    <a:pt x="990600" y="495300"/>
                  </a:lnTo>
                  <a:lnTo>
                    <a:pt x="988332" y="543002"/>
                  </a:lnTo>
                  <a:lnTo>
                    <a:pt x="981669" y="589421"/>
                  </a:lnTo>
                  <a:lnTo>
                    <a:pt x="970817" y="634350"/>
                  </a:lnTo>
                  <a:lnTo>
                    <a:pt x="955984" y="677580"/>
                  </a:lnTo>
                  <a:lnTo>
                    <a:pt x="937377" y="718904"/>
                  </a:lnTo>
                  <a:lnTo>
                    <a:pt x="915205" y="758115"/>
                  </a:lnTo>
                  <a:lnTo>
                    <a:pt x="889674" y="795005"/>
                  </a:lnTo>
                  <a:lnTo>
                    <a:pt x="860992" y="829366"/>
                  </a:lnTo>
                  <a:lnTo>
                    <a:pt x="829366" y="860992"/>
                  </a:lnTo>
                  <a:lnTo>
                    <a:pt x="795005" y="889674"/>
                  </a:lnTo>
                  <a:lnTo>
                    <a:pt x="758115" y="915205"/>
                  </a:lnTo>
                  <a:lnTo>
                    <a:pt x="718904" y="937377"/>
                  </a:lnTo>
                  <a:lnTo>
                    <a:pt x="677580" y="955984"/>
                  </a:lnTo>
                  <a:lnTo>
                    <a:pt x="634350" y="970817"/>
                  </a:lnTo>
                  <a:lnTo>
                    <a:pt x="589421" y="981669"/>
                  </a:lnTo>
                  <a:lnTo>
                    <a:pt x="543002" y="988332"/>
                  </a:lnTo>
                  <a:lnTo>
                    <a:pt x="495300" y="990600"/>
                  </a:lnTo>
                  <a:lnTo>
                    <a:pt x="447599" y="988332"/>
                  </a:lnTo>
                  <a:lnTo>
                    <a:pt x="401181" y="981669"/>
                  </a:lnTo>
                  <a:lnTo>
                    <a:pt x="356254" y="970817"/>
                  </a:lnTo>
                  <a:lnTo>
                    <a:pt x="313025" y="955984"/>
                  </a:lnTo>
                  <a:lnTo>
                    <a:pt x="271701" y="937377"/>
                  </a:lnTo>
                  <a:lnTo>
                    <a:pt x="232490" y="915205"/>
                  </a:lnTo>
                  <a:lnTo>
                    <a:pt x="195600" y="889674"/>
                  </a:lnTo>
                  <a:lnTo>
                    <a:pt x="161238" y="860992"/>
                  </a:lnTo>
                  <a:lnTo>
                    <a:pt x="129612" y="829366"/>
                  </a:lnTo>
                  <a:lnTo>
                    <a:pt x="100929" y="795005"/>
                  </a:lnTo>
                  <a:lnTo>
                    <a:pt x="75397" y="758115"/>
                  </a:lnTo>
                  <a:lnTo>
                    <a:pt x="53224" y="718904"/>
                  </a:lnTo>
                  <a:lnTo>
                    <a:pt x="34617" y="677580"/>
                  </a:lnTo>
                  <a:lnTo>
                    <a:pt x="19783" y="634350"/>
                  </a:lnTo>
                  <a:lnTo>
                    <a:pt x="8931" y="589421"/>
                  </a:lnTo>
                  <a:lnTo>
                    <a:pt x="2267" y="543002"/>
                  </a:lnTo>
                  <a:lnTo>
                    <a:pt x="0" y="495300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81506" y="3992626"/>
            <a:ext cx="38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onstantia"/>
                <a:cs typeface="Constantia"/>
              </a:rPr>
              <a:t>C</a:t>
            </a:r>
            <a:r>
              <a:rPr sz="1800" spc="-5" dirty="0">
                <a:latin typeface="Constantia"/>
                <a:cs typeface="Constantia"/>
              </a:rPr>
              <a:t>ut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57426" y="2505455"/>
            <a:ext cx="3585845" cy="3752215"/>
            <a:chOff x="1757426" y="2505455"/>
            <a:chExt cx="3585845" cy="37522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2514599"/>
              <a:ext cx="1143000" cy="1143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86427" y="2510027"/>
              <a:ext cx="1152525" cy="1152525"/>
            </a:xfrm>
            <a:custGeom>
              <a:avLst/>
              <a:gdLst/>
              <a:ahLst/>
              <a:cxnLst/>
              <a:rect l="l" t="t" r="r" b="b"/>
              <a:pathLst>
                <a:path w="1152525" h="1152525">
                  <a:moveTo>
                    <a:pt x="0" y="1152144"/>
                  </a:moveTo>
                  <a:lnTo>
                    <a:pt x="1152144" y="1152144"/>
                  </a:lnTo>
                  <a:lnTo>
                    <a:pt x="1152144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3810000"/>
              <a:ext cx="1143000" cy="11430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86427" y="3805427"/>
              <a:ext cx="1152525" cy="1152525"/>
            </a:xfrm>
            <a:custGeom>
              <a:avLst/>
              <a:gdLst/>
              <a:ahLst/>
              <a:cxnLst/>
              <a:rect l="l" t="t" r="r" b="b"/>
              <a:pathLst>
                <a:path w="1152525" h="1152525">
                  <a:moveTo>
                    <a:pt x="0" y="1152144"/>
                  </a:moveTo>
                  <a:lnTo>
                    <a:pt x="1152144" y="1152144"/>
                  </a:lnTo>
                  <a:lnTo>
                    <a:pt x="1152144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58442" y="3061588"/>
              <a:ext cx="2433320" cy="747395"/>
            </a:xfrm>
            <a:custGeom>
              <a:avLst/>
              <a:gdLst/>
              <a:ahLst/>
              <a:cxnLst/>
              <a:rect l="l" t="t" r="r" b="b"/>
              <a:pathLst>
                <a:path w="2433320" h="747395">
                  <a:moveTo>
                    <a:pt x="2396446" y="28646"/>
                  </a:moveTo>
                  <a:lnTo>
                    <a:pt x="0" y="734949"/>
                  </a:lnTo>
                  <a:lnTo>
                    <a:pt x="3556" y="747141"/>
                  </a:lnTo>
                  <a:lnTo>
                    <a:pt x="2400039" y="40827"/>
                  </a:lnTo>
                  <a:lnTo>
                    <a:pt x="2408683" y="31678"/>
                  </a:lnTo>
                  <a:lnTo>
                    <a:pt x="2396446" y="28646"/>
                  </a:lnTo>
                  <a:close/>
                </a:path>
                <a:path w="2433320" h="747395">
                  <a:moveTo>
                    <a:pt x="2422529" y="21971"/>
                  </a:moveTo>
                  <a:lnTo>
                    <a:pt x="2419096" y="21971"/>
                  </a:lnTo>
                  <a:lnTo>
                    <a:pt x="2422652" y="34162"/>
                  </a:lnTo>
                  <a:lnTo>
                    <a:pt x="2400039" y="40827"/>
                  </a:lnTo>
                  <a:lnTo>
                    <a:pt x="2353183" y="90424"/>
                  </a:lnTo>
                  <a:lnTo>
                    <a:pt x="2353310" y="94487"/>
                  </a:lnTo>
                  <a:lnTo>
                    <a:pt x="2355849" y="96900"/>
                  </a:lnTo>
                  <a:lnTo>
                    <a:pt x="2358517" y="99313"/>
                  </a:lnTo>
                  <a:lnTo>
                    <a:pt x="2362454" y="99187"/>
                  </a:lnTo>
                  <a:lnTo>
                    <a:pt x="2432811" y="24511"/>
                  </a:lnTo>
                  <a:lnTo>
                    <a:pt x="2422529" y="21971"/>
                  </a:lnTo>
                  <a:close/>
                </a:path>
                <a:path w="2433320" h="747395">
                  <a:moveTo>
                    <a:pt x="2408683" y="31678"/>
                  </a:moveTo>
                  <a:lnTo>
                    <a:pt x="2400039" y="40827"/>
                  </a:lnTo>
                  <a:lnTo>
                    <a:pt x="2422221" y="34289"/>
                  </a:lnTo>
                  <a:lnTo>
                    <a:pt x="2419222" y="34289"/>
                  </a:lnTo>
                  <a:lnTo>
                    <a:pt x="2408683" y="31678"/>
                  </a:lnTo>
                  <a:close/>
                </a:path>
                <a:path w="2433320" h="747395">
                  <a:moveTo>
                    <a:pt x="2416174" y="23749"/>
                  </a:moveTo>
                  <a:lnTo>
                    <a:pt x="2408683" y="31678"/>
                  </a:lnTo>
                  <a:lnTo>
                    <a:pt x="2419222" y="34289"/>
                  </a:lnTo>
                  <a:lnTo>
                    <a:pt x="2416174" y="23749"/>
                  </a:lnTo>
                  <a:close/>
                </a:path>
                <a:path w="2433320" h="747395">
                  <a:moveTo>
                    <a:pt x="2419614" y="23749"/>
                  </a:moveTo>
                  <a:lnTo>
                    <a:pt x="2416174" y="23749"/>
                  </a:lnTo>
                  <a:lnTo>
                    <a:pt x="2419222" y="34289"/>
                  </a:lnTo>
                  <a:lnTo>
                    <a:pt x="2422221" y="34289"/>
                  </a:lnTo>
                  <a:lnTo>
                    <a:pt x="2422652" y="34162"/>
                  </a:lnTo>
                  <a:lnTo>
                    <a:pt x="2419614" y="23749"/>
                  </a:lnTo>
                  <a:close/>
                </a:path>
                <a:path w="2433320" h="747395">
                  <a:moveTo>
                    <a:pt x="2419096" y="21971"/>
                  </a:moveTo>
                  <a:lnTo>
                    <a:pt x="2396446" y="28646"/>
                  </a:lnTo>
                  <a:lnTo>
                    <a:pt x="2408683" y="31678"/>
                  </a:lnTo>
                  <a:lnTo>
                    <a:pt x="2416174" y="23749"/>
                  </a:lnTo>
                  <a:lnTo>
                    <a:pt x="2419614" y="23749"/>
                  </a:lnTo>
                  <a:lnTo>
                    <a:pt x="2419096" y="21971"/>
                  </a:lnTo>
                  <a:close/>
                </a:path>
                <a:path w="2433320" h="747395">
                  <a:moveTo>
                    <a:pt x="2333244" y="0"/>
                  </a:moveTo>
                  <a:lnTo>
                    <a:pt x="2329815" y="2032"/>
                  </a:lnTo>
                  <a:lnTo>
                    <a:pt x="2328925" y="5461"/>
                  </a:lnTo>
                  <a:lnTo>
                    <a:pt x="2328163" y="8889"/>
                  </a:lnTo>
                  <a:lnTo>
                    <a:pt x="2330196" y="12319"/>
                  </a:lnTo>
                  <a:lnTo>
                    <a:pt x="2333624" y="13081"/>
                  </a:lnTo>
                  <a:lnTo>
                    <a:pt x="2396446" y="28646"/>
                  </a:lnTo>
                  <a:lnTo>
                    <a:pt x="2419096" y="21971"/>
                  </a:lnTo>
                  <a:lnTo>
                    <a:pt x="2422529" y="21971"/>
                  </a:lnTo>
                  <a:lnTo>
                    <a:pt x="2336672" y="762"/>
                  </a:lnTo>
                  <a:lnTo>
                    <a:pt x="2333244" y="0"/>
                  </a:lnTo>
                  <a:close/>
                </a:path>
              </a:pathLst>
            </a:custGeom>
            <a:solidFill>
              <a:srgbClr val="055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5105400"/>
              <a:ext cx="1143000" cy="11430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86427" y="5100827"/>
              <a:ext cx="1152525" cy="1152525"/>
            </a:xfrm>
            <a:custGeom>
              <a:avLst/>
              <a:gdLst/>
              <a:ahLst/>
              <a:cxnLst/>
              <a:rect l="l" t="t" r="r" b="b"/>
              <a:pathLst>
                <a:path w="1152525" h="1152525">
                  <a:moveTo>
                    <a:pt x="0" y="1152144"/>
                  </a:moveTo>
                  <a:lnTo>
                    <a:pt x="1152144" y="1152144"/>
                  </a:lnTo>
                  <a:lnTo>
                    <a:pt x="1152144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7426" y="4146549"/>
              <a:ext cx="2433955" cy="1539240"/>
            </a:xfrm>
            <a:custGeom>
              <a:avLst/>
              <a:gdLst/>
              <a:ahLst/>
              <a:cxnLst/>
              <a:rect l="l" t="t" r="r" b="b"/>
              <a:pathLst>
                <a:path w="2433954" h="1539239">
                  <a:moveTo>
                    <a:pt x="2433574" y="234950"/>
                  </a:moveTo>
                  <a:lnTo>
                    <a:pt x="2353437" y="176784"/>
                  </a:lnTo>
                  <a:lnTo>
                    <a:pt x="2350516" y="174625"/>
                  </a:lnTo>
                  <a:lnTo>
                    <a:pt x="2346579" y="175260"/>
                  </a:lnTo>
                  <a:lnTo>
                    <a:pt x="2344547" y="178181"/>
                  </a:lnTo>
                  <a:lnTo>
                    <a:pt x="2342515" y="180975"/>
                  </a:lnTo>
                  <a:lnTo>
                    <a:pt x="2343150" y="184912"/>
                  </a:lnTo>
                  <a:lnTo>
                    <a:pt x="2345944" y="187071"/>
                  </a:lnTo>
                  <a:lnTo>
                    <a:pt x="2398141" y="224980"/>
                  </a:lnTo>
                  <a:lnTo>
                    <a:pt x="148209" y="0"/>
                  </a:lnTo>
                  <a:lnTo>
                    <a:pt x="146939" y="12700"/>
                  </a:lnTo>
                  <a:lnTo>
                    <a:pt x="2397112" y="237693"/>
                  </a:lnTo>
                  <a:lnTo>
                    <a:pt x="2338197" y="264541"/>
                  </a:lnTo>
                  <a:lnTo>
                    <a:pt x="2335022" y="266065"/>
                  </a:lnTo>
                  <a:lnTo>
                    <a:pt x="2333625" y="269748"/>
                  </a:lnTo>
                  <a:lnTo>
                    <a:pt x="2335022" y="272923"/>
                  </a:lnTo>
                  <a:lnTo>
                    <a:pt x="2336546" y="276225"/>
                  </a:lnTo>
                  <a:lnTo>
                    <a:pt x="2340229" y="277622"/>
                  </a:lnTo>
                  <a:lnTo>
                    <a:pt x="2343404" y="276098"/>
                  </a:lnTo>
                  <a:lnTo>
                    <a:pt x="2422436" y="240030"/>
                  </a:lnTo>
                  <a:lnTo>
                    <a:pt x="2433574" y="234950"/>
                  </a:lnTo>
                  <a:close/>
                </a:path>
                <a:path w="2433954" h="1539239">
                  <a:moveTo>
                    <a:pt x="2433828" y="1530654"/>
                  </a:moveTo>
                  <a:lnTo>
                    <a:pt x="2378456" y="1448460"/>
                  </a:lnTo>
                  <a:lnTo>
                    <a:pt x="2376551" y="1445552"/>
                  </a:lnTo>
                  <a:lnTo>
                    <a:pt x="2372614" y="1444790"/>
                  </a:lnTo>
                  <a:lnTo>
                    <a:pt x="2366772" y="1448701"/>
                  </a:lnTo>
                  <a:lnTo>
                    <a:pt x="2366010" y="1452651"/>
                  </a:lnTo>
                  <a:lnTo>
                    <a:pt x="2368042" y="1455559"/>
                  </a:lnTo>
                  <a:lnTo>
                    <a:pt x="2404199" y="1509268"/>
                  </a:lnTo>
                  <a:lnTo>
                    <a:pt x="5588" y="351155"/>
                  </a:lnTo>
                  <a:lnTo>
                    <a:pt x="0" y="362585"/>
                  </a:lnTo>
                  <a:lnTo>
                    <a:pt x="2398585" y="1520685"/>
                  </a:lnTo>
                  <a:lnTo>
                    <a:pt x="2330577" y="1526006"/>
                  </a:lnTo>
                  <a:lnTo>
                    <a:pt x="2328037" y="1529067"/>
                  </a:lnTo>
                  <a:lnTo>
                    <a:pt x="2328545" y="1536065"/>
                  </a:lnTo>
                  <a:lnTo>
                    <a:pt x="2331593" y="1538668"/>
                  </a:lnTo>
                  <a:lnTo>
                    <a:pt x="2430907" y="1530883"/>
                  </a:lnTo>
                  <a:lnTo>
                    <a:pt x="2433828" y="1530654"/>
                  </a:lnTo>
                  <a:close/>
                </a:path>
              </a:pathLst>
            </a:custGeom>
            <a:solidFill>
              <a:srgbClr val="055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5445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C00000"/>
                </a:solidFill>
              </a:rPr>
              <a:t>Surgeon</a:t>
            </a:r>
            <a:r>
              <a:rPr spc="-5" dirty="0">
                <a:solidFill>
                  <a:srgbClr val="000000"/>
                </a:solidFill>
              </a:rPr>
              <a:t>: </a:t>
            </a:r>
            <a:r>
              <a:rPr dirty="0"/>
              <a:t>The </a:t>
            </a:r>
            <a:r>
              <a:rPr spc="-10" dirty="0"/>
              <a:t>Surgeon </a:t>
            </a:r>
            <a:r>
              <a:rPr spc="-5" dirty="0"/>
              <a:t> </a:t>
            </a:r>
            <a:r>
              <a:rPr dirty="0"/>
              <a:t>would</a:t>
            </a:r>
            <a:r>
              <a:rPr spc="-35" dirty="0"/>
              <a:t> </a:t>
            </a:r>
            <a:r>
              <a:rPr dirty="0"/>
              <a:t>begin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5" dirty="0"/>
              <a:t>make</a:t>
            </a:r>
            <a:r>
              <a:rPr spc="-10" dirty="0"/>
              <a:t> </a:t>
            </a:r>
            <a:r>
              <a:rPr dirty="0"/>
              <a:t>an </a:t>
            </a:r>
            <a:r>
              <a:rPr spc="-434" dirty="0"/>
              <a:t> </a:t>
            </a:r>
            <a:r>
              <a:rPr dirty="0"/>
              <a:t>incision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/>
          </a:p>
          <a:p>
            <a:pPr marL="88900" marR="156845">
              <a:lnSpc>
                <a:spcPct val="100000"/>
              </a:lnSpc>
            </a:pPr>
            <a:r>
              <a:rPr spc="-5" dirty="0">
                <a:solidFill>
                  <a:srgbClr val="C00000"/>
                </a:solidFill>
              </a:rPr>
              <a:t>Hair </a:t>
            </a:r>
            <a:r>
              <a:rPr dirty="0">
                <a:solidFill>
                  <a:srgbClr val="C00000"/>
                </a:solidFill>
              </a:rPr>
              <a:t>Stylist</a:t>
            </a:r>
            <a:r>
              <a:rPr dirty="0"/>
              <a:t>: The Hair </a:t>
            </a:r>
            <a:r>
              <a:rPr spc="5" dirty="0"/>
              <a:t> </a:t>
            </a:r>
            <a:r>
              <a:rPr dirty="0"/>
              <a:t>Stylist</a:t>
            </a:r>
            <a:r>
              <a:rPr spc="-55" dirty="0"/>
              <a:t> </a:t>
            </a:r>
            <a:r>
              <a:rPr dirty="0"/>
              <a:t>would</a:t>
            </a:r>
            <a:r>
              <a:rPr spc="-25" dirty="0"/>
              <a:t> </a:t>
            </a:r>
            <a:r>
              <a:rPr dirty="0"/>
              <a:t>begin</a:t>
            </a:r>
            <a:r>
              <a:rPr spc="-3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cut </a:t>
            </a:r>
            <a:r>
              <a:rPr spc="-434" dirty="0"/>
              <a:t> </a:t>
            </a:r>
            <a:r>
              <a:rPr spc="-15" dirty="0"/>
              <a:t>someone’s</a:t>
            </a:r>
            <a:r>
              <a:rPr spc="-10" dirty="0"/>
              <a:t> </a:t>
            </a:r>
            <a:r>
              <a:rPr dirty="0"/>
              <a:t>hair</a:t>
            </a:r>
          </a:p>
          <a:p>
            <a:pPr>
              <a:lnSpc>
                <a:spcPct val="100000"/>
              </a:lnSpc>
            </a:pPr>
            <a:endParaRPr sz="2000"/>
          </a:p>
          <a:p>
            <a:pPr marL="88900" marR="5080">
              <a:lnSpc>
                <a:spcPct val="100000"/>
              </a:lnSpc>
              <a:spcBef>
                <a:spcPts val="1420"/>
              </a:spcBef>
            </a:pPr>
            <a:r>
              <a:rPr dirty="0">
                <a:solidFill>
                  <a:srgbClr val="C00000"/>
                </a:solidFill>
              </a:rPr>
              <a:t>Actor</a:t>
            </a:r>
            <a:r>
              <a:rPr dirty="0"/>
              <a:t>: The actor </a:t>
            </a:r>
            <a:r>
              <a:rPr spc="-5" dirty="0"/>
              <a:t>would </a:t>
            </a:r>
            <a:r>
              <a:rPr dirty="0"/>
              <a:t> abruptly</a:t>
            </a:r>
            <a:r>
              <a:rPr spc="-45" dirty="0"/>
              <a:t> </a:t>
            </a:r>
            <a:r>
              <a:rPr dirty="0"/>
              <a:t>stop</a:t>
            </a:r>
            <a:r>
              <a:rPr spc="-20" dirty="0"/>
              <a:t> </a:t>
            </a:r>
            <a:r>
              <a:rPr dirty="0"/>
              <a:t>acting</a:t>
            </a:r>
            <a:r>
              <a:rPr spc="-35" dirty="0"/>
              <a:t> </a:t>
            </a:r>
            <a:r>
              <a:rPr dirty="0"/>
              <a:t>out</a:t>
            </a:r>
            <a:r>
              <a:rPr spc="-20" dirty="0"/>
              <a:t> </a:t>
            </a:r>
            <a:r>
              <a:rPr dirty="0"/>
              <a:t>the </a:t>
            </a:r>
            <a:r>
              <a:rPr spc="-434" dirty="0"/>
              <a:t> </a:t>
            </a:r>
            <a:r>
              <a:rPr dirty="0"/>
              <a:t>current scene, awaiting </a:t>
            </a:r>
            <a:r>
              <a:rPr spc="5" dirty="0"/>
              <a:t> </a:t>
            </a:r>
            <a:r>
              <a:rPr dirty="0"/>
              <a:t>directional</a:t>
            </a:r>
            <a:r>
              <a:rPr spc="-40" dirty="0"/>
              <a:t> </a:t>
            </a:r>
            <a:r>
              <a:rPr dirty="0"/>
              <a:t>guidance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688340" y="1851101"/>
            <a:ext cx="46374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5280" algn="l"/>
              </a:tabLst>
            </a:pPr>
            <a:r>
              <a:rPr sz="2300" i="1" dirty="0">
                <a:latin typeface="Times New Roman"/>
                <a:cs typeface="Times New Roman"/>
              </a:rPr>
              <a:t>If	any</a:t>
            </a:r>
            <a:r>
              <a:rPr sz="2300" i="1" spc="-1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body</a:t>
            </a:r>
            <a:r>
              <a:rPr sz="2300" i="1" spc="-1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says</a:t>
            </a:r>
            <a:r>
              <a:rPr sz="2300" i="1" spc="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“Cut”</a:t>
            </a:r>
            <a:r>
              <a:rPr sz="2300" i="1" spc="-2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to</a:t>
            </a:r>
            <a:r>
              <a:rPr sz="2300" i="1" spc="-1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these</a:t>
            </a:r>
            <a:r>
              <a:rPr sz="2300" i="1" dirty="0">
                <a:latin typeface="Times New Roman"/>
                <a:cs typeface="Times New Roman"/>
              </a:rPr>
              <a:t> people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590" cy="1028923"/>
            <a:chOff x="-828" y="0"/>
            <a:chExt cx="9145590" cy="102892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3"/>
              <a:ext cx="9143999" cy="1028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1357" y="0"/>
              <a:ext cx="4742641" cy="5999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088207" cy="10205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828" y="52323"/>
              <a:ext cx="9145590" cy="90182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937006"/>
            <a:ext cx="8072755" cy="430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algn="just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OOP </a:t>
            </a:r>
            <a:r>
              <a:rPr sz="2300" dirty="0">
                <a:latin typeface="Times New Roman"/>
                <a:cs typeface="Times New Roman"/>
              </a:rPr>
              <a:t>,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Polymorphism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dirty="0">
                <a:latin typeface="Times New Roman"/>
                <a:cs typeface="Times New Roman"/>
              </a:rPr>
              <a:t> 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characteristic</a:t>
            </a:r>
            <a:r>
              <a:rPr sz="2300" dirty="0">
                <a:latin typeface="Times New Roman"/>
                <a:cs typeface="Times New Roman"/>
              </a:rPr>
              <a:t> of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being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able</a:t>
            </a:r>
            <a:r>
              <a:rPr sz="2300" spc="56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 assign a </a:t>
            </a:r>
            <a:r>
              <a:rPr sz="2300" spc="-5" dirty="0">
                <a:latin typeface="Times New Roman"/>
                <a:cs typeface="Times New Roman"/>
              </a:rPr>
              <a:t>different meaning to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spc="-5" dirty="0">
                <a:latin typeface="Times New Roman"/>
                <a:cs typeface="Times New Roman"/>
              </a:rPr>
              <a:t>particular symbol </a:t>
            </a:r>
            <a:r>
              <a:rPr sz="2300" dirty="0">
                <a:latin typeface="Times New Roman"/>
                <a:cs typeface="Times New Roman"/>
              </a:rPr>
              <a:t>or operator </a:t>
            </a:r>
            <a:r>
              <a:rPr sz="2300" spc="-20" dirty="0">
                <a:latin typeface="Times New Roman"/>
                <a:cs typeface="Times New Roman"/>
              </a:rPr>
              <a:t>in 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different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contexts</a:t>
            </a:r>
            <a:r>
              <a:rPr sz="2300" dirty="0">
                <a:latin typeface="Times New Roman"/>
                <a:cs typeface="Times New Roman"/>
              </a:rPr>
              <a:t> specifically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dirty="0">
                <a:latin typeface="Times New Roman"/>
                <a:cs typeface="Times New Roman"/>
              </a:rPr>
              <a:t> allow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an</a:t>
            </a:r>
            <a:r>
              <a:rPr sz="2300" dirty="0">
                <a:latin typeface="Times New Roman"/>
                <a:cs typeface="Times New Roman"/>
              </a:rPr>
              <a:t> entity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such</a:t>
            </a:r>
            <a:r>
              <a:rPr sz="2300" spc="57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as</a:t>
            </a:r>
            <a:r>
              <a:rPr sz="2300" spc="5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variable,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function </a:t>
            </a:r>
            <a:r>
              <a:rPr sz="2300" dirty="0">
                <a:latin typeface="Times New Roman"/>
                <a:cs typeface="Times New Roman"/>
              </a:rPr>
              <a:t>or </a:t>
            </a:r>
            <a:r>
              <a:rPr sz="2300" spc="-5" dirty="0">
                <a:latin typeface="Times New Roman"/>
                <a:cs typeface="Times New Roman"/>
              </a:rPr>
              <a:t>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object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more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than</a:t>
            </a:r>
            <a:r>
              <a:rPr sz="2300" dirty="0">
                <a:latin typeface="Times New Roman"/>
                <a:cs typeface="Times New Roman"/>
              </a:rPr>
              <a:t> one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form.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two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kinds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Polymorphism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Overloading</a:t>
            </a:r>
            <a:r>
              <a:rPr sz="23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12700" marR="2286000" indent="274320">
              <a:lnSpc>
                <a:spcPct val="120000"/>
              </a:lnSpc>
            </a:pPr>
            <a:r>
              <a:rPr sz="2300" spc="-55" dirty="0">
                <a:latin typeface="Times New Roman"/>
                <a:cs typeface="Times New Roman"/>
              </a:rPr>
              <a:t>Two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more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methods</a:t>
            </a:r>
            <a:r>
              <a:rPr sz="2300" dirty="0">
                <a:latin typeface="Times New Roman"/>
                <a:cs typeface="Times New Roman"/>
              </a:rPr>
              <a:t> with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different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signatures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C00000"/>
                </a:solidFill>
                <a:latin typeface="Times New Roman"/>
                <a:cs typeface="Times New Roman"/>
              </a:rPr>
              <a:t>Overriding: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55"/>
              </a:spcBef>
              <a:tabLst>
                <a:tab pos="1628139" algn="l"/>
                <a:tab pos="2060575" algn="l"/>
                <a:tab pos="3254375" algn="l"/>
                <a:tab pos="4284980" algn="l"/>
                <a:tab pos="4961890" algn="l"/>
                <a:tab pos="5993130" algn="l"/>
                <a:tab pos="6944995" algn="l"/>
                <a:tab pos="7456805" algn="l"/>
              </a:tabLst>
            </a:pPr>
            <a:r>
              <a:rPr sz="2300" spc="-5" dirty="0">
                <a:latin typeface="Times New Roman"/>
                <a:cs typeface="Times New Roman"/>
              </a:rPr>
              <a:t>Replacing	</a:t>
            </a:r>
            <a:r>
              <a:rPr sz="2300" dirty="0">
                <a:latin typeface="Times New Roman"/>
                <a:cs typeface="Times New Roman"/>
              </a:rPr>
              <a:t>an	</a:t>
            </a:r>
            <a:r>
              <a:rPr sz="2300" spc="-5" dirty="0">
                <a:latin typeface="Times New Roman"/>
                <a:cs typeface="Times New Roman"/>
              </a:rPr>
              <a:t>inherited	method	</a:t>
            </a:r>
            <a:r>
              <a:rPr sz="2300" dirty="0">
                <a:latin typeface="Times New Roman"/>
                <a:cs typeface="Times New Roman"/>
              </a:rPr>
              <a:t>with	another	having	the	</a:t>
            </a:r>
            <a:r>
              <a:rPr sz="2300" spc="-5" dirty="0">
                <a:latin typeface="Times New Roman"/>
                <a:cs typeface="Times New Roman"/>
              </a:rPr>
              <a:t>same</a:t>
            </a:r>
            <a:endParaRPr sz="23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signature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94521" y="6555667"/>
            <a:ext cx="230504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045C75"/>
                </a:solidFill>
                <a:latin typeface="Constantia"/>
                <a:cs typeface="Constantia"/>
              </a:rPr>
              <a:t>28</a:t>
            </a:fld>
            <a:endParaRPr sz="1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84235"/>
            <a:ext cx="8073390" cy="390461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68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Python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built-in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classes.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But </a:t>
            </a:r>
            <a:r>
              <a:rPr sz="2400" spc="-5" dirty="0">
                <a:latin typeface="Times New Roman"/>
                <a:cs typeface="Times New Roman"/>
              </a:rPr>
              <a:t>same operator behaves </a:t>
            </a:r>
            <a:r>
              <a:rPr sz="2400" spc="-10" dirty="0">
                <a:latin typeface="Times New Roman"/>
                <a:cs typeface="Times New Roman"/>
              </a:rPr>
              <a:t>differently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spc="-5" dirty="0">
                <a:latin typeface="Times New Roman"/>
                <a:cs typeface="Times New Roman"/>
              </a:rPr>
              <a:t>types. </a:t>
            </a:r>
            <a:r>
              <a:rPr sz="2400" spc="-1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 example,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operator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will,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arithmetic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addition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 numbers, </a:t>
            </a:r>
            <a:r>
              <a:rPr sz="2400" spc="-15" dirty="0">
                <a:latin typeface="Times New Roman"/>
                <a:cs typeface="Times New Roman"/>
              </a:rPr>
              <a:t>merge </a:t>
            </a:r>
            <a:r>
              <a:rPr sz="2400" spc="-5" dirty="0">
                <a:latin typeface="Times New Roman"/>
                <a:cs typeface="Times New Roman"/>
              </a:rPr>
              <a:t>two lists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concatenate </a:t>
            </a:r>
            <a:r>
              <a:rPr sz="2400" spc="-10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strings. This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feature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Python, that allows same operator </a:t>
            </a:r>
            <a:r>
              <a:rPr sz="2400" dirty="0">
                <a:latin typeface="Times New Roman"/>
                <a:cs typeface="Times New Roman"/>
              </a:rPr>
              <a:t>to have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spc="-5" dirty="0">
                <a:latin typeface="Times New Roman"/>
                <a:cs typeface="Times New Roman"/>
              </a:rPr>
              <a:t> meaning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according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overloading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 </a:t>
            </a:r>
            <a:r>
              <a:rPr sz="2400" dirty="0">
                <a:latin typeface="Times New Roman"/>
                <a:cs typeface="Times New Roman"/>
              </a:rPr>
              <a:t>final </a:t>
            </a:r>
            <a:r>
              <a:rPr sz="2400" spc="-5" dirty="0">
                <a:latin typeface="Times New Roman"/>
                <a:cs typeface="Times New Roman"/>
              </a:rPr>
              <a:t>thing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mention </a:t>
            </a:r>
            <a:r>
              <a:rPr sz="2400" dirty="0">
                <a:latin typeface="Times New Roman"/>
                <a:cs typeface="Times New Roman"/>
              </a:rPr>
              <a:t>about </a:t>
            </a:r>
            <a:r>
              <a:rPr sz="2400" spc="-5" dirty="0">
                <a:latin typeface="Times New Roman"/>
                <a:cs typeface="Times New Roman"/>
              </a:rPr>
              <a:t>operator overloading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 you can </a:t>
            </a:r>
            <a:r>
              <a:rPr sz="2400" spc="-5" dirty="0">
                <a:latin typeface="Times New Roman"/>
                <a:cs typeface="Times New Roman"/>
              </a:rPr>
              <a:t>make </a:t>
            </a:r>
            <a:r>
              <a:rPr sz="2400" dirty="0">
                <a:latin typeface="Times New Roman"/>
                <a:cs typeface="Times New Roman"/>
              </a:rPr>
              <a:t>your </a:t>
            </a:r>
            <a:r>
              <a:rPr sz="2400" spc="-5" dirty="0">
                <a:latin typeface="Times New Roman"/>
                <a:cs typeface="Times New Roman"/>
              </a:rPr>
              <a:t>custom methods </a:t>
            </a:r>
            <a:r>
              <a:rPr sz="2400" dirty="0">
                <a:latin typeface="Times New Roman"/>
                <a:cs typeface="Times New Roman"/>
              </a:rPr>
              <a:t>do </a:t>
            </a:r>
            <a:r>
              <a:rPr sz="2400" spc="-5" dirty="0">
                <a:latin typeface="Times New Roman"/>
                <a:cs typeface="Times New Roman"/>
              </a:rPr>
              <a:t>whatever </a:t>
            </a:r>
            <a:r>
              <a:rPr sz="2400" dirty="0">
                <a:latin typeface="Times New Roman"/>
                <a:cs typeface="Times New Roman"/>
              </a:rPr>
              <a:t>you </a:t>
            </a:r>
            <a:r>
              <a:rPr sz="2400" spc="-5" dirty="0">
                <a:latin typeface="Times New Roman"/>
                <a:cs typeface="Times New Roman"/>
              </a:rPr>
              <a:t>want.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However, </a:t>
            </a:r>
            <a:r>
              <a:rPr sz="2400" spc="-10" dirty="0">
                <a:latin typeface="Times New Roman"/>
                <a:cs typeface="Times New Roman"/>
              </a:rPr>
              <a:t>common </a:t>
            </a:r>
            <a:r>
              <a:rPr sz="2400" spc="-5" dirty="0">
                <a:latin typeface="Times New Roman"/>
                <a:cs typeface="Times New Roman"/>
              </a:rPr>
              <a:t>practice </a:t>
            </a:r>
            <a:r>
              <a:rPr sz="2400" dirty="0">
                <a:latin typeface="Times New Roman"/>
                <a:cs typeface="Times New Roman"/>
              </a:rPr>
              <a:t>is to </a:t>
            </a:r>
            <a:r>
              <a:rPr sz="2400" spc="-5" dirty="0">
                <a:latin typeface="Times New Roman"/>
                <a:cs typeface="Times New Roman"/>
              </a:rPr>
              <a:t>follow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structure of the </a:t>
            </a:r>
            <a:r>
              <a:rPr sz="2400" dirty="0">
                <a:latin typeface="Times New Roman"/>
                <a:cs typeface="Times New Roman"/>
              </a:rPr>
              <a:t> built-in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94521" y="6555667"/>
            <a:ext cx="230504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045C75"/>
                </a:solidFill>
                <a:latin typeface="Constantia"/>
                <a:cs typeface="Constantia"/>
              </a:rPr>
              <a:t>29</a:t>
            </a:fld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8250" y="813561"/>
            <a:ext cx="4049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Operator</a:t>
            </a:r>
            <a:r>
              <a:rPr sz="3600" spc="-15" dirty="0"/>
              <a:t> </a:t>
            </a:r>
            <a:r>
              <a:rPr sz="3600" spc="-5" dirty="0"/>
              <a:t>Overloading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594" y="932434"/>
            <a:ext cx="67983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Explanation</a:t>
            </a:r>
            <a:r>
              <a:rPr sz="2400" spc="-45" dirty="0"/>
              <a:t> </a:t>
            </a:r>
            <a:r>
              <a:rPr sz="2400" dirty="0"/>
              <a:t>for</a:t>
            </a:r>
            <a:r>
              <a:rPr sz="2400" spc="-10" dirty="0"/>
              <a:t> </a:t>
            </a:r>
            <a:r>
              <a:rPr sz="2400" spc="-5" dirty="0"/>
              <a:t>Operator</a:t>
            </a:r>
            <a:r>
              <a:rPr sz="2400" spc="-25" dirty="0"/>
              <a:t> </a:t>
            </a:r>
            <a:r>
              <a:rPr sz="2400" dirty="0"/>
              <a:t>Overloading</a:t>
            </a:r>
            <a:r>
              <a:rPr sz="2400" spc="-30" dirty="0"/>
              <a:t> </a:t>
            </a:r>
            <a:r>
              <a:rPr sz="2400" spc="-5" dirty="0"/>
              <a:t>Sample</a:t>
            </a:r>
            <a:r>
              <a:rPr sz="2400" spc="-10" dirty="0"/>
              <a:t> </a:t>
            </a:r>
            <a:r>
              <a:rPr sz="2400" dirty="0"/>
              <a:t>Program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8494521" y="6555667"/>
            <a:ext cx="230504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045C75"/>
                </a:solidFill>
                <a:latin typeface="Constantia"/>
                <a:cs typeface="Constantia"/>
              </a:rPr>
              <a:t>30</a:t>
            </a:fld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259" y="1449070"/>
            <a:ext cx="7800340" cy="14376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899"/>
              </a:lnSpc>
              <a:spcBef>
                <a:spcPts val="80"/>
              </a:spcBef>
            </a:pPr>
            <a:r>
              <a:rPr sz="2300" dirty="0">
                <a:latin typeface="Times New Roman"/>
                <a:cs typeface="Times New Roman"/>
              </a:rPr>
              <a:t>What </a:t>
            </a:r>
            <a:r>
              <a:rPr sz="2300" spc="-5" dirty="0">
                <a:latin typeface="Times New Roman"/>
                <a:cs typeface="Times New Roman"/>
              </a:rPr>
              <a:t>actually </a:t>
            </a:r>
            <a:r>
              <a:rPr sz="2300" dirty="0">
                <a:latin typeface="Times New Roman"/>
                <a:cs typeface="Times New Roman"/>
              </a:rPr>
              <a:t>happens </a:t>
            </a:r>
            <a:r>
              <a:rPr sz="2300" spc="-5" dirty="0">
                <a:latin typeface="Times New Roman"/>
                <a:cs typeface="Times New Roman"/>
              </a:rPr>
              <a:t>is that, </a:t>
            </a:r>
            <a:r>
              <a:rPr sz="2300" dirty="0">
                <a:latin typeface="Times New Roman"/>
                <a:cs typeface="Times New Roman"/>
              </a:rPr>
              <a:t>when </a:t>
            </a:r>
            <a:r>
              <a:rPr sz="2300" spc="-5" dirty="0">
                <a:latin typeface="Times New Roman"/>
                <a:cs typeface="Times New Roman"/>
              </a:rPr>
              <a:t>you </a:t>
            </a:r>
            <a:r>
              <a:rPr sz="2300" dirty="0">
                <a:latin typeface="Times New Roman"/>
                <a:cs typeface="Times New Roman"/>
              </a:rPr>
              <a:t>do </a:t>
            </a:r>
            <a:r>
              <a:rPr sz="2300" spc="-10" dirty="0">
                <a:latin typeface="Times New Roman"/>
                <a:cs typeface="Times New Roman"/>
              </a:rPr>
              <a:t>p1 </a:t>
            </a:r>
            <a:r>
              <a:rPr sz="2300" dirty="0">
                <a:latin typeface="Times New Roman"/>
                <a:cs typeface="Times New Roman"/>
              </a:rPr>
              <a:t>- p2, </a:t>
            </a:r>
            <a:r>
              <a:rPr sz="2300" spc="-5" dirty="0">
                <a:latin typeface="Times New Roman"/>
                <a:cs typeface="Times New Roman"/>
              </a:rPr>
              <a:t>Python </a:t>
            </a:r>
            <a:r>
              <a:rPr sz="2300" dirty="0">
                <a:latin typeface="Times New Roman"/>
                <a:cs typeface="Times New Roman"/>
              </a:rPr>
              <a:t>will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call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p1.</a:t>
            </a:r>
            <a:r>
              <a:rPr sz="2300" u="sng" spc="5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sub</a:t>
            </a:r>
            <a:r>
              <a:rPr sz="2300" u="sng" spc="5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(p2)</a:t>
            </a:r>
            <a:r>
              <a:rPr sz="2300" spc="57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which</a:t>
            </a:r>
            <a:r>
              <a:rPr sz="2300" spc="5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5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turn</a:t>
            </a:r>
            <a:r>
              <a:rPr sz="2300" spc="58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57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Point.</a:t>
            </a:r>
            <a:r>
              <a:rPr sz="2300" u="sng" spc="5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sub</a:t>
            </a:r>
            <a:r>
              <a:rPr sz="2300" u="sng" spc="5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(p1,p2).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Similarly, </a:t>
            </a:r>
            <a:r>
              <a:rPr sz="2300" spc="-5" dirty="0">
                <a:latin typeface="Times New Roman"/>
                <a:cs typeface="Times New Roman"/>
              </a:rPr>
              <a:t>we can </a:t>
            </a:r>
            <a:r>
              <a:rPr sz="2300" dirty="0">
                <a:latin typeface="Times New Roman"/>
                <a:cs typeface="Times New Roman"/>
              </a:rPr>
              <a:t>overload </a:t>
            </a:r>
            <a:r>
              <a:rPr sz="2300" spc="-5" dirty="0">
                <a:latin typeface="Times New Roman"/>
                <a:cs typeface="Times New Roman"/>
              </a:rPr>
              <a:t>other </a:t>
            </a:r>
            <a:r>
              <a:rPr sz="2300" dirty="0">
                <a:latin typeface="Times New Roman"/>
                <a:cs typeface="Times New Roman"/>
              </a:rPr>
              <a:t>operators </a:t>
            </a:r>
            <a:r>
              <a:rPr sz="2300" spc="-5" dirty="0">
                <a:latin typeface="Times New Roman"/>
                <a:cs typeface="Times New Roman"/>
              </a:rPr>
              <a:t>as well. </a:t>
            </a:r>
            <a:r>
              <a:rPr sz="2300" dirty="0">
                <a:latin typeface="Times New Roman"/>
                <a:cs typeface="Times New Roman"/>
              </a:rPr>
              <a:t>The special 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function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</a:t>
            </a:r>
            <a:r>
              <a:rPr sz="2300" spc="-5" dirty="0">
                <a:latin typeface="Times New Roman"/>
                <a:cs typeface="Times New Roman"/>
              </a:rPr>
              <a:t> 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implement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tabulated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below.</a:t>
            </a:r>
            <a:endParaRPr sz="2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3250" y="3270250"/>
          <a:ext cx="8001632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1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onstantia"/>
                          <a:cs typeface="Constantia"/>
                        </a:rPr>
                        <a:t>Operator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28575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onstantia"/>
                          <a:cs typeface="Constantia"/>
                        </a:rPr>
                        <a:t>Expression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28575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onstantia"/>
                          <a:cs typeface="Constantia"/>
                        </a:rPr>
                        <a:t>Internally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28575">
                      <a:solidFill>
                        <a:srgbClr val="0AD0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3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Addition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28575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</a:t>
                      </a:r>
                      <a:r>
                        <a:rPr sz="1800" spc="-3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+</a:t>
                      </a:r>
                      <a:r>
                        <a:rPr sz="1800" spc="-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28575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489584" algn="l"/>
                          <a:tab pos="1086485" algn="l"/>
                        </a:tabLst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p1.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add</a:t>
                      </a:r>
                      <a:r>
                        <a:rPr sz="1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(p2)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28575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Subtraction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</a:t>
                      </a:r>
                      <a:r>
                        <a:rPr sz="1800" spc="-3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–</a:t>
                      </a:r>
                      <a:r>
                        <a:rPr sz="18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488950" algn="l"/>
                          <a:tab pos="1067435" algn="l"/>
                        </a:tabLst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p1.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sub</a:t>
                      </a:r>
                      <a:r>
                        <a:rPr sz="1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(p2)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Multiplication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</a:t>
                      </a:r>
                      <a:r>
                        <a:rPr sz="1800" spc="3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*</a:t>
                      </a:r>
                      <a:r>
                        <a:rPr sz="18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487680" algn="l"/>
                          <a:tab pos="1108075" algn="l"/>
                        </a:tabLst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p1.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mul</a:t>
                      </a:r>
                      <a:r>
                        <a:rPr sz="1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(p2)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0" dirty="0">
                          <a:latin typeface="Constantia"/>
                          <a:cs typeface="Constantia"/>
                        </a:rPr>
                        <a:t>Power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p1</a:t>
                      </a:r>
                      <a:r>
                        <a:rPr sz="1800" spc="4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**</a:t>
                      </a:r>
                      <a:r>
                        <a:rPr sz="18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488315" algn="l"/>
                          <a:tab pos="1130935" algn="l"/>
                        </a:tabLst>
                      </a:pPr>
                      <a:r>
                        <a:rPr sz="1800" spc="-5" dirty="0">
                          <a:latin typeface="Constantia"/>
                          <a:cs typeface="Constantia"/>
                        </a:rPr>
                        <a:t>p1.</a:t>
                      </a:r>
                      <a:r>
                        <a:rPr sz="1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15" dirty="0">
                          <a:latin typeface="Constantia"/>
                          <a:cs typeface="Constantia"/>
                        </a:rPr>
                        <a:t>pow</a:t>
                      </a:r>
                      <a:r>
                        <a:rPr sz="1800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(p2)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Division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</a:t>
                      </a:r>
                      <a:r>
                        <a:rPr sz="1800" spc="-3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/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p2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489584" algn="l"/>
                          <a:tab pos="1428750" algn="l"/>
                        </a:tabLst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p1.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spc="-5" dirty="0">
                          <a:latin typeface="Constantia"/>
                          <a:cs typeface="Constantia"/>
                        </a:rPr>
                        <a:t>truediv</a:t>
                      </a:r>
                      <a:r>
                        <a:rPr sz="1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onstantia"/>
                          <a:cs typeface="Constantia"/>
                        </a:rPr>
                        <a:t>	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(p2)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AD0D9"/>
                      </a:solidFill>
                      <a:prstDash val="solid"/>
                    </a:lnL>
                    <a:lnR w="12700">
                      <a:solidFill>
                        <a:srgbClr val="0AD0D9"/>
                      </a:solidFill>
                      <a:prstDash val="solid"/>
                    </a:lnR>
                    <a:lnT w="12700">
                      <a:solidFill>
                        <a:srgbClr val="0AD0D9"/>
                      </a:solidFill>
                      <a:prstDash val="solid"/>
                    </a:lnT>
                    <a:lnB w="12700">
                      <a:solidFill>
                        <a:srgbClr val="0AD0D9"/>
                      </a:solidFill>
                      <a:prstDash val="solid"/>
                    </a:lnB>
                    <a:solidFill>
                      <a:srgbClr val="C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67F520A7-9E33-E320-4611-98611FBE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24000"/>
            <a:ext cx="7010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2115</Words>
  <Application>Microsoft Office PowerPoint</Application>
  <PresentationFormat>On-screen Show (4:3)</PresentationFormat>
  <Paragraphs>259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Constantia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Contents</vt:lpstr>
      <vt:lpstr>Difference between Procedure Oriented and  Object Oriented Programming</vt:lpstr>
      <vt:lpstr>Featuers of OOP</vt:lpstr>
      <vt:lpstr>Fundamental concepts of OOP in Python</vt:lpstr>
      <vt:lpstr>What is an Object..?</vt:lpstr>
      <vt:lpstr>Object Attributes and Methods Example</vt:lpstr>
      <vt:lpstr>What is a Class..?</vt:lpstr>
      <vt:lpstr>Methods in Classes</vt:lpstr>
      <vt:lpstr>A Simple Class def: Student</vt:lpstr>
      <vt:lpstr>Instantiating Objects with ‘  init  ’</vt:lpstr>
      <vt:lpstr>Self</vt:lpstr>
      <vt:lpstr>PowerPoint Presentation</vt:lpstr>
      <vt:lpstr>Deleting instances: No Need to “free”</vt:lpstr>
      <vt:lpstr>Syntax for accessing attributes and methods</vt:lpstr>
      <vt:lpstr>Encapsulation</vt:lpstr>
      <vt:lpstr>PowerPoint Presentation</vt:lpstr>
      <vt:lpstr>Public, Protected and Private Data</vt:lpstr>
      <vt:lpstr>PowerPoint Presentation</vt:lpstr>
      <vt:lpstr>The following interactive sessions shows the behavior of public,  protected and private members:</vt:lpstr>
      <vt:lpstr>The following table shows the different behavior Public,  Protected and Private Data</vt:lpstr>
      <vt:lpstr>Inheritance</vt:lpstr>
      <vt:lpstr>PowerPoint Presentation</vt:lpstr>
      <vt:lpstr>PowerPoint Presentation</vt:lpstr>
      <vt:lpstr>Polymorphism</vt:lpstr>
      <vt:lpstr>A simple word ‘Cut’ can have different meaning  depending where it is used</vt:lpstr>
      <vt:lpstr>PowerPoint Presentation</vt:lpstr>
      <vt:lpstr>Operator Overloading</vt:lpstr>
      <vt:lpstr>Explanation for Operator Overloading Sample Program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kamal korlakunta</cp:lastModifiedBy>
  <cp:revision>2</cp:revision>
  <dcterms:created xsi:type="dcterms:W3CDTF">2023-10-02T16:59:43Z</dcterms:created>
  <dcterms:modified xsi:type="dcterms:W3CDTF">2023-10-02T17:10:58Z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2014-07-26T00:00:00Z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2023-10-02T00:00:00Z</vt:filetime>
  </property>
</Properties>
</file>