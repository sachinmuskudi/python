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ppt/media/image10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1" r:id="rId27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19936" y="1943635"/>
            <a:ext cx="2677160" cy="3831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6640" y="356438"/>
            <a:ext cx="2431415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1799" y="2771181"/>
            <a:ext cx="9773920" cy="14357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35981C-1C90-F672-70CD-6F9F8BF8D39E}"/>
              </a:ext>
            </a:extLst>
          </p:cNvPr>
          <p:cNvSpPr/>
          <p:nvPr userDrawn="1"/>
        </p:nvSpPr>
        <p:spPr>
          <a:xfrm>
            <a:off x="8991600" y="6377940"/>
            <a:ext cx="3200400" cy="480060"/>
          </a:xfrm>
          <a:prstGeom prst="rect">
            <a:avLst/>
          </a:prstGeom>
          <a:blipFill dpi="0" rotWithShape="1">
            <a:blip r:embed="rId7" cstate="print">
              <a:alphaModFix amt="9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AF2692EB-8298-27BC-996F-B4AE843EB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06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345" y="2091054"/>
            <a:ext cx="8387080" cy="1854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6000" b="1" spc="135" dirty="0">
                <a:latin typeface="Georgia"/>
                <a:cs typeface="Georgia"/>
              </a:rPr>
              <a:t>INTRODUCTION</a:t>
            </a:r>
            <a:r>
              <a:rPr sz="6000" b="1" spc="525" dirty="0">
                <a:latin typeface="Georgia"/>
                <a:cs typeface="Georgia"/>
              </a:rPr>
              <a:t> </a:t>
            </a:r>
            <a:r>
              <a:rPr sz="6000" b="1" spc="245" dirty="0">
                <a:latin typeface="Georgia"/>
                <a:cs typeface="Georgia"/>
              </a:rPr>
              <a:t>TO</a:t>
            </a:r>
            <a:endParaRPr sz="6000">
              <a:latin typeface="Georgia"/>
              <a:cs typeface="Georgia"/>
            </a:endParaRPr>
          </a:p>
          <a:p>
            <a:pPr marL="635635" algn="ctr">
              <a:lnSpc>
                <a:spcPct val="100000"/>
              </a:lnSpc>
            </a:pPr>
            <a:r>
              <a:rPr sz="6000" b="1" spc="160" dirty="0">
                <a:latin typeface="Georgia"/>
                <a:cs typeface="Georgia"/>
              </a:rPr>
              <a:t>NUMPY</a:t>
            </a:r>
            <a:endParaRPr sz="6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310388"/>
            <a:ext cx="4309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Palatino Linotype"/>
                <a:cs typeface="Palatino Linotype"/>
              </a:rPr>
              <a:t>What</a:t>
            </a:r>
            <a:r>
              <a:rPr sz="4400" b="1" spc="-60" dirty="0">
                <a:latin typeface="Palatino Linotype"/>
                <a:cs typeface="Palatino Linotype"/>
              </a:rPr>
              <a:t> </a:t>
            </a:r>
            <a:r>
              <a:rPr sz="4400" b="1" spc="-5" dirty="0">
                <a:latin typeface="Palatino Linotype"/>
                <a:cs typeface="Palatino Linotype"/>
              </a:rPr>
              <a:t>is</a:t>
            </a:r>
            <a:r>
              <a:rPr sz="4400" b="1" spc="-30" dirty="0">
                <a:latin typeface="Palatino Linotype"/>
                <a:cs typeface="Palatino Linotype"/>
              </a:rPr>
              <a:t> </a:t>
            </a:r>
            <a:r>
              <a:rPr sz="4400" b="1" dirty="0">
                <a:latin typeface="Palatino Linotype"/>
                <a:cs typeface="Palatino Linotype"/>
              </a:rPr>
              <a:t>NumPy?</a:t>
            </a:r>
            <a:endParaRPr sz="4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1342" y="1689303"/>
            <a:ext cx="11104880" cy="265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NumPy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library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Cambria"/>
                <a:cs typeface="Cambria"/>
              </a:rPr>
              <a:t>core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library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scientific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computing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Cambria"/>
                <a:cs typeface="Cambria"/>
              </a:rPr>
              <a:t>Python.</a:t>
            </a:r>
            <a:endParaRPr sz="2400">
              <a:latin typeface="Cambria"/>
              <a:cs typeface="Cambria"/>
            </a:endParaRPr>
          </a:p>
          <a:p>
            <a:pPr marL="189865" marR="727710">
              <a:lnSpc>
                <a:spcPct val="100000"/>
              </a:lnSpc>
              <a:spcBef>
                <a:spcPts val="2065"/>
              </a:spcBef>
              <a:tabLst>
                <a:tab pos="4526280" algn="l"/>
              </a:tabLst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provides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high</a:t>
            </a:r>
            <a:r>
              <a:rPr sz="24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performance	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multidimensional</a:t>
            </a:r>
            <a:r>
              <a:rPr sz="2400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array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object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and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Cambria"/>
                <a:cs typeface="Cambria"/>
              </a:rPr>
              <a:t>tools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for </a:t>
            </a:r>
            <a:r>
              <a:rPr sz="2400" spc="-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Cambria"/>
                <a:cs typeface="Cambria"/>
              </a:rPr>
              <a:t>working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mbria"/>
                <a:cs typeface="Cambria"/>
              </a:rPr>
              <a:t>these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arrays.</a:t>
            </a:r>
            <a:endParaRPr sz="2400">
              <a:latin typeface="Cambria"/>
              <a:cs typeface="Cambria"/>
            </a:endParaRPr>
          </a:p>
          <a:p>
            <a:pPr marL="112395" marR="5080">
              <a:lnSpc>
                <a:spcPts val="2590"/>
              </a:lnSpc>
              <a:spcBef>
                <a:spcPts val="2235"/>
              </a:spcBef>
            </a:pP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key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NumPy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Cambria"/>
                <a:cs typeface="Cambria"/>
              </a:rPr>
              <a:t>ndarray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object,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an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i="1" spc="4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-dimensional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array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homogeneous </a:t>
            </a:r>
            <a:r>
              <a:rPr sz="2400" spc="-5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types,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Cambria"/>
                <a:cs typeface="Cambria"/>
              </a:rPr>
              <a:t>with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many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operations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being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performed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24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compiled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Cambria"/>
                <a:cs typeface="Cambria"/>
              </a:rPr>
              <a:t>code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for </a:t>
            </a: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performance.</a:t>
            </a:r>
            <a:endParaRPr sz="2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9920" y="4613147"/>
            <a:ext cx="5704332" cy="1627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92829" y="310388"/>
            <a:ext cx="430974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1" dirty="0">
                <a:latin typeface="Palatino Linotype"/>
                <a:cs typeface="Palatino Linotype"/>
              </a:rPr>
              <a:t>What</a:t>
            </a:r>
            <a:r>
              <a:rPr sz="4400" b="1" spc="-60" dirty="0">
                <a:latin typeface="Palatino Linotype"/>
                <a:cs typeface="Palatino Linotype"/>
              </a:rPr>
              <a:t> </a:t>
            </a:r>
            <a:r>
              <a:rPr sz="4400" b="1" spc="-5" dirty="0">
                <a:latin typeface="Palatino Linotype"/>
                <a:cs typeface="Palatino Linotype"/>
              </a:rPr>
              <a:t>is</a:t>
            </a:r>
            <a:r>
              <a:rPr sz="4400" b="1" spc="-30" dirty="0">
                <a:latin typeface="Palatino Linotype"/>
                <a:cs typeface="Palatino Linotype"/>
              </a:rPr>
              <a:t> </a:t>
            </a:r>
            <a:r>
              <a:rPr sz="4400" b="1" dirty="0">
                <a:latin typeface="Palatino Linotype"/>
                <a:cs typeface="Palatino Linotype"/>
              </a:rPr>
              <a:t>NumPy?</a:t>
            </a:r>
            <a:endParaRPr sz="4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702" y="1255903"/>
            <a:ext cx="10962005" cy="249491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There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several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important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differences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Cambria"/>
                <a:cs typeface="Cambria"/>
              </a:rPr>
              <a:t>between</a:t>
            </a:r>
            <a:r>
              <a:rPr sz="24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FFFFFF"/>
                </a:solidFill>
                <a:latin typeface="Cambria"/>
                <a:cs typeface="Cambria"/>
              </a:rPr>
              <a:t>NumPy</a:t>
            </a:r>
            <a:r>
              <a:rPr sz="24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FFFFFF"/>
                </a:solidFill>
                <a:latin typeface="Cambria"/>
                <a:cs typeface="Cambria"/>
              </a:rPr>
              <a:t>arrays</a:t>
            </a:r>
            <a:r>
              <a:rPr sz="2400" spc="70" dirty="0">
                <a:solidFill>
                  <a:srgbClr val="FFFFFF"/>
                </a:solidFill>
                <a:latin typeface="Cambria"/>
                <a:cs typeface="Cambria"/>
              </a:rPr>
              <a:t> and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2400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Cambria"/>
                <a:cs typeface="Cambria"/>
              </a:rPr>
              <a:t>standard </a:t>
            </a:r>
            <a:r>
              <a:rPr sz="2400" spc="-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FFFFFF"/>
                </a:solidFill>
                <a:latin typeface="Cambria"/>
                <a:cs typeface="Cambria"/>
              </a:rPr>
              <a:t>Python</a:t>
            </a:r>
            <a:r>
              <a:rPr sz="2400" spc="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sequences:</a:t>
            </a:r>
            <a:endParaRPr sz="2400">
              <a:latin typeface="Cambria"/>
              <a:cs typeface="Cambria"/>
            </a:endParaRPr>
          </a:p>
          <a:p>
            <a:pPr marL="651510">
              <a:lnSpc>
                <a:spcPct val="100000"/>
              </a:lnSpc>
              <a:spcBef>
                <a:spcPts val="1714"/>
              </a:spcBef>
            </a:pPr>
            <a:r>
              <a:rPr sz="1800" spc="114" dirty="0">
                <a:solidFill>
                  <a:srgbClr val="FFFFFF"/>
                </a:solidFill>
                <a:latin typeface="Cambria"/>
                <a:cs typeface="Cambria"/>
              </a:rPr>
              <a:t>NumPy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arrays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Cambria"/>
                <a:cs typeface="Cambria"/>
              </a:rPr>
              <a:t>have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solidFill>
                  <a:srgbClr val="FFFFFF"/>
                </a:solidFill>
                <a:latin typeface="Cambria"/>
                <a:cs typeface="Cambria"/>
              </a:rPr>
              <a:t>fixed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ambria"/>
                <a:cs typeface="Cambria"/>
              </a:rPr>
              <a:t>size.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80" dirty="0">
                <a:solidFill>
                  <a:srgbClr val="FFFFFF"/>
                </a:solidFill>
                <a:latin typeface="Cambria"/>
                <a:cs typeface="Cambria"/>
              </a:rPr>
              <a:t>Modifying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size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means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Cambria"/>
                <a:cs typeface="Cambria"/>
              </a:rPr>
              <a:t>creating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new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array.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Cambria"/>
              <a:cs typeface="Cambria"/>
            </a:endParaRPr>
          </a:p>
          <a:p>
            <a:pPr marL="651510">
              <a:lnSpc>
                <a:spcPct val="100000"/>
              </a:lnSpc>
            </a:pPr>
            <a:r>
              <a:rPr sz="1800" spc="114" dirty="0">
                <a:solidFill>
                  <a:srgbClr val="FFFFFF"/>
                </a:solidFill>
                <a:latin typeface="Cambria"/>
                <a:cs typeface="Cambria"/>
              </a:rPr>
              <a:t>NumPy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arrays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ambria"/>
                <a:cs typeface="Cambria"/>
              </a:rPr>
              <a:t>must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8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same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ambria"/>
                <a:cs typeface="Cambria"/>
              </a:rPr>
              <a:t>data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FFFFFF"/>
                </a:solidFill>
                <a:latin typeface="Cambria"/>
                <a:cs typeface="Cambria"/>
              </a:rPr>
              <a:t>type,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include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FFFFFF"/>
                </a:solidFill>
                <a:latin typeface="Cambria"/>
                <a:cs typeface="Cambria"/>
              </a:rPr>
              <a:t>Python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FFFFFF"/>
                </a:solidFill>
                <a:latin typeface="Cambria"/>
                <a:cs typeface="Cambria"/>
              </a:rPr>
              <a:t>objects.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Cambria"/>
              <a:cs typeface="Cambria"/>
            </a:endParaRPr>
          </a:p>
          <a:p>
            <a:pPr marL="651510">
              <a:lnSpc>
                <a:spcPct val="100000"/>
              </a:lnSpc>
              <a:spcBef>
                <a:spcPts val="5"/>
              </a:spcBef>
            </a:pPr>
            <a:r>
              <a:rPr sz="1800" spc="50" dirty="0">
                <a:solidFill>
                  <a:srgbClr val="FFFFFF"/>
                </a:solidFill>
                <a:latin typeface="Cambria"/>
                <a:cs typeface="Cambria"/>
              </a:rPr>
              <a:t>More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FFFFFF"/>
                </a:solidFill>
                <a:latin typeface="Cambria"/>
                <a:cs typeface="Cambria"/>
              </a:rPr>
              <a:t>efficient</a:t>
            </a:r>
            <a:r>
              <a:rPr sz="1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mathematical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mbria"/>
                <a:cs typeface="Cambria"/>
              </a:rPr>
              <a:t>operations</a:t>
            </a:r>
            <a:r>
              <a:rPr sz="1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than</a:t>
            </a:r>
            <a:r>
              <a:rPr sz="18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20" dirty="0">
                <a:solidFill>
                  <a:srgbClr val="FFFFFF"/>
                </a:solidFill>
                <a:latin typeface="Cambria"/>
                <a:cs typeface="Cambria"/>
              </a:rPr>
              <a:t>built-in</a:t>
            </a:r>
            <a:r>
              <a:rPr sz="1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10" dirty="0">
                <a:solidFill>
                  <a:srgbClr val="FFFFFF"/>
                </a:solidFill>
                <a:latin typeface="Cambria"/>
                <a:cs typeface="Cambria"/>
              </a:rPr>
              <a:t>sequence</a:t>
            </a:r>
            <a:r>
              <a:rPr sz="18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800" spc="30" dirty="0">
                <a:solidFill>
                  <a:srgbClr val="FFFFFF"/>
                </a:solidFill>
                <a:latin typeface="Cambria"/>
                <a:cs typeface="Cambria"/>
              </a:rPr>
              <a:t>types.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4288" y="651459"/>
            <a:ext cx="3336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Palatino Linotype"/>
                <a:cs typeface="Palatino Linotype"/>
              </a:rPr>
              <a:t>import </a:t>
            </a:r>
            <a:r>
              <a:rPr sz="2800" b="1" spc="-10" dirty="0">
                <a:latin typeface="Palatino Linotype"/>
                <a:cs typeface="Palatino Linotype"/>
              </a:rPr>
              <a:t>numpy</a:t>
            </a:r>
            <a:r>
              <a:rPr sz="2800" b="1" spc="20" dirty="0">
                <a:latin typeface="Palatino Linotype"/>
                <a:cs typeface="Palatino Linotype"/>
              </a:rPr>
              <a:t> </a:t>
            </a:r>
            <a:r>
              <a:rPr sz="2800" b="1" spc="-5" dirty="0">
                <a:latin typeface="Palatino Linotype"/>
                <a:cs typeface="Palatino Linotype"/>
              </a:rPr>
              <a:t>as</a:t>
            </a:r>
            <a:r>
              <a:rPr sz="2800" b="1" spc="-20" dirty="0">
                <a:latin typeface="Palatino Linotype"/>
                <a:cs typeface="Palatino Linotype"/>
              </a:rPr>
              <a:t> </a:t>
            </a:r>
            <a:r>
              <a:rPr sz="2800" b="1" spc="-5" dirty="0">
                <a:latin typeface="Palatino Linotype"/>
                <a:cs typeface="Palatino Linotype"/>
              </a:rPr>
              <a:t>np</a:t>
            </a:r>
            <a:endParaRPr sz="28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07606" y="1594815"/>
            <a:ext cx="2343150" cy="3073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Output:</a:t>
            </a:r>
            <a:endParaRPr sz="2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30" dirty="0">
                <a:solidFill>
                  <a:srgbClr val="FFFFFF"/>
                </a:solidFill>
                <a:latin typeface="Cambria"/>
                <a:cs typeface="Cambria"/>
              </a:rPr>
              <a:t>[[1,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2,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"/>
                <a:cs typeface="Cambria"/>
              </a:rPr>
              <a:t>3],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[4,</a:t>
            </a:r>
            <a:r>
              <a:rPr sz="24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5,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Cambria"/>
                <a:cs typeface="Cambria"/>
              </a:rPr>
              <a:t>6]]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list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Cambria"/>
              <a:cs typeface="Cambri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Output:</a:t>
            </a:r>
            <a:endParaRPr sz="2400">
              <a:latin typeface="Palatino Linotype"/>
              <a:cs typeface="Palatino Linotype"/>
            </a:endParaRPr>
          </a:p>
          <a:p>
            <a:pPr marL="43815">
              <a:lnSpc>
                <a:spcPct val="100000"/>
              </a:lnSpc>
            </a:pPr>
            <a:r>
              <a:rPr sz="2400" spc="-30" dirty="0">
                <a:solidFill>
                  <a:srgbClr val="FFFFFF"/>
                </a:solidFill>
                <a:latin typeface="Cambria"/>
                <a:cs typeface="Cambria"/>
              </a:rPr>
              <a:t>[[1,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2,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mbria"/>
                <a:cs typeface="Cambria"/>
              </a:rPr>
              <a:t>3],</a:t>
            </a:r>
            <a:r>
              <a:rPr sz="24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mbria"/>
                <a:cs typeface="Cambria"/>
              </a:rPr>
              <a:t>[4,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15" dirty="0">
                <a:solidFill>
                  <a:srgbClr val="FFFFFF"/>
                </a:solidFill>
                <a:latin typeface="Cambria"/>
                <a:cs typeface="Cambria"/>
              </a:rPr>
              <a:t>5,</a:t>
            </a:r>
            <a:r>
              <a:rPr sz="24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-75" dirty="0">
                <a:solidFill>
                  <a:srgbClr val="FFFFFF"/>
                </a:solidFill>
                <a:latin typeface="Cambria"/>
                <a:cs typeface="Cambria"/>
              </a:rPr>
              <a:t>6]]</a:t>
            </a:r>
            <a:endParaRPr sz="2400">
              <a:latin typeface="Cambria"/>
              <a:cs typeface="Cambria"/>
            </a:endParaRPr>
          </a:p>
          <a:p>
            <a:pPr marL="43815">
              <a:lnSpc>
                <a:spcPct val="100000"/>
              </a:lnSpc>
            </a:pPr>
            <a:r>
              <a:rPr sz="2400" spc="5" dirty="0">
                <a:solidFill>
                  <a:srgbClr val="FFFFFF"/>
                </a:solidFill>
                <a:latin typeface="Cambria"/>
                <a:cs typeface="Cambria"/>
              </a:rPr>
              <a:t>list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4288" y="1690878"/>
            <a:ext cx="2354580" cy="297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mbria"/>
                <a:cs typeface="Cambria"/>
              </a:rPr>
              <a:t>A=[[1,2,3],[4,5,6]]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print(A)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type(A)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2900">
              <a:latin typeface="Cambria"/>
              <a:cs typeface="Cambria"/>
            </a:endParaRPr>
          </a:p>
          <a:p>
            <a:pPr marL="12700" marR="167005">
              <a:lnSpc>
                <a:spcPct val="100000"/>
              </a:lnSpc>
              <a:spcBef>
                <a:spcPts val="2560"/>
              </a:spcBef>
            </a:pPr>
            <a:r>
              <a:rPr sz="2400" spc="37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400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400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FFFF"/>
                </a:solidFill>
                <a:latin typeface="Cambria"/>
                <a:cs typeface="Cambria"/>
              </a:rPr>
              <a:t>np.array(A) </a:t>
            </a:r>
            <a:r>
              <a:rPr sz="2400" spc="-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FFFFFF"/>
                </a:solidFill>
                <a:latin typeface="Cambria"/>
                <a:cs typeface="Cambria"/>
              </a:rPr>
              <a:t>print(A) </a:t>
            </a:r>
            <a:r>
              <a:rPr sz="240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Cambria"/>
                <a:cs typeface="Cambria"/>
              </a:rPr>
              <a:t>type(A)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2013" y="931544"/>
            <a:ext cx="3084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" dirty="0">
                <a:solidFill>
                  <a:srgbClr val="FFFFFF"/>
                </a:solidFill>
                <a:latin typeface="Cambria"/>
                <a:cs typeface="Cambria"/>
              </a:rPr>
              <a:t>print(np</a:t>
            </a:r>
            <a:r>
              <a:rPr sz="280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sz="2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FFFF00"/>
                </a:solidFill>
                <a:latin typeface="Cambria"/>
                <a:cs typeface="Cambria"/>
              </a:rPr>
              <a:t>ndim</a:t>
            </a:r>
            <a:r>
              <a:rPr sz="2800" spc="50" dirty="0">
                <a:solidFill>
                  <a:srgbClr val="FFFFFF"/>
                </a:solidFill>
                <a:latin typeface="Cambria"/>
                <a:cs typeface="Cambria"/>
              </a:rPr>
              <a:t>(A))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27568" y="931544"/>
            <a:ext cx="1083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latin typeface="Cambria"/>
                <a:cs typeface="Cambria"/>
              </a:rPr>
              <a:t>Ans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-40" dirty="0">
                <a:latin typeface="Cambria"/>
                <a:cs typeface="Cambria"/>
              </a:rPr>
              <a:t>:</a:t>
            </a:r>
            <a:r>
              <a:rPr sz="2800" spc="4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?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2013" y="931544"/>
            <a:ext cx="3084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" dirty="0">
                <a:solidFill>
                  <a:srgbClr val="FFFFFF"/>
                </a:solidFill>
                <a:latin typeface="Cambria"/>
                <a:cs typeface="Cambria"/>
              </a:rPr>
              <a:t>print(np</a:t>
            </a:r>
            <a:r>
              <a:rPr sz="2800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sz="2800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FFFF00"/>
                </a:solidFill>
                <a:latin typeface="Cambria"/>
                <a:cs typeface="Cambria"/>
              </a:rPr>
              <a:t>ndim</a:t>
            </a:r>
            <a:r>
              <a:rPr sz="2800" spc="50" dirty="0">
                <a:solidFill>
                  <a:srgbClr val="FFFFFF"/>
                </a:solidFill>
                <a:latin typeface="Cambria"/>
                <a:cs typeface="Cambria"/>
              </a:rPr>
              <a:t>(A))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7568" y="931544"/>
            <a:ext cx="1102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solidFill>
                  <a:srgbClr val="FFFFFF"/>
                </a:solidFill>
                <a:latin typeface="Cambria"/>
                <a:cs typeface="Cambria"/>
              </a:rPr>
              <a:t>Ans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316" y="2009597"/>
            <a:ext cx="3075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print(np.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FFFF00"/>
                </a:solidFill>
                <a:latin typeface="Cambria"/>
                <a:cs typeface="Cambria"/>
              </a:rPr>
              <a:t>shape</a:t>
            </a:r>
            <a:r>
              <a:rPr sz="2800" spc="20" dirty="0">
                <a:solidFill>
                  <a:srgbClr val="FFFFFF"/>
                </a:solidFill>
                <a:latin typeface="Cambria"/>
                <a:cs typeface="Cambria"/>
              </a:rPr>
              <a:t>(A))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2548" y="1884933"/>
            <a:ext cx="1083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solidFill>
                  <a:srgbClr val="FFFFFF"/>
                </a:solidFill>
                <a:latin typeface="Cambria"/>
                <a:cs typeface="Cambria"/>
              </a:rPr>
              <a:t>Ans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Cambria"/>
                <a:cs typeface="Cambria"/>
              </a:rPr>
              <a:t>?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2013" y="931544"/>
            <a:ext cx="3084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20" dirty="0">
                <a:latin typeface="Cambria"/>
                <a:cs typeface="Cambria"/>
              </a:rPr>
              <a:t>print(np</a:t>
            </a:r>
            <a:r>
              <a:rPr sz="2800" spc="3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.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FFFF00"/>
                </a:solidFill>
                <a:latin typeface="Cambria"/>
                <a:cs typeface="Cambria"/>
              </a:rPr>
              <a:t>ndim</a:t>
            </a:r>
            <a:r>
              <a:rPr sz="2800" spc="50" dirty="0">
                <a:latin typeface="Cambria"/>
                <a:cs typeface="Cambria"/>
              </a:rPr>
              <a:t>(A))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27568" y="931544"/>
            <a:ext cx="1102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solidFill>
                  <a:srgbClr val="FFFFFF"/>
                </a:solidFill>
                <a:latin typeface="Cambria"/>
                <a:cs typeface="Cambria"/>
              </a:rPr>
              <a:t>Ans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3316" y="2009597"/>
            <a:ext cx="3075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print(np.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FFFF00"/>
                </a:solidFill>
                <a:latin typeface="Cambria"/>
                <a:cs typeface="Cambria"/>
              </a:rPr>
              <a:t>shape</a:t>
            </a:r>
            <a:r>
              <a:rPr sz="2800" spc="20" dirty="0">
                <a:solidFill>
                  <a:srgbClr val="FFFFFF"/>
                </a:solidFill>
                <a:latin typeface="Cambria"/>
                <a:cs typeface="Cambria"/>
              </a:rPr>
              <a:t>(A))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02548" y="1884933"/>
            <a:ext cx="16078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solidFill>
                  <a:srgbClr val="FFFFFF"/>
                </a:solidFill>
                <a:latin typeface="Cambria"/>
                <a:cs typeface="Cambria"/>
              </a:rPr>
              <a:t>Ans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sz="2800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90" dirty="0">
                <a:solidFill>
                  <a:srgbClr val="FFFFFF"/>
                </a:solidFill>
                <a:latin typeface="Cambria"/>
                <a:cs typeface="Cambria"/>
              </a:rPr>
              <a:t>(2,3)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2013" y="3088081"/>
            <a:ext cx="9178290" cy="3496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63490">
              <a:lnSpc>
                <a:spcPct val="100000"/>
              </a:lnSpc>
              <a:spcBef>
                <a:spcPts val="95"/>
              </a:spcBef>
            </a:pPr>
            <a:r>
              <a:rPr sz="2800" spc="25" dirty="0">
                <a:solidFill>
                  <a:srgbClr val="FFFFFF"/>
                </a:solidFill>
                <a:latin typeface="Cambria"/>
                <a:cs typeface="Cambria"/>
              </a:rPr>
              <a:t>rows</a:t>
            </a:r>
            <a:r>
              <a:rPr sz="28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800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FFFFFF"/>
                </a:solidFill>
                <a:latin typeface="Cambria"/>
                <a:cs typeface="Cambria"/>
              </a:rPr>
              <a:t>np.shape(A)[0] </a:t>
            </a: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columns</a:t>
            </a: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np.shape(A)[1]</a:t>
            </a:r>
            <a:endParaRPr sz="2800">
              <a:latin typeface="Cambria"/>
              <a:cs typeface="Cambria"/>
            </a:endParaRPr>
          </a:p>
          <a:p>
            <a:pPr marL="12700" marR="2894330">
              <a:lnSpc>
                <a:spcPct val="100000"/>
              </a:lnSpc>
              <a:spcBef>
                <a:spcPts val="5"/>
              </a:spcBef>
            </a:pPr>
            <a:r>
              <a:rPr sz="2800" spc="10" dirty="0">
                <a:solidFill>
                  <a:srgbClr val="FFFFFF"/>
                </a:solidFill>
                <a:latin typeface="Cambria"/>
                <a:cs typeface="Cambria"/>
              </a:rPr>
              <a:t>print("number</a:t>
            </a:r>
            <a:r>
              <a:rPr sz="2800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800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FFFFFF"/>
                </a:solidFill>
                <a:latin typeface="Cambria"/>
                <a:cs typeface="Cambria"/>
              </a:rPr>
              <a:t>rows</a:t>
            </a:r>
            <a:r>
              <a:rPr sz="28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8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FFFFFF"/>
                </a:solidFill>
                <a:latin typeface="Cambria"/>
                <a:cs typeface="Cambria"/>
              </a:rPr>
              <a:t>",rows) </a:t>
            </a:r>
            <a:r>
              <a:rPr sz="2800" spc="10" dirty="0">
                <a:solidFill>
                  <a:srgbClr val="FFFFFF"/>
                </a:solidFill>
                <a:latin typeface="Cambria"/>
                <a:cs typeface="Cambria"/>
              </a:rPr>
              <a:t> print("number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 of</a:t>
            </a:r>
            <a:r>
              <a:rPr sz="2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columns</a:t>
            </a:r>
            <a:r>
              <a:rPr sz="28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800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FFFFFF"/>
                </a:solidFill>
                <a:latin typeface="Cambria"/>
                <a:cs typeface="Cambria"/>
              </a:rPr>
              <a:t>",</a:t>
            </a:r>
            <a:r>
              <a:rPr sz="2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35" dirty="0">
                <a:solidFill>
                  <a:srgbClr val="FFFFFF"/>
                </a:solidFill>
                <a:latin typeface="Cambria"/>
                <a:cs typeface="Cambria"/>
              </a:rPr>
              <a:t>columns)</a:t>
            </a:r>
            <a:endParaRPr sz="2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650">
              <a:latin typeface="Cambria"/>
              <a:cs typeface="Cambria"/>
            </a:endParaRPr>
          </a:p>
          <a:p>
            <a:pPr marL="5517515">
              <a:lnSpc>
                <a:spcPts val="2860"/>
              </a:lnSpc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Output:</a:t>
            </a:r>
            <a:endParaRPr sz="2400">
              <a:latin typeface="Palatino Linotype"/>
              <a:cs typeface="Palatino Linotype"/>
            </a:endParaRPr>
          </a:p>
          <a:p>
            <a:pPr marL="5517515" marR="5080">
              <a:lnSpc>
                <a:spcPts val="3360"/>
              </a:lnSpc>
              <a:spcBef>
                <a:spcPts val="80"/>
              </a:spcBef>
            </a:pPr>
            <a:r>
              <a:rPr sz="2800" spc="45" dirty="0">
                <a:solidFill>
                  <a:srgbClr val="FFFFFF"/>
                </a:solidFill>
                <a:latin typeface="Cambria"/>
                <a:cs typeface="Cambria"/>
              </a:rPr>
              <a:t>number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2800" spc="30" dirty="0">
                <a:solidFill>
                  <a:srgbClr val="FFFFFF"/>
                </a:solidFill>
                <a:latin typeface="Cambria"/>
                <a:cs typeface="Cambria"/>
              </a:rPr>
              <a:t>rows </a:t>
            </a:r>
            <a:r>
              <a:rPr sz="2800" spc="145" dirty="0">
                <a:solidFill>
                  <a:srgbClr val="FFFFFF"/>
                </a:solidFill>
                <a:latin typeface="Cambria"/>
                <a:cs typeface="Cambria"/>
              </a:rPr>
              <a:t>= </a:t>
            </a:r>
            <a:r>
              <a:rPr sz="2800" spc="-155" dirty="0">
                <a:solidFill>
                  <a:srgbClr val="FFFFFF"/>
                </a:solidFill>
                <a:latin typeface="Cambria"/>
                <a:cs typeface="Cambria"/>
              </a:rPr>
              <a:t>2 </a:t>
            </a:r>
            <a:r>
              <a:rPr sz="2800" spc="-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FFFFFF"/>
                </a:solidFill>
                <a:latin typeface="Cambria"/>
                <a:cs typeface="Cambria"/>
              </a:rPr>
              <a:t>number</a:t>
            </a:r>
            <a:r>
              <a:rPr sz="2800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28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FFFFFF"/>
                </a:solidFill>
                <a:latin typeface="Cambria"/>
                <a:cs typeface="Cambria"/>
              </a:rPr>
              <a:t>columns</a:t>
            </a:r>
            <a:r>
              <a:rPr sz="2800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FFFFFF"/>
                </a:solidFill>
                <a:latin typeface="Cambria"/>
                <a:cs typeface="Cambria"/>
              </a:rPr>
              <a:t>=</a:t>
            </a:r>
            <a:r>
              <a:rPr sz="2800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800" spc="-155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9936" y="517044"/>
            <a:ext cx="3851275" cy="145288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pc="-5" dirty="0"/>
              <a:t>import</a:t>
            </a:r>
            <a:r>
              <a:rPr spc="-30" dirty="0"/>
              <a:t> </a:t>
            </a:r>
            <a:r>
              <a:rPr spc="-5" dirty="0"/>
              <a:t>numpy</a:t>
            </a:r>
            <a:r>
              <a:rPr spc="10" dirty="0"/>
              <a:t> </a:t>
            </a:r>
            <a:r>
              <a:rPr dirty="0"/>
              <a:t>as</a:t>
            </a:r>
            <a:r>
              <a:rPr spc="-30" dirty="0"/>
              <a:t> </a:t>
            </a:r>
            <a:r>
              <a:rPr dirty="0"/>
              <a:t>np</a:t>
            </a:r>
          </a:p>
          <a:p>
            <a:pPr marL="12700" marR="5080">
              <a:lnSpc>
                <a:spcPct val="130000"/>
              </a:lnSpc>
              <a:spcBef>
                <a:spcPts val="5"/>
              </a:spcBef>
            </a:pPr>
            <a:r>
              <a:rPr dirty="0"/>
              <a:t>a</a:t>
            </a:r>
            <a:r>
              <a:rPr spc="-35" dirty="0"/>
              <a:t> </a:t>
            </a:r>
            <a:r>
              <a:rPr dirty="0"/>
              <a:t>=</a:t>
            </a:r>
            <a:r>
              <a:rPr spc="-35" dirty="0"/>
              <a:t> </a:t>
            </a:r>
            <a:r>
              <a:rPr dirty="0"/>
              <a:t>np.arange(15).reshape(3,</a:t>
            </a:r>
            <a:r>
              <a:rPr spc="-65" dirty="0"/>
              <a:t> </a:t>
            </a:r>
            <a:r>
              <a:rPr dirty="0"/>
              <a:t>5) </a:t>
            </a:r>
            <a:r>
              <a:rPr spc="-585" dirty="0"/>
              <a:t> </a:t>
            </a:r>
            <a:r>
              <a:rPr dirty="0"/>
              <a:t>print(a)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52729">
              <a:lnSpc>
                <a:spcPct val="130000"/>
              </a:lnSpc>
              <a:spcBef>
                <a:spcPts val="105"/>
              </a:spcBef>
            </a:pPr>
            <a:r>
              <a:rPr spc="-5" dirty="0"/>
              <a:t>print(a.ndim) </a:t>
            </a:r>
            <a:r>
              <a:rPr dirty="0"/>
              <a:t> print(a.shape) </a:t>
            </a:r>
            <a:r>
              <a:rPr spc="5" dirty="0"/>
              <a:t> </a:t>
            </a:r>
            <a:r>
              <a:rPr spc="-5" dirty="0"/>
              <a:t>print(a.dtype.name) </a:t>
            </a:r>
            <a:r>
              <a:rPr dirty="0"/>
              <a:t> </a:t>
            </a:r>
            <a:r>
              <a:rPr spc="-5" dirty="0"/>
              <a:t>print(a.itemsize) </a:t>
            </a:r>
            <a:r>
              <a:rPr dirty="0"/>
              <a:t> print(a.size)</a:t>
            </a:r>
          </a:p>
          <a:p>
            <a:pPr marL="12700" marR="5080">
              <a:lnSpc>
                <a:spcPts val="3750"/>
              </a:lnSpc>
              <a:spcBef>
                <a:spcPts val="265"/>
              </a:spcBef>
            </a:pPr>
            <a:r>
              <a:rPr dirty="0"/>
              <a:t>b</a:t>
            </a:r>
            <a:r>
              <a:rPr spc="-25" dirty="0"/>
              <a:t> </a:t>
            </a:r>
            <a:r>
              <a:rPr dirty="0"/>
              <a:t>=</a:t>
            </a:r>
            <a:r>
              <a:rPr spc="-30" dirty="0"/>
              <a:t> </a:t>
            </a:r>
            <a:r>
              <a:rPr dirty="0"/>
              <a:t>np.array([6,</a:t>
            </a:r>
            <a:r>
              <a:rPr spc="-35" dirty="0"/>
              <a:t> </a:t>
            </a:r>
            <a:r>
              <a:rPr dirty="0"/>
              <a:t>7,</a:t>
            </a:r>
            <a:r>
              <a:rPr spc="-20" dirty="0"/>
              <a:t> </a:t>
            </a:r>
            <a:r>
              <a:rPr dirty="0"/>
              <a:t>8]) </a:t>
            </a:r>
            <a:r>
              <a:rPr spc="-585" dirty="0"/>
              <a:t> </a:t>
            </a:r>
            <a:r>
              <a:rPr dirty="0"/>
              <a:t>print(b)</a:t>
            </a: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/>
              <a:t>type(b)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33793" y="270009"/>
            <a:ext cx="1793239" cy="16103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Ans: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[[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9]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[10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11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13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14]]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33793" y="2342133"/>
            <a:ext cx="1530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97802" y="3134613"/>
            <a:ext cx="5759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(3,</a:t>
            </a:r>
            <a:r>
              <a:rPr sz="2000" spc="-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5)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33793" y="3927475"/>
            <a:ext cx="5492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int64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33793" y="4719650"/>
            <a:ext cx="4718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r>
              <a:rPr sz="20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33793" y="5512714"/>
            <a:ext cx="7029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[6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8]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3793" y="6305499"/>
            <a:ext cx="155575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-135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da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ay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7297" y="430529"/>
            <a:ext cx="20427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latin typeface="Times New Roman"/>
                <a:cs typeface="Times New Roman"/>
              </a:rPr>
              <a:t>Array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82572" y="1263853"/>
            <a:ext cx="250761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np.array([2,3,4])</a:t>
            </a:r>
            <a:endParaRPr sz="2400">
              <a:latin typeface="Times New Roman"/>
              <a:cs typeface="Times New Roman"/>
            </a:endParaRPr>
          </a:p>
          <a:p>
            <a:pPr marL="12700" marR="15709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a)  a.dtype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82572" y="2928569"/>
            <a:ext cx="336169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np.array([1.2,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3.5,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5.1])</a:t>
            </a:r>
            <a:endParaRPr sz="2400">
              <a:latin typeface="Times New Roman"/>
              <a:cs typeface="Times New Roman"/>
            </a:endParaRPr>
          </a:p>
          <a:p>
            <a:pPr marL="12700" marR="240792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b)  b.dtype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2005" y="1448511"/>
            <a:ext cx="16414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[2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4]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dtype('int64')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2497" y="2953003"/>
            <a:ext cx="1878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47700" algn="l"/>
                <a:tab pos="118110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[1.2	3.5	5.1]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dtype('float64')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82572" y="4107560"/>
            <a:ext cx="8805545" cy="1851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63875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transforms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sequences of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sequences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into two-dimensional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arrays, sequences of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sequences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sequences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into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three- 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dimensional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arrays,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on.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651625" algn="l"/>
                <a:tab pos="7387590" algn="l"/>
                <a:tab pos="7768590" algn="l"/>
              </a:tabLst>
            </a:pP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3600" spc="7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3600" spc="-15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np.array([(1.5,2,3),</a:t>
            </a:r>
            <a:r>
              <a:rPr sz="3600" spc="-22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(4,5,6)])	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[[1.5	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2.	3.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6651625" algn="l"/>
                <a:tab pos="7439659" algn="l"/>
                <a:tab pos="7820659" algn="l"/>
              </a:tabLst>
            </a:pP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print(b)	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[4.	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5.	6.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]]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849" y="1247013"/>
            <a:ext cx="55714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np.array(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[1,2],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[3,4]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],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dtype=complex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print(c)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6639" y="358520"/>
            <a:ext cx="704786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type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array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 be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explicitly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specified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at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creation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time: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718552" y="1168984"/>
            <a:ext cx="941069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[[</a:t>
            </a:r>
            <a:r>
              <a:rPr dirty="0"/>
              <a:t>1.</a:t>
            </a:r>
            <a:r>
              <a:rPr spc="-5" dirty="0"/>
              <a:t>+</a:t>
            </a:r>
            <a:r>
              <a:rPr dirty="0"/>
              <a:t>0.j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3.+0.j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863076" y="1168984"/>
            <a:ext cx="969010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2.+0.j]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4.+0.j]]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31799" y="2771181"/>
          <a:ext cx="9773920" cy="14352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07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651">
                <a:tc>
                  <a:txBody>
                    <a:bodyPr/>
                    <a:lstStyle/>
                    <a:p>
                      <a:pPr marL="31750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c=np.array([1,2,3,4,5,6,7,8,9,10])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91615">
                        <a:lnSpc>
                          <a:spcPts val="262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4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24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24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print(c)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119">
                <a:tc>
                  <a:txBody>
                    <a:bodyPr/>
                    <a:lstStyle/>
                    <a:p>
                      <a:pPr marL="31750">
                        <a:lnSpc>
                          <a:spcPts val="273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D=np.reshape(c,(2,5))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91615">
                        <a:lnSpc>
                          <a:spcPts val="2730"/>
                        </a:lnSpc>
                      </a:pPr>
                      <a:r>
                        <a:rPr sz="24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[[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2400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808">
                <a:tc>
                  <a:txBody>
                    <a:bodyPr/>
                    <a:lstStyle/>
                    <a:p>
                      <a:pPr marL="31750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print(D)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491615">
                        <a:lnSpc>
                          <a:spcPts val="2670"/>
                        </a:lnSpc>
                      </a:pP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2400" spc="-1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10]]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4091" y="148590"/>
            <a:ext cx="95561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elements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an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originally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unknown,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but its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size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known.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Hence,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NumPy</a:t>
            </a:r>
            <a:r>
              <a:rPr sz="1800" spc="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offers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several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functions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initial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placeholder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content.</a:t>
            </a:r>
            <a:r>
              <a:rPr sz="1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minimize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necessity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growing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arrays,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expensive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operation.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4091" y="2610053"/>
            <a:ext cx="27971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zeros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(3,4)</a:t>
            </a:r>
            <a:r>
              <a:rPr sz="24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4091" y="5537403"/>
            <a:ext cx="3165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5054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r>
              <a:rPr sz="2400" spc="1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np.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e</a:t>
            </a:r>
            <a:r>
              <a:rPr sz="2400" b="1" spc="5" dirty="0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sz="2400"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pty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(2,3)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	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091" y="1246123"/>
            <a:ext cx="961009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 function </a:t>
            </a:r>
            <a:r>
              <a:rPr sz="1800" b="1" spc="-15" dirty="0">
                <a:solidFill>
                  <a:srgbClr val="FF0000"/>
                </a:solidFill>
                <a:latin typeface="Times New Roman"/>
                <a:cs typeface="Times New Roman"/>
              </a:rPr>
              <a:t>zeros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creates an array full of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zeros,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 function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ones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creates an array full of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ones,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 the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function </a:t>
            </a:r>
            <a:r>
              <a:rPr sz="1800" b="1" spc="-5" dirty="0">
                <a:solidFill>
                  <a:srgbClr val="FF0000"/>
                </a:solidFill>
                <a:latin typeface="Times New Roman"/>
                <a:cs typeface="Times New Roman"/>
              </a:rPr>
              <a:t>empty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creates an array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whose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initial content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random and depends on the state of the 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memory.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default,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dtype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created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float64.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ct val="100000"/>
              </a:lnSpc>
              <a:spcBef>
                <a:spcPts val="119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[[0.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0.]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[0.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1160" y="2769870"/>
            <a:ext cx="1109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[0.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0.]]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091" y="3318509"/>
            <a:ext cx="6825615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7946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[[[1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1]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1]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ts val="189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1]]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520"/>
              </a:lnSpc>
              <a:tabLst>
                <a:tab pos="4973320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print(np.</a:t>
            </a:r>
            <a:r>
              <a:rPr sz="2400" b="1" dirty="0">
                <a:solidFill>
                  <a:srgbClr val="FFFF00"/>
                </a:solidFill>
                <a:latin typeface="Times New Roman"/>
                <a:cs typeface="Times New Roman"/>
              </a:rPr>
              <a:t>ones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(2,3,4), dtype=np.int16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	)</a:t>
            </a:r>
            <a:endParaRPr sz="2400">
              <a:latin typeface="Times New Roman"/>
              <a:cs typeface="Times New Roman"/>
            </a:endParaRPr>
          </a:p>
          <a:p>
            <a:pPr marL="5879465">
              <a:lnSpc>
                <a:spcPts val="2065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[[1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1]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1]</a:t>
            </a:r>
            <a:endParaRPr sz="1800">
              <a:latin typeface="Times New Roman"/>
              <a:cs typeface="Times New Roman"/>
            </a:endParaRPr>
          </a:p>
          <a:p>
            <a:pPr marL="587946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1]]]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97548" y="5440476"/>
            <a:ext cx="5191125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6699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[[1.39069238e-309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1.39069238e-309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1.39069238e-309]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[1.39069238e-309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1.39069238e-309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1.39069238e-309]]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8124" y="388746"/>
            <a:ext cx="10502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60" dirty="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sequences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numbers,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NumPy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 provides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 function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analogous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 range that returns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instead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lists.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15974" y="1026667"/>
            <a:ext cx="1990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np.arange(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10,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30,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3886" y="1818513"/>
            <a:ext cx="19291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np.arange(</a:t>
            </a:r>
            <a:r>
              <a:rPr sz="18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0.3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49210" y="983741"/>
            <a:ext cx="1435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[10,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15,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20,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25]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49210" y="1764538"/>
            <a:ext cx="2861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0.3,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0.6,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0.9,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1.2,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1.5,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1.8]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8124" y="2681732"/>
            <a:ext cx="103403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When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arange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is used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with floating point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arguments,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generally not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possible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to predict the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 elements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obtained, due to the finite floating point precision.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For this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reason, it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usually better to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use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 function linspace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receives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 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argument</a:t>
            </a:r>
            <a:r>
              <a:rPr sz="1800" spc="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number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elements that</a:t>
            </a:r>
            <a:r>
              <a:rPr sz="1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want 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5974" y="4073778"/>
            <a:ext cx="2776855" cy="2165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7815">
              <a:lnSpc>
                <a:spcPct val="13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from 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numpy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import pi </a:t>
            </a:r>
            <a:r>
              <a:rPr sz="18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print(np.linspace(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2,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np.linspace(</a:t>
            </a:r>
            <a:r>
              <a:rPr sz="1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0,</a:t>
            </a:r>
            <a:r>
              <a:rPr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2*pi,</a:t>
            </a:r>
            <a:r>
              <a:rPr sz="1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100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print(x)</a:t>
            </a:r>
            <a:endParaRPr sz="1800">
              <a:latin typeface="Times New Roman"/>
              <a:cs typeface="Times New Roman"/>
            </a:endParaRPr>
          </a:p>
          <a:p>
            <a:pPr marL="12700" marR="1616710">
              <a:lnSpc>
                <a:spcPct val="130000"/>
              </a:lnSpc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1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np.sin(x) </a:t>
            </a:r>
            <a:r>
              <a:rPr sz="1800" spc="-43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print(f)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2204" y="4835397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Ans:</a:t>
            </a:r>
            <a:r>
              <a:rPr sz="3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1809" y="298450"/>
            <a:ext cx="2184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Basic</a:t>
            </a:r>
            <a:r>
              <a:rPr b="1" i="1" spc="-7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b="1" i="1" dirty="0">
                <a:solidFill>
                  <a:srgbClr val="00AFEF"/>
                </a:solidFill>
                <a:latin typeface="Times New Roman"/>
                <a:cs typeface="Times New Roman"/>
              </a:rPr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7208" y="906856"/>
            <a:ext cx="5126990" cy="1636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Arithmetic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operators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arrays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apply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elementwise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new array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created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filled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result.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 marR="221424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np.array(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[20,30,40,50]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7208" y="2822194"/>
            <a:ext cx="18383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np.arange(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7208" y="3736594"/>
            <a:ext cx="1950720" cy="246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a-b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print(c)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2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print(b**2)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(1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np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.s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)) 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print(a&lt;35)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91576" y="3146805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Ans:</a:t>
            </a:r>
            <a:r>
              <a:rPr sz="3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9849" y="324103"/>
            <a:ext cx="8523605" cy="236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Unlike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many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matrix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languages,</a:t>
            </a:r>
            <a:endParaRPr sz="2000">
              <a:latin typeface="Times New Roman"/>
              <a:cs typeface="Times New Roman"/>
            </a:endParaRPr>
          </a:p>
          <a:p>
            <a:pPr marL="762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operator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* operates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element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 wise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NumPy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arrays.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matrix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can be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performed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@ operator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(in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&gt;=3.5)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method</a:t>
            </a:r>
            <a:endParaRPr sz="2000">
              <a:latin typeface="Times New Roman"/>
              <a:cs typeface="Times New Roman"/>
            </a:endParaRPr>
          </a:p>
          <a:p>
            <a:pPr marL="1102995">
              <a:lnSpc>
                <a:spcPct val="100000"/>
              </a:lnSpc>
              <a:spcBef>
                <a:spcPts val="159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A=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np.array(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[[1,1],</a:t>
            </a:r>
            <a:endParaRPr sz="2000">
              <a:latin typeface="Times New Roman"/>
              <a:cs typeface="Times New Roman"/>
            </a:endParaRPr>
          </a:p>
          <a:p>
            <a:pPr marL="181673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[0,1]]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0541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1655" y="2964561"/>
            <a:ext cx="2088514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np.array(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[[2,0],</a:t>
            </a:r>
            <a:endParaRPr sz="2000">
              <a:latin typeface="Times New Roman"/>
              <a:cs typeface="Times New Roman"/>
            </a:endParaRPr>
          </a:p>
          <a:p>
            <a:pPr marL="5842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[3,4]]</a:t>
            </a:r>
            <a:r>
              <a:rPr sz="2000" spc="-6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print(B)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11655" y="4184141"/>
            <a:ext cx="4791075" cy="2465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Element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wise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product")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(A</a:t>
            </a:r>
            <a:r>
              <a:rPr sz="2000" spc="-1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* 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 marR="191262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000" spc="-8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Matrix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Product")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int(A</a:t>
            </a:r>
            <a:r>
              <a:rPr sz="2000" spc="-1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@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B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Matrix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Product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dot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function")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print(A.dot(B))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06002" y="3256026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Ans:</a:t>
            </a:r>
            <a:r>
              <a:rPr sz="3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a=np.</a:t>
            </a:r>
            <a:r>
              <a:rPr spc="-45" dirty="0"/>
              <a:t> </a:t>
            </a:r>
            <a:r>
              <a:rPr spc="-5" dirty="0"/>
              <a:t>array([1,2,3])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6640" y="722757"/>
            <a:ext cx="7498080" cy="5513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b=np.array([(1.5,2,3),(4,5,6)],dtype=float)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c=np.</a:t>
            </a:r>
            <a:r>
              <a:rPr sz="24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array([[(1.5,2,3),(4,5,6)],[(3,2,1),(4,5,6)]],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dtype=float)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1D",a)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4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2D",b)</a:t>
            </a:r>
            <a:endParaRPr sz="2400">
              <a:latin typeface="Times New Roman"/>
              <a:cs typeface="Times New Roman"/>
            </a:endParaRPr>
          </a:p>
          <a:p>
            <a:pPr marL="12700" marR="484060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print("The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3D",c)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d=np.a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ange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10,25,5)  print(d)</a:t>
            </a:r>
            <a:endParaRPr sz="2400">
              <a:latin typeface="Times New Roman"/>
              <a:cs typeface="Times New Roman"/>
            </a:endParaRPr>
          </a:p>
          <a:p>
            <a:pPr marL="12700" marR="47764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e=np. full((2,2),7) 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400" spc="-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full</a:t>
            </a:r>
            <a:r>
              <a:rPr sz="24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array")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print(e)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f=np.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eye(3)</a:t>
            </a:r>
            <a:endParaRPr sz="2400">
              <a:latin typeface="Times New Roman"/>
              <a:cs typeface="Times New Roman"/>
            </a:endParaRPr>
          </a:p>
          <a:p>
            <a:pPr marL="12700" marR="3481704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print(“The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sz="24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*3</a:t>
            </a:r>
            <a:r>
              <a:rPr sz="24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identity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matrix")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print(f)</a:t>
            </a:r>
            <a:endParaRPr sz="2400">
              <a:latin typeface="Times New Roman"/>
              <a:cs typeface="Times New Roman"/>
            </a:endParaRPr>
          </a:p>
          <a:p>
            <a:pPr marL="12700" marR="3590925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print("the random array") 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print(np.random.random((2,2)))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15450" y="3187395"/>
            <a:ext cx="114871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Ans:</a:t>
            </a:r>
            <a:r>
              <a:rPr sz="36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080" y="211327"/>
            <a:ext cx="344551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print("The</a:t>
            </a:r>
            <a:r>
              <a:rPr sz="20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subtraction</a:t>
            </a:r>
            <a:r>
              <a:rPr sz="2000" spc="-5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a&amp;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:”)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print(np.subtract(a,b))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8080" y="1125423"/>
            <a:ext cx="129984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dirty="0">
                <a:solidFill>
                  <a:srgbClr val="FFFFFF"/>
                </a:solidFill>
                <a:latin typeface="Times New Roman"/>
                <a:cs typeface="Times New Roman"/>
              </a:rPr>
              <a:t>Similarly</a:t>
            </a:r>
            <a:r>
              <a:rPr sz="2000" i="1" spc="-10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try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62429" y="1735582"/>
            <a:ext cx="11868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np.add(b,a)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2429" y="2345182"/>
            <a:ext cx="14535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ivi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2429" y="2955163"/>
            <a:ext cx="1677670" cy="3379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sz="2000" spc="-2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ult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ply(a,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12700" marR="659130" algn="just">
              <a:lnSpc>
                <a:spcPct val="2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np.exp(b) </a:t>
            </a:r>
            <a:r>
              <a:rPr sz="2000" spc="-49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b)  np.sin(a)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np.cos(b)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np.log(a)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31126" y="624586"/>
            <a:ext cx="32194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try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comparison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operations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85633" y="1234186"/>
            <a:ext cx="677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==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85633" y="1844167"/>
            <a:ext cx="5353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85633" y="2453767"/>
            <a:ext cx="20167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.arra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y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_equa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1225" y="93091"/>
            <a:ext cx="3001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15" dirty="0">
                <a:solidFill>
                  <a:srgbClr val="00AFEF"/>
                </a:solidFill>
                <a:latin typeface="Times New Roman"/>
                <a:cs typeface="Times New Roman"/>
              </a:rPr>
              <a:t>Aggregate</a:t>
            </a:r>
            <a:r>
              <a:rPr sz="2800" i="1" spc="-55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Functions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01188" y="848740"/>
            <a:ext cx="2050414" cy="22453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print(b.sum())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pr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nt</a:t>
            </a:r>
            <a:r>
              <a:rPr sz="2400" spc="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np.su</a:t>
            </a:r>
            <a:r>
              <a:rPr sz="2400" spc="-20" dirty="0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(b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Similarly</a:t>
            </a:r>
            <a:r>
              <a:rPr sz="24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try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865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a.sum()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15841" y="3068574"/>
            <a:ext cx="2455545" cy="3354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1809">
              <a:lnSpc>
                <a:spcPct val="130000"/>
              </a:lnSpc>
              <a:spcBef>
                <a:spcPts val="100"/>
              </a:spcBef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a.min()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b.max(axis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  <a:p>
            <a:pPr marL="12700" marR="5080">
              <a:lnSpc>
                <a:spcPct val="130000"/>
              </a:lnSpc>
            </a:pP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b.cumsum(axis</a:t>
            </a:r>
            <a:r>
              <a:rPr sz="24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4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1) </a:t>
            </a:r>
            <a:r>
              <a:rPr sz="2400" spc="-5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a.mean()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b.median()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 a.corrcoef() </a:t>
            </a:r>
            <a:r>
              <a:rPr sz="24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np.std(b)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9705" y="3297173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Ans:</a:t>
            </a:r>
            <a:r>
              <a:rPr sz="36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FFFFFF"/>
                </a:solidFill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63055" y="595898"/>
            <a:ext cx="3992755" cy="13380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407" y="2933740"/>
            <a:ext cx="3383152" cy="20341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399" y="4704620"/>
            <a:ext cx="3541218" cy="175104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7965" y="20523"/>
            <a:ext cx="22790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Copying</a:t>
            </a:r>
            <a:r>
              <a:rPr sz="2800" i="1" spc="-10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Arrays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7017" y="642874"/>
            <a:ext cx="4232910" cy="566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6830" marR="180530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h=a.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w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)  print(h)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3068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C=np.copy(b)</a:t>
            </a:r>
            <a:endParaRPr sz="2000">
              <a:latin typeface="Times New Roman"/>
              <a:cs typeface="Times New Roman"/>
            </a:endParaRPr>
          </a:p>
          <a:p>
            <a:pPr marL="130683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print(C)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50">
              <a:latin typeface="Times New Roman"/>
              <a:cs typeface="Times New Roman"/>
            </a:endParaRPr>
          </a:p>
          <a:p>
            <a:pPr marL="13068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h=a.copy()</a:t>
            </a:r>
            <a:endParaRPr sz="2000">
              <a:latin typeface="Times New Roman"/>
              <a:cs typeface="Times New Roman"/>
            </a:endParaRPr>
          </a:p>
          <a:p>
            <a:pPr marL="130683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print(h)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Sorting</a:t>
            </a:r>
            <a:r>
              <a:rPr sz="2800" i="1" spc="-114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Arrays</a:t>
            </a:r>
            <a:endParaRPr sz="2800">
              <a:latin typeface="Times New Roman"/>
              <a:cs typeface="Times New Roman"/>
            </a:endParaRPr>
          </a:p>
          <a:p>
            <a:pPr marL="1306830">
              <a:lnSpc>
                <a:spcPct val="100000"/>
              </a:lnSpc>
              <a:spcBef>
                <a:spcPts val="236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b=np.array([5,7,2,4,1,9,6,0])</a:t>
            </a:r>
            <a:endParaRPr sz="2000">
              <a:latin typeface="Times New Roman"/>
              <a:cs typeface="Times New Roman"/>
            </a:endParaRPr>
          </a:p>
          <a:p>
            <a:pPr marL="1306830" marR="127508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print(b)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int(n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.so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endParaRPr sz="2000">
              <a:latin typeface="Times New Roman"/>
              <a:cs typeface="Times New Roman"/>
            </a:endParaRPr>
          </a:p>
          <a:p>
            <a:pPr marL="1306830" marR="1510665">
              <a:lnSpc>
                <a:spcPct val="2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a.sort()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c.s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rt(ax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000" spc="-15" dirty="0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=0)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602" y="1279905"/>
            <a:ext cx="542353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a=np.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array([1,2,3])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b=np.array([(1.5,2,3),(4,5,6)],dtype=float)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359775" y="1065275"/>
          <a:ext cx="2442207" cy="37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59775" y="2026792"/>
          <a:ext cx="2320289" cy="848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64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7243" y="279857"/>
            <a:ext cx="1567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Su</a:t>
            </a:r>
            <a:r>
              <a:rPr sz="2800" b="1" i="1" spc="5" dirty="0">
                <a:solidFill>
                  <a:srgbClr val="00AFEF"/>
                </a:solidFill>
                <a:latin typeface="Times New Roman"/>
                <a:cs typeface="Times New Roman"/>
              </a:rPr>
              <a:t>b</a:t>
            </a:r>
            <a:r>
              <a:rPr sz="28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setting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499736" y="3642105"/>
          <a:ext cx="2442207" cy="37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43406" y="3626357"/>
            <a:ext cx="779780" cy="134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a[2]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7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b[1,2]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561078" y="4554220"/>
          <a:ext cx="2320289" cy="8486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774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R="32067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43" y="279857"/>
            <a:ext cx="10528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Slicing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04936" y="1041780"/>
          <a:ext cx="2442207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004936" y="1996439"/>
          <a:ext cx="2442207" cy="3708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669160" y="1070864"/>
            <a:ext cx="1414780" cy="230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a[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a[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-1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b[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,1</a:t>
            </a:r>
            <a:r>
              <a:rPr sz="24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004936" y="2757551"/>
          <a:ext cx="2320289" cy="8486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77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R="319405" algn="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04936" y="4138295"/>
          <a:ext cx="2320289" cy="8484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64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2D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1669160" y="4361433"/>
            <a:ext cx="958215" cy="1363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43280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[ :</a:t>
            </a:r>
            <a:r>
              <a:rPr sz="24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1	]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 marL="80645">
              <a:lnSpc>
                <a:spcPct val="100000"/>
              </a:lnSpc>
              <a:spcBef>
                <a:spcPts val="1780"/>
              </a:spcBef>
            </a:pPr>
            <a:r>
              <a:rPr sz="24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b[</a:t>
            </a:r>
            <a:r>
              <a:rPr sz="2400" b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8066278" y="5340603"/>
          <a:ext cx="2320289" cy="8484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3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64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1.5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R="32004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5112" y="146410"/>
            <a:ext cx="4385945" cy="3929379"/>
            <a:chOff x="515112" y="146410"/>
            <a:chExt cx="4385945" cy="392937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5112" y="146410"/>
              <a:ext cx="4193884" cy="214254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6279" y="2289060"/>
              <a:ext cx="4184614" cy="1786115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6279" y="4174303"/>
            <a:ext cx="3791294" cy="137604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421879" y="4075152"/>
            <a:ext cx="3929960" cy="140058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92057" y="1822830"/>
            <a:ext cx="11480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"/>
                <a:cs typeface="Calibri"/>
              </a:rPr>
              <a:t>Ans:</a:t>
            </a:r>
            <a:r>
              <a:rPr sz="3600" spc="-9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243" y="279857"/>
            <a:ext cx="13500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Indexing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100441" y="1108963"/>
          <a:ext cx="2442207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4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4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745360" y="1136396"/>
            <a:ext cx="3662679" cy="2990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a[a&lt;2]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b[[1,0,1,0],[0,1,2,0]]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Times New Roman"/>
              <a:cs typeface="Times New Roman"/>
            </a:endParaRPr>
          </a:p>
          <a:p>
            <a:pPr marL="2286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b[[1,</a:t>
            </a:r>
            <a:r>
              <a:rPr sz="2800" spc="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0,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1,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0]]</a:t>
            </a:r>
            <a:r>
              <a:rPr sz="2800" spc="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[:,[0,1,2,0]]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86419" y="2275077"/>
            <a:ext cx="2219325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4845" algn="l"/>
                <a:tab pos="1109980" algn="l"/>
                <a:tab pos="155321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4.	2.	6.	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1.5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783590" algn="l"/>
                <a:tab pos="1228725" algn="l"/>
                <a:tab pos="167386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[[</a:t>
            </a:r>
            <a:r>
              <a:rPr sz="28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4.	5.	6.	4.</a:t>
            </a:r>
            <a:r>
              <a:rPr sz="2800" spc="-5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843280" algn="l"/>
                <a:tab pos="1286510" algn="l"/>
              </a:tabLst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[1.5	2.	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3.</a:t>
            </a:r>
            <a:r>
              <a:rPr sz="2800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1.5]</a:t>
            </a:r>
            <a:endParaRPr sz="280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167369" y="4449484"/>
          <a:ext cx="2458720" cy="8204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8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409">
                <a:tc>
                  <a:txBody>
                    <a:bodyPr/>
                    <a:lstStyle/>
                    <a:p>
                      <a:pPr marL="31750">
                        <a:lnSpc>
                          <a:spcPts val="3055"/>
                        </a:lnSpc>
                      </a:pP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[4.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3055"/>
                        </a:lnSpc>
                      </a:pP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5.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5"/>
                        </a:lnSpc>
                      </a:pP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6.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5"/>
                        </a:lnSpc>
                      </a:pP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sz="2800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072">
                <a:tc>
                  <a:txBody>
                    <a:bodyPr/>
                    <a:lstStyle/>
                    <a:p>
                      <a:pPr marL="31750">
                        <a:lnSpc>
                          <a:spcPts val="3130"/>
                        </a:lnSpc>
                      </a:pPr>
                      <a:r>
                        <a:rPr sz="2800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[1.5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3130"/>
                        </a:lnSpc>
                      </a:pPr>
                      <a:r>
                        <a:rPr sz="28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3.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130"/>
                        </a:lnSpc>
                      </a:pPr>
                      <a:r>
                        <a:rPr sz="2800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1.5]]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147" y="317373"/>
            <a:ext cx="17868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160" dirty="0">
                <a:solidFill>
                  <a:srgbClr val="00AFEF"/>
                </a:solidFill>
                <a:latin typeface="Times New Roman"/>
                <a:cs typeface="Times New Roman"/>
              </a:rPr>
              <a:t>T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r</a:t>
            </a:r>
            <a:r>
              <a:rPr sz="2800" i="1" dirty="0">
                <a:solidFill>
                  <a:srgbClr val="00AFEF"/>
                </a:solidFill>
                <a:latin typeface="Times New Roman"/>
                <a:cs typeface="Times New Roman"/>
              </a:rPr>
              <a:t>a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n</a:t>
            </a:r>
            <a:r>
              <a:rPr sz="2800" i="1" dirty="0">
                <a:solidFill>
                  <a:srgbClr val="00AFEF"/>
                </a:solidFill>
                <a:latin typeface="Times New Roman"/>
                <a:cs typeface="Times New Roman"/>
              </a:rPr>
              <a:t>s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p</a:t>
            </a:r>
            <a:r>
              <a:rPr sz="2800" i="1" dirty="0">
                <a:solidFill>
                  <a:srgbClr val="00AFEF"/>
                </a:solidFill>
                <a:latin typeface="Times New Roman"/>
                <a:cs typeface="Times New Roman"/>
              </a:rPr>
              <a:t>o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si</a:t>
            </a:r>
            <a:r>
              <a:rPr sz="2800" i="1" spc="5" dirty="0">
                <a:solidFill>
                  <a:srgbClr val="00AFEF"/>
                </a:solidFill>
                <a:latin typeface="Times New Roman"/>
                <a:cs typeface="Times New Roman"/>
              </a:rPr>
              <a:t>n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g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39544" y="981913"/>
            <a:ext cx="270446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sz="28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800" spc="-6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np.transpose(b) </a:t>
            </a:r>
            <a:r>
              <a:rPr sz="2800" spc="-6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print(i)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i.T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2147" y="2674366"/>
            <a:ext cx="3296285" cy="1139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Changing</a:t>
            </a:r>
            <a:r>
              <a:rPr sz="2800" i="1" spc="-9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00AFEF"/>
                </a:solidFill>
                <a:latin typeface="Times New Roman"/>
                <a:cs typeface="Times New Roman"/>
              </a:rPr>
              <a:t>Array</a:t>
            </a:r>
            <a:r>
              <a:rPr sz="2800" i="1" spc="-30" dirty="0">
                <a:solidFill>
                  <a:srgbClr val="00AFEF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00AFEF"/>
                </a:solidFill>
                <a:latin typeface="Times New Roman"/>
                <a:cs typeface="Times New Roman"/>
              </a:rPr>
              <a:t>Shape</a:t>
            </a:r>
            <a:endParaRPr sz="2800">
              <a:latin typeface="Times New Roman"/>
              <a:cs typeface="Times New Roman"/>
            </a:endParaRPr>
          </a:p>
          <a:p>
            <a:pPr marL="1129665">
              <a:lnSpc>
                <a:spcPct val="100000"/>
              </a:lnSpc>
              <a:spcBef>
                <a:spcPts val="2050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b.ravel()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6815" y="3361131"/>
            <a:ext cx="23514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Flatten</a:t>
            </a:r>
            <a:r>
              <a:rPr sz="2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array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9544" y="4215129"/>
            <a:ext cx="21780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g.reshape(3,-2)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7275" y="4215129"/>
            <a:ext cx="44710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Reshape,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don’t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change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6797" y="5431637"/>
            <a:ext cx="180213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[[-0.5 0.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[-3.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-3.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-3.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]]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8485" y="5365496"/>
            <a:ext cx="259969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0500" algn="r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array([[-0.5,</a:t>
            </a:r>
            <a:r>
              <a:rPr sz="28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],</a:t>
            </a:r>
            <a:endParaRPr sz="2800">
              <a:latin typeface="Times New Roman"/>
              <a:cs typeface="Times New Roman"/>
            </a:endParaRPr>
          </a:p>
          <a:p>
            <a:pPr marR="179070" algn="r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0.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-3.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],</a:t>
            </a:r>
            <a:endParaRPr sz="2800">
              <a:latin typeface="Times New Roman"/>
              <a:cs typeface="Times New Roman"/>
            </a:endParaRPr>
          </a:p>
          <a:p>
            <a:pPr marL="991235">
              <a:lnSpc>
                <a:spcPct val="100000"/>
              </a:lnSpc>
            </a:pP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[-3.</a:t>
            </a:r>
            <a:r>
              <a:rPr sz="28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800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-3.</a:t>
            </a:r>
            <a:r>
              <a:rPr sz="28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FFFFFF"/>
                </a:solidFill>
                <a:latin typeface="Times New Roman"/>
                <a:cs typeface="Times New Roman"/>
              </a:rPr>
              <a:t>]])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847838" y="5718416"/>
            <a:ext cx="1313815" cy="340995"/>
          </a:xfrm>
          <a:custGeom>
            <a:avLst/>
            <a:gdLst/>
            <a:ahLst/>
            <a:cxnLst/>
            <a:rect l="l" t="t" r="r" b="b"/>
            <a:pathLst>
              <a:path w="1313815" h="340995">
                <a:moveTo>
                  <a:pt x="74802" y="256006"/>
                </a:moveTo>
                <a:lnTo>
                  <a:pt x="0" y="317931"/>
                </a:lnTo>
                <a:lnTo>
                  <a:pt x="94487" y="340626"/>
                </a:lnTo>
                <a:lnTo>
                  <a:pt x="88685" y="315683"/>
                </a:lnTo>
                <a:lnTo>
                  <a:pt x="73786" y="315683"/>
                </a:lnTo>
                <a:lnTo>
                  <a:pt x="67309" y="287477"/>
                </a:lnTo>
                <a:lnTo>
                  <a:pt x="81365" y="284217"/>
                </a:lnTo>
                <a:lnTo>
                  <a:pt x="74802" y="256006"/>
                </a:lnTo>
                <a:close/>
              </a:path>
              <a:path w="1313815" h="340995">
                <a:moveTo>
                  <a:pt x="81365" y="284217"/>
                </a:moveTo>
                <a:lnTo>
                  <a:pt x="67309" y="287477"/>
                </a:lnTo>
                <a:lnTo>
                  <a:pt x="73786" y="315683"/>
                </a:lnTo>
                <a:lnTo>
                  <a:pt x="87923" y="312405"/>
                </a:lnTo>
                <a:lnTo>
                  <a:pt x="81365" y="284217"/>
                </a:lnTo>
                <a:close/>
              </a:path>
              <a:path w="1313815" h="340995">
                <a:moveTo>
                  <a:pt x="87923" y="312405"/>
                </a:moveTo>
                <a:lnTo>
                  <a:pt x="73786" y="315683"/>
                </a:lnTo>
                <a:lnTo>
                  <a:pt x="88685" y="315683"/>
                </a:lnTo>
                <a:lnTo>
                  <a:pt x="87923" y="312405"/>
                </a:lnTo>
                <a:close/>
              </a:path>
              <a:path w="1313815" h="340995">
                <a:moveTo>
                  <a:pt x="1306956" y="0"/>
                </a:moveTo>
                <a:lnTo>
                  <a:pt x="81365" y="284217"/>
                </a:lnTo>
                <a:lnTo>
                  <a:pt x="87923" y="312405"/>
                </a:lnTo>
                <a:lnTo>
                  <a:pt x="1313433" y="28206"/>
                </a:lnTo>
                <a:lnTo>
                  <a:pt x="130695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237726" y="5533745"/>
            <a:ext cx="1291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reshape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6602" y="602995"/>
            <a:ext cx="2054860" cy="1957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 [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2,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3]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4,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,6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type(A)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2000" spc="-1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 n</a:t>
            </a:r>
            <a:r>
              <a:rPr sz="2000" spc="1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.asarra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y(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type(A)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9960" y="602995"/>
            <a:ext cx="4269740" cy="4904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print("Maximum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element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",np.max(A))</a:t>
            </a:r>
            <a:endParaRPr sz="2000">
              <a:latin typeface="Times New Roman"/>
              <a:cs typeface="Times New Roman"/>
            </a:endParaRPr>
          </a:p>
          <a:p>
            <a:pPr marL="12700" marR="218059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print(np.min(A))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print(np.mean(A))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print(np.median(A))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print(np.std(A))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2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np.transpose(A)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print(B)</a:t>
            </a:r>
            <a:endParaRPr sz="2000">
              <a:latin typeface="Times New Roman"/>
              <a:cs typeface="Times New Roman"/>
            </a:endParaRPr>
          </a:p>
          <a:p>
            <a:pPr marL="12700" marR="180975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4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np.reshape(A,(1,6))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print(C)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rows</a:t>
            </a:r>
            <a:r>
              <a:rPr sz="20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np.shape(C)[0]</a:t>
            </a:r>
            <a:endParaRPr sz="2000">
              <a:latin typeface="Times New Roman"/>
              <a:cs typeface="Times New Roman"/>
            </a:endParaRPr>
          </a:p>
          <a:p>
            <a:pPr marL="12700" marR="168275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columns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 np.shape(C)[1]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print("number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 rows = ",rows)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print("number</a:t>
            </a:r>
            <a:r>
              <a:rPr sz="2000" spc="-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columns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",</a:t>
            </a: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 columns) </a:t>
            </a:r>
            <a:r>
              <a:rPr sz="2000" spc="-48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print(A[0])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print(A[:,0])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print(A[:,1])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0015" y="2126995"/>
            <a:ext cx="2197735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912494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print(A) 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sz="2000" spc="5" dirty="0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int(A[</a:t>
            </a:r>
            <a:r>
              <a:rPr sz="2000" spc="-10" dirty="0">
                <a:solidFill>
                  <a:srgbClr val="FFFFFF"/>
                </a:solidFill>
                <a:latin typeface="Times New Roman"/>
                <a:cs typeface="Times New Roman"/>
              </a:rPr>
              <a:t>:,</a:t>
            </a: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0])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print(A[:,1])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Times New Roman"/>
                <a:cs typeface="Times New Roman"/>
              </a:rPr>
              <a:t>print(A[:,2])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print(np.sum(A[:,0]))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5" dirty="0">
                <a:solidFill>
                  <a:srgbClr val="FFFFFF"/>
                </a:solidFill>
                <a:latin typeface="Times New Roman"/>
                <a:cs typeface="Times New Roman"/>
              </a:rPr>
              <a:t>print(np.sum(A[0,:]))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4323AF82-8753-E7E7-DF4F-6BD3E24DA6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066800"/>
            <a:ext cx="95250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9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2043</Words>
  <Application>Microsoft Office PowerPoint</Application>
  <PresentationFormat>Widescreen</PresentationFormat>
  <Paragraphs>303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Calibri</vt:lpstr>
      <vt:lpstr>Cambria</vt:lpstr>
      <vt:lpstr>Georgia</vt:lpstr>
      <vt:lpstr>Palatino Linotype</vt:lpstr>
      <vt:lpstr>Times New Roman</vt:lpstr>
      <vt:lpstr>Trebuchet MS</vt:lpstr>
      <vt:lpstr>Office Theme</vt:lpstr>
      <vt:lpstr>PowerPoint Presentation</vt:lpstr>
      <vt:lpstr>INTRODUCTION TO NUMPY</vt:lpstr>
      <vt:lpstr>What is NumPy?</vt:lpstr>
      <vt:lpstr>What is NumPy?</vt:lpstr>
      <vt:lpstr>import numpy as np</vt:lpstr>
      <vt:lpstr>Ans : ?</vt:lpstr>
      <vt:lpstr>PowerPoint Presentation</vt:lpstr>
      <vt:lpstr>print(np . ndim(A))</vt:lpstr>
      <vt:lpstr>import numpy as np a = np.arange(15).reshape(3, 5)  print(a)</vt:lpstr>
      <vt:lpstr>Array Creation</vt:lpstr>
      <vt:lpstr>[[1.+0.j 3.+0.j</vt:lpstr>
      <vt:lpstr>PowerPoint Presentation</vt:lpstr>
      <vt:lpstr>PowerPoint Presentation</vt:lpstr>
      <vt:lpstr>Basic Operations</vt:lpstr>
      <vt:lpstr>PowerPoint Presentation</vt:lpstr>
      <vt:lpstr>a=np. array([1,2,3])</vt:lpstr>
      <vt:lpstr>PowerPoint Presentation</vt:lpstr>
      <vt:lpstr>Aggregate Functions</vt:lpstr>
      <vt:lpstr>Copying Arrays</vt:lpstr>
      <vt:lpstr>Subsetting</vt:lpstr>
      <vt:lpstr>Slicing</vt:lpstr>
      <vt:lpstr>Ans: ?</vt:lpstr>
      <vt:lpstr>Indexing</vt:lpstr>
      <vt:lpstr>Transposing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kamal korlakunta</cp:lastModifiedBy>
  <cp:revision>1</cp:revision>
  <dcterms:created xsi:type="dcterms:W3CDTF">2023-10-02T17:31:17Z</dcterms:created>
  <dcterms:modified xsi:type="dcterms:W3CDTF">2023-10-02T17:38:10Z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</Properties>
</file>