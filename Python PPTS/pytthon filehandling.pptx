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4000" y="6415878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C0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C0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C0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591972"/>
            <a:ext cx="10191115" cy="1112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C0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77441"/>
            <a:ext cx="8879205" cy="4298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D2CDE1-BA6D-73E2-AD86-686359758D05}"/>
              </a:ext>
            </a:extLst>
          </p:cNvPr>
          <p:cNvSpPr/>
          <p:nvPr userDrawn="1"/>
        </p:nvSpPr>
        <p:spPr>
          <a:xfrm>
            <a:off x="9144000" y="6377940"/>
            <a:ext cx="3048000" cy="480060"/>
          </a:xfrm>
          <a:prstGeom prst="rect">
            <a:avLst/>
          </a:prstGeom>
          <a:blipFill dpi="0" rotWithShape="1">
            <a:blip r:embed="rId7" cstate="print">
              <a:alphaModFix amt="8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2D5D1DB5-F484-7295-0A72-6B7FF0B00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8575"/>
            <a:ext cx="10820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85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2453" y="2489072"/>
            <a:ext cx="49269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5" dirty="0">
                <a:solidFill>
                  <a:srgbClr val="006FC0"/>
                </a:solidFill>
                <a:latin typeface="Constantia"/>
                <a:cs typeface="Constantia"/>
              </a:rPr>
              <a:t>File</a:t>
            </a:r>
            <a:r>
              <a:rPr sz="6000" spc="-204" dirty="0">
                <a:solidFill>
                  <a:srgbClr val="006FC0"/>
                </a:solidFill>
                <a:latin typeface="Constantia"/>
                <a:cs typeface="Constantia"/>
              </a:rPr>
              <a:t> </a:t>
            </a:r>
            <a:r>
              <a:rPr sz="6000" spc="-10" dirty="0">
                <a:solidFill>
                  <a:srgbClr val="006FC0"/>
                </a:solidFill>
                <a:latin typeface="Constantia"/>
                <a:cs typeface="Constantia"/>
              </a:rPr>
              <a:t>Handling</a:t>
            </a:r>
            <a:endParaRPr sz="60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10064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0" dirty="0">
                <a:solidFill>
                  <a:srgbClr val="001F5F"/>
                </a:solidFill>
                <a:latin typeface="Constantia"/>
                <a:cs typeface="Constantia"/>
              </a:rPr>
              <a:t>F</a:t>
            </a:r>
            <a:r>
              <a:rPr sz="4400" dirty="0">
                <a:solidFill>
                  <a:srgbClr val="001F5F"/>
                </a:solidFill>
                <a:latin typeface="Constantia"/>
                <a:cs typeface="Constantia"/>
              </a:rPr>
              <a:t>ile</a:t>
            </a:r>
            <a:endParaRPr sz="44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8831580" cy="30937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named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location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disk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store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related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information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permanently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store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-5" dirty="0">
                <a:latin typeface="Calibri"/>
                <a:cs typeface="Calibri"/>
              </a:rPr>
              <a:t> 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non-volatile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memory</a:t>
            </a:r>
            <a:endParaRPr sz="2800">
              <a:latin typeface="Calibri"/>
              <a:cs typeface="Calibri"/>
            </a:endParaRPr>
          </a:p>
          <a:p>
            <a:pPr marL="241935" marR="107950" indent="-241935">
              <a:lnSpc>
                <a:spcPct val="119600"/>
              </a:lnSpc>
              <a:spcBef>
                <a:spcPts val="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In Python,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operation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take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place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following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order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file</a:t>
            </a:r>
            <a:endParaRPr sz="2800">
              <a:latin typeface="Calibri"/>
              <a:cs typeface="Calibri"/>
            </a:endParaRPr>
          </a:p>
          <a:p>
            <a:pPr marL="927100" marR="2986405">
              <a:lnSpc>
                <a:spcPct val="119700"/>
              </a:lnSpc>
              <a:spcBef>
                <a:spcPts val="10"/>
              </a:spcBef>
            </a:pPr>
            <a:r>
              <a:rPr sz="2800" spc="-15" dirty="0">
                <a:latin typeface="Calibri"/>
                <a:cs typeface="Calibri"/>
              </a:rPr>
              <a:t>Read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0" dirty="0">
                <a:latin typeface="Calibri"/>
                <a:cs typeface="Calibri"/>
              </a:rPr>
              <a:t>write </a:t>
            </a:r>
            <a:r>
              <a:rPr sz="2800" spc="-15" dirty="0">
                <a:latin typeface="Calibri"/>
                <a:cs typeface="Calibri"/>
              </a:rPr>
              <a:t>(perform operation)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Close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21170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6F2F9F"/>
                </a:solidFill>
                <a:latin typeface="Constantia"/>
                <a:cs typeface="Constantia"/>
              </a:rPr>
              <a:t>Open</a:t>
            </a:r>
            <a:r>
              <a:rPr sz="3200" spc="-165" dirty="0">
                <a:solidFill>
                  <a:srgbClr val="6F2F9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6F2F9F"/>
                </a:solidFill>
                <a:latin typeface="Constantia"/>
                <a:cs typeface="Constantia"/>
              </a:rPr>
              <a:t>a</a:t>
            </a:r>
            <a:r>
              <a:rPr sz="3200" spc="-130" dirty="0">
                <a:solidFill>
                  <a:srgbClr val="6F2F9F"/>
                </a:solidFill>
                <a:latin typeface="Constantia"/>
                <a:cs typeface="Constantia"/>
              </a:rPr>
              <a:t> </a:t>
            </a:r>
            <a:r>
              <a:rPr sz="3200" spc="15" dirty="0">
                <a:solidFill>
                  <a:srgbClr val="6F2F9F"/>
                </a:solidFill>
                <a:latin typeface="Constantia"/>
                <a:cs typeface="Constantia"/>
              </a:rPr>
              <a:t>file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4216" y="1152613"/>
            <a:ext cx="10027285" cy="436308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60" dirty="0">
                <a:latin typeface="Calibri"/>
                <a:cs typeface="Calibri"/>
              </a:rPr>
              <a:t>We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open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file using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built-in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open()</a:t>
            </a:r>
            <a:endParaRPr sz="2800">
              <a:latin typeface="Calibri"/>
              <a:cs typeface="Calibri"/>
            </a:endParaRPr>
          </a:p>
          <a:p>
            <a:pPr marL="240665" marR="189865" indent="-228600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returns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also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Calibri"/>
                <a:cs typeface="Calibri"/>
              </a:rPr>
              <a:t>handle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read</a:t>
            </a:r>
            <a:r>
              <a:rPr sz="2800" spc="-5" dirty="0">
                <a:latin typeface="Calibri"/>
                <a:cs typeface="Calibri"/>
              </a:rPr>
              <a:t> 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modify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endParaRPr sz="280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60" dirty="0">
                <a:latin typeface="Calibri"/>
                <a:cs typeface="Calibri"/>
              </a:rPr>
              <a:t>We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specify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mode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while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opening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file.</a:t>
            </a:r>
            <a:endParaRPr sz="2800">
              <a:latin typeface="Calibri"/>
              <a:cs typeface="Calibri"/>
            </a:endParaRPr>
          </a:p>
          <a:p>
            <a:pPr marL="926465" marR="7792084">
              <a:lnSpc>
                <a:spcPct val="123800"/>
              </a:lnSpc>
              <a:spcBef>
                <a:spcPts val="120"/>
              </a:spcBef>
            </a:pPr>
            <a:r>
              <a:rPr sz="2600" dirty="0">
                <a:latin typeface="Calibri"/>
                <a:cs typeface="Calibri"/>
              </a:rPr>
              <a:t>r – </a:t>
            </a:r>
            <a:r>
              <a:rPr sz="2600" spc="-15" dirty="0">
                <a:latin typeface="Calibri"/>
                <a:cs typeface="Calibri"/>
              </a:rPr>
              <a:t>Read 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Write</a:t>
            </a:r>
            <a:endParaRPr sz="26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695"/>
              </a:spcBef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Append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spc="-25" dirty="0">
                <a:latin typeface="Calibri"/>
                <a:cs typeface="Calibri"/>
              </a:rPr>
              <a:t>Syntax:</a:t>
            </a:r>
            <a:endParaRPr sz="28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735"/>
              </a:spcBef>
            </a:pPr>
            <a:r>
              <a:rPr sz="2200" b="1" spc="-5" dirty="0">
                <a:latin typeface="Courier New"/>
                <a:cs typeface="Courier New"/>
              </a:rPr>
              <a:t>file</a:t>
            </a:r>
            <a:r>
              <a:rPr sz="2200" b="1" spc="-1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object=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open(filename</a:t>
            </a:r>
            <a:r>
              <a:rPr sz="2200" b="1" spc="1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[,accessmode][,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buffering])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01142"/>
            <a:ext cx="61112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  <a:tabLst>
                <a:tab pos="1740535" algn="l"/>
              </a:tabLst>
            </a:pPr>
            <a:r>
              <a:rPr sz="2400" b="0" spc="-5" dirty="0">
                <a:solidFill>
                  <a:srgbClr val="006FC0"/>
                </a:solidFill>
                <a:latin typeface="Calibri"/>
                <a:cs typeface="Calibri"/>
              </a:rPr>
              <a:t>filename: 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name of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file that </a:t>
            </a:r>
            <a:r>
              <a:rPr sz="2400" b="0" spc="-15" dirty="0">
                <a:solidFill>
                  <a:srgbClr val="000000"/>
                </a:solidFill>
                <a:latin typeface="Calibri"/>
                <a:cs typeface="Calibri"/>
              </a:rPr>
              <a:t>we want to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access </a:t>
            </a:r>
            <a:r>
              <a:rPr sz="2400" b="0" spc="-5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accessmode:	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read,</a:t>
            </a:r>
            <a:r>
              <a:rPr sz="24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write,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append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etc.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15936"/>
            <a:ext cx="10290175" cy="35153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R="7030720" algn="r">
              <a:lnSpc>
                <a:spcPct val="100000"/>
              </a:lnSpc>
              <a:spcBef>
                <a:spcPts val="805"/>
              </a:spcBef>
            </a:pP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buffering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buffering</a:t>
            </a:r>
            <a:endParaRPr sz="2400">
              <a:latin typeface="Calibri"/>
              <a:cs typeface="Calibri"/>
            </a:endParaRPr>
          </a:p>
          <a:p>
            <a:pPr marR="7047865" algn="r">
              <a:lnSpc>
                <a:spcPct val="100000"/>
              </a:lnSpc>
              <a:spcBef>
                <a:spcPts val="705"/>
              </a:spcBef>
            </a:pPr>
            <a:r>
              <a:rPr sz="2400" spc="-5" dirty="0">
                <a:latin typeface="Calibri"/>
                <a:cs typeface="Calibri"/>
              </a:rPr>
              <a:t>1-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buffering</a:t>
            </a:r>
            <a:endParaRPr sz="2400">
              <a:latin typeface="Calibri"/>
              <a:cs typeface="Calibri"/>
            </a:endParaRPr>
          </a:p>
          <a:p>
            <a:pPr marL="12700" marR="220345" indent="1256030">
              <a:lnSpc>
                <a:spcPts val="2590"/>
              </a:lnSpc>
              <a:spcBef>
                <a:spcPts val="1050"/>
              </a:spcBef>
            </a:pPr>
            <a:r>
              <a:rPr sz="2400" spc="-15" dirty="0">
                <a:latin typeface="Calibri"/>
                <a:cs typeface="Calibri"/>
              </a:rPr>
              <a:t>integer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greater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1-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buffering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performed </a:t>
            </a:r>
            <a:r>
              <a:rPr sz="2400" dirty="0">
                <a:latin typeface="Calibri"/>
                <a:cs typeface="Calibri"/>
              </a:rPr>
              <a:t>with 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indicated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buffer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  <a:p>
            <a:pPr marL="684530" marR="5080" indent="59055">
              <a:lnSpc>
                <a:spcPct val="130000"/>
              </a:lnSpc>
              <a:spcBef>
                <a:spcPts val="70"/>
              </a:spcBef>
            </a:pPr>
            <a:r>
              <a:rPr sz="2200" b="1" dirty="0">
                <a:latin typeface="Courier New"/>
                <a:cs typeface="Courier New"/>
              </a:rPr>
              <a:t>f=open(“abc.txt”,’r’)</a:t>
            </a:r>
            <a:r>
              <a:rPr sz="2200" b="1" spc="15" dirty="0"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200" b="1" spc="-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open</a:t>
            </a:r>
            <a:r>
              <a:rPr sz="2200" b="1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ourier New"/>
                <a:cs typeface="Courier New"/>
              </a:rPr>
              <a:t>file</a:t>
            </a:r>
            <a:r>
              <a:rPr sz="2200" b="1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in</a:t>
            </a:r>
            <a:r>
              <a:rPr sz="2200" b="1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ourier New"/>
                <a:cs typeface="Courier New"/>
              </a:rPr>
              <a:t>current</a:t>
            </a:r>
            <a:r>
              <a:rPr sz="2200" b="1" spc="-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ourier New"/>
                <a:cs typeface="Courier New"/>
              </a:rPr>
              <a:t>directory </a:t>
            </a:r>
            <a:r>
              <a:rPr sz="2200" b="1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f=open(“C:/Python33/sample.txt”,’r’)</a:t>
            </a:r>
            <a:r>
              <a:rPr sz="2200" b="1" dirty="0">
                <a:solidFill>
                  <a:srgbClr val="00AF50"/>
                </a:solidFill>
                <a:latin typeface="Courier New"/>
                <a:cs typeface="Courier New"/>
              </a:rPr>
              <a:t>#specifying</a:t>
            </a:r>
            <a:r>
              <a:rPr sz="2200" b="1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ourier New"/>
                <a:cs typeface="Courier New"/>
              </a:rPr>
              <a:t>full</a:t>
            </a:r>
            <a:r>
              <a:rPr sz="2200" b="1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path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6550"/>
            <a:ext cx="404558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5" dirty="0">
                <a:solidFill>
                  <a:srgbClr val="001F5F"/>
                </a:solidFill>
                <a:latin typeface="Constantia"/>
                <a:cs typeface="Constantia"/>
              </a:rPr>
              <a:t>Attributes</a:t>
            </a:r>
            <a:r>
              <a:rPr sz="2900" spc="-15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2900" dirty="0">
                <a:solidFill>
                  <a:srgbClr val="001F5F"/>
                </a:solidFill>
                <a:latin typeface="Constantia"/>
                <a:cs typeface="Constantia"/>
              </a:rPr>
              <a:t>of</a:t>
            </a:r>
            <a:r>
              <a:rPr sz="2900" spc="4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2900" spc="15" dirty="0">
                <a:solidFill>
                  <a:srgbClr val="001F5F"/>
                </a:solidFill>
                <a:latin typeface="Constantia"/>
                <a:cs typeface="Constantia"/>
              </a:rPr>
              <a:t>file</a:t>
            </a:r>
            <a:r>
              <a:rPr sz="2900" spc="-15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2900" dirty="0">
                <a:solidFill>
                  <a:srgbClr val="001F5F"/>
                </a:solidFill>
                <a:latin typeface="Constantia"/>
                <a:cs typeface="Constantia"/>
              </a:rPr>
              <a:t>object</a:t>
            </a:r>
            <a:endParaRPr sz="29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7887" y="943736"/>
            <a:ext cx="9929495" cy="3902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spc="-10" dirty="0">
                <a:latin typeface="Calibri"/>
                <a:cs typeface="Calibri"/>
              </a:rPr>
              <a:t>Once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opened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contain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various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info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related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buAutoNum type="arabicPeriod"/>
              <a:tabLst>
                <a:tab pos="527685" algn="l"/>
                <a:tab pos="528320" algn="l"/>
              </a:tabLst>
            </a:pPr>
            <a:r>
              <a:rPr sz="2800" spc="-10" dirty="0">
                <a:latin typeface="Calibri"/>
                <a:cs typeface="Calibri"/>
              </a:rPr>
              <a:t>file.closed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Returns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true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closed,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False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otherwise</a:t>
            </a:r>
            <a:endParaRPr sz="28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66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Calibri"/>
                <a:cs typeface="Calibri"/>
              </a:rPr>
              <a:t>file.mode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Returns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access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wich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was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opened</a:t>
            </a:r>
            <a:endParaRPr sz="28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Calibri"/>
                <a:cs typeface="Calibri"/>
              </a:rPr>
              <a:t>file.name-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Name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endParaRPr sz="2800">
              <a:latin typeface="Calibri"/>
              <a:cs typeface="Calibri"/>
            </a:endParaRPr>
          </a:p>
          <a:p>
            <a:pPr marL="527685" marR="36195" indent="-527685">
              <a:lnSpc>
                <a:spcPts val="4020"/>
              </a:lnSpc>
              <a:spcBef>
                <a:spcPts val="10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10" dirty="0">
                <a:latin typeface="Calibri"/>
                <a:cs typeface="Calibri"/>
              </a:rPr>
              <a:t>file.softspace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Returns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space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explicitly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required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print,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otherwise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406907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15" dirty="0">
                <a:solidFill>
                  <a:srgbClr val="001F5F"/>
                </a:solidFill>
                <a:latin typeface="Constantia"/>
                <a:cs typeface="Constantia"/>
              </a:rPr>
              <a:t>Attributes</a:t>
            </a:r>
            <a:r>
              <a:rPr sz="3200" b="0" spc="-16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b="0" dirty="0">
                <a:solidFill>
                  <a:srgbClr val="001F5F"/>
                </a:solidFill>
                <a:latin typeface="Constantia"/>
                <a:cs typeface="Constantia"/>
              </a:rPr>
              <a:t>of</a:t>
            </a:r>
            <a:r>
              <a:rPr sz="3200" b="0" spc="2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b="0" spc="15" dirty="0">
                <a:solidFill>
                  <a:srgbClr val="001F5F"/>
                </a:solidFill>
                <a:latin typeface="Constantia"/>
                <a:cs typeface="Constantia"/>
              </a:rPr>
              <a:t>file</a:t>
            </a:r>
            <a:r>
              <a:rPr sz="3200" b="0" spc="-16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b="0" dirty="0">
                <a:solidFill>
                  <a:srgbClr val="001F5F"/>
                </a:solidFill>
                <a:latin typeface="Constantia"/>
                <a:cs typeface="Constantia"/>
              </a:rPr>
              <a:t>object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5715" y="1611248"/>
            <a:ext cx="7878445" cy="422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Example</a:t>
            </a:r>
            <a:endParaRPr sz="2400">
              <a:latin typeface="Calibri"/>
              <a:cs typeface="Calibri"/>
            </a:endParaRPr>
          </a:p>
          <a:p>
            <a:pPr marL="927100" marR="736600">
              <a:lnSpc>
                <a:spcPct val="104200"/>
              </a:lnSpc>
            </a:pPr>
            <a:r>
              <a:rPr sz="2400" b="1" spc="-10" dirty="0">
                <a:latin typeface="Courier New"/>
                <a:cs typeface="Courier New"/>
              </a:rPr>
              <a:t>fo.open(“abc.txt”,”w”) </a:t>
            </a:r>
            <a:r>
              <a:rPr sz="2400" b="1" spc="25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print(“Name </a:t>
            </a:r>
            <a:r>
              <a:rPr sz="2400" b="1" spc="-5" dirty="0">
                <a:latin typeface="Courier New"/>
                <a:cs typeface="Courier New"/>
              </a:rPr>
              <a:t>of </a:t>
            </a:r>
            <a:r>
              <a:rPr sz="2400" b="1" spc="-10" dirty="0">
                <a:latin typeface="Courier New"/>
                <a:cs typeface="Courier New"/>
              </a:rPr>
              <a:t>the file:”,fo.name) </a:t>
            </a:r>
            <a:r>
              <a:rPr sz="2400" b="1" spc="-14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print(“Closed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or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not </a:t>
            </a:r>
            <a:r>
              <a:rPr sz="2400" b="1" spc="-10" dirty="0">
                <a:latin typeface="Courier New"/>
                <a:cs typeface="Courier New"/>
              </a:rPr>
              <a:t>:”,fo.closed)</a:t>
            </a:r>
            <a:endParaRPr sz="2400">
              <a:latin typeface="Courier New"/>
              <a:cs typeface="Courier New"/>
            </a:endParaRPr>
          </a:p>
          <a:p>
            <a:pPr marL="927100" marR="5080">
              <a:lnSpc>
                <a:spcPct val="104600"/>
              </a:lnSpc>
              <a:spcBef>
                <a:spcPts val="10"/>
              </a:spcBef>
            </a:pPr>
            <a:r>
              <a:rPr sz="2400" b="1" spc="-10" dirty="0">
                <a:latin typeface="Courier New"/>
                <a:cs typeface="Courier New"/>
              </a:rPr>
              <a:t>print(“Opening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mode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:”,fo.mode) 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print(“Softspace</a:t>
            </a:r>
            <a:r>
              <a:rPr sz="2400" b="1" spc="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flag</a:t>
            </a:r>
            <a:r>
              <a:rPr sz="2400" b="1" spc="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:”,fo.softspace)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700">
              <a:latin typeface="Courier New"/>
              <a:cs typeface="Courier New"/>
            </a:endParaRPr>
          </a:p>
          <a:p>
            <a:pPr marL="12700" marR="4869815">
              <a:lnSpc>
                <a:spcPct val="104700"/>
              </a:lnSpc>
            </a:pPr>
            <a:r>
              <a:rPr sz="2400" dirty="0">
                <a:latin typeface="Calibri"/>
                <a:cs typeface="Calibri"/>
              </a:rPr>
              <a:t>Name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file: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abc.txt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Closed or </a:t>
            </a:r>
            <a:r>
              <a:rPr sz="2400" spc="-10" dirty="0">
                <a:latin typeface="Calibri"/>
                <a:cs typeface="Calibri"/>
              </a:rPr>
              <a:t>not:False </a:t>
            </a:r>
            <a:r>
              <a:rPr sz="2400" spc="-5" dirty="0">
                <a:latin typeface="Calibri"/>
                <a:cs typeface="Calibri"/>
              </a:rPr>
              <a:t> Opening </a:t>
            </a:r>
            <a:r>
              <a:rPr sz="2400" dirty="0">
                <a:latin typeface="Calibri"/>
                <a:cs typeface="Calibri"/>
              </a:rPr>
              <a:t>mode:w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Softspace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flag:0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322" y="703529"/>
            <a:ext cx="421195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65" dirty="0">
                <a:solidFill>
                  <a:srgbClr val="001F5F"/>
                </a:solidFill>
                <a:latin typeface="Constantia"/>
                <a:cs typeface="Constantia"/>
              </a:rPr>
              <a:t>M</a:t>
            </a:r>
            <a:r>
              <a:rPr sz="2900" dirty="0">
                <a:solidFill>
                  <a:srgbClr val="001F5F"/>
                </a:solidFill>
                <a:latin typeface="Constantia"/>
                <a:cs typeface="Constantia"/>
              </a:rPr>
              <a:t>odes</a:t>
            </a:r>
            <a:r>
              <a:rPr sz="2900" spc="-7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2900" spc="-25" dirty="0">
                <a:solidFill>
                  <a:srgbClr val="001F5F"/>
                </a:solidFill>
                <a:latin typeface="Constantia"/>
                <a:cs typeface="Constantia"/>
              </a:rPr>
              <a:t>f</a:t>
            </a:r>
            <a:r>
              <a:rPr sz="2900" dirty="0">
                <a:solidFill>
                  <a:srgbClr val="001F5F"/>
                </a:solidFill>
                <a:latin typeface="Constantia"/>
                <a:cs typeface="Constantia"/>
              </a:rPr>
              <a:t>or</a:t>
            </a:r>
            <a:r>
              <a:rPr sz="2900" spc="-17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2900" dirty="0">
                <a:solidFill>
                  <a:srgbClr val="001F5F"/>
                </a:solidFill>
                <a:latin typeface="Constantia"/>
                <a:cs typeface="Constantia"/>
              </a:rPr>
              <a:t>open</a:t>
            </a:r>
            <a:r>
              <a:rPr sz="2900" spc="-10" dirty="0">
                <a:solidFill>
                  <a:srgbClr val="001F5F"/>
                </a:solidFill>
                <a:latin typeface="Constantia"/>
                <a:cs typeface="Constantia"/>
              </a:rPr>
              <a:t>i</a:t>
            </a:r>
            <a:r>
              <a:rPr sz="2900" dirty="0">
                <a:solidFill>
                  <a:srgbClr val="001F5F"/>
                </a:solidFill>
                <a:latin typeface="Constantia"/>
                <a:cs typeface="Constantia"/>
              </a:rPr>
              <a:t>ng</a:t>
            </a:r>
            <a:r>
              <a:rPr sz="2900" spc="-8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2900" dirty="0">
                <a:solidFill>
                  <a:srgbClr val="001F5F"/>
                </a:solidFill>
                <a:latin typeface="Constantia"/>
                <a:cs typeface="Constantia"/>
              </a:rPr>
              <a:t>a</a:t>
            </a:r>
            <a:r>
              <a:rPr sz="2900" spc="-8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2900" spc="70" dirty="0">
                <a:solidFill>
                  <a:srgbClr val="001F5F"/>
                </a:solidFill>
                <a:latin typeface="Constantia"/>
                <a:cs typeface="Constantia"/>
              </a:rPr>
              <a:t>f</a:t>
            </a:r>
            <a:r>
              <a:rPr sz="2900" dirty="0">
                <a:solidFill>
                  <a:srgbClr val="001F5F"/>
                </a:solidFill>
                <a:latin typeface="Constantia"/>
                <a:cs typeface="Constantia"/>
              </a:rPr>
              <a:t>ile</a:t>
            </a:r>
            <a:endParaRPr sz="2900">
              <a:latin typeface="Constantia"/>
              <a:cs typeface="Constant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39405" y="1456689"/>
          <a:ext cx="9571355" cy="393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9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2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Reading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onl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rb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Reading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binary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format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r+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Reading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writing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rb+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Reading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writing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binary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format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w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Writing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only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wb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Writing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binary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91440" marR="24892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Overwrites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file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if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exists.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If the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file does not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exist, create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2400" spc="-5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file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writing.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46380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5" dirty="0">
                <a:solidFill>
                  <a:srgbClr val="001F5F"/>
                </a:solidFill>
                <a:latin typeface="Constantia"/>
                <a:cs typeface="Constantia"/>
              </a:rPr>
              <a:t>M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od</a:t>
            </a:r>
            <a:r>
              <a:rPr sz="3200" spc="5" dirty="0">
                <a:solidFill>
                  <a:srgbClr val="001F5F"/>
                </a:solidFill>
                <a:latin typeface="Constantia"/>
                <a:cs typeface="Constantia"/>
              </a:rPr>
              <a:t>e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s</a:t>
            </a:r>
            <a:r>
              <a:rPr sz="3200" spc="-12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spc="-20" dirty="0">
                <a:solidFill>
                  <a:srgbClr val="001F5F"/>
                </a:solidFill>
                <a:latin typeface="Constantia"/>
                <a:cs typeface="Constantia"/>
              </a:rPr>
              <a:t>f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or</a:t>
            </a:r>
            <a:r>
              <a:rPr sz="3200" spc="-20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openi</a:t>
            </a:r>
            <a:r>
              <a:rPr sz="3200" spc="5" dirty="0">
                <a:solidFill>
                  <a:srgbClr val="001F5F"/>
                </a:solidFill>
                <a:latin typeface="Constantia"/>
                <a:cs typeface="Constantia"/>
              </a:rPr>
              <a:t>n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g</a:t>
            </a:r>
            <a:r>
              <a:rPr sz="3200" spc="-9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a</a:t>
            </a:r>
            <a:r>
              <a:rPr sz="3200" spc="-9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spc="70" dirty="0">
                <a:solidFill>
                  <a:srgbClr val="001F5F"/>
                </a:solidFill>
                <a:latin typeface="Constantia"/>
                <a:cs typeface="Constantia"/>
              </a:rPr>
              <a:t>f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ile</a:t>
            </a:r>
            <a:endParaRPr sz="3200">
              <a:latin typeface="Constantia"/>
              <a:cs typeface="Constant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59864" y="1422146"/>
          <a:ext cx="9580245" cy="4668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2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w+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862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both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writing and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reading.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Overwrites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exists.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91440" marR="184150">
                        <a:lnSpc>
                          <a:spcPct val="100000"/>
                        </a:lnSpc>
                        <a:tabLst>
                          <a:tab pos="7263130" algn="l"/>
                        </a:tabLst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does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not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exist,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create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reading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and	the</a:t>
                      </a:r>
                      <a:r>
                        <a:rPr sz="2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file </a:t>
                      </a:r>
                      <a:r>
                        <a:rPr sz="2400" spc="-5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writing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wb+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Writing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reading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binary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format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Open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for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appending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Appending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binary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format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a+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Appending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reading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6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ab+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Appending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reading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binary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format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x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Exclusive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creation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23634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5" dirty="0">
                <a:solidFill>
                  <a:srgbClr val="001F5F"/>
                </a:solidFill>
                <a:latin typeface="Constantia"/>
                <a:cs typeface="Constantia"/>
              </a:rPr>
              <a:t>Closing</a:t>
            </a:r>
            <a:r>
              <a:rPr sz="3200" b="0" spc="-12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b="0" dirty="0">
                <a:solidFill>
                  <a:srgbClr val="001F5F"/>
                </a:solidFill>
                <a:latin typeface="Constantia"/>
                <a:cs typeface="Constantia"/>
              </a:rPr>
              <a:t>a</a:t>
            </a:r>
            <a:r>
              <a:rPr sz="3200" b="0" spc="-12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b="0" spc="-15" dirty="0">
                <a:solidFill>
                  <a:srgbClr val="001F5F"/>
                </a:solidFill>
                <a:latin typeface="Constantia"/>
                <a:cs typeface="Constantia"/>
              </a:rPr>
              <a:t>File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94281"/>
            <a:ext cx="7328534" cy="503428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Calibri"/>
                <a:cs typeface="Calibri"/>
              </a:rPr>
              <a:t>File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closing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close()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method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Syntax</a:t>
            </a:r>
            <a:r>
              <a:rPr sz="2400" b="1" spc="-20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  <a:endParaRPr sz="2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85"/>
              </a:spcBef>
            </a:pPr>
            <a:r>
              <a:rPr sz="2400" b="1" spc="-10" dirty="0">
                <a:latin typeface="Courier New"/>
                <a:cs typeface="Courier New"/>
              </a:rPr>
              <a:t>fileobject.close()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60"/>
              </a:spcBef>
            </a:pPr>
            <a:r>
              <a:rPr sz="2400" b="1" spc="-10" dirty="0">
                <a:latin typeface="Courier New"/>
                <a:cs typeface="Courier New"/>
              </a:rPr>
              <a:t>f=open(“bin.tx”,wb)</a:t>
            </a:r>
            <a:endParaRPr sz="2400">
              <a:latin typeface="Courier New"/>
              <a:cs typeface="Courier New"/>
            </a:endParaRPr>
          </a:p>
          <a:p>
            <a:pPr marL="927100" marR="5080">
              <a:lnSpc>
                <a:spcPct val="124600"/>
              </a:lnSpc>
            </a:pPr>
            <a:r>
              <a:rPr sz="2400" b="1" spc="-10" dirty="0">
                <a:latin typeface="Courier New"/>
                <a:cs typeface="Courier New"/>
              </a:rPr>
              <a:t>proint(“Name </a:t>
            </a:r>
            <a:r>
              <a:rPr sz="2400" b="1" spc="-5" dirty="0">
                <a:latin typeface="Courier New"/>
                <a:cs typeface="Courier New"/>
              </a:rPr>
              <a:t>of the </a:t>
            </a:r>
            <a:r>
              <a:rPr sz="2400" b="1" spc="-10" dirty="0">
                <a:latin typeface="Courier New"/>
                <a:cs typeface="Courier New"/>
              </a:rPr>
              <a:t>file:”,fo.name) </a:t>
            </a:r>
            <a:r>
              <a:rPr sz="2400" b="1" spc="-14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fo.close()</a:t>
            </a:r>
            <a:endParaRPr sz="2400">
              <a:latin typeface="Courier New"/>
              <a:cs typeface="Courier New"/>
            </a:endParaRPr>
          </a:p>
          <a:p>
            <a:pPr marL="12700" marR="2741930" indent="914400">
              <a:lnSpc>
                <a:spcPct val="124600"/>
              </a:lnSpc>
              <a:spcBef>
                <a:spcPts val="15"/>
              </a:spcBef>
            </a:pPr>
            <a:r>
              <a:rPr sz="2400" b="1" spc="-10" dirty="0">
                <a:latin typeface="Courier New"/>
                <a:cs typeface="Courier New"/>
              </a:rPr>
              <a:t>print(“File closed”) </a:t>
            </a:r>
            <a:r>
              <a:rPr sz="2400" b="1" spc="-1430" dirty="0"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ourier New"/>
                <a:cs typeface="Courier New"/>
              </a:rPr>
              <a:t>Output</a:t>
            </a:r>
            <a:endParaRPr sz="2400">
              <a:latin typeface="Courier New"/>
              <a:cs typeface="Courier New"/>
            </a:endParaRPr>
          </a:p>
          <a:p>
            <a:pPr marL="12700" marR="2745105">
              <a:lnSpc>
                <a:spcPts val="3600"/>
              </a:lnSpc>
              <a:spcBef>
                <a:spcPts val="85"/>
              </a:spcBef>
            </a:pPr>
            <a:r>
              <a:rPr sz="2400" b="1" spc="-5" dirty="0">
                <a:latin typeface="Courier New"/>
                <a:cs typeface="Courier New"/>
              </a:rPr>
              <a:t>Name of the </a:t>
            </a:r>
            <a:r>
              <a:rPr sz="2400" b="1" spc="-10" dirty="0">
                <a:latin typeface="Courier New"/>
                <a:cs typeface="Courier New"/>
              </a:rPr>
              <a:t>file: bin.txt </a:t>
            </a:r>
            <a:r>
              <a:rPr sz="2400" b="1" spc="-143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File </a:t>
            </a:r>
            <a:r>
              <a:rPr sz="2400" b="1" spc="-10" dirty="0">
                <a:latin typeface="Courier New"/>
                <a:cs typeface="Courier New"/>
              </a:rPr>
              <a:t>closed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24225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001F5F"/>
                </a:solidFill>
                <a:latin typeface="Constantia"/>
                <a:cs typeface="Constantia"/>
              </a:rPr>
              <a:t>Reading</a:t>
            </a:r>
            <a:r>
              <a:rPr sz="3200" spc="-9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spc="-10" dirty="0">
                <a:solidFill>
                  <a:srgbClr val="001F5F"/>
                </a:solidFill>
                <a:latin typeface="Constantia"/>
                <a:cs typeface="Constantia"/>
              </a:rPr>
              <a:t>File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292469"/>
            <a:ext cx="10358120" cy="450469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25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File</a:t>
            </a:r>
            <a:r>
              <a:rPr sz="2400" spc="18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object</a:t>
            </a:r>
            <a:r>
              <a:rPr sz="2400" spc="20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includes</a:t>
            </a:r>
            <a:r>
              <a:rPr sz="2400" spc="22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the</a:t>
            </a:r>
            <a:r>
              <a:rPr sz="2400" spc="20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following</a:t>
            </a:r>
            <a:r>
              <a:rPr sz="2400" spc="21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methods</a:t>
            </a:r>
            <a:r>
              <a:rPr sz="2400" spc="19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171717"/>
                </a:solidFill>
                <a:latin typeface="Verdana"/>
                <a:cs typeface="Verdana"/>
              </a:rPr>
              <a:t>to</a:t>
            </a:r>
            <a:r>
              <a:rPr sz="2400" spc="19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read</a:t>
            </a:r>
            <a:r>
              <a:rPr sz="2400" spc="19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data</a:t>
            </a:r>
            <a:r>
              <a:rPr sz="2400" spc="20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from</a:t>
            </a:r>
            <a:r>
              <a:rPr sz="2400" spc="19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the</a:t>
            </a:r>
            <a:endParaRPr sz="240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  <a:spcBef>
                <a:spcPts val="1155"/>
              </a:spcBef>
            </a:pPr>
            <a:r>
              <a:rPr sz="2400" spc="-10" dirty="0">
                <a:solidFill>
                  <a:srgbClr val="171717"/>
                </a:solidFill>
                <a:latin typeface="Verdana"/>
                <a:cs typeface="Verdana"/>
              </a:rPr>
              <a:t>file.</a:t>
            </a:r>
            <a:endParaRPr sz="2400">
              <a:latin typeface="Verdana"/>
              <a:cs typeface="Verdana"/>
            </a:endParaRPr>
          </a:p>
          <a:p>
            <a:pPr marL="241300" marR="8255" indent="-229235">
              <a:lnSpc>
                <a:spcPct val="140000"/>
              </a:lnSpc>
              <a:spcBef>
                <a:spcPts val="994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5" dirty="0">
                <a:solidFill>
                  <a:srgbClr val="171717"/>
                </a:solidFill>
                <a:latin typeface="Verdana"/>
                <a:cs typeface="Verdana"/>
              </a:rPr>
              <a:t>read(chars):</a:t>
            </a:r>
            <a:r>
              <a:rPr sz="2400" b="1" spc="31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reads</a:t>
            </a:r>
            <a:r>
              <a:rPr sz="2400" spc="29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the</a:t>
            </a:r>
            <a:r>
              <a:rPr sz="2400" spc="30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specified</a:t>
            </a:r>
            <a:r>
              <a:rPr sz="2400" spc="32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number</a:t>
            </a:r>
            <a:r>
              <a:rPr sz="2400" spc="30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of</a:t>
            </a:r>
            <a:r>
              <a:rPr sz="2400" spc="30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characters</a:t>
            </a:r>
            <a:r>
              <a:rPr sz="2400" spc="29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starting </a:t>
            </a:r>
            <a:r>
              <a:rPr sz="2400" spc="-82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from</a:t>
            </a:r>
            <a:r>
              <a:rPr sz="2400" spc="2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the</a:t>
            </a:r>
            <a:r>
              <a:rPr sz="2400" spc="1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current</a:t>
            </a:r>
            <a:r>
              <a:rPr sz="2400" spc="2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71717"/>
                </a:solidFill>
                <a:latin typeface="Verdana"/>
                <a:cs typeface="Verdana"/>
              </a:rPr>
              <a:t>position.</a:t>
            </a:r>
            <a:endParaRPr sz="2400">
              <a:latin typeface="Verdana"/>
              <a:cs typeface="Verdana"/>
            </a:endParaRPr>
          </a:p>
          <a:p>
            <a:pPr marL="241300" marR="6985" indent="-229235">
              <a:lnSpc>
                <a:spcPct val="140000"/>
              </a:lnSpc>
              <a:spcBef>
                <a:spcPts val="1010"/>
              </a:spcBef>
              <a:buFont typeface="Arial MT"/>
              <a:buChar char="•"/>
              <a:tabLst>
                <a:tab pos="241935" algn="l"/>
                <a:tab pos="2353310" algn="l"/>
                <a:tab pos="3454400" algn="l"/>
                <a:tab pos="4208780" algn="l"/>
                <a:tab pos="6060440" algn="l"/>
                <a:tab pos="7502525" algn="l"/>
                <a:tab pos="8481060" algn="l"/>
                <a:tab pos="9236710" algn="l"/>
              </a:tabLst>
            </a:pPr>
            <a:r>
              <a:rPr sz="2400" b="1" spc="-5" dirty="0">
                <a:solidFill>
                  <a:srgbClr val="171717"/>
                </a:solidFill>
                <a:latin typeface="Verdana"/>
                <a:cs typeface="Verdana"/>
              </a:rPr>
              <a:t>readlin</a:t>
            </a:r>
            <a:r>
              <a:rPr sz="2400" b="1" spc="15" dirty="0">
                <a:solidFill>
                  <a:srgbClr val="171717"/>
                </a:solidFill>
                <a:latin typeface="Verdana"/>
                <a:cs typeface="Verdana"/>
              </a:rPr>
              <a:t>e</a:t>
            </a:r>
            <a:r>
              <a:rPr sz="2400" b="1" dirty="0">
                <a:solidFill>
                  <a:srgbClr val="171717"/>
                </a:solidFill>
                <a:latin typeface="Verdana"/>
                <a:cs typeface="Verdana"/>
              </a:rPr>
              <a:t>():	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r</a:t>
            </a:r>
            <a:r>
              <a:rPr sz="2400" spc="-10" dirty="0">
                <a:solidFill>
                  <a:srgbClr val="171717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ads	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he	</a:t>
            </a:r>
            <a:r>
              <a:rPr sz="2400" spc="5" dirty="0">
                <a:solidFill>
                  <a:srgbClr val="171717"/>
                </a:solidFill>
                <a:latin typeface="Verdana"/>
                <a:cs typeface="Verdana"/>
              </a:rPr>
              <a:t>c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ha</a:t>
            </a:r>
            <a:r>
              <a:rPr sz="2400" spc="-40" dirty="0">
                <a:solidFill>
                  <a:srgbClr val="171717"/>
                </a:solidFill>
                <a:latin typeface="Verdana"/>
                <a:cs typeface="Verdana"/>
              </a:rPr>
              <a:t>r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acte</a:t>
            </a:r>
            <a:r>
              <a:rPr sz="2400" spc="-10" dirty="0">
                <a:solidFill>
                  <a:srgbClr val="171717"/>
                </a:solidFill>
                <a:latin typeface="Verdana"/>
                <a:cs typeface="Verdana"/>
              </a:rPr>
              <a:t>r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s	</a:t>
            </a:r>
            <a:r>
              <a:rPr sz="2400" spc="5" dirty="0">
                <a:solidFill>
                  <a:srgbClr val="171717"/>
                </a:solidFill>
                <a:latin typeface="Verdana"/>
                <a:cs typeface="Verdana"/>
              </a:rPr>
              <a:t>s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tar</a:t>
            </a:r>
            <a:r>
              <a:rPr sz="2400" spc="5" dirty="0">
                <a:solidFill>
                  <a:srgbClr val="171717"/>
                </a:solidFill>
                <a:latin typeface="Verdana"/>
                <a:cs typeface="Verdana"/>
              </a:rPr>
              <a:t>t</a:t>
            </a:r>
            <a:r>
              <a:rPr sz="2400" spc="-10" dirty="0">
                <a:solidFill>
                  <a:srgbClr val="171717"/>
                </a:solidFill>
                <a:latin typeface="Verdana"/>
                <a:cs typeface="Verdana"/>
              </a:rPr>
              <a:t>in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g	from	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he	cur</a:t>
            </a:r>
            <a:r>
              <a:rPr sz="2400" spc="-10" dirty="0">
                <a:solidFill>
                  <a:srgbClr val="171717"/>
                </a:solidFill>
                <a:latin typeface="Verdana"/>
                <a:cs typeface="Verdana"/>
              </a:rPr>
              <a:t>r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ent 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reading</a:t>
            </a:r>
            <a:r>
              <a:rPr sz="2400" spc="1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71717"/>
                </a:solidFill>
                <a:latin typeface="Verdana"/>
                <a:cs typeface="Verdana"/>
              </a:rPr>
              <a:t>position</a:t>
            </a:r>
            <a:r>
              <a:rPr sz="2400" spc="6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up to</a:t>
            </a:r>
            <a:r>
              <a:rPr sz="2400" spc="1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a</a:t>
            </a:r>
            <a:r>
              <a:rPr sz="2400" spc="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newline</a:t>
            </a:r>
            <a:r>
              <a:rPr sz="2400" spc="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171717"/>
                </a:solidFill>
                <a:latin typeface="Verdana"/>
                <a:cs typeface="Verdana"/>
              </a:rPr>
              <a:t>character.</a:t>
            </a:r>
            <a:endParaRPr sz="2400">
              <a:latin typeface="Verdana"/>
              <a:cs typeface="Verdana"/>
            </a:endParaRPr>
          </a:p>
          <a:p>
            <a:pPr marL="241300" marR="5080" indent="-229235">
              <a:lnSpc>
                <a:spcPct val="140000"/>
              </a:lnSpc>
              <a:spcBef>
                <a:spcPts val="100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5" dirty="0">
                <a:solidFill>
                  <a:srgbClr val="171717"/>
                </a:solidFill>
                <a:latin typeface="Verdana"/>
                <a:cs typeface="Verdana"/>
              </a:rPr>
              <a:t>readlines():</a:t>
            </a:r>
            <a:r>
              <a:rPr sz="2400" b="1" spc="7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reads</a:t>
            </a:r>
            <a:r>
              <a:rPr sz="2400" spc="6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all</a:t>
            </a:r>
            <a:r>
              <a:rPr sz="2400" spc="6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lines</a:t>
            </a:r>
            <a:r>
              <a:rPr sz="2400" spc="7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until</a:t>
            </a:r>
            <a:r>
              <a:rPr sz="2400" spc="5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the</a:t>
            </a:r>
            <a:r>
              <a:rPr sz="2400" spc="8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end</a:t>
            </a:r>
            <a:r>
              <a:rPr sz="2400" spc="6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of</a:t>
            </a:r>
            <a:r>
              <a:rPr sz="2400" spc="6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file</a:t>
            </a:r>
            <a:r>
              <a:rPr sz="2400" spc="6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and</a:t>
            </a:r>
            <a:r>
              <a:rPr sz="2400" spc="6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returns</a:t>
            </a:r>
            <a:r>
              <a:rPr sz="2400" spc="6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71717"/>
                </a:solidFill>
                <a:latin typeface="Verdana"/>
                <a:cs typeface="Verdana"/>
              </a:rPr>
              <a:t>a</a:t>
            </a:r>
            <a:r>
              <a:rPr sz="2400" spc="6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list </a:t>
            </a:r>
            <a:r>
              <a:rPr sz="2400" spc="-82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171717"/>
                </a:solidFill>
                <a:latin typeface="Verdana"/>
                <a:cs typeface="Verdana"/>
              </a:rPr>
              <a:t>object.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38995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15" dirty="0">
                <a:solidFill>
                  <a:srgbClr val="001F5F"/>
                </a:solidFill>
                <a:latin typeface="Constantia"/>
                <a:cs typeface="Constantia"/>
              </a:rPr>
              <a:t>File</a:t>
            </a:r>
            <a:r>
              <a:rPr sz="3200" b="0" spc="-13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b="0" spc="-10" dirty="0">
                <a:solidFill>
                  <a:srgbClr val="001F5F"/>
                </a:solidFill>
                <a:latin typeface="Constantia"/>
                <a:cs typeface="Constantia"/>
              </a:rPr>
              <a:t>reading</a:t>
            </a:r>
            <a:r>
              <a:rPr sz="3200" b="0" spc="-2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b="0" spc="-5" dirty="0">
                <a:solidFill>
                  <a:srgbClr val="001F5F"/>
                </a:solidFill>
                <a:latin typeface="Constantia"/>
                <a:cs typeface="Constantia"/>
              </a:rPr>
              <a:t>in</a:t>
            </a:r>
            <a:r>
              <a:rPr sz="3200" b="0" spc="-6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b="0" dirty="0">
                <a:solidFill>
                  <a:srgbClr val="001F5F"/>
                </a:solidFill>
                <a:latin typeface="Constantia"/>
                <a:cs typeface="Constantia"/>
              </a:rPr>
              <a:t>Python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1594" y="1366392"/>
            <a:ext cx="6597015" cy="3687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25499"/>
              </a:lnSpc>
              <a:spcBef>
                <a:spcPts val="125"/>
              </a:spcBef>
            </a:pPr>
            <a:r>
              <a:rPr sz="2400" b="1" dirty="0">
                <a:solidFill>
                  <a:srgbClr val="00AF50"/>
                </a:solidFill>
                <a:latin typeface="Courier New"/>
                <a:cs typeface="Courier New"/>
              </a:rPr>
              <a:t># 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read </a:t>
            </a:r>
            <a:r>
              <a:rPr sz="2400" b="1" spc="-10" dirty="0">
                <a:solidFill>
                  <a:srgbClr val="00AF50"/>
                </a:solidFill>
                <a:latin typeface="Courier New"/>
                <a:cs typeface="Courier New"/>
              </a:rPr>
              <a:t>the entire 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file </a:t>
            </a:r>
            <a:r>
              <a:rPr sz="2400" b="1" spc="-10" dirty="0">
                <a:solidFill>
                  <a:srgbClr val="00AF50"/>
                </a:solidFill>
                <a:latin typeface="Courier New"/>
                <a:cs typeface="Courier New"/>
              </a:rPr>
              <a:t>as 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one </a:t>
            </a:r>
            <a:r>
              <a:rPr sz="2400" b="1" spc="-10" dirty="0">
                <a:solidFill>
                  <a:srgbClr val="00AF50"/>
                </a:solidFill>
                <a:latin typeface="Courier New"/>
                <a:cs typeface="Courier New"/>
              </a:rPr>
              <a:t>string </a:t>
            </a:r>
            <a:r>
              <a:rPr sz="2400" b="1" spc="-143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0087"/>
                </a:solidFill>
                <a:latin typeface="Courier New"/>
                <a:cs typeface="Courier New"/>
              </a:rPr>
              <a:t>with</a:t>
            </a:r>
            <a:r>
              <a:rPr sz="2400" b="1" dirty="0">
                <a:solidFill>
                  <a:srgbClr val="000087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open</a:t>
            </a:r>
            <a:r>
              <a:rPr sz="2400" b="1" spc="-10" dirty="0">
                <a:solidFill>
                  <a:srgbClr val="666600"/>
                </a:solidFill>
                <a:latin typeface="Courier New"/>
                <a:cs typeface="Courier New"/>
              </a:rPr>
              <a:t>(</a:t>
            </a:r>
            <a:r>
              <a:rPr sz="2400" b="1" spc="-10" dirty="0">
                <a:solidFill>
                  <a:srgbClr val="008700"/>
                </a:solidFill>
                <a:latin typeface="Courier New"/>
                <a:cs typeface="Courier New"/>
              </a:rPr>
              <a:t>'filename.txt'</a:t>
            </a:r>
            <a:r>
              <a:rPr sz="2400" b="1" spc="-10" dirty="0">
                <a:solidFill>
                  <a:srgbClr val="666600"/>
                </a:solidFill>
                <a:latin typeface="Courier New"/>
                <a:cs typeface="Courier New"/>
              </a:rPr>
              <a:t>)</a:t>
            </a:r>
            <a:r>
              <a:rPr sz="2400" b="1" spc="1420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0087"/>
                </a:solidFill>
                <a:latin typeface="Courier New"/>
                <a:cs typeface="Courier New"/>
              </a:rPr>
              <a:t>as</a:t>
            </a:r>
            <a:r>
              <a:rPr sz="2400" b="1" spc="1430" dirty="0">
                <a:solidFill>
                  <a:srgbClr val="000087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f</a:t>
            </a:r>
            <a:r>
              <a:rPr sz="2400" b="1" spc="-5" dirty="0">
                <a:solidFill>
                  <a:srgbClr val="666600"/>
                </a:solidFill>
                <a:latin typeface="Courier New"/>
                <a:cs typeface="Courier New"/>
              </a:rPr>
              <a:t>: </a:t>
            </a:r>
            <a:r>
              <a:rPr sz="2400" b="1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data </a:t>
            </a:r>
            <a:r>
              <a:rPr sz="2400" b="1" dirty="0">
                <a:solidFill>
                  <a:srgbClr val="666600"/>
                </a:solidFill>
                <a:latin typeface="Courier New"/>
                <a:cs typeface="Courier New"/>
              </a:rPr>
              <a:t>=</a:t>
            </a:r>
            <a:r>
              <a:rPr sz="2400" b="1" spc="-20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</a:t>
            </a:r>
            <a:r>
              <a:rPr sz="2400" b="1" spc="-10" dirty="0">
                <a:solidFill>
                  <a:srgbClr val="666600"/>
                </a:solidFill>
                <a:latin typeface="Courier New"/>
                <a:cs typeface="Courier New"/>
              </a:rPr>
              <a:t>.</a:t>
            </a:r>
            <a:r>
              <a:rPr sz="2400" b="1" spc="-10" dirty="0">
                <a:latin typeface="Courier New"/>
                <a:cs typeface="Courier New"/>
              </a:rPr>
              <a:t>read</a:t>
            </a:r>
            <a:r>
              <a:rPr sz="2400" b="1" spc="-10" dirty="0">
                <a:solidFill>
                  <a:srgbClr val="666600"/>
                </a:solidFill>
                <a:latin typeface="Courier New"/>
                <a:cs typeface="Courier New"/>
              </a:rPr>
              <a:t>()</a:t>
            </a:r>
            <a:endParaRPr sz="2400">
              <a:latin typeface="Courier New"/>
              <a:cs typeface="Courier New"/>
            </a:endParaRPr>
          </a:p>
          <a:p>
            <a:pPr marL="12700" marR="5080">
              <a:lnSpc>
                <a:spcPts val="3600"/>
              </a:lnSpc>
              <a:spcBef>
                <a:spcPts val="225"/>
              </a:spcBef>
            </a:pPr>
            <a:r>
              <a:rPr sz="2400" b="1" dirty="0">
                <a:solidFill>
                  <a:srgbClr val="00AF50"/>
                </a:solidFill>
                <a:latin typeface="Courier New"/>
                <a:cs typeface="Courier New"/>
              </a:rPr>
              <a:t># </a:t>
            </a:r>
            <a:r>
              <a:rPr sz="2400" b="1" spc="-10" dirty="0">
                <a:solidFill>
                  <a:srgbClr val="00AF50"/>
                </a:solidFill>
                <a:latin typeface="Courier New"/>
                <a:cs typeface="Courier New"/>
              </a:rPr>
              <a:t>Iterate 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over </a:t>
            </a:r>
            <a:r>
              <a:rPr sz="2400" b="1" spc="-10" dirty="0">
                <a:solidFill>
                  <a:srgbClr val="00AF50"/>
                </a:solidFill>
                <a:latin typeface="Courier New"/>
                <a:cs typeface="Courier New"/>
              </a:rPr>
              <a:t>the lines 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of the File </a:t>
            </a:r>
            <a:r>
              <a:rPr sz="2400" b="1" spc="-143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0087"/>
                </a:solidFill>
                <a:latin typeface="Courier New"/>
                <a:cs typeface="Courier New"/>
              </a:rPr>
              <a:t>with </a:t>
            </a:r>
            <a:r>
              <a:rPr sz="2400" b="1" spc="-10" dirty="0">
                <a:latin typeface="Courier New"/>
                <a:cs typeface="Courier New"/>
              </a:rPr>
              <a:t>open</a:t>
            </a:r>
            <a:r>
              <a:rPr sz="2400" b="1" spc="-10" dirty="0">
                <a:solidFill>
                  <a:srgbClr val="666600"/>
                </a:solidFill>
                <a:latin typeface="Courier New"/>
                <a:cs typeface="Courier New"/>
              </a:rPr>
              <a:t>(</a:t>
            </a:r>
            <a:r>
              <a:rPr sz="2400" b="1" spc="-10" dirty="0">
                <a:solidFill>
                  <a:srgbClr val="008700"/>
                </a:solidFill>
                <a:latin typeface="Courier New"/>
                <a:cs typeface="Courier New"/>
              </a:rPr>
              <a:t>'filename.txt'</a:t>
            </a:r>
            <a:r>
              <a:rPr sz="2400" b="1" spc="-10" dirty="0">
                <a:solidFill>
                  <a:srgbClr val="666600"/>
                </a:solidFill>
                <a:latin typeface="Courier New"/>
                <a:cs typeface="Courier New"/>
              </a:rPr>
              <a:t>)</a:t>
            </a:r>
            <a:r>
              <a:rPr sz="2400" b="1" spc="-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0087"/>
                </a:solidFill>
                <a:latin typeface="Courier New"/>
                <a:cs typeface="Courier New"/>
              </a:rPr>
              <a:t>as </a:t>
            </a:r>
            <a:r>
              <a:rPr sz="2400" b="1" spc="-5" dirty="0">
                <a:latin typeface="Courier New"/>
                <a:cs typeface="Courier New"/>
              </a:rPr>
              <a:t>f</a:t>
            </a:r>
            <a:r>
              <a:rPr sz="2400" b="1" spc="-5" dirty="0">
                <a:solidFill>
                  <a:srgbClr val="666600"/>
                </a:solidFill>
                <a:latin typeface="Courier New"/>
                <a:cs typeface="Courier New"/>
              </a:rPr>
              <a:t>: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400" b="1" spc="-5" dirty="0">
                <a:solidFill>
                  <a:srgbClr val="000087"/>
                </a:solidFill>
                <a:latin typeface="Courier New"/>
                <a:cs typeface="Courier New"/>
              </a:rPr>
              <a:t>for</a:t>
            </a:r>
            <a:r>
              <a:rPr sz="2400" b="1" spc="-25" dirty="0">
                <a:solidFill>
                  <a:srgbClr val="000087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line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0087"/>
                </a:solidFill>
                <a:latin typeface="Courier New"/>
                <a:cs typeface="Courier New"/>
              </a:rPr>
              <a:t>in</a:t>
            </a:r>
            <a:r>
              <a:rPr sz="2400" b="1" spc="-20" dirty="0">
                <a:solidFill>
                  <a:srgbClr val="000087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666600"/>
                </a:solidFill>
                <a:latin typeface="Courier New"/>
                <a:cs typeface="Courier New"/>
              </a:rPr>
              <a:t>:</a:t>
            </a:r>
            <a:endParaRPr sz="2400">
              <a:latin typeface="Courier New"/>
              <a:cs typeface="Courier New"/>
            </a:endParaRPr>
          </a:p>
          <a:p>
            <a:pPr marL="12700" marR="2012314" indent="914400">
              <a:lnSpc>
                <a:spcPts val="3600"/>
              </a:lnSpc>
              <a:spcBef>
                <a:spcPts val="90"/>
              </a:spcBef>
            </a:pPr>
            <a:r>
              <a:rPr sz="2400" b="1" spc="-10" dirty="0">
                <a:solidFill>
                  <a:srgbClr val="000087"/>
                </a:solidFill>
                <a:latin typeface="Courier New"/>
                <a:cs typeface="Courier New"/>
              </a:rPr>
              <a:t>print</a:t>
            </a:r>
            <a:r>
              <a:rPr sz="2400" b="1" spc="-10" dirty="0">
                <a:solidFill>
                  <a:srgbClr val="666600"/>
                </a:solidFill>
                <a:latin typeface="Courier New"/>
                <a:cs typeface="Courier New"/>
              </a:rPr>
              <a:t>(</a:t>
            </a:r>
            <a:r>
              <a:rPr sz="2400" b="1" spc="-10" dirty="0">
                <a:latin typeface="Courier New"/>
                <a:cs typeface="Courier New"/>
              </a:rPr>
              <a:t>line</a:t>
            </a:r>
            <a:r>
              <a:rPr sz="2400" b="1" spc="-10" dirty="0">
                <a:solidFill>
                  <a:srgbClr val="666600"/>
                </a:solidFill>
                <a:latin typeface="Courier New"/>
                <a:cs typeface="Courier New"/>
              </a:rPr>
              <a:t>,</a:t>
            </a:r>
            <a:r>
              <a:rPr sz="2400" b="1" spc="-4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0087"/>
                </a:solidFill>
                <a:latin typeface="Courier New"/>
                <a:cs typeface="Courier New"/>
              </a:rPr>
              <a:t>end</a:t>
            </a:r>
            <a:r>
              <a:rPr sz="2400" b="1" spc="-5" dirty="0">
                <a:solidFill>
                  <a:srgbClr val="666600"/>
                </a:solidFill>
                <a:latin typeface="Courier New"/>
                <a:cs typeface="Courier New"/>
              </a:rPr>
              <a:t>=</a:t>
            </a:r>
            <a:r>
              <a:rPr sz="2400" b="1" spc="-5" dirty="0">
                <a:solidFill>
                  <a:srgbClr val="008700"/>
                </a:solidFill>
                <a:latin typeface="Courier New"/>
                <a:cs typeface="Courier New"/>
              </a:rPr>
              <a:t>'</a:t>
            </a:r>
            <a:r>
              <a:rPr sz="2400" b="1" spc="-45" dirty="0">
                <a:solidFill>
                  <a:srgbClr val="00870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8700"/>
                </a:solidFill>
                <a:latin typeface="Courier New"/>
                <a:cs typeface="Courier New"/>
              </a:rPr>
              <a:t>‘</a:t>
            </a:r>
            <a:r>
              <a:rPr sz="2400" b="1" spc="-5" dirty="0">
                <a:solidFill>
                  <a:srgbClr val="666600"/>
                </a:solidFill>
                <a:latin typeface="Courier New"/>
                <a:cs typeface="Courier New"/>
              </a:rPr>
              <a:t>) </a:t>
            </a:r>
            <a:r>
              <a:rPr sz="2400" b="1" spc="-142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4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ourier New"/>
                <a:cs typeface="Courier New"/>
              </a:rPr>
              <a:t>process</a:t>
            </a:r>
            <a:r>
              <a:rPr sz="24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the</a:t>
            </a:r>
            <a:r>
              <a:rPr sz="2400" b="1" spc="-10" dirty="0">
                <a:solidFill>
                  <a:srgbClr val="00AF50"/>
                </a:solidFill>
                <a:latin typeface="Courier New"/>
                <a:cs typeface="Courier New"/>
              </a:rPr>
              <a:t> lines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90931"/>
            <a:ext cx="9933940" cy="604393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10" dirty="0">
                <a:solidFill>
                  <a:srgbClr val="171717"/>
                </a:solidFill>
                <a:latin typeface="Verdana"/>
                <a:cs typeface="Verdana"/>
              </a:rPr>
              <a:t>The</a:t>
            </a:r>
            <a:r>
              <a:rPr sz="2200" spc="-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71717"/>
                </a:solidFill>
                <a:latin typeface="Verdana"/>
                <a:cs typeface="Verdana"/>
              </a:rPr>
              <a:t>following</a:t>
            </a:r>
            <a:r>
              <a:rPr sz="2200" spc="-1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200" spc="-5" dirty="0">
                <a:solidFill>
                  <a:srgbClr val="171717"/>
                </a:solidFill>
                <a:latin typeface="Verdana"/>
                <a:cs typeface="Verdana"/>
              </a:rPr>
              <a:t>example</a:t>
            </a:r>
            <a:r>
              <a:rPr sz="2200" spc="2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71717"/>
                </a:solidFill>
                <a:latin typeface="Verdana"/>
                <a:cs typeface="Verdana"/>
              </a:rPr>
              <a:t>demonstrates</a:t>
            </a:r>
            <a:r>
              <a:rPr sz="2200" spc="3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200" spc="-5" dirty="0">
                <a:solidFill>
                  <a:srgbClr val="171717"/>
                </a:solidFill>
                <a:latin typeface="Verdana"/>
                <a:cs typeface="Verdana"/>
              </a:rPr>
              <a:t>reading</a:t>
            </a:r>
            <a:r>
              <a:rPr sz="2200" spc="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200" spc="-5" dirty="0">
                <a:solidFill>
                  <a:srgbClr val="171717"/>
                </a:solidFill>
                <a:latin typeface="Verdana"/>
                <a:cs typeface="Verdana"/>
              </a:rPr>
              <a:t>a</a:t>
            </a:r>
            <a:r>
              <a:rPr sz="2200" spc="1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71717"/>
                </a:solidFill>
                <a:latin typeface="Verdana"/>
                <a:cs typeface="Verdana"/>
              </a:rPr>
              <a:t>line</a:t>
            </a:r>
            <a:r>
              <a:rPr sz="2200" spc="-1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200" spc="-5" dirty="0">
                <a:solidFill>
                  <a:srgbClr val="171717"/>
                </a:solidFill>
                <a:latin typeface="Verdana"/>
                <a:cs typeface="Verdana"/>
              </a:rPr>
              <a:t>from</a:t>
            </a:r>
            <a:r>
              <a:rPr sz="2200" spc="2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71717"/>
                </a:solidFill>
                <a:latin typeface="Verdana"/>
                <a:cs typeface="Verdana"/>
              </a:rPr>
              <a:t>the</a:t>
            </a:r>
            <a:r>
              <a:rPr sz="2200" spc="-5" dirty="0">
                <a:solidFill>
                  <a:srgbClr val="171717"/>
                </a:solidFill>
                <a:latin typeface="Verdana"/>
                <a:cs typeface="Verdana"/>
              </a:rPr>
              <a:t> file</a:t>
            </a:r>
            <a:endParaRPr sz="2200">
              <a:latin typeface="Verdana"/>
              <a:cs typeface="Verdana"/>
            </a:endParaRPr>
          </a:p>
          <a:p>
            <a:pPr marL="1177290">
              <a:lnSpc>
                <a:spcPct val="100000"/>
              </a:lnSpc>
              <a:spcBef>
                <a:spcPts val="170"/>
              </a:spcBef>
            </a:pPr>
            <a:r>
              <a:rPr sz="2200" b="1" dirty="0">
                <a:latin typeface="Courier New"/>
                <a:cs typeface="Courier New"/>
              </a:rPr>
              <a:t>&gt;&gt;&gt;f=open('C:\myfile.txt')</a:t>
            </a:r>
            <a:r>
              <a:rPr sz="2200" b="1" spc="20" dirty="0"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2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ourier New"/>
                <a:cs typeface="Courier New"/>
              </a:rPr>
              <a:t>opening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a</a:t>
            </a:r>
            <a:r>
              <a:rPr sz="2200" b="1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file</a:t>
            </a:r>
            <a:endParaRPr sz="2200">
              <a:latin typeface="Courier New"/>
              <a:cs typeface="Courier New"/>
            </a:endParaRPr>
          </a:p>
          <a:p>
            <a:pPr marL="1177290">
              <a:lnSpc>
                <a:spcPct val="100000"/>
              </a:lnSpc>
              <a:spcBef>
                <a:spcPts val="204"/>
              </a:spcBef>
            </a:pPr>
            <a:r>
              <a:rPr sz="2200" b="1" spc="-10" dirty="0">
                <a:latin typeface="Courier New"/>
                <a:cs typeface="Courier New"/>
              </a:rPr>
              <a:t>&gt;&gt;&gt;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line1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=</a:t>
            </a:r>
            <a:r>
              <a:rPr sz="2200" b="1" spc="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f.readline()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200" b="1" spc="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reading</a:t>
            </a:r>
            <a:r>
              <a:rPr sz="2200" b="1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a</a:t>
            </a:r>
            <a:r>
              <a:rPr sz="2200" b="1" spc="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line</a:t>
            </a:r>
            <a:endParaRPr sz="2200">
              <a:latin typeface="Courier New"/>
              <a:cs typeface="Courier New"/>
            </a:endParaRPr>
          </a:p>
          <a:p>
            <a:pPr marL="1177290">
              <a:lnSpc>
                <a:spcPct val="100000"/>
              </a:lnSpc>
              <a:spcBef>
                <a:spcPts val="200"/>
              </a:spcBef>
            </a:pPr>
            <a:r>
              <a:rPr sz="2200" b="1" spc="-10" dirty="0">
                <a:latin typeface="Courier New"/>
                <a:cs typeface="Courier New"/>
              </a:rPr>
              <a:t>&gt;&gt;&gt;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line1</a:t>
            </a:r>
            <a:endParaRPr sz="2200">
              <a:latin typeface="Courier New"/>
              <a:cs typeface="Courier New"/>
            </a:endParaRPr>
          </a:p>
          <a:p>
            <a:pPr marL="1177290">
              <a:lnSpc>
                <a:spcPct val="100000"/>
              </a:lnSpc>
              <a:spcBef>
                <a:spcPts val="219"/>
              </a:spcBef>
            </a:pPr>
            <a:r>
              <a:rPr sz="2200" b="1" spc="-5" dirty="0">
                <a:latin typeface="Courier New"/>
                <a:cs typeface="Courier New"/>
              </a:rPr>
              <a:t>'This</a:t>
            </a:r>
            <a:r>
              <a:rPr sz="2200" b="1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is</a:t>
            </a:r>
            <a:r>
              <a:rPr sz="2200" b="1" spc="15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the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first </a:t>
            </a:r>
            <a:r>
              <a:rPr sz="2200" b="1" spc="-5" dirty="0">
                <a:latin typeface="Courier New"/>
                <a:cs typeface="Courier New"/>
              </a:rPr>
              <a:t>line.</a:t>
            </a:r>
            <a:r>
              <a:rPr sz="2200" b="1" spc="25" dirty="0">
                <a:latin typeface="Courier New"/>
                <a:cs typeface="Courier New"/>
              </a:rPr>
              <a:t> </a:t>
            </a:r>
            <a:r>
              <a:rPr sz="2200" b="1" spc="5" dirty="0">
                <a:latin typeface="Courier New"/>
                <a:cs typeface="Courier New"/>
              </a:rPr>
              <a:t>\n'</a:t>
            </a:r>
            <a:endParaRPr sz="2200">
              <a:latin typeface="Courier New"/>
              <a:cs typeface="Courier New"/>
            </a:endParaRPr>
          </a:p>
          <a:p>
            <a:pPr marL="1177290">
              <a:lnSpc>
                <a:spcPct val="100000"/>
              </a:lnSpc>
              <a:spcBef>
                <a:spcPts val="200"/>
              </a:spcBef>
            </a:pPr>
            <a:r>
              <a:rPr sz="2200" b="1" spc="-5" dirty="0">
                <a:latin typeface="Courier New"/>
                <a:cs typeface="Courier New"/>
              </a:rPr>
              <a:t>&gt;&gt;&gt;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line2 </a:t>
            </a:r>
            <a:r>
              <a:rPr sz="2200" b="1" spc="-5" dirty="0">
                <a:latin typeface="Courier New"/>
                <a:cs typeface="Courier New"/>
              </a:rPr>
              <a:t>=</a:t>
            </a:r>
            <a:r>
              <a:rPr sz="2200" b="1" spc="1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f.readline()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200" b="1" spc="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reading</a:t>
            </a:r>
            <a:r>
              <a:rPr sz="2200" b="1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a</a:t>
            </a:r>
            <a:r>
              <a:rPr sz="2200" b="1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line</a:t>
            </a:r>
            <a:endParaRPr sz="2200">
              <a:latin typeface="Courier New"/>
              <a:cs typeface="Courier New"/>
            </a:endParaRPr>
          </a:p>
          <a:p>
            <a:pPr marL="1177290">
              <a:lnSpc>
                <a:spcPct val="100000"/>
              </a:lnSpc>
              <a:spcBef>
                <a:spcPts val="210"/>
              </a:spcBef>
            </a:pPr>
            <a:r>
              <a:rPr sz="2200" b="1" spc="-10" dirty="0">
                <a:latin typeface="Courier New"/>
                <a:cs typeface="Courier New"/>
              </a:rPr>
              <a:t>&gt;&gt;&gt;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line2</a:t>
            </a:r>
            <a:endParaRPr sz="2200">
              <a:latin typeface="Courier New"/>
              <a:cs typeface="Courier New"/>
            </a:endParaRPr>
          </a:p>
          <a:p>
            <a:pPr marL="1177290">
              <a:lnSpc>
                <a:spcPct val="100000"/>
              </a:lnSpc>
              <a:spcBef>
                <a:spcPts val="215"/>
              </a:spcBef>
            </a:pPr>
            <a:r>
              <a:rPr sz="2200" b="1" spc="-5" dirty="0">
                <a:latin typeface="Courier New"/>
                <a:cs typeface="Courier New"/>
              </a:rPr>
              <a:t>'This is</a:t>
            </a:r>
            <a:r>
              <a:rPr sz="2200" b="1" spc="15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the</a:t>
            </a:r>
            <a:r>
              <a:rPr sz="2200" b="1" dirty="0">
                <a:latin typeface="Courier New"/>
                <a:cs typeface="Courier New"/>
              </a:rPr>
              <a:t> second</a:t>
            </a:r>
            <a:r>
              <a:rPr sz="2200" b="1" spc="-15" dirty="0">
                <a:latin typeface="Courier New"/>
                <a:cs typeface="Courier New"/>
              </a:rPr>
              <a:t> </a:t>
            </a:r>
            <a:r>
              <a:rPr sz="2200" b="1" spc="5" dirty="0">
                <a:latin typeface="Courier New"/>
                <a:cs typeface="Courier New"/>
              </a:rPr>
              <a:t>line.\n'</a:t>
            </a:r>
            <a:endParaRPr sz="2200">
              <a:latin typeface="Courier New"/>
              <a:cs typeface="Courier New"/>
            </a:endParaRPr>
          </a:p>
          <a:p>
            <a:pPr marL="1177290">
              <a:lnSpc>
                <a:spcPct val="100000"/>
              </a:lnSpc>
              <a:spcBef>
                <a:spcPts val="204"/>
              </a:spcBef>
            </a:pPr>
            <a:r>
              <a:rPr sz="2200" b="1" spc="-10" dirty="0">
                <a:latin typeface="Courier New"/>
                <a:cs typeface="Courier New"/>
              </a:rPr>
              <a:t>&gt;&gt;&gt;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line3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=</a:t>
            </a:r>
            <a:r>
              <a:rPr sz="2200" b="1" spc="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f.readline()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200" b="1" spc="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reading</a:t>
            </a:r>
            <a:r>
              <a:rPr sz="2200" b="1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a</a:t>
            </a:r>
            <a:r>
              <a:rPr sz="2200" b="1" spc="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line</a:t>
            </a:r>
            <a:endParaRPr sz="2200">
              <a:latin typeface="Courier New"/>
              <a:cs typeface="Courier New"/>
            </a:endParaRPr>
          </a:p>
          <a:p>
            <a:pPr marL="1177290">
              <a:lnSpc>
                <a:spcPct val="100000"/>
              </a:lnSpc>
              <a:spcBef>
                <a:spcPts val="204"/>
              </a:spcBef>
            </a:pPr>
            <a:r>
              <a:rPr sz="2200" b="1" spc="-5" dirty="0">
                <a:latin typeface="Courier New"/>
                <a:cs typeface="Courier New"/>
              </a:rPr>
              <a:t>&gt;&gt;&gt;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line3</a:t>
            </a:r>
            <a:endParaRPr sz="2200">
              <a:latin typeface="Courier New"/>
              <a:cs typeface="Courier New"/>
            </a:endParaRPr>
          </a:p>
          <a:p>
            <a:pPr marL="1177290">
              <a:lnSpc>
                <a:spcPct val="100000"/>
              </a:lnSpc>
              <a:spcBef>
                <a:spcPts val="215"/>
              </a:spcBef>
            </a:pPr>
            <a:r>
              <a:rPr sz="2200" b="1" spc="-5" dirty="0">
                <a:latin typeface="Courier New"/>
                <a:cs typeface="Courier New"/>
              </a:rPr>
              <a:t>'This is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the</a:t>
            </a:r>
            <a:r>
              <a:rPr sz="2200" b="1" spc="-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third</a:t>
            </a:r>
            <a:r>
              <a:rPr sz="2200" b="1" spc="-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line.'</a:t>
            </a:r>
            <a:endParaRPr sz="2200">
              <a:latin typeface="Courier New"/>
              <a:cs typeface="Courier New"/>
            </a:endParaRPr>
          </a:p>
          <a:p>
            <a:pPr marL="1177290">
              <a:lnSpc>
                <a:spcPct val="100000"/>
              </a:lnSpc>
              <a:spcBef>
                <a:spcPts val="204"/>
              </a:spcBef>
            </a:pPr>
            <a:r>
              <a:rPr sz="2200" b="1" spc="-10" dirty="0">
                <a:latin typeface="Courier New"/>
                <a:cs typeface="Courier New"/>
              </a:rPr>
              <a:t>&gt;&gt;&gt;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line4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=</a:t>
            </a:r>
            <a:r>
              <a:rPr sz="2200" b="1" spc="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f.readline()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200" b="1" spc="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reading</a:t>
            </a:r>
            <a:r>
              <a:rPr sz="2200" b="1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a</a:t>
            </a:r>
            <a:r>
              <a:rPr sz="2200" b="1" spc="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line</a:t>
            </a:r>
            <a:endParaRPr sz="2200">
              <a:latin typeface="Courier New"/>
              <a:cs typeface="Courier New"/>
            </a:endParaRPr>
          </a:p>
          <a:p>
            <a:pPr marL="1177290" marR="7235825">
              <a:lnSpc>
                <a:spcPts val="2860"/>
              </a:lnSpc>
              <a:spcBef>
                <a:spcPts val="114"/>
              </a:spcBef>
            </a:pPr>
            <a:r>
              <a:rPr sz="2200" b="1" spc="-10" dirty="0">
                <a:latin typeface="Courier New"/>
                <a:cs typeface="Courier New"/>
              </a:rPr>
              <a:t>&gt;&gt;&gt;</a:t>
            </a:r>
            <a:r>
              <a:rPr sz="2200" b="1" spc="-7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line4 </a:t>
            </a:r>
            <a:r>
              <a:rPr sz="2200" b="1" spc="-130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''</a:t>
            </a:r>
            <a:endParaRPr sz="2200">
              <a:latin typeface="Courier New"/>
              <a:cs typeface="Courier New"/>
            </a:endParaRPr>
          </a:p>
          <a:p>
            <a:pPr marL="1177290">
              <a:lnSpc>
                <a:spcPct val="100000"/>
              </a:lnSpc>
              <a:spcBef>
                <a:spcPts val="70"/>
              </a:spcBef>
            </a:pPr>
            <a:r>
              <a:rPr sz="2200" b="1" spc="-10" dirty="0">
                <a:latin typeface="Courier New"/>
                <a:cs typeface="Courier New"/>
              </a:rPr>
              <a:t>&gt;&gt;&gt;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f.close()</a:t>
            </a:r>
            <a:r>
              <a:rPr sz="2200" b="1" spc="-5" dirty="0"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200" b="1" spc="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ourier New"/>
                <a:cs typeface="Courier New"/>
              </a:rPr>
              <a:t>closing</a:t>
            </a:r>
            <a:r>
              <a:rPr sz="2200" b="1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00AF50"/>
                </a:solidFill>
                <a:latin typeface="Courier New"/>
                <a:cs typeface="Courier New"/>
              </a:rPr>
              <a:t>file</a:t>
            </a:r>
            <a:r>
              <a:rPr sz="2200" b="1" spc="-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ourier New"/>
                <a:cs typeface="Courier New"/>
              </a:rPr>
              <a:t>object</a:t>
            </a:r>
            <a:endParaRPr sz="2200">
              <a:latin typeface="Courier New"/>
              <a:cs typeface="Courier New"/>
            </a:endParaRPr>
          </a:p>
          <a:p>
            <a:pPr marL="12700" marR="5080">
              <a:lnSpc>
                <a:spcPct val="70000"/>
              </a:lnSpc>
              <a:spcBef>
                <a:spcPts val="1045"/>
              </a:spcBef>
            </a:pPr>
            <a:r>
              <a:rPr sz="2200" spc="-15" dirty="0">
                <a:latin typeface="Calibri"/>
                <a:cs typeface="Calibri"/>
              </a:rPr>
              <a:t>we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open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file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'r'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mode.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readline()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method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will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return</a:t>
            </a:r>
            <a:r>
              <a:rPr sz="2200" spc="-5" dirty="0">
                <a:latin typeface="Calibri"/>
                <a:cs typeface="Calibri"/>
              </a:rPr>
              <a:t> 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first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line,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will </a:t>
            </a:r>
            <a:r>
              <a:rPr sz="2200" spc="-15" dirty="0">
                <a:latin typeface="Calibri"/>
                <a:cs typeface="Calibri"/>
              </a:rPr>
              <a:t>point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second</a:t>
            </a:r>
            <a:r>
              <a:rPr sz="2200" spc="-5" dirty="0">
                <a:latin typeface="Calibri"/>
                <a:cs typeface="Calibri"/>
              </a:rPr>
              <a:t> line.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70382"/>
            <a:ext cx="28035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solidFill>
                  <a:srgbClr val="001F5F"/>
                </a:solidFill>
                <a:latin typeface="Constantia"/>
                <a:cs typeface="Constantia"/>
              </a:rPr>
              <a:t>Reading</a:t>
            </a:r>
            <a:r>
              <a:rPr sz="2700" spc="-12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2700" dirty="0">
                <a:solidFill>
                  <a:srgbClr val="001F5F"/>
                </a:solidFill>
                <a:latin typeface="Constantia"/>
                <a:cs typeface="Constantia"/>
              </a:rPr>
              <a:t>all</a:t>
            </a:r>
            <a:r>
              <a:rPr sz="2700" spc="-4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2700" dirty="0">
                <a:solidFill>
                  <a:srgbClr val="001F5F"/>
                </a:solidFill>
                <a:latin typeface="Constantia"/>
                <a:cs typeface="Constantia"/>
              </a:rPr>
              <a:t>Lines</a:t>
            </a:r>
            <a:endParaRPr sz="27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857105" cy="351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following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readlines()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Calibri"/>
              <a:cs typeface="Calibri"/>
            </a:endParaRPr>
          </a:p>
          <a:p>
            <a:pPr marL="1628139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f=</a:t>
            </a:r>
            <a:r>
              <a:rPr sz="2400" b="1" spc="-10" dirty="0">
                <a:latin typeface="Courier New"/>
                <a:cs typeface="Courier New"/>
              </a:rPr>
              <a:t> open('C:\myfile.txt')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ourier New"/>
                <a:cs typeface="Courier New"/>
              </a:rPr>
              <a:t>opening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ourier New"/>
                <a:cs typeface="Courier New"/>
              </a:rPr>
              <a:t>a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ourier New"/>
                <a:cs typeface="Courier New"/>
              </a:rPr>
              <a:t>file</a:t>
            </a:r>
            <a:endParaRPr sz="2400">
              <a:latin typeface="Courier New"/>
              <a:cs typeface="Courier New"/>
            </a:endParaRPr>
          </a:p>
          <a:p>
            <a:pPr marL="1628139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latin typeface="Courier New"/>
                <a:cs typeface="Courier New"/>
              </a:rPr>
              <a:t>&gt;&gt;&gt;</a:t>
            </a:r>
            <a:r>
              <a:rPr sz="2400" b="1" spc="-10" dirty="0">
                <a:latin typeface="Courier New"/>
                <a:cs typeface="Courier New"/>
              </a:rPr>
              <a:t> lines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f.readlines() </a:t>
            </a:r>
            <a:r>
              <a:rPr sz="2400" b="1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400" b="1" spc="-10" dirty="0">
                <a:solidFill>
                  <a:srgbClr val="00AF50"/>
                </a:solidFill>
                <a:latin typeface="Courier New"/>
                <a:cs typeface="Courier New"/>
              </a:rPr>
              <a:t> reading 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all</a:t>
            </a:r>
            <a:r>
              <a:rPr sz="2400" b="1" spc="-2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lines</a:t>
            </a:r>
            <a:endParaRPr sz="2400">
              <a:latin typeface="Courier New"/>
              <a:cs typeface="Courier New"/>
            </a:endParaRPr>
          </a:p>
          <a:p>
            <a:pPr marL="1628139">
              <a:lnSpc>
                <a:spcPct val="100000"/>
              </a:lnSpc>
              <a:spcBef>
                <a:spcPts val="720"/>
              </a:spcBef>
            </a:pPr>
            <a:r>
              <a:rPr sz="2400" b="1" spc="-5" dirty="0">
                <a:latin typeface="Courier New"/>
                <a:cs typeface="Courier New"/>
              </a:rPr>
              <a:t>&gt;&gt;&gt;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lines</a:t>
            </a:r>
            <a:endParaRPr sz="2400">
              <a:latin typeface="Courier New"/>
              <a:cs typeface="Courier New"/>
            </a:endParaRPr>
          </a:p>
          <a:p>
            <a:pPr marL="1628139">
              <a:lnSpc>
                <a:spcPts val="2735"/>
              </a:lnSpc>
              <a:spcBef>
                <a:spcPts val="705"/>
              </a:spcBef>
            </a:pPr>
            <a:r>
              <a:rPr sz="2400" b="1" spc="-5" dirty="0">
                <a:latin typeface="Courier New"/>
                <a:cs typeface="Courier New"/>
              </a:rPr>
              <a:t>'This</a:t>
            </a:r>
            <a:r>
              <a:rPr sz="2400" b="1" spc="-10" dirty="0">
                <a:latin typeface="Courier New"/>
                <a:cs typeface="Courier New"/>
              </a:rPr>
              <a:t> is </a:t>
            </a:r>
            <a:r>
              <a:rPr sz="2400" b="1" spc="-5" dirty="0">
                <a:latin typeface="Courier New"/>
                <a:cs typeface="Courier New"/>
              </a:rPr>
              <a:t>the</a:t>
            </a:r>
            <a:r>
              <a:rPr sz="2400" b="1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first</a:t>
            </a:r>
            <a:r>
              <a:rPr sz="2400" b="1" spc="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line.</a:t>
            </a:r>
            <a:r>
              <a:rPr sz="2400" b="1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\nThis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is</a:t>
            </a:r>
            <a:r>
              <a:rPr sz="2400" b="1" spc="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the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second</a:t>
            </a:r>
            <a:endParaRPr sz="2400">
              <a:latin typeface="Courier New"/>
              <a:cs typeface="Courier New"/>
            </a:endParaRPr>
          </a:p>
          <a:p>
            <a:pPr marL="1628139">
              <a:lnSpc>
                <a:spcPts val="2735"/>
              </a:lnSpc>
            </a:pPr>
            <a:r>
              <a:rPr sz="2400" b="1" spc="-10" dirty="0">
                <a:latin typeface="Courier New"/>
                <a:cs typeface="Courier New"/>
              </a:rPr>
              <a:t>line.\nThis </a:t>
            </a:r>
            <a:r>
              <a:rPr sz="2400" b="1" spc="-5" dirty="0">
                <a:latin typeface="Courier New"/>
                <a:cs typeface="Courier New"/>
              </a:rPr>
              <a:t>is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the third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line.'</a:t>
            </a:r>
            <a:endParaRPr sz="2400">
              <a:latin typeface="Courier New"/>
              <a:cs typeface="Courier New"/>
            </a:endParaRPr>
          </a:p>
          <a:p>
            <a:pPr marL="1628139">
              <a:lnSpc>
                <a:spcPct val="100000"/>
              </a:lnSpc>
              <a:spcBef>
                <a:spcPts val="710"/>
              </a:spcBef>
              <a:tabLst>
                <a:tab pos="2359660" algn="l"/>
              </a:tabLst>
            </a:pPr>
            <a:r>
              <a:rPr sz="2400" b="1" spc="-5" dirty="0">
                <a:latin typeface="Courier New"/>
                <a:cs typeface="Courier New"/>
              </a:rPr>
              <a:t>&gt;&gt;&gt;	</a:t>
            </a:r>
            <a:r>
              <a:rPr sz="2400" b="1" spc="-10" dirty="0">
                <a:latin typeface="Courier New"/>
                <a:cs typeface="Courier New"/>
              </a:rPr>
              <a:t>f.close()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ourier New"/>
                <a:cs typeface="Courier New"/>
              </a:rPr>
              <a:t>#</a:t>
            </a:r>
            <a:r>
              <a:rPr sz="2400" b="1" spc="-3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closing</a:t>
            </a:r>
            <a:r>
              <a:rPr sz="2400" b="1" spc="-3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Courier New"/>
                <a:cs typeface="Courier New"/>
              </a:rPr>
              <a:t>file</a:t>
            </a:r>
            <a:r>
              <a:rPr sz="2400" b="1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ourier New"/>
                <a:cs typeface="Courier New"/>
              </a:rPr>
              <a:t>object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880948"/>
            <a:ext cx="47821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1F5F"/>
                </a:solidFill>
                <a:latin typeface="Constantia"/>
                <a:cs typeface="Constantia"/>
              </a:rPr>
              <a:t>Use</a:t>
            </a:r>
            <a:r>
              <a:rPr sz="3200" spc="-12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spc="-5" dirty="0">
                <a:solidFill>
                  <a:srgbClr val="001F5F"/>
                </a:solidFill>
                <a:latin typeface="Constantia"/>
                <a:cs typeface="Constantia"/>
              </a:rPr>
              <a:t>for</a:t>
            </a:r>
            <a:r>
              <a:rPr sz="3200" spc="-13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spc="-5" dirty="0">
                <a:solidFill>
                  <a:srgbClr val="001F5F"/>
                </a:solidFill>
                <a:latin typeface="Constantia"/>
                <a:cs typeface="Constantia"/>
              </a:rPr>
              <a:t>loop</a:t>
            </a:r>
            <a:r>
              <a:rPr sz="3200" spc="-14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spc="-25" dirty="0">
                <a:solidFill>
                  <a:srgbClr val="001F5F"/>
                </a:solidFill>
                <a:latin typeface="Constantia"/>
                <a:cs typeface="Constantia"/>
              </a:rPr>
              <a:t>to</a:t>
            </a:r>
            <a:r>
              <a:rPr sz="3200" spc="-14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spc="-10" dirty="0">
                <a:solidFill>
                  <a:srgbClr val="001F5F"/>
                </a:solidFill>
                <a:latin typeface="Constantia"/>
                <a:cs typeface="Constantia"/>
              </a:rPr>
              <a:t>read</a:t>
            </a:r>
            <a:r>
              <a:rPr sz="3200" spc="-10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a</a:t>
            </a:r>
            <a:r>
              <a:rPr sz="3200" spc="-12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spc="20" dirty="0">
                <a:solidFill>
                  <a:srgbClr val="001F5F"/>
                </a:solidFill>
                <a:latin typeface="Constantia"/>
                <a:cs typeface="Constantia"/>
              </a:rPr>
              <a:t>file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1594" y="1743201"/>
            <a:ext cx="4225925" cy="186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099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f=open('C:\myfile.txt’) </a:t>
            </a:r>
            <a:r>
              <a:rPr sz="2400" b="1" spc="-143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for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line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in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f:</a:t>
            </a:r>
            <a:endParaRPr sz="2400">
              <a:latin typeface="Courier New"/>
              <a:cs typeface="Courier New"/>
            </a:endParaRPr>
          </a:p>
          <a:p>
            <a:pPr marL="12700" marR="736600" indent="1459865">
              <a:lnSpc>
                <a:spcPct val="124600"/>
              </a:lnSpc>
            </a:pPr>
            <a:r>
              <a:rPr sz="2400" b="1" spc="-5" dirty="0">
                <a:latin typeface="Courier New"/>
                <a:cs typeface="Courier New"/>
              </a:rPr>
              <a:t>print(</a:t>
            </a:r>
            <a:r>
              <a:rPr sz="2400" b="1" spc="-15" dirty="0">
                <a:latin typeface="Courier New"/>
                <a:cs typeface="Courier New"/>
              </a:rPr>
              <a:t>li</a:t>
            </a:r>
            <a:r>
              <a:rPr sz="2400" b="1" spc="-5" dirty="0">
                <a:latin typeface="Courier New"/>
                <a:cs typeface="Courier New"/>
              </a:rPr>
              <a:t>ne)  </a:t>
            </a:r>
            <a:r>
              <a:rPr sz="2400" b="1" spc="-10" dirty="0">
                <a:latin typeface="Courier New"/>
                <a:cs typeface="Courier New"/>
              </a:rPr>
              <a:t>f.close()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41871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1F5F"/>
                </a:solidFill>
                <a:latin typeface="Constantia"/>
                <a:cs typeface="Constantia"/>
              </a:rPr>
              <a:t>File</a:t>
            </a:r>
            <a:r>
              <a:rPr sz="3200" spc="-17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writing</a:t>
            </a:r>
            <a:r>
              <a:rPr sz="3200" spc="-5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in</a:t>
            </a:r>
            <a:r>
              <a:rPr sz="3200" spc="-7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Python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8847" y="1357655"/>
            <a:ext cx="10870565" cy="387731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  <a:tab pos="241935" algn="l"/>
              </a:tabLst>
            </a:pPr>
            <a:r>
              <a:rPr sz="2200" spc="-25" dirty="0">
                <a:latin typeface="Calibri"/>
                <a:cs typeface="Calibri"/>
              </a:rPr>
              <a:t>Similarly,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writing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files,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we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open()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'wt'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mode</a:t>
            </a:r>
            <a:endParaRPr sz="2200">
              <a:latin typeface="Calibri"/>
              <a:cs typeface="Calibri"/>
            </a:endParaRPr>
          </a:p>
          <a:p>
            <a:pPr marL="304800" indent="-29273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304800" algn="l"/>
                <a:tab pos="305435" algn="l"/>
              </a:tabLst>
            </a:pPr>
            <a:r>
              <a:rPr sz="2200" spc="-10" dirty="0">
                <a:latin typeface="Calibri"/>
                <a:cs typeface="Calibri"/>
              </a:rPr>
              <a:t>Also,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we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write()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function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write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file.</a:t>
            </a:r>
            <a:endParaRPr sz="2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20"/>
              </a:spcBef>
            </a:pPr>
            <a:r>
              <a:rPr sz="2200" b="1" spc="-5" dirty="0">
                <a:solidFill>
                  <a:srgbClr val="870000"/>
                </a:solidFill>
                <a:latin typeface="Courier New"/>
                <a:cs typeface="Courier New"/>
              </a:rPr>
              <a:t>#</a:t>
            </a:r>
            <a:r>
              <a:rPr sz="2200" b="1" spc="-15" dirty="0">
                <a:solidFill>
                  <a:srgbClr val="87000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870000"/>
                </a:solidFill>
                <a:latin typeface="Courier New"/>
                <a:cs typeface="Courier New"/>
              </a:rPr>
              <a:t>Write</a:t>
            </a:r>
            <a:r>
              <a:rPr sz="2200" b="1" spc="5" dirty="0">
                <a:solidFill>
                  <a:srgbClr val="8700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870000"/>
                </a:solidFill>
                <a:latin typeface="Courier New"/>
                <a:cs typeface="Courier New"/>
              </a:rPr>
              <a:t>text</a:t>
            </a:r>
            <a:r>
              <a:rPr sz="2200" b="1" dirty="0">
                <a:solidFill>
                  <a:srgbClr val="8700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870000"/>
                </a:solidFill>
                <a:latin typeface="Courier New"/>
                <a:cs typeface="Courier New"/>
              </a:rPr>
              <a:t>data</a:t>
            </a:r>
            <a:r>
              <a:rPr sz="2200" b="1" spc="20" dirty="0">
                <a:solidFill>
                  <a:srgbClr val="8700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870000"/>
                </a:solidFill>
                <a:latin typeface="Courier New"/>
                <a:cs typeface="Courier New"/>
              </a:rPr>
              <a:t>to</a:t>
            </a:r>
            <a:r>
              <a:rPr sz="2200" b="1" spc="5" dirty="0">
                <a:solidFill>
                  <a:srgbClr val="8700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870000"/>
                </a:solidFill>
                <a:latin typeface="Courier New"/>
                <a:cs typeface="Courier New"/>
              </a:rPr>
              <a:t>a</a:t>
            </a:r>
            <a:r>
              <a:rPr sz="2200" b="1" spc="-15" dirty="0">
                <a:solidFill>
                  <a:srgbClr val="87000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870000"/>
                </a:solidFill>
                <a:latin typeface="Courier New"/>
                <a:cs typeface="Courier New"/>
              </a:rPr>
              <a:t>file</a:t>
            </a:r>
            <a:endParaRPr sz="2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95"/>
              </a:spcBef>
            </a:pPr>
            <a:r>
              <a:rPr sz="2200" b="1" spc="-5" dirty="0">
                <a:solidFill>
                  <a:srgbClr val="000087"/>
                </a:solidFill>
                <a:latin typeface="Courier New"/>
                <a:cs typeface="Courier New"/>
              </a:rPr>
              <a:t>with</a:t>
            </a:r>
            <a:r>
              <a:rPr sz="2200" b="1" spc="-10" dirty="0">
                <a:solidFill>
                  <a:srgbClr val="000087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open</a:t>
            </a:r>
            <a:r>
              <a:rPr sz="2200" b="1" dirty="0">
                <a:solidFill>
                  <a:srgbClr val="666600"/>
                </a:solidFill>
                <a:latin typeface="Courier New"/>
                <a:cs typeface="Courier New"/>
              </a:rPr>
              <a:t>(</a:t>
            </a:r>
            <a:r>
              <a:rPr sz="2200" b="1" dirty="0">
                <a:solidFill>
                  <a:srgbClr val="008700"/>
                </a:solidFill>
                <a:latin typeface="Courier New"/>
                <a:cs typeface="Courier New"/>
              </a:rPr>
              <a:t>'filename.txt'</a:t>
            </a:r>
            <a:r>
              <a:rPr sz="2200" b="1" spc="20" dirty="0">
                <a:solidFill>
                  <a:srgbClr val="0087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8700"/>
                </a:solidFill>
                <a:latin typeface="Courier New"/>
                <a:cs typeface="Courier New"/>
              </a:rPr>
              <a:t>'wt'</a:t>
            </a: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)</a:t>
            </a:r>
            <a:r>
              <a:rPr sz="2200" b="1" spc="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0087"/>
                </a:solidFill>
                <a:latin typeface="Courier New"/>
                <a:cs typeface="Courier New"/>
              </a:rPr>
              <a:t>as</a:t>
            </a:r>
            <a:r>
              <a:rPr sz="2200" b="1" spc="20" dirty="0">
                <a:solidFill>
                  <a:srgbClr val="000087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f</a:t>
            </a: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:</a:t>
            </a:r>
            <a:endParaRPr sz="2200">
              <a:latin typeface="Courier New"/>
              <a:cs typeface="Courier New"/>
            </a:endParaRPr>
          </a:p>
          <a:p>
            <a:pPr marL="1936114">
              <a:lnSpc>
                <a:spcPct val="100000"/>
              </a:lnSpc>
              <a:spcBef>
                <a:spcPts val="745"/>
              </a:spcBef>
            </a:pPr>
            <a:r>
              <a:rPr sz="2200" b="1" dirty="0">
                <a:latin typeface="Courier New"/>
                <a:cs typeface="Courier New"/>
              </a:rPr>
              <a:t>f</a:t>
            </a:r>
            <a:r>
              <a:rPr sz="2200" b="1" dirty="0">
                <a:solidFill>
                  <a:srgbClr val="666600"/>
                </a:solidFill>
                <a:latin typeface="Courier New"/>
                <a:cs typeface="Courier New"/>
              </a:rPr>
              <a:t>.</a:t>
            </a:r>
            <a:r>
              <a:rPr sz="2200" b="1" dirty="0">
                <a:latin typeface="Courier New"/>
                <a:cs typeface="Courier New"/>
              </a:rPr>
              <a:t>write </a:t>
            </a:r>
            <a:r>
              <a:rPr sz="2200" b="1" dirty="0">
                <a:solidFill>
                  <a:srgbClr val="666600"/>
                </a:solidFill>
                <a:latin typeface="Courier New"/>
                <a:cs typeface="Courier New"/>
              </a:rPr>
              <a:t>(</a:t>
            </a:r>
            <a:r>
              <a:rPr sz="2200" b="1" dirty="0">
                <a:solidFill>
                  <a:srgbClr val="008700"/>
                </a:solidFill>
                <a:latin typeface="Courier New"/>
                <a:cs typeface="Courier New"/>
              </a:rPr>
              <a:t>'hi</a:t>
            </a:r>
            <a:r>
              <a:rPr sz="2200" b="1" spc="5" dirty="0">
                <a:solidFill>
                  <a:srgbClr val="00870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008700"/>
                </a:solidFill>
                <a:latin typeface="Courier New"/>
                <a:cs typeface="Courier New"/>
              </a:rPr>
              <a:t>there,</a:t>
            </a:r>
            <a:r>
              <a:rPr sz="2200" b="1" spc="10" dirty="0">
                <a:solidFill>
                  <a:srgbClr val="0087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8700"/>
                </a:solidFill>
                <a:latin typeface="Courier New"/>
                <a:cs typeface="Courier New"/>
              </a:rPr>
              <a:t>this</a:t>
            </a:r>
            <a:r>
              <a:rPr sz="2200" b="1" spc="5" dirty="0">
                <a:solidFill>
                  <a:srgbClr val="0087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8700"/>
                </a:solidFill>
                <a:latin typeface="Courier New"/>
                <a:cs typeface="Courier New"/>
              </a:rPr>
              <a:t>is</a:t>
            </a:r>
            <a:r>
              <a:rPr sz="2200" b="1" spc="5" dirty="0">
                <a:solidFill>
                  <a:srgbClr val="0087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8700"/>
                </a:solidFill>
                <a:latin typeface="Courier New"/>
                <a:cs typeface="Courier New"/>
              </a:rPr>
              <a:t>a</a:t>
            </a:r>
            <a:r>
              <a:rPr sz="2200" b="1" spc="20" dirty="0">
                <a:solidFill>
                  <a:srgbClr val="0087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08700"/>
                </a:solidFill>
                <a:latin typeface="Courier New"/>
                <a:cs typeface="Courier New"/>
              </a:rPr>
              <a:t>first</a:t>
            </a:r>
            <a:r>
              <a:rPr sz="2200" b="1" spc="10" dirty="0">
                <a:solidFill>
                  <a:srgbClr val="00870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008700"/>
                </a:solidFill>
                <a:latin typeface="Courier New"/>
                <a:cs typeface="Courier New"/>
              </a:rPr>
              <a:t>line</a:t>
            </a:r>
            <a:r>
              <a:rPr sz="2200" b="1" spc="-10" dirty="0">
                <a:solidFill>
                  <a:srgbClr val="008700"/>
                </a:solidFill>
                <a:latin typeface="Courier New"/>
                <a:cs typeface="Courier New"/>
              </a:rPr>
              <a:t> </a:t>
            </a:r>
            <a:r>
              <a:rPr sz="2200" b="1" spc="5" dirty="0">
                <a:solidFill>
                  <a:srgbClr val="008700"/>
                </a:solidFill>
                <a:latin typeface="Courier New"/>
                <a:cs typeface="Courier New"/>
              </a:rPr>
              <a:t>of</a:t>
            </a:r>
            <a:r>
              <a:rPr sz="2200" b="1" spc="-10" dirty="0">
                <a:solidFill>
                  <a:srgbClr val="008700"/>
                </a:solidFill>
                <a:latin typeface="Courier New"/>
                <a:cs typeface="Courier New"/>
              </a:rPr>
              <a:t> </a:t>
            </a:r>
            <a:r>
              <a:rPr sz="2200" b="1" spc="5" dirty="0">
                <a:solidFill>
                  <a:srgbClr val="008700"/>
                </a:solidFill>
                <a:latin typeface="Courier New"/>
                <a:cs typeface="Courier New"/>
              </a:rPr>
              <a:t>file.\n’</a:t>
            </a:r>
            <a:r>
              <a:rPr sz="2200" b="1" spc="5" dirty="0">
                <a:solidFill>
                  <a:srgbClr val="666600"/>
                </a:solidFill>
                <a:latin typeface="Courier New"/>
                <a:cs typeface="Courier New"/>
              </a:rPr>
              <a:t>)</a:t>
            </a:r>
            <a:endParaRPr sz="2200">
              <a:latin typeface="Courier New"/>
              <a:cs typeface="Courier New"/>
            </a:endParaRPr>
          </a:p>
          <a:p>
            <a:pPr marL="1863089">
              <a:lnSpc>
                <a:spcPct val="100000"/>
              </a:lnSpc>
              <a:spcBef>
                <a:spcPts val="735"/>
              </a:spcBef>
            </a:pPr>
            <a:r>
              <a:rPr sz="2200" b="1" dirty="0">
                <a:latin typeface="Courier New"/>
                <a:cs typeface="Courier New"/>
              </a:rPr>
              <a:t>f</a:t>
            </a:r>
            <a:r>
              <a:rPr sz="2200" b="1" dirty="0">
                <a:solidFill>
                  <a:srgbClr val="666600"/>
                </a:solidFill>
                <a:latin typeface="Courier New"/>
                <a:cs typeface="Courier New"/>
              </a:rPr>
              <a:t>.</a:t>
            </a:r>
            <a:r>
              <a:rPr sz="2200" b="1" dirty="0">
                <a:latin typeface="Courier New"/>
                <a:cs typeface="Courier New"/>
              </a:rPr>
              <a:t>write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(</a:t>
            </a:r>
            <a:r>
              <a:rPr sz="2200" b="1" spc="-5" dirty="0">
                <a:solidFill>
                  <a:srgbClr val="008700"/>
                </a:solidFill>
                <a:latin typeface="Courier New"/>
                <a:cs typeface="Courier New"/>
              </a:rPr>
              <a:t>'and</a:t>
            </a:r>
            <a:r>
              <a:rPr sz="2200" b="1" dirty="0">
                <a:solidFill>
                  <a:srgbClr val="008700"/>
                </a:solidFill>
                <a:latin typeface="Courier New"/>
                <a:cs typeface="Courier New"/>
              </a:rPr>
              <a:t> another</a:t>
            </a:r>
            <a:r>
              <a:rPr sz="2200" b="1" spc="5" dirty="0">
                <a:solidFill>
                  <a:srgbClr val="00870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008700"/>
                </a:solidFill>
                <a:latin typeface="Courier New"/>
                <a:cs typeface="Courier New"/>
              </a:rPr>
              <a:t>line.\n’</a:t>
            </a:r>
            <a:r>
              <a:rPr sz="2200" b="1" dirty="0">
                <a:solidFill>
                  <a:srgbClr val="666600"/>
                </a:solidFill>
                <a:latin typeface="Courier New"/>
                <a:cs typeface="Courier New"/>
              </a:rPr>
              <a:t>)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200" b="1" spc="-5" dirty="0">
                <a:solidFill>
                  <a:srgbClr val="C00000"/>
                </a:solidFill>
                <a:latin typeface="Courier New"/>
                <a:cs typeface="Courier New"/>
              </a:rPr>
              <a:t>Output</a:t>
            </a:r>
            <a:endParaRPr sz="2200">
              <a:latin typeface="Courier New"/>
              <a:cs typeface="Courier New"/>
            </a:endParaRPr>
          </a:p>
          <a:p>
            <a:pPr marL="12700" marR="4291330">
              <a:lnSpc>
                <a:spcPct val="127699"/>
              </a:lnSpc>
              <a:spcBef>
                <a:spcPts val="15"/>
              </a:spcBef>
            </a:pP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hi</a:t>
            </a:r>
            <a:r>
              <a:rPr sz="2200" b="1" spc="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666600"/>
                </a:solidFill>
                <a:latin typeface="Courier New"/>
                <a:cs typeface="Courier New"/>
              </a:rPr>
              <a:t>there,</a:t>
            </a:r>
            <a:r>
              <a:rPr sz="2200" b="1" spc="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this</a:t>
            </a:r>
            <a:r>
              <a:rPr sz="2200" b="1" spc="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is</a:t>
            </a:r>
            <a:r>
              <a:rPr sz="2200" b="1" spc="20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a</a:t>
            </a:r>
            <a:r>
              <a:rPr sz="2200" b="1" spc="-10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666600"/>
                </a:solidFill>
                <a:latin typeface="Courier New"/>
                <a:cs typeface="Courier New"/>
              </a:rPr>
              <a:t>first</a:t>
            </a:r>
            <a:r>
              <a:rPr sz="2200" b="1" spc="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line</a:t>
            </a:r>
            <a:r>
              <a:rPr sz="2200" b="1" spc="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of</a:t>
            </a:r>
            <a:r>
              <a:rPr sz="2200" b="1" spc="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file. </a:t>
            </a:r>
            <a:r>
              <a:rPr sz="2200" b="1" spc="-130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666600"/>
                </a:solidFill>
                <a:latin typeface="Courier New"/>
                <a:cs typeface="Courier New"/>
              </a:rPr>
              <a:t>and</a:t>
            </a:r>
            <a:r>
              <a:rPr sz="2200" b="1" spc="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666600"/>
                </a:solidFill>
                <a:latin typeface="Courier New"/>
                <a:cs typeface="Courier New"/>
              </a:rPr>
              <a:t>another</a:t>
            </a:r>
            <a:r>
              <a:rPr sz="2200" b="1" spc="5" dirty="0">
                <a:solidFill>
                  <a:srgbClr val="666600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666600"/>
                </a:solidFill>
                <a:latin typeface="Courier New"/>
                <a:cs typeface="Courier New"/>
              </a:rPr>
              <a:t>line.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29241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001F5F"/>
                </a:solidFill>
                <a:latin typeface="Constantia"/>
                <a:cs typeface="Constantia"/>
              </a:rPr>
              <a:t>w</a:t>
            </a:r>
            <a:r>
              <a:rPr sz="3200" spc="5" dirty="0">
                <a:solidFill>
                  <a:srgbClr val="001F5F"/>
                </a:solidFill>
                <a:latin typeface="Constantia"/>
                <a:cs typeface="Constantia"/>
              </a:rPr>
              <a:t>i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th</a:t>
            </a:r>
            <a:r>
              <a:rPr sz="3200" spc="-13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sta</a:t>
            </a:r>
            <a:r>
              <a:rPr sz="3200" spc="-50" dirty="0">
                <a:solidFill>
                  <a:srgbClr val="001F5F"/>
                </a:solidFill>
                <a:latin typeface="Constantia"/>
                <a:cs typeface="Constantia"/>
              </a:rPr>
              <a:t>t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em</a:t>
            </a:r>
            <a:r>
              <a:rPr sz="3200" spc="10" dirty="0">
                <a:solidFill>
                  <a:srgbClr val="001F5F"/>
                </a:solidFill>
                <a:latin typeface="Constantia"/>
                <a:cs typeface="Constantia"/>
              </a:rPr>
              <a:t>e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nt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313179"/>
            <a:ext cx="10179685" cy="42449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264160" indent="-22923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dirty="0">
                <a:latin typeface="Calibri"/>
                <a:cs typeface="Calibri"/>
              </a:rPr>
              <a:t> when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two </a:t>
            </a:r>
            <a:r>
              <a:rPr sz="2400" spc="-15" dirty="0">
                <a:latin typeface="Calibri"/>
                <a:cs typeface="Calibri"/>
              </a:rPr>
              <a:t>related </a:t>
            </a:r>
            <a:r>
              <a:rPr sz="2400" spc="-10" dirty="0">
                <a:latin typeface="Calibri"/>
                <a:cs typeface="Calibri"/>
              </a:rPr>
              <a:t>operations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15" dirty="0">
                <a:latin typeface="Calibri"/>
                <a:cs typeface="Calibri"/>
              </a:rPr>
              <a:t> 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would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like</a:t>
            </a:r>
            <a:r>
              <a:rPr sz="2400" spc="-15" dirty="0">
                <a:latin typeface="Calibri"/>
                <a:cs typeface="Calibri"/>
              </a:rPr>
              <a:t> 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execute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pair,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block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code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between</a:t>
            </a:r>
            <a:endParaRPr sz="240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  <a:spcBef>
                <a:spcPts val="685"/>
              </a:spcBef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Example</a:t>
            </a:r>
            <a:r>
              <a:rPr sz="2400" spc="-5" dirty="0">
                <a:latin typeface="Calibri"/>
                <a:cs typeface="Calibri"/>
              </a:rPr>
              <a:t>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opening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file,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manipulating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file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closing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50"/>
              </a:spcBef>
            </a:pPr>
            <a:r>
              <a:rPr sz="2400" b="1" spc="-5" dirty="0">
                <a:latin typeface="Courier New"/>
                <a:cs typeface="Courier New"/>
              </a:rPr>
              <a:t>with</a:t>
            </a:r>
            <a:r>
              <a:rPr sz="2400" b="1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open(“output.txt”,”w”)</a:t>
            </a:r>
            <a:r>
              <a:rPr sz="2400" b="1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as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f:</a:t>
            </a:r>
            <a:endParaRPr sz="2400">
              <a:latin typeface="Courier New"/>
              <a:cs typeface="Courier New"/>
            </a:endParaRPr>
          </a:p>
          <a:p>
            <a:pPr marL="2024380">
              <a:lnSpc>
                <a:spcPct val="100000"/>
              </a:lnSpc>
              <a:spcBef>
                <a:spcPts val="710"/>
              </a:spcBef>
            </a:pPr>
            <a:r>
              <a:rPr sz="2400" b="1" spc="-10" dirty="0">
                <a:latin typeface="Courier New"/>
                <a:cs typeface="Courier New"/>
              </a:rPr>
              <a:t>f.write(“Hello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Python!”)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50">
              <a:latin typeface="Courier New"/>
              <a:cs typeface="Courier New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above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automatically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file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after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nested </a:t>
            </a:r>
            <a:r>
              <a:rPr sz="2400" spc="-5" dirty="0">
                <a:latin typeface="Calibri"/>
                <a:cs typeface="Calibri"/>
              </a:rPr>
              <a:t>block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advantage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using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statement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guaranteed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close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file.</a:t>
            </a:r>
            <a:endParaRPr sz="2400">
              <a:latin typeface="Calibri"/>
              <a:cs typeface="Calibri"/>
            </a:endParaRPr>
          </a:p>
          <a:p>
            <a:pPr marL="241300" marR="5080" indent="-229235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dirty="0">
                <a:latin typeface="Calibri"/>
                <a:cs typeface="Calibri"/>
              </a:rPr>
              <a:t>If an </a:t>
            </a:r>
            <a:r>
              <a:rPr sz="2400" spc="-10" dirty="0">
                <a:latin typeface="Calibri"/>
                <a:cs typeface="Calibri"/>
              </a:rPr>
              <a:t>exception occurs </a:t>
            </a:r>
            <a:r>
              <a:rPr sz="2400" spc="-25" dirty="0">
                <a:latin typeface="Calibri"/>
                <a:cs typeface="Calibri"/>
              </a:rPr>
              <a:t>before </a:t>
            </a:r>
            <a:r>
              <a:rPr sz="2400" dirty="0">
                <a:latin typeface="Calibri"/>
                <a:cs typeface="Calibri"/>
              </a:rPr>
              <a:t>the end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block, </a:t>
            </a:r>
            <a:r>
              <a:rPr sz="2400" dirty="0">
                <a:latin typeface="Calibri"/>
                <a:cs typeface="Calibri"/>
              </a:rPr>
              <a:t>it will close the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spc="-25" dirty="0">
                <a:latin typeface="Calibri"/>
                <a:cs typeface="Calibri"/>
              </a:rPr>
              <a:t>before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exception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caught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 an</a:t>
            </a:r>
            <a:r>
              <a:rPr sz="2400" spc="-10" dirty="0">
                <a:latin typeface="Calibri"/>
                <a:cs typeface="Calibri"/>
              </a:rPr>
              <a:t> outer exception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handler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61245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1F5F"/>
                </a:solidFill>
                <a:latin typeface="Constantia"/>
                <a:cs typeface="Constantia"/>
              </a:rPr>
              <a:t>Writing</a:t>
            </a:r>
            <a:r>
              <a:rPr sz="3200" spc="-11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a</a:t>
            </a:r>
            <a:r>
              <a:rPr sz="3200" spc="-114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spc="15" dirty="0">
                <a:solidFill>
                  <a:srgbClr val="001F5F"/>
                </a:solidFill>
                <a:latin typeface="Constantia"/>
                <a:cs typeface="Constantia"/>
              </a:rPr>
              <a:t>file</a:t>
            </a:r>
            <a:r>
              <a:rPr sz="3200" spc="-11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that</a:t>
            </a:r>
            <a:r>
              <a:rPr sz="3200" spc="-17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does</a:t>
            </a:r>
            <a:r>
              <a:rPr sz="3200" spc="-9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not</a:t>
            </a:r>
            <a:r>
              <a:rPr sz="3200" spc="-16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exist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3360" y="1400682"/>
            <a:ext cx="10092690" cy="429260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0665" marR="5080" indent="-228600">
              <a:lnSpc>
                <a:spcPts val="2500"/>
              </a:lnSpc>
              <a:spcBef>
                <a:spcPts val="7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problem can </a:t>
            </a:r>
            <a:r>
              <a:rPr sz="2600" spc="-5" dirty="0">
                <a:latin typeface="Calibri"/>
                <a:cs typeface="Calibri"/>
              </a:rPr>
              <a:t>be </a:t>
            </a:r>
            <a:r>
              <a:rPr sz="2600" dirty="0">
                <a:latin typeface="Calibri"/>
                <a:cs typeface="Calibri"/>
              </a:rPr>
              <a:t>easily </a:t>
            </a:r>
            <a:r>
              <a:rPr sz="2600" spc="-10" dirty="0">
                <a:latin typeface="Calibri"/>
                <a:cs typeface="Calibri"/>
              </a:rPr>
              <a:t>solved by </a:t>
            </a:r>
            <a:r>
              <a:rPr sz="2600" spc="-5" dirty="0">
                <a:latin typeface="Calibri"/>
                <a:cs typeface="Calibri"/>
              </a:rPr>
              <a:t>using </a:t>
            </a:r>
            <a:r>
              <a:rPr sz="2600" dirty="0">
                <a:latin typeface="Calibri"/>
                <a:cs typeface="Calibri"/>
              </a:rPr>
              <a:t>another </a:t>
            </a:r>
            <a:r>
              <a:rPr sz="2600" spc="-5" dirty="0">
                <a:latin typeface="Calibri"/>
                <a:cs typeface="Calibri"/>
              </a:rPr>
              <a:t>mode </a:t>
            </a:r>
            <a:r>
              <a:rPr sz="2600" dirty="0">
                <a:latin typeface="Calibri"/>
                <a:cs typeface="Calibri"/>
              </a:rPr>
              <a:t>- </a:t>
            </a:r>
            <a:r>
              <a:rPr sz="2600" spc="-5" dirty="0">
                <a:latin typeface="Calibri"/>
                <a:cs typeface="Calibri"/>
              </a:rPr>
              <a:t>technique, </a:t>
            </a:r>
            <a:r>
              <a:rPr sz="2600" dirty="0">
                <a:latin typeface="Calibri"/>
                <a:cs typeface="Calibri"/>
              </a:rPr>
              <a:t>i.e.,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'x'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mode </a:t>
            </a:r>
            <a:r>
              <a:rPr sz="2600" spc="-15" dirty="0">
                <a:latin typeface="Calibri"/>
                <a:cs typeface="Calibri"/>
              </a:rPr>
              <a:t>to</a:t>
            </a:r>
            <a:r>
              <a:rPr sz="2600" spc="-5" dirty="0">
                <a:latin typeface="Calibri"/>
                <a:cs typeface="Calibri"/>
              </a:rPr>
              <a:t> open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file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instead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 'w'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mode.</a:t>
            </a:r>
            <a:endParaRPr sz="26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420"/>
              </a:spcBef>
            </a:pPr>
            <a:r>
              <a:rPr sz="2600" dirty="0">
                <a:solidFill>
                  <a:srgbClr val="000087"/>
                </a:solidFill>
                <a:latin typeface="Arial MT"/>
                <a:cs typeface="Arial MT"/>
              </a:rPr>
              <a:t>with</a:t>
            </a:r>
            <a:r>
              <a:rPr sz="2600" spc="-15" dirty="0">
                <a:solidFill>
                  <a:srgbClr val="000087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open</a:t>
            </a:r>
            <a:r>
              <a:rPr sz="2600" dirty="0">
                <a:solidFill>
                  <a:srgbClr val="666600"/>
                </a:solidFill>
                <a:latin typeface="Arial MT"/>
                <a:cs typeface="Arial MT"/>
              </a:rPr>
              <a:t>(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'filename'</a:t>
            </a:r>
            <a:r>
              <a:rPr sz="2600" spc="-5" dirty="0">
                <a:solidFill>
                  <a:srgbClr val="0087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666600"/>
                </a:solidFill>
                <a:latin typeface="Arial MT"/>
                <a:cs typeface="Arial MT"/>
              </a:rPr>
              <a:t>,</a:t>
            </a:r>
            <a:r>
              <a:rPr sz="2600" spc="-15" dirty="0">
                <a:solidFill>
                  <a:srgbClr val="6666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008700"/>
                </a:solidFill>
                <a:latin typeface="Arial MT"/>
                <a:cs typeface="Arial MT"/>
              </a:rPr>
              <a:t>'wt'</a:t>
            </a:r>
            <a:r>
              <a:rPr sz="2600" spc="-5" dirty="0">
                <a:solidFill>
                  <a:srgbClr val="666600"/>
                </a:solidFill>
                <a:latin typeface="Arial MT"/>
                <a:cs typeface="Arial MT"/>
              </a:rPr>
              <a:t>)</a:t>
            </a:r>
            <a:r>
              <a:rPr sz="2600" spc="5" dirty="0">
                <a:solidFill>
                  <a:srgbClr val="6666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0087"/>
                </a:solidFill>
                <a:latin typeface="Arial MT"/>
                <a:cs typeface="Arial MT"/>
              </a:rPr>
              <a:t>as</a:t>
            </a:r>
            <a:r>
              <a:rPr sz="2600" spc="-15" dirty="0">
                <a:solidFill>
                  <a:srgbClr val="000087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f</a:t>
            </a:r>
            <a:r>
              <a:rPr sz="2600" spc="-5" dirty="0">
                <a:solidFill>
                  <a:srgbClr val="666600"/>
                </a:solidFill>
                <a:latin typeface="Arial MT"/>
                <a:cs typeface="Arial MT"/>
              </a:rPr>
              <a:t>:</a:t>
            </a:r>
            <a:endParaRPr sz="2600">
              <a:latin typeface="Arial MT"/>
              <a:cs typeface="Arial MT"/>
            </a:endParaRPr>
          </a:p>
          <a:p>
            <a:pPr marL="1663064">
              <a:lnSpc>
                <a:spcPct val="100000"/>
              </a:lnSpc>
              <a:spcBef>
                <a:spcPts val="375"/>
              </a:spcBef>
            </a:pPr>
            <a:r>
              <a:rPr sz="2600" dirty="0">
                <a:latin typeface="Arial MT"/>
                <a:cs typeface="Arial MT"/>
              </a:rPr>
              <a:t>f</a:t>
            </a:r>
            <a:r>
              <a:rPr sz="2600" dirty="0">
                <a:solidFill>
                  <a:srgbClr val="666600"/>
                </a:solidFill>
                <a:latin typeface="Arial MT"/>
                <a:cs typeface="Arial MT"/>
              </a:rPr>
              <a:t>.</a:t>
            </a:r>
            <a:r>
              <a:rPr sz="2600" dirty="0">
                <a:latin typeface="Arial MT"/>
                <a:cs typeface="Arial MT"/>
              </a:rPr>
              <a:t>write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666600"/>
                </a:solidFill>
                <a:latin typeface="Arial MT"/>
                <a:cs typeface="Arial MT"/>
              </a:rPr>
              <a:t>(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'Hello,</a:t>
            </a:r>
            <a:r>
              <a:rPr sz="2600" spc="-60" dirty="0">
                <a:solidFill>
                  <a:srgbClr val="0087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This</a:t>
            </a:r>
            <a:r>
              <a:rPr sz="2600" spc="-20" dirty="0">
                <a:solidFill>
                  <a:srgbClr val="0087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is</a:t>
            </a:r>
            <a:r>
              <a:rPr sz="2600" spc="-5" dirty="0">
                <a:solidFill>
                  <a:srgbClr val="0087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sample</a:t>
            </a:r>
            <a:r>
              <a:rPr sz="2600" spc="-25" dirty="0">
                <a:solidFill>
                  <a:srgbClr val="0087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content.\n’</a:t>
            </a:r>
            <a:r>
              <a:rPr sz="2600" dirty="0">
                <a:solidFill>
                  <a:srgbClr val="666600"/>
                </a:solidFill>
                <a:latin typeface="Arial MT"/>
                <a:cs typeface="Arial MT"/>
              </a:rPr>
              <a:t>)</a:t>
            </a:r>
            <a:endParaRPr sz="2600">
              <a:latin typeface="Arial MT"/>
              <a:cs typeface="Arial MT"/>
            </a:endParaRPr>
          </a:p>
          <a:p>
            <a:pPr marL="1017905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solidFill>
                  <a:srgbClr val="870000"/>
                </a:solidFill>
                <a:latin typeface="Arial MT"/>
                <a:cs typeface="Arial MT"/>
              </a:rPr>
              <a:t>#</a:t>
            </a:r>
            <a:r>
              <a:rPr sz="2600" spc="-35" dirty="0">
                <a:solidFill>
                  <a:srgbClr val="87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70000"/>
                </a:solidFill>
                <a:latin typeface="Arial MT"/>
                <a:cs typeface="Arial MT"/>
              </a:rPr>
              <a:t>This</a:t>
            </a:r>
            <a:r>
              <a:rPr sz="2600" spc="-15" dirty="0">
                <a:solidFill>
                  <a:srgbClr val="87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70000"/>
                </a:solidFill>
                <a:latin typeface="Arial MT"/>
                <a:cs typeface="Arial MT"/>
              </a:rPr>
              <a:t>will</a:t>
            </a:r>
            <a:r>
              <a:rPr sz="2600" spc="-20" dirty="0">
                <a:solidFill>
                  <a:srgbClr val="87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70000"/>
                </a:solidFill>
                <a:latin typeface="Arial MT"/>
                <a:cs typeface="Arial MT"/>
              </a:rPr>
              <a:t>create</a:t>
            </a:r>
            <a:r>
              <a:rPr sz="2600" spc="5" dirty="0">
                <a:solidFill>
                  <a:srgbClr val="87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70000"/>
                </a:solidFill>
                <a:latin typeface="Arial MT"/>
                <a:cs typeface="Arial MT"/>
              </a:rPr>
              <a:t>an error</a:t>
            </a:r>
            <a:r>
              <a:rPr sz="2600" spc="-15" dirty="0">
                <a:solidFill>
                  <a:srgbClr val="87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70000"/>
                </a:solidFill>
                <a:latin typeface="Arial MT"/>
                <a:cs typeface="Arial MT"/>
              </a:rPr>
              <a:t>that</a:t>
            </a:r>
            <a:r>
              <a:rPr sz="2600" spc="5" dirty="0">
                <a:solidFill>
                  <a:srgbClr val="87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70000"/>
                </a:solidFill>
                <a:latin typeface="Arial MT"/>
                <a:cs typeface="Arial MT"/>
              </a:rPr>
              <a:t>the</a:t>
            </a:r>
            <a:r>
              <a:rPr sz="2600" spc="15" dirty="0">
                <a:solidFill>
                  <a:srgbClr val="87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870000"/>
                </a:solidFill>
                <a:latin typeface="Arial MT"/>
                <a:cs typeface="Arial MT"/>
              </a:rPr>
              <a:t>file</a:t>
            </a:r>
            <a:r>
              <a:rPr sz="2600" dirty="0">
                <a:solidFill>
                  <a:srgbClr val="870000"/>
                </a:solidFill>
                <a:latin typeface="Arial MT"/>
                <a:cs typeface="Arial MT"/>
              </a:rPr>
              <a:t> 'filename'</a:t>
            </a:r>
            <a:r>
              <a:rPr sz="2600" spc="5" dirty="0">
                <a:solidFill>
                  <a:srgbClr val="87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70000"/>
                </a:solidFill>
                <a:latin typeface="Arial MT"/>
                <a:cs typeface="Arial MT"/>
              </a:rPr>
              <a:t>doesn't</a:t>
            </a:r>
            <a:r>
              <a:rPr sz="2600" spc="-5" dirty="0">
                <a:solidFill>
                  <a:srgbClr val="87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70000"/>
                </a:solidFill>
                <a:latin typeface="Arial MT"/>
                <a:cs typeface="Arial MT"/>
              </a:rPr>
              <a:t>exist.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35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</a:pPr>
            <a:r>
              <a:rPr sz="2600" dirty="0">
                <a:solidFill>
                  <a:srgbClr val="000087"/>
                </a:solidFill>
                <a:latin typeface="Arial MT"/>
                <a:cs typeface="Arial MT"/>
              </a:rPr>
              <a:t>with</a:t>
            </a:r>
            <a:r>
              <a:rPr sz="2600" spc="-10" dirty="0">
                <a:solidFill>
                  <a:srgbClr val="000087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open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666600"/>
                </a:solidFill>
                <a:latin typeface="Arial MT"/>
                <a:cs typeface="Arial MT"/>
              </a:rPr>
              <a:t>(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'filename.txt'</a:t>
            </a:r>
            <a:r>
              <a:rPr sz="2600" spc="5" dirty="0">
                <a:solidFill>
                  <a:srgbClr val="0087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666600"/>
                </a:solidFill>
                <a:latin typeface="Arial MT"/>
                <a:cs typeface="Arial MT"/>
              </a:rPr>
              <a:t>,</a:t>
            </a:r>
            <a:r>
              <a:rPr sz="2600" spc="-20" dirty="0">
                <a:solidFill>
                  <a:srgbClr val="6666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008700"/>
                </a:solidFill>
                <a:latin typeface="Arial MT"/>
                <a:cs typeface="Arial MT"/>
              </a:rPr>
              <a:t>'</a:t>
            </a:r>
            <a:r>
              <a:rPr sz="2600" b="1" spc="-5" dirty="0">
                <a:solidFill>
                  <a:srgbClr val="008700"/>
                </a:solidFill>
                <a:latin typeface="Arial"/>
                <a:cs typeface="Arial"/>
              </a:rPr>
              <a:t>xt</a:t>
            </a:r>
            <a:r>
              <a:rPr sz="2600" spc="-5" dirty="0">
                <a:solidFill>
                  <a:srgbClr val="008700"/>
                </a:solidFill>
                <a:latin typeface="Arial MT"/>
                <a:cs typeface="Arial MT"/>
              </a:rPr>
              <a:t>'</a:t>
            </a:r>
            <a:r>
              <a:rPr sz="2600" spc="-5" dirty="0">
                <a:solidFill>
                  <a:srgbClr val="666600"/>
                </a:solidFill>
                <a:latin typeface="Arial MT"/>
                <a:cs typeface="Arial MT"/>
              </a:rPr>
              <a:t>)</a:t>
            </a:r>
            <a:r>
              <a:rPr sz="2600" spc="5" dirty="0">
                <a:solidFill>
                  <a:srgbClr val="6666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0087"/>
                </a:solidFill>
                <a:latin typeface="Arial MT"/>
                <a:cs typeface="Arial MT"/>
              </a:rPr>
              <a:t>as</a:t>
            </a:r>
            <a:r>
              <a:rPr sz="2600" spc="-15" dirty="0">
                <a:solidFill>
                  <a:srgbClr val="000087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f</a:t>
            </a:r>
            <a:r>
              <a:rPr sz="2600" spc="-5" dirty="0">
                <a:solidFill>
                  <a:srgbClr val="666600"/>
                </a:solidFill>
                <a:latin typeface="Arial MT"/>
                <a:cs typeface="Arial MT"/>
              </a:rPr>
              <a:t>:</a:t>
            </a:r>
            <a:endParaRPr sz="2600">
              <a:latin typeface="Arial MT"/>
              <a:cs typeface="Arial MT"/>
            </a:endParaRPr>
          </a:p>
          <a:p>
            <a:pPr marL="1663064">
              <a:lnSpc>
                <a:spcPct val="100000"/>
              </a:lnSpc>
              <a:spcBef>
                <a:spcPts val="384"/>
              </a:spcBef>
            </a:pPr>
            <a:r>
              <a:rPr sz="2600" dirty="0">
                <a:latin typeface="Arial MT"/>
                <a:cs typeface="Arial MT"/>
              </a:rPr>
              <a:t>f</a:t>
            </a:r>
            <a:r>
              <a:rPr sz="2600" dirty="0">
                <a:solidFill>
                  <a:srgbClr val="666600"/>
                </a:solidFill>
                <a:latin typeface="Arial MT"/>
                <a:cs typeface="Arial MT"/>
              </a:rPr>
              <a:t>.</a:t>
            </a:r>
            <a:r>
              <a:rPr sz="2600" dirty="0">
                <a:latin typeface="Arial MT"/>
                <a:cs typeface="Arial MT"/>
              </a:rPr>
              <a:t>write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666600"/>
                </a:solidFill>
                <a:latin typeface="Arial MT"/>
                <a:cs typeface="Arial MT"/>
              </a:rPr>
              <a:t>(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'Hello,</a:t>
            </a:r>
            <a:r>
              <a:rPr sz="2600" spc="-60" dirty="0">
                <a:solidFill>
                  <a:srgbClr val="0087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This</a:t>
            </a:r>
            <a:r>
              <a:rPr sz="2600" spc="-20" dirty="0">
                <a:solidFill>
                  <a:srgbClr val="0087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is</a:t>
            </a:r>
            <a:r>
              <a:rPr sz="2600" spc="-5" dirty="0">
                <a:solidFill>
                  <a:srgbClr val="0087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sample</a:t>
            </a:r>
            <a:r>
              <a:rPr sz="2600" spc="-25" dirty="0">
                <a:solidFill>
                  <a:srgbClr val="0087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8700"/>
                </a:solidFill>
                <a:latin typeface="Arial MT"/>
                <a:cs typeface="Arial MT"/>
              </a:rPr>
              <a:t>content.\n’</a:t>
            </a:r>
            <a:r>
              <a:rPr sz="2600" dirty="0">
                <a:solidFill>
                  <a:srgbClr val="666600"/>
                </a:solidFill>
                <a:latin typeface="Arial MT"/>
                <a:cs typeface="Arial MT"/>
              </a:rPr>
              <a:t>)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dirty="0">
                <a:latin typeface="Arial MT"/>
                <a:cs typeface="Arial MT"/>
              </a:rPr>
              <a:t>In binary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mode,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we should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'</a:t>
            </a:r>
            <a:r>
              <a:rPr sz="2600" b="1" dirty="0">
                <a:solidFill>
                  <a:srgbClr val="333333"/>
                </a:solidFill>
                <a:latin typeface="Arial"/>
                <a:cs typeface="Arial"/>
              </a:rPr>
              <a:t>xb</a:t>
            </a:r>
            <a:r>
              <a:rPr sz="2600" dirty="0">
                <a:latin typeface="Arial MT"/>
                <a:cs typeface="Arial MT"/>
              </a:rPr>
              <a:t>'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instead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'</a:t>
            </a:r>
            <a:r>
              <a:rPr sz="2600" b="1" spc="-5" dirty="0">
                <a:solidFill>
                  <a:srgbClr val="333333"/>
                </a:solidFill>
                <a:latin typeface="Arial"/>
                <a:cs typeface="Arial"/>
              </a:rPr>
              <a:t>xt</a:t>
            </a:r>
            <a:r>
              <a:rPr sz="2600" spc="-5" dirty="0">
                <a:latin typeface="Arial MT"/>
                <a:cs typeface="Arial MT"/>
              </a:rPr>
              <a:t>'.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30346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001F5F"/>
                </a:solidFill>
                <a:latin typeface="Constantia"/>
                <a:cs typeface="Constantia"/>
              </a:rPr>
              <a:t>Renaming</a:t>
            </a:r>
            <a:r>
              <a:rPr sz="3200" spc="-12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a</a:t>
            </a:r>
            <a:r>
              <a:rPr sz="3200" spc="-125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spc="15" dirty="0">
                <a:solidFill>
                  <a:srgbClr val="001F5F"/>
                </a:solidFill>
                <a:latin typeface="Constantia"/>
                <a:cs typeface="Constantia"/>
              </a:rPr>
              <a:t>file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8743" y="1405509"/>
            <a:ext cx="9784715" cy="43637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os </a:t>
            </a:r>
            <a:r>
              <a:rPr sz="2400" dirty="0">
                <a:latin typeface="Calibri"/>
                <a:cs typeface="Calibri"/>
              </a:rPr>
              <a:t>module Python </a:t>
            </a:r>
            <a:r>
              <a:rPr sz="2400" spc="-10" dirty="0">
                <a:latin typeface="Calibri"/>
                <a:cs typeface="Calibri"/>
              </a:rPr>
              <a:t>provides </a:t>
            </a:r>
            <a:r>
              <a:rPr sz="2400" spc="-5" dirty="0">
                <a:latin typeface="Calibri"/>
                <a:cs typeface="Calibri"/>
              </a:rPr>
              <a:t>methods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5" dirty="0">
                <a:latin typeface="Calibri"/>
                <a:cs typeface="Calibri"/>
              </a:rPr>
              <a:t>help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perform </a:t>
            </a:r>
            <a:r>
              <a:rPr sz="2400" spc="-5" dirty="0">
                <a:latin typeface="Calibri"/>
                <a:cs typeface="Calibri"/>
              </a:rPr>
              <a:t>file-processing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operations,</a:t>
            </a:r>
            <a:r>
              <a:rPr sz="2400" spc="-5" dirty="0">
                <a:latin typeface="Calibri"/>
                <a:cs typeface="Calibri"/>
              </a:rPr>
              <a:t> such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renaming</a:t>
            </a:r>
            <a:r>
              <a:rPr sz="2400" dirty="0">
                <a:latin typeface="Calibri"/>
                <a:cs typeface="Calibri"/>
              </a:rPr>
              <a:t> 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deleting.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14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rename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file,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rename()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method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used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takes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two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arguments,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name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name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Syntax: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85"/>
              </a:spcBef>
            </a:pPr>
            <a:r>
              <a:rPr sz="2400" b="1" spc="-10" dirty="0">
                <a:latin typeface="Courier New"/>
                <a:cs typeface="Courier New"/>
              </a:rPr>
              <a:t>os.rename(current_file_name,</a:t>
            </a:r>
            <a:r>
              <a:rPr sz="2400" b="1" spc="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new_file_name)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  <a:p>
            <a:pPr marL="927100" marR="2459990">
              <a:lnSpc>
                <a:spcPct val="123700"/>
              </a:lnSpc>
              <a:spcBef>
                <a:spcPts val="5"/>
              </a:spcBef>
            </a:pPr>
            <a:r>
              <a:rPr sz="2400" b="1" spc="-5" dirty="0">
                <a:latin typeface="Courier New"/>
                <a:cs typeface="Courier New"/>
              </a:rPr>
              <a:t>import </a:t>
            </a:r>
            <a:r>
              <a:rPr sz="2400" b="1" spc="-15" dirty="0">
                <a:latin typeface="Courier New"/>
                <a:cs typeface="Courier New"/>
              </a:rPr>
              <a:t>os </a:t>
            </a:r>
            <a:r>
              <a:rPr sz="2400" b="1" spc="-10" dirty="0">
                <a:latin typeface="Courier New"/>
                <a:cs typeface="Courier New"/>
              </a:rPr>
              <a:t> os.rename(“test.txt”,”Newtest.txt”)</a:t>
            </a:r>
            <a:endParaRPr sz="2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10"/>
              </a:spcBef>
            </a:pPr>
            <a:r>
              <a:rPr sz="2400" b="1" spc="-10" dirty="0">
                <a:latin typeface="Courier New"/>
                <a:cs typeface="Courier New"/>
              </a:rPr>
              <a:t>print(“File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renamed”)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27260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Deleting</a:t>
            </a:r>
            <a:r>
              <a:rPr sz="3200" spc="-13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dirty="0">
                <a:solidFill>
                  <a:srgbClr val="001F5F"/>
                </a:solidFill>
                <a:latin typeface="Constantia"/>
                <a:cs typeface="Constantia"/>
              </a:rPr>
              <a:t>a</a:t>
            </a:r>
            <a:r>
              <a:rPr sz="3200" spc="-120" dirty="0">
                <a:solidFill>
                  <a:srgbClr val="001F5F"/>
                </a:solidFill>
                <a:latin typeface="Constantia"/>
                <a:cs typeface="Constantia"/>
              </a:rPr>
              <a:t> </a:t>
            </a:r>
            <a:r>
              <a:rPr sz="3200" spc="15" dirty="0">
                <a:solidFill>
                  <a:srgbClr val="001F5F"/>
                </a:solidFill>
                <a:latin typeface="Constantia"/>
                <a:cs typeface="Constantia"/>
              </a:rPr>
              <a:t>file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504" y="1576592"/>
            <a:ext cx="6017260" cy="321246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45" dirty="0">
                <a:latin typeface="Calibri"/>
                <a:cs typeface="Calibri"/>
              </a:rPr>
              <a:t>We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delete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file</a:t>
            </a:r>
            <a:r>
              <a:rPr sz="2400" spc="-10" dirty="0">
                <a:latin typeface="Calibri"/>
                <a:cs typeface="Calibri"/>
              </a:rPr>
              <a:t> by</a:t>
            </a:r>
            <a:r>
              <a:rPr sz="2400" spc="-5" dirty="0">
                <a:latin typeface="Calibri"/>
                <a:cs typeface="Calibri"/>
              </a:rPr>
              <a:t> using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remove()</a:t>
            </a:r>
            <a:r>
              <a:rPr sz="2400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method</a:t>
            </a:r>
            <a:endParaRPr sz="240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5" dirty="0">
                <a:latin typeface="Calibri"/>
                <a:cs typeface="Calibri"/>
              </a:rPr>
              <a:t>Syntax: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85"/>
              </a:spcBef>
            </a:pPr>
            <a:r>
              <a:rPr sz="2400" b="1" spc="-10" dirty="0">
                <a:latin typeface="Courier New"/>
                <a:cs typeface="Courier New"/>
              </a:rPr>
              <a:t>os.remove(filename)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400" spc="-5" dirty="0"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85"/>
              </a:spcBef>
            </a:pPr>
            <a:r>
              <a:rPr sz="2400" b="1" spc="-5" dirty="0">
                <a:latin typeface="Courier New"/>
                <a:cs typeface="Courier New"/>
              </a:rPr>
              <a:t>import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15" dirty="0">
                <a:latin typeface="Courier New"/>
                <a:cs typeface="Courier New"/>
              </a:rPr>
              <a:t>os</a:t>
            </a:r>
            <a:endParaRPr sz="2400">
              <a:latin typeface="Courier New"/>
              <a:cs typeface="Courier New"/>
            </a:endParaRPr>
          </a:p>
          <a:p>
            <a:pPr marL="927100" marR="700405">
              <a:lnSpc>
                <a:spcPts val="3590"/>
              </a:lnSpc>
              <a:spcBef>
                <a:spcPts val="70"/>
              </a:spcBef>
            </a:pPr>
            <a:r>
              <a:rPr sz="2400" b="1" spc="-10" dirty="0">
                <a:latin typeface="Courier New"/>
                <a:cs typeface="Courier New"/>
              </a:rPr>
              <a:t>os.remove(“Newtest.txt”) </a:t>
            </a:r>
            <a:r>
              <a:rPr sz="2400" b="1" spc="-14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print(“File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deleted”)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rectangular sign with blue text&#10;&#10;Description automatically generated">
            <a:extLst>
              <a:ext uri="{FF2B5EF4-FFF2-40B4-BE49-F238E27FC236}">
                <a16:creationId xmlns:a16="http://schemas.microsoft.com/office/drawing/2014/main" id="{F54D3809-D3C8-E63C-6462-E66C350DA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11" y="68263"/>
            <a:ext cx="11096977" cy="62420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6600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1358</Words>
  <Application>Microsoft Office PowerPoint</Application>
  <PresentationFormat>Widescreen</PresentationFormat>
  <Paragraphs>159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MT</vt:lpstr>
      <vt:lpstr>Calibri</vt:lpstr>
      <vt:lpstr>Constantia</vt:lpstr>
      <vt:lpstr>Courier New</vt:lpstr>
      <vt:lpstr>Verdana</vt:lpstr>
      <vt:lpstr>Office Theme</vt:lpstr>
      <vt:lpstr>PowerPoint Presentation</vt:lpstr>
      <vt:lpstr>File Handling</vt:lpstr>
      <vt:lpstr>File</vt:lpstr>
      <vt:lpstr>Open a file</vt:lpstr>
      <vt:lpstr>filename: name of the file that we want to access  accessmode: read, write, append etc.</vt:lpstr>
      <vt:lpstr>Attributes of file object</vt:lpstr>
      <vt:lpstr>Attributes of file object</vt:lpstr>
      <vt:lpstr>Modes for opening a file</vt:lpstr>
      <vt:lpstr>Modes for opening a file</vt:lpstr>
      <vt:lpstr>Closing a File</vt:lpstr>
      <vt:lpstr>Reading File</vt:lpstr>
      <vt:lpstr>File reading in Python</vt:lpstr>
      <vt:lpstr>PowerPoint Presentation</vt:lpstr>
      <vt:lpstr>Reading all Lines</vt:lpstr>
      <vt:lpstr>Use for loop to read a file</vt:lpstr>
      <vt:lpstr>File writing in Python</vt:lpstr>
      <vt:lpstr>with statement</vt:lpstr>
      <vt:lpstr>Writing a file that does not exist</vt:lpstr>
      <vt:lpstr>Renaming a file</vt:lpstr>
      <vt:lpstr>Deleting a file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kamal korlakunta</cp:lastModifiedBy>
  <cp:revision>1</cp:revision>
  <dcterms:created xsi:type="dcterms:W3CDTF">2023-10-02T16:36:12Z</dcterms:created>
  <dcterms:modified xsi:type="dcterms:W3CDTF">2023-10-02T16:44:28Z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2023-10-02T00:00:00Z</vt:filetime>
  </property>
</Properties>
</file>