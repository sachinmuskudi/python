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351" r:id="rId2"/>
    <p:sldId id="265" r:id="rId3"/>
    <p:sldId id="310" r:id="rId4"/>
    <p:sldId id="256" r:id="rId5"/>
    <p:sldId id="259" r:id="rId6"/>
    <p:sldId id="260" r:id="rId7"/>
    <p:sldId id="263" r:id="rId8"/>
    <p:sldId id="311" r:id="rId9"/>
    <p:sldId id="313" r:id="rId10"/>
    <p:sldId id="318" r:id="rId11"/>
    <p:sldId id="319" r:id="rId12"/>
    <p:sldId id="320" r:id="rId13"/>
    <p:sldId id="257" r:id="rId14"/>
    <p:sldId id="312" r:id="rId15"/>
    <p:sldId id="315" r:id="rId16"/>
    <p:sldId id="314" r:id="rId17"/>
    <p:sldId id="317" r:id="rId18"/>
    <p:sldId id="321" r:id="rId19"/>
    <p:sldId id="322" r:id="rId20"/>
    <p:sldId id="323" r:id="rId21"/>
    <p:sldId id="324" r:id="rId22"/>
    <p:sldId id="325" r:id="rId23"/>
    <p:sldId id="327" r:id="rId24"/>
    <p:sldId id="328" r:id="rId25"/>
    <p:sldId id="330" r:id="rId26"/>
    <p:sldId id="335" r:id="rId27"/>
    <p:sldId id="332" r:id="rId28"/>
    <p:sldId id="333" r:id="rId29"/>
    <p:sldId id="334" r:id="rId30"/>
    <p:sldId id="336" r:id="rId31"/>
    <p:sldId id="331" r:id="rId32"/>
    <p:sldId id="337" r:id="rId33"/>
    <p:sldId id="338" r:id="rId34"/>
    <p:sldId id="349" r:id="rId35"/>
    <p:sldId id="264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E2F2"/>
    <a:srgbClr val="E5BCE5"/>
    <a:srgbClr val="FEE3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4660"/>
  </p:normalViewPr>
  <p:slideViewPr>
    <p:cSldViewPr snapToGrid="0">
      <p:cViewPr varScale="1">
        <p:scale>
          <a:sx n="85" d="100"/>
          <a:sy n="85" d="100"/>
        </p:scale>
        <p:origin x="49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13C00A-AAE9-4C51-BCCB-D14ED42DCBA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F716992-A61D-40E2-A430-E5C61AF86663}">
      <dgm:prSet/>
      <dgm:spPr/>
      <dgm:t>
        <a:bodyPr/>
        <a:lstStyle/>
        <a:p>
          <a:r>
            <a:rPr lang="en-GB"/>
            <a:t>Programming</a:t>
          </a:r>
          <a:endParaRPr lang="en-US"/>
        </a:p>
      </dgm:t>
    </dgm:pt>
    <dgm:pt modelId="{EE8F3FFD-25B3-48BE-828B-2FCAF5B44048}" type="parTrans" cxnId="{FCB9B3FE-A72C-4173-821A-BB53E9082CCC}">
      <dgm:prSet/>
      <dgm:spPr/>
      <dgm:t>
        <a:bodyPr/>
        <a:lstStyle/>
        <a:p>
          <a:endParaRPr lang="en-US"/>
        </a:p>
      </dgm:t>
    </dgm:pt>
    <dgm:pt modelId="{55BC8412-6FF7-42CD-B5EA-423515C007A1}" type="sibTrans" cxnId="{FCB9B3FE-A72C-4173-821A-BB53E9082CCC}">
      <dgm:prSet/>
      <dgm:spPr/>
      <dgm:t>
        <a:bodyPr/>
        <a:lstStyle/>
        <a:p>
          <a:endParaRPr lang="en-US"/>
        </a:p>
      </dgm:t>
    </dgm:pt>
    <dgm:pt modelId="{3DF7A66D-AE16-4EFC-A09E-9CA74CB57B8A}">
      <dgm:prSet/>
      <dgm:spPr/>
      <dgm:t>
        <a:bodyPr/>
        <a:lstStyle/>
        <a:p>
          <a:r>
            <a:rPr lang="en-GB"/>
            <a:t>DBMS</a:t>
          </a:r>
          <a:endParaRPr lang="en-US"/>
        </a:p>
      </dgm:t>
    </dgm:pt>
    <dgm:pt modelId="{016FC799-E8F5-4C5E-9882-FC994EFA2BFF}" type="parTrans" cxnId="{2133FFE2-B918-4B94-B604-26B972D9A9DD}">
      <dgm:prSet/>
      <dgm:spPr/>
      <dgm:t>
        <a:bodyPr/>
        <a:lstStyle/>
        <a:p>
          <a:endParaRPr lang="en-US"/>
        </a:p>
      </dgm:t>
    </dgm:pt>
    <dgm:pt modelId="{22C538A4-0E3E-4008-A86B-A67007614CDE}" type="sibTrans" cxnId="{2133FFE2-B918-4B94-B604-26B972D9A9DD}">
      <dgm:prSet/>
      <dgm:spPr/>
      <dgm:t>
        <a:bodyPr/>
        <a:lstStyle/>
        <a:p>
          <a:endParaRPr lang="en-US"/>
        </a:p>
      </dgm:t>
    </dgm:pt>
    <dgm:pt modelId="{A3B924F0-984D-4DFC-A742-2CE52DF02D8C}">
      <dgm:prSet/>
      <dgm:spPr/>
      <dgm:t>
        <a:bodyPr/>
        <a:lstStyle/>
        <a:p>
          <a:r>
            <a:rPr lang="en-GB"/>
            <a:t>Mathematics and Statistics</a:t>
          </a:r>
          <a:endParaRPr lang="en-US"/>
        </a:p>
      </dgm:t>
    </dgm:pt>
    <dgm:pt modelId="{BAD539B7-2376-45E9-971A-94B24C77A681}" type="parTrans" cxnId="{EF813566-7F4B-4C66-B32D-E9C8BC7FA2EA}">
      <dgm:prSet/>
      <dgm:spPr/>
      <dgm:t>
        <a:bodyPr/>
        <a:lstStyle/>
        <a:p>
          <a:endParaRPr lang="en-US"/>
        </a:p>
      </dgm:t>
    </dgm:pt>
    <dgm:pt modelId="{9AAC9BDB-4FE7-4EB4-8900-518C82BA014B}" type="sibTrans" cxnId="{EF813566-7F4B-4C66-B32D-E9C8BC7FA2EA}">
      <dgm:prSet/>
      <dgm:spPr/>
      <dgm:t>
        <a:bodyPr/>
        <a:lstStyle/>
        <a:p>
          <a:endParaRPr lang="en-US"/>
        </a:p>
      </dgm:t>
    </dgm:pt>
    <dgm:pt modelId="{BAA77EBC-280E-47B6-A6F0-DF44F4EDFB7D}">
      <dgm:prSet/>
      <dgm:spPr/>
      <dgm:t>
        <a:bodyPr/>
        <a:lstStyle/>
        <a:p>
          <a:r>
            <a:rPr lang="en-GB"/>
            <a:t>Data Visualisation</a:t>
          </a:r>
          <a:endParaRPr lang="en-US"/>
        </a:p>
      </dgm:t>
    </dgm:pt>
    <dgm:pt modelId="{52626699-333A-4BCD-BE30-885DF7880353}" type="parTrans" cxnId="{81F94248-85EA-461D-AE76-1C54C6850FA2}">
      <dgm:prSet/>
      <dgm:spPr/>
      <dgm:t>
        <a:bodyPr/>
        <a:lstStyle/>
        <a:p>
          <a:endParaRPr lang="en-US"/>
        </a:p>
      </dgm:t>
    </dgm:pt>
    <dgm:pt modelId="{043DE8D2-FE09-4789-8F4D-112842CC69C0}" type="sibTrans" cxnId="{81F94248-85EA-461D-AE76-1C54C6850FA2}">
      <dgm:prSet/>
      <dgm:spPr/>
      <dgm:t>
        <a:bodyPr/>
        <a:lstStyle/>
        <a:p>
          <a:endParaRPr lang="en-US"/>
        </a:p>
      </dgm:t>
    </dgm:pt>
    <dgm:pt modelId="{E090325C-FB9B-43BD-B209-08EC2407FEDB}">
      <dgm:prSet/>
      <dgm:spPr/>
      <dgm:t>
        <a:bodyPr/>
        <a:lstStyle/>
        <a:p>
          <a:r>
            <a:rPr lang="en-GB"/>
            <a:t>Machine learning</a:t>
          </a:r>
          <a:endParaRPr lang="en-US"/>
        </a:p>
      </dgm:t>
    </dgm:pt>
    <dgm:pt modelId="{8511E4C3-66DD-414E-B555-E03CE0FF970F}" type="parTrans" cxnId="{99FA363A-71B2-4087-B320-05A47418C732}">
      <dgm:prSet/>
      <dgm:spPr/>
      <dgm:t>
        <a:bodyPr/>
        <a:lstStyle/>
        <a:p>
          <a:endParaRPr lang="en-US"/>
        </a:p>
      </dgm:t>
    </dgm:pt>
    <dgm:pt modelId="{F71D381B-8226-4357-BE95-FD00AC96CB3A}" type="sibTrans" cxnId="{99FA363A-71B2-4087-B320-05A47418C732}">
      <dgm:prSet/>
      <dgm:spPr/>
      <dgm:t>
        <a:bodyPr/>
        <a:lstStyle/>
        <a:p>
          <a:endParaRPr lang="en-US"/>
        </a:p>
      </dgm:t>
    </dgm:pt>
    <dgm:pt modelId="{47F8D095-43A7-43C1-984A-8D338D16012A}">
      <dgm:prSet/>
      <dgm:spPr/>
      <dgm:t>
        <a:bodyPr/>
        <a:lstStyle/>
        <a:p>
          <a:r>
            <a:rPr lang="en-GB"/>
            <a:t>Deep Learning</a:t>
          </a:r>
          <a:endParaRPr lang="en-US"/>
        </a:p>
      </dgm:t>
    </dgm:pt>
    <dgm:pt modelId="{9CDAC7E9-5454-4A92-A6AA-E23D2180DFB1}" type="parTrans" cxnId="{C89DFF1B-E410-41CC-A4CF-424F228D011E}">
      <dgm:prSet/>
      <dgm:spPr/>
      <dgm:t>
        <a:bodyPr/>
        <a:lstStyle/>
        <a:p>
          <a:endParaRPr lang="en-US"/>
        </a:p>
      </dgm:t>
    </dgm:pt>
    <dgm:pt modelId="{1A8B2EBF-1623-4A2C-94B1-52B35AEFC3AD}" type="sibTrans" cxnId="{C89DFF1B-E410-41CC-A4CF-424F228D011E}">
      <dgm:prSet/>
      <dgm:spPr/>
      <dgm:t>
        <a:bodyPr/>
        <a:lstStyle/>
        <a:p>
          <a:endParaRPr lang="en-US"/>
        </a:p>
      </dgm:t>
    </dgm:pt>
    <dgm:pt modelId="{7E337188-3C1B-453C-8C8B-0BF78F6A040D}">
      <dgm:prSet/>
      <dgm:spPr/>
      <dgm:t>
        <a:bodyPr/>
        <a:lstStyle/>
        <a:p>
          <a:r>
            <a:rPr lang="en-GB"/>
            <a:t>Communication Skills</a:t>
          </a:r>
          <a:endParaRPr lang="en-US"/>
        </a:p>
      </dgm:t>
    </dgm:pt>
    <dgm:pt modelId="{F77D042B-E3E0-4327-A15B-D0CFE5433E8D}" type="parTrans" cxnId="{71489BF0-5389-4B1B-A0A2-74FED3D5F12B}">
      <dgm:prSet/>
      <dgm:spPr/>
      <dgm:t>
        <a:bodyPr/>
        <a:lstStyle/>
        <a:p>
          <a:endParaRPr lang="en-US"/>
        </a:p>
      </dgm:t>
    </dgm:pt>
    <dgm:pt modelId="{841493E5-438C-4187-8423-74933931648E}" type="sibTrans" cxnId="{71489BF0-5389-4B1B-A0A2-74FED3D5F12B}">
      <dgm:prSet/>
      <dgm:spPr/>
      <dgm:t>
        <a:bodyPr/>
        <a:lstStyle/>
        <a:p>
          <a:endParaRPr lang="en-US"/>
        </a:p>
      </dgm:t>
    </dgm:pt>
    <dgm:pt modelId="{C5F87BF9-D80C-43DC-9C30-0EC9CFCDB229}" type="pres">
      <dgm:prSet presAssocID="{8313C00A-AAE9-4C51-BCCB-D14ED42DCBA0}" presName="linear" presStyleCnt="0">
        <dgm:presLayoutVars>
          <dgm:animLvl val="lvl"/>
          <dgm:resizeHandles val="exact"/>
        </dgm:presLayoutVars>
      </dgm:prSet>
      <dgm:spPr/>
    </dgm:pt>
    <dgm:pt modelId="{0E95F318-1929-4412-A386-F3A00DB15B05}" type="pres">
      <dgm:prSet presAssocID="{CF716992-A61D-40E2-A430-E5C61AF86663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6FDC62AD-A3B9-45E5-AF86-C91F5F0E50E4}" type="pres">
      <dgm:prSet presAssocID="{55BC8412-6FF7-42CD-B5EA-423515C007A1}" presName="spacer" presStyleCnt="0"/>
      <dgm:spPr/>
    </dgm:pt>
    <dgm:pt modelId="{39553BB2-1E54-4692-8F44-0440B09F3423}" type="pres">
      <dgm:prSet presAssocID="{3DF7A66D-AE16-4EFC-A09E-9CA74CB57B8A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99177D6B-B6B8-426E-89F6-9D1459906FE3}" type="pres">
      <dgm:prSet presAssocID="{22C538A4-0E3E-4008-A86B-A67007614CDE}" presName="spacer" presStyleCnt="0"/>
      <dgm:spPr/>
    </dgm:pt>
    <dgm:pt modelId="{BD89EEDA-7366-4DDD-9386-AFEBCAD47217}" type="pres">
      <dgm:prSet presAssocID="{A3B924F0-984D-4DFC-A742-2CE52DF02D8C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6052BBC4-3113-40A8-ADCC-776667A1AD72}" type="pres">
      <dgm:prSet presAssocID="{9AAC9BDB-4FE7-4EB4-8900-518C82BA014B}" presName="spacer" presStyleCnt="0"/>
      <dgm:spPr/>
    </dgm:pt>
    <dgm:pt modelId="{63F03555-E73A-4A8F-AEE4-4AA0AEBEFD14}" type="pres">
      <dgm:prSet presAssocID="{BAA77EBC-280E-47B6-A6F0-DF44F4EDFB7D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5C5EB075-B8A3-4A30-BC91-7E685BDECF61}" type="pres">
      <dgm:prSet presAssocID="{043DE8D2-FE09-4789-8F4D-112842CC69C0}" presName="spacer" presStyleCnt="0"/>
      <dgm:spPr/>
    </dgm:pt>
    <dgm:pt modelId="{194AE937-7527-46B2-B8DC-F55842CDA0B6}" type="pres">
      <dgm:prSet presAssocID="{E090325C-FB9B-43BD-B209-08EC2407FEDB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C598DE7D-DD37-4E35-838A-E3DCE2F1B1FC}" type="pres">
      <dgm:prSet presAssocID="{F71D381B-8226-4357-BE95-FD00AC96CB3A}" presName="spacer" presStyleCnt="0"/>
      <dgm:spPr/>
    </dgm:pt>
    <dgm:pt modelId="{013E248F-4034-4282-A735-9F14ECCBBF26}" type="pres">
      <dgm:prSet presAssocID="{47F8D095-43A7-43C1-984A-8D338D16012A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EC50847B-076E-4733-AE87-A306CB604200}" type="pres">
      <dgm:prSet presAssocID="{1A8B2EBF-1623-4A2C-94B1-52B35AEFC3AD}" presName="spacer" presStyleCnt="0"/>
      <dgm:spPr/>
    </dgm:pt>
    <dgm:pt modelId="{DD178098-8CC8-41F9-9B2F-4CE35CF3808A}" type="pres">
      <dgm:prSet presAssocID="{7E337188-3C1B-453C-8C8B-0BF78F6A040D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C89DFF1B-E410-41CC-A4CF-424F228D011E}" srcId="{8313C00A-AAE9-4C51-BCCB-D14ED42DCBA0}" destId="{47F8D095-43A7-43C1-984A-8D338D16012A}" srcOrd="5" destOrd="0" parTransId="{9CDAC7E9-5454-4A92-A6AA-E23D2180DFB1}" sibTransId="{1A8B2EBF-1623-4A2C-94B1-52B35AEFC3AD}"/>
    <dgm:cxn modelId="{99FA363A-71B2-4087-B320-05A47418C732}" srcId="{8313C00A-AAE9-4C51-BCCB-D14ED42DCBA0}" destId="{E090325C-FB9B-43BD-B209-08EC2407FEDB}" srcOrd="4" destOrd="0" parTransId="{8511E4C3-66DD-414E-B555-E03CE0FF970F}" sibTransId="{F71D381B-8226-4357-BE95-FD00AC96CB3A}"/>
    <dgm:cxn modelId="{EF813566-7F4B-4C66-B32D-E9C8BC7FA2EA}" srcId="{8313C00A-AAE9-4C51-BCCB-D14ED42DCBA0}" destId="{A3B924F0-984D-4DFC-A742-2CE52DF02D8C}" srcOrd="2" destOrd="0" parTransId="{BAD539B7-2376-45E9-971A-94B24C77A681}" sibTransId="{9AAC9BDB-4FE7-4EB4-8900-518C82BA014B}"/>
    <dgm:cxn modelId="{81F94248-85EA-461D-AE76-1C54C6850FA2}" srcId="{8313C00A-AAE9-4C51-BCCB-D14ED42DCBA0}" destId="{BAA77EBC-280E-47B6-A6F0-DF44F4EDFB7D}" srcOrd="3" destOrd="0" parTransId="{52626699-333A-4BCD-BE30-885DF7880353}" sibTransId="{043DE8D2-FE09-4789-8F4D-112842CC69C0}"/>
    <dgm:cxn modelId="{252F8C79-1C0E-4DCD-9700-EEC0796BDA8F}" type="presOf" srcId="{7E337188-3C1B-453C-8C8B-0BF78F6A040D}" destId="{DD178098-8CC8-41F9-9B2F-4CE35CF3808A}" srcOrd="0" destOrd="0" presId="urn:microsoft.com/office/officeart/2005/8/layout/vList2"/>
    <dgm:cxn modelId="{FB4B8AB3-5EEA-41B9-AC07-EC554A93959F}" type="presOf" srcId="{E090325C-FB9B-43BD-B209-08EC2407FEDB}" destId="{194AE937-7527-46B2-B8DC-F55842CDA0B6}" srcOrd="0" destOrd="0" presId="urn:microsoft.com/office/officeart/2005/8/layout/vList2"/>
    <dgm:cxn modelId="{DD7725B9-141E-4870-954C-DED00EC7C159}" type="presOf" srcId="{8313C00A-AAE9-4C51-BCCB-D14ED42DCBA0}" destId="{C5F87BF9-D80C-43DC-9C30-0EC9CFCDB229}" srcOrd="0" destOrd="0" presId="urn:microsoft.com/office/officeart/2005/8/layout/vList2"/>
    <dgm:cxn modelId="{80B73DBB-980C-4A0F-8020-BEDA544C15CC}" type="presOf" srcId="{CF716992-A61D-40E2-A430-E5C61AF86663}" destId="{0E95F318-1929-4412-A386-F3A00DB15B05}" srcOrd="0" destOrd="0" presId="urn:microsoft.com/office/officeart/2005/8/layout/vList2"/>
    <dgm:cxn modelId="{5A0396BD-F90F-4311-A2B8-D71E2E187834}" type="presOf" srcId="{A3B924F0-984D-4DFC-A742-2CE52DF02D8C}" destId="{BD89EEDA-7366-4DDD-9386-AFEBCAD47217}" srcOrd="0" destOrd="0" presId="urn:microsoft.com/office/officeart/2005/8/layout/vList2"/>
    <dgm:cxn modelId="{A07403C8-C60E-40C4-AB0B-7335AC5FE932}" type="presOf" srcId="{47F8D095-43A7-43C1-984A-8D338D16012A}" destId="{013E248F-4034-4282-A735-9F14ECCBBF26}" srcOrd="0" destOrd="0" presId="urn:microsoft.com/office/officeart/2005/8/layout/vList2"/>
    <dgm:cxn modelId="{52420CDD-DFB3-4116-BEF5-BF49DD9E9DE3}" type="presOf" srcId="{3DF7A66D-AE16-4EFC-A09E-9CA74CB57B8A}" destId="{39553BB2-1E54-4692-8F44-0440B09F3423}" srcOrd="0" destOrd="0" presId="urn:microsoft.com/office/officeart/2005/8/layout/vList2"/>
    <dgm:cxn modelId="{2133FFE2-B918-4B94-B604-26B972D9A9DD}" srcId="{8313C00A-AAE9-4C51-BCCB-D14ED42DCBA0}" destId="{3DF7A66D-AE16-4EFC-A09E-9CA74CB57B8A}" srcOrd="1" destOrd="0" parTransId="{016FC799-E8F5-4C5E-9882-FC994EFA2BFF}" sibTransId="{22C538A4-0E3E-4008-A86B-A67007614CDE}"/>
    <dgm:cxn modelId="{71489BF0-5389-4B1B-A0A2-74FED3D5F12B}" srcId="{8313C00A-AAE9-4C51-BCCB-D14ED42DCBA0}" destId="{7E337188-3C1B-453C-8C8B-0BF78F6A040D}" srcOrd="6" destOrd="0" parTransId="{F77D042B-E3E0-4327-A15B-D0CFE5433E8D}" sibTransId="{841493E5-438C-4187-8423-74933931648E}"/>
    <dgm:cxn modelId="{22D742F4-B1F4-4641-BC76-DDBADF17B9E9}" type="presOf" srcId="{BAA77EBC-280E-47B6-A6F0-DF44F4EDFB7D}" destId="{63F03555-E73A-4A8F-AEE4-4AA0AEBEFD14}" srcOrd="0" destOrd="0" presId="urn:microsoft.com/office/officeart/2005/8/layout/vList2"/>
    <dgm:cxn modelId="{FCB9B3FE-A72C-4173-821A-BB53E9082CCC}" srcId="{8313C00A-AAE9-4C51-BCCB-D14ED42DCBA0}" destId="{CF716992-A61D-40E2-A430-E5C61AF86663}" srcOrd="0" destOrd="0" parTransId="{EE8F3FFD-25B3-48BE-828B-2FCAF5B44048}" sibTransId="{55BC8412-6FF7-42CD-B5EA-423515C007A1}"/>
    <dgm:cxn modelId="{5D0DFFA5-DDAF-4FC8-BA0D-EF95DAE5C84E}" type="presParOf" srcId="{C5F87BF9-D80C-43DC-9C30-0EC9CFCDB229}" destId="{0E95F318-1929-4412-A386-F3A00DB15B05}" srcOrd="0" destOrd="0" presId="urn:microsoft.com/office/officeart/2005/8/layout/vList2"/>
    <dgm:cxn modelId="{C0DEF63E-195E-44A2-A4DA-8CC7BC970B0D}" type="presParOf" srcId="{C5F87BF9-D80C-43DC-9C30-0EC9CFCDB229}" destId="{6FDC62AD-A3B9-45E5-AF86-C91F5F0E50E4}" srcOrd="1" destOrd="0" presId="urn:microsoft.com/office/officeart/2005/8/layout/vList2"/>
    <dgm:cxn modelId="{6C40937D-8CE2-462A-B3DB-110D6E67305F}" type="presParOf" srcId="{C5F87BF9-D80C-43DC-9C30-0EC9CFCDB229}" destId="{39553BB2-1E54-4692-8F44-0440B09F3423}" srcOrd="2" destOrd="0" presId="urn:microsoft.com/office/officeart/2005/8/layout/vList2"/>
    <dgm:cxn modelId="{D2B63E04-2CBC-4528-8862-2E8C4B4DFFA4}" type="presParOf" srcId="{C5F87BF9-D80C-43DC-9C30-0EC9CFCDB229}" destId="{99177D6B-B6B8-426E-89F6-9D1459906FE3}" srcOrd="3" destOrd="0" presId="urn:microsoft.com/office/officeart/2005/8/layout/vList2"/>
    <dgm:cxn modelId="{33D562EB-54DA-401A-81F9-1D94FE73A16C}" type="presParOf" srcId="{C5F87BF9-D80C-43DC-9C30-0EC9CFCDB229}" destId="{BD89EEDA-7366-4DDD-9386-AFEBCAD47217}" srcOrd="4" destOrd="0" presId="urn:microsoft.com/office/officeart/2005/8/layout/vList2"/>
    <dgm:cxn modelId="{6624B2B5-E8F3-4C26-AC21-9D1BE9648BB9}" type="presParOf" srcId="{C5F87BF9-D80C-43DC-9C30-0EC9CFCDB229}" destId="{6052BBC4-3113-40A8-ADCC-776667A1AD72}" srcOrd="5" destOrd="0" presId="urn:microsoft.com/office/officeart/2005/8/layout/vList2"/>
    <dgm:cxn modelId="{D0349080-989A-4CC2-B130-49124D5879E1}" type="presParOf" srcId="{C5F87BF9-D80C-43DC-9C30-0EC9CFCDB229}" destId="{63F03555-E73A-4A8F-AEE4-4AA0AEBEFD14}" srcOrd="6" destOrd="0" presId="urn:microsoft.com/office/officeart/2005/8/layout/vList2"/>
    <dgm:cxn modelId="{586599C8-6CE3-4368-A801-9524E01D6D95}" type="presParOf" srcId="{C5F87BF9-D80C-43DC-9C30-0EC9CFCDB229}" destId="{5C5EB075-B8A3-4A30-BC91-7E685BDECF61}" srcOrd="7" destOrd="0" presId="urn:microsoft.com/office/officeart/2005/8/layout/vList2"/>
    <dgm:cxn modelId="{D35C606B-F288-42E6-8EA8-4BFEE7CEF1B9}" type="presParOf" srcId="{C5F87BF9-D80C-43DC-9C30-0EC9CFCDB229}" destId="{194AE937-7527-46B2-B8DC-F55842CDA0B6}" srcOrd="8" destOrd="0" presId="urn:microsoft.com/office/officeart/2005/8/layout/vList2"/>
    <dgm:cxn modelId="{154C4021-C346-48A9-AA44-26C6D62B4B2B}" type="presParOf" srcId="{C5F87BF9-D80C-43DC-9C30-0EC9CFCDB229}" destId="{C598DE7D-DD37-4E35-838A-E3DCE2F1B1FC}" srcOrd="9" destOrd="0" presId="urn:microsoft.com/office/officeart/2005/8/layout/vList2"/>
    <dgm:cxn modelId="{3D4A867A-97BE-400A-A6D8-CB99B4864B5C}" type="presParOf" srcId="{C5F87BF9-D80C-43DC-9C30-0EC9CFCDB229}" destId="{013E248F-4034-4282-A735-9F14ECCBBF26}" srcOrd="10" destOrd="0" presId="urn:microsoft.com/office/officeart/2005/8/layout/vList2"/>
    <dgm:cxn modelId="{0768627E-04DE-4E44-9F81-C2078A6F4644}" type="presParOf" srcId="{C5F87BF9-D80C-43DC-9C30-0EC9CFCDB229}" destId="{EC50847B-076E-4733-AE87-A306CB604200}" srcOrd="11" destOrd="0" presId="urn:microsoft.com/office/officeart/2005/8/layout/vList2"/>
    <dgm:cxn modelId="{70F92BC1-AC2E-436D-BD04-A6E291D03FE4}" type="presParOf" srcId="{C5F87BF9-D80C-43DC-9C30-0EC9CFCDB229}" destId="{DD178098-8CC8-41F9-9B2F-4CE35CF3808A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95F318-1929-4412-A386-F3A00DB15B05}">
      <dsp:nvSpPr>
        <dsp:cNvPr id="0" name=""/>
        <dsp:cNvSpPr/>
      </dsp:nvSpPr>
      <dsp:spPr>
        <a:xfrm>
          <a:off x="0" y="17048"/>
          <a:ext cx="6245265" cy="7195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Programming</a:t>
          </a:r>
          <a:endParaRPr lang="en-US" sz="3000" kern="1200"/>
        </a:p>
      </dsp:txBody>
      <dsp:txXfrm>
        <a:off x="35125" y="52173"/>
        <a:ext cx="6175015" cy="649299"/>
      </dsp:txXfrm>
    </dsp:sp>
    <dsp:sp modelId="{39553BB2-1E54-4692-8F44-0440B09F3423}">
      <dsp:nvSpPr>
        <dsp:cNvPr id="0" name=""/>
        <dsp:cNvSpPr/>
      </dsp:nvSpPr>
      <dsp:spPr>
        <a:xfrm>
          <a:off x="0" y="822998"/>
          <a:ext cx="6245265" cy="719549"/>
        </a:xfrm>
        <a:prstGeom prst="roundRect">
          <a:avLst/>
        </a:prstGeom>
        <a:solidFill>
          <a:schemeClr val="accent2">
            <a:hueOff val="-242561"/>
            <a:satOff val="-13988"/>
            <a:lumOff val="143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DBMS</a:t>
          </a:r>
          <a:endParaRPr lang="en-US" sz="3000" kern="1200"/>
        </a:p>
      </dsp:txBody>
      <dsp:txXfrm>
        <a:off x="35125" y="858123"/>
        <a:ext cx="6175015" cy="649299"/>
      </dsp:txXfrm>
    </dsp:sp>
    <dsp:sp modelId="{BD89EEDA-7366-4DDD-9386-AFEBCAD47217}">
      <dsp:nvSpPr>
        <dsp:cNvPr id="0" name=""/>
        <dsp:cNvSpPr/>
      </dsp:nvSpPr>
      <dsp:spPr>
        <a:xfrm>
          <a:off x="0" y="1628948"/>
          <a:ext cx="6245265" cy="719549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Mathematics and Statistics</a:t>
          </a:r>
          <a:endParaRPr lang="en-US" sz="3000" kern="1200"/>
        </a:p>
      </dsp:txBody>
      <dsp:txXfrm>
        <a:off x="35125" y="1664073"/>
        <a:ext cx="6175015" cy="649299"/>
      </dsp:txXfrm>
    </dsp:sp>
    <dsp:sp modelId="{63F03555-E73A-4A8F-AEE4-4AA0AEBEFD14}">
      <dsp:nvSpPr>
        <dsp:cNvPr id="0" name=""/>
        <dsp:cNvSpPr/>
      </dsp:nvSpPr>
      <dsp:spPr>
        <a:xfrm>
          <a:off x="0" y="2434898"/>
          <a:ext cx="6245265" cy="719549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Data Visualisation</a:t>
          </a:r>
          <a:endParaRPr lang="en-US" sz="3000" kern="1200"/>
        </a:p>
      </dsp:txBody>
      <dsp:txXfrm>
        <a:off x="35125" y="2470023"/>
        <a:ext cx="6175015" cy="649299"/>
      </dsp:txXfrm>
    </dsp:sp>
    <dsp:sp modelId="{194AE937-7527-46B2-B8DC-F55842CDA0B6}">
      <dsp:nvSpPr>
        <dsp:cNvPr id="0" name=""/>
        <dsp:cNvSpPr/>
      </dsp:nvSpPr>
      <dsp:spPr>
        <a:xfrm>
          <a:off x="0" y="3240848"/>
          <a:ext cx="6245265" cy="719549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Machine learning</a:t>
          </a:r>
          <a:endParaRPr lang="en-US" sz="3000" kern="1200"/>
        </a:p>
      </dsp:txBody>
      <dsp:txXfrm>
        <a:off x="35125" y="3275973"/>
        <a:ext cx="6175015" cy="649299"/>
      </dsp:txXfrm>
    </dsp:sp>
    <dsp:sp modelId="{013E248F-4034-4282-A735-9F14ECCBBF26}">
      <dsp:nvSpPr>
        <dsp:cNvPr id="0" name=""/>
        <dsp:cNvSpPr/>
      </dsp:nvSpPr>
      <dsp:spPr>
        <a:xfrm>
          <a:off x="0" y="4046798"/>
          <a:ext cx="6245265" cy="719549"/>
        </a:xfrm>
        <a:prstGeom prst="roundRect">
          <a:avLst/>
        </a:prstGeom>
        <a:solidFill>
          <a:schemeClr val="accent2">
            <a:hueOff val="-1212803"/>
            <a:satOff val="-69940"/>
            <a:lumOff val="71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Deep Learning</a:t>
          </a:r>
          <a:endParaRPr lang="en-US" sz="3000" kern="1200"/>
        </a:p>
      </dsp:txBody>
      <dsp:txXfrm>
        <a:off x="35125" y="4081923"/>
        <a:ext cx="6175015" cy="649299"/>
      </dsp:txXfrm>
    </dsp:sp>
    <dsp:sp modelId="{DD178098-8CC8-41F9-9B2F-4CE35CF3808A}">
      <dsp:nvSpPr>
        <dsp:cNvPr id="0" name=""/>
        <dsp:cNvSpPr/>
      </dsp:nvSpPr>
      <dsp:spPr>
        <a:xfrm>
          <a:off x="0" y="4852748"/>
          <a:ext cx="6245265" cy="719549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Communication Skills</a:t>
          </a:r>
          <a:endParaRPr lang="en-US" sz="3000" kern="1200"/>
        </a:p>
      </dsp:txBody>
      <dsp:txXfrm>
        <a:off x="35125" y="4887873"/>
        <a:ext cx="6175015" cy="6492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0AD15-4D0C-4108-8CE6-195F67C0EC25}" type="datetimeFigureOut">
              <a:rPr lang="en-IN" smtClean="0"/>
              <a:t>02-10-2023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297CAF-9A23-4AA6-9D5C-EBAD9EFDB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520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2EF96-5CBA-4CA5-B5E5-B0F0C4B9AE4B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18346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2EF96-5CBA-4CA5-B5E5-B0F0C4B9AE4B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0085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2EF96-5CBA-4CA5-B5E5-B0F0C4B9AE4B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0983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2EF96-5CBA-4CA5-B5E5-B0F0C4B9AE4B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752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2EF96-5CBA-4CA5-B5E5-B0F0C4B9AE4B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591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4EB7A-1D1C-230B-A4E8-1D0DFD6CB7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8FC9F5-1B89-A0C3-AAD5-3D6ACD8115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8D0C1-F432-9B47-EB73-F2BCD424B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099F7-84EB-4AE2-B1CA-129B8EFD90DF}" type="datetimeFigureOut">
              <a:rPr lang="en-IN" smtClean="0"/>
              <a:t>02-10-2023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2A2A4-B3DF-6AC9-0A7F-4E79DE9A3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FFAD2-A2CA-620F-E113-48B3B1252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55CC-0D75-4C75-A0D0-AC8C0DF4017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53D895-7882-740B-18D6-D044C472F58A}"/>
              </a:ext>
            </a:extLst>
          </p:cNvPr>
          <p:cNvSpPr/>
          <p:nvPr userDrawn="1"/>
        </p:nvSpPr>
        <p:spPr>
          <a:xfrm>
            <a:off x="8144435" y="6230470"/>
            <a:ext cx="4038600" cy="611372"/>
          </a:xfrm>
          <a:prstGeom prst="rect">
            <a:avLst/>
          </a:prstGeom>
          <a:blipFill dpi="0" rotWithShape="1">
            <a:blip r:embed="rId2">
              <a:alphaModFix amt="9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147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3B59D-AEFA-858B-F7DE-6776F5E58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FEB47-277F-D8D9-F857-30A2531E3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CE29F-C26F-C7DB-AAA3-F76893C55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099F7-84EB-4AE2-B1CA-129B8EFD90DF}" type="datetimeFigureOut">
              <a:rPr lang="en-IN" smtClean="0"/>
              <a:t>02-10-2023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FE089-829E-A371-FA7F-C7BBC3A1B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B3C7E-A548-076D-A840-7A31EE72F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55CC-0D75-4C75-A0D0-AC8C0DF401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6193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83E48-1D2E-6EDA-240E-E6A0535C0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064E4-B9D8-173F-8BA6-250971F7E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69FCF-CC15-E5D4-5CC8-78A32D6F5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099F7-84EB-4AE2-B1CA-129B8EFD90DF}" type="datetimeFigureOut">
              <a:rPr lang="en-IN" smtClean="0"/>
              <a:t>02-10-2023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2A88E-F209-A821-6529-8180739B3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A856F-E8FC-0385-D160-F64394BCE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55CC-0D75-4C75-A0D0-AC8C0DF401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4945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13905-3661-B9DB-49DC-30CEFB76A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394F3-B772-C3B1-933D-F3DE4AC0DF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BA747-1412-A1BF-8950-BF79E6B407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71F9E-820C-793E-EE14-4FE2B0B57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099F7-84EB-4AE2-B1CA-129B8EFD90DF}" type="datetimeFigureOut">
              <a:rPr lang="en-IN" smtClean="0"/>
              <a:t>02-10-2023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9741A-34A4-A1BF-79D3-89F4A503F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98626D-13E4-1FEA-018C-04F76156E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55CC-0D75-4C75-A0D0-AC8C0DF401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8805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58C87-77A1-BA1D-5D96-29213E471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E8DBE-A9D4-D7C5-C110-E1184EA2C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BDB777-BC43-D965-76A2-2711DF048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74C8BE-76FB-EC98-2C71-1E66734E8F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93445A-8972-492A-DEC9-9EF9691709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31F4AD-1FAD-BABF-2AB6-BDF2531A0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099F7-84EB-4AE2-B1CA-129B8EFD90DF}" type="datetimeFigureOut">
              <a:rPr lang="en-IN" smtClean="0"/>
              <a:t>02-10-2023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17147D-0847-D1D1-4D29-985FC237D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B84494-D5A9-3E4A-0490-E30B7E5CF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55CC-0D75-4C75-A0D0-AC8C0DF401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3318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1EA4C-754F-769B-BCB8-6EE830EC4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27012D-9852-E9ED-EE0D-5797446FC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099F7-84EB-4AE2-B1CA-129B8EFD90DF}" type="datetimeFigureOut">
              <a:rPr lang="en-IN" smtClean="0"/>
              <a:t>02-10-2023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6C0A61-FB7C-B575-1603-615A479CC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71139A-72D1-3E64-D90E-D1DF0418B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55CC-0D75-4C75-A0D0-AC8C0DF401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070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9B276C-E272-7A1B-0DA4-198166A18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099F7-84EB-4AE2-B1CA-129B8EFD90DF}" type="datetimeFigureOut">
              <a:rPr lang="en-IN" smtClean="0"/>
              <a:t>02-10-2023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A1C6C5-8998-1B19-BA21-20BA1C667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3BDDB7-8F47-1325-8059-AD3DE58DA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55CC-0D75-4C75-A0D0-AC8C0DF401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2568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45C24-2BBB-CB7B-38F9-2BD770CCA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25BA9-CE16-63B1-F832-E66BFEDA0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E23AEA-0A27-49E3-3157-763BFF12A4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77BA36-F39B-D457-AE79-9F0ED09EE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099F7-84EB-4AE2-B1CA-129B8EFD90DF}" type="datetimeFigureOut">
              <a:rPr lang="en-IN" smtClean="0"/>
              <a:t>02-10-2023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2708E-38C8-EBC0-4B5D-7B01276EE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66B765-16B4-9455-D38E-353711FFC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55CC-0D75-4C75-A0D0-AC8C0DF401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3449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B7819-FD57-7211-09EE-1FD6EE615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DDBE36-0193-2608-4E87-0B43CBAD0E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5F6C7-D3BA-3FF6-9E31-D0FFE757D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63FB7B-86DB-E66E-96F8-16570C6FA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099F7-84EB-4AE2-B1CA-129B8EFD90DF}" type="datetimeFigureOut">
              <a:rPr lang="en-IN" smtClean="0"/>
              <a:t>02-10-2023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44A7C8-185A-4918-8EF1-103F660D6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DDF227-73D4-5C71-87BC-FBA1C7808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55CC-0D75-4C75-A0D0-AC8C0DF401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577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A2395-C6ED-E9C7-ABF0-27D1432FE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EC63DE-DFEF-116E-35AB-5D4C12A1C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D7324-C14E-B0F4-CDED-3AB99C657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099F7-84EB-4AE2-B1CA-129B8EFD90DF}" type="datetimeFigureOut">
              <a:rPr lang="en-IN" smtClean="0"/>
              <a:t>02-10-2023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EC9C8-ABD0-4DA8-710C-AE6B99E1E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EE240-5AFB-30E5-AD43-D4F854C2C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55CC-0D75-4C75-A0D0-AC8C0DF401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0977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7A590A-8564-D43B-4843-4B2354E1BC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378FE5-5ED2-9D11-B658-BFC90DFC0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4C967-086A-E332-0195-CBB2D2C20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099F7-84EB-4AE2-B1CA-129B8EFD90DF}" type="datetimeFigureOut">
              <a:rPr lang="en-IN" smtClean="0"/>
              <a:t>02-10-2023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93FE18-9AED-CA82-5866-38475B665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705E7-F3A3-F304-9362-D0D0E6C40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B655CC-0D75-4C75-A0D0-AC8C0DF401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3331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671033-F3A6-3BB9-78B1-0D58FC570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2E0AB-8F71-5416-C3AE-05DCC8CA3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37881-2AAC-D499-08CF-F0A30D0B5A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E099F7-84EB-4AE2-B1CA-129B8EFD90DF}" type="datetimeFigureOut">
              <a:rPr lang="en-IN" smtClean="0"/>
              <a:t>02-10-2023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F7EB4-0B87-CEED-BAA6-04EBA68618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159CA-AB42-D17C-B4B4-E555CE4A8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655CC-0D75-4C75-A0D0-AC8C0DF4017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5199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conda.com/products/distributio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" TargetMode="Externa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white sign with red and black text&#10;&#10;Description automatically generated">
            <a:extLst>
              <a:ext uri="{FF2B5EF4-FFF2-40B4-BE49-F238E27FC236}">
                <a16:creationId xmlns:a16="http://schemas.microsoft.com/office/drawing/2014/main" id="{D940A9EF-996A-A52B-729D-8DD43868AB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859" y="1130710"/>
            <a:ext cx="10042281" cy="5506063"/>
          </a:xfrm>
        </p:spPr>
      </p:pic>
    </p:spTree>
    <p:extLst>
      <p:ext uri="{BB962C8B-B14F-4D97-AF65-F5344CB8AC3E}">
        <p14:creationId xmlns:p14="http://schemas.microsoft.com/office/powerpoint/2010/main" val="295207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1A5F8-D18B-9954-E1A0-27B30E307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97539"/>
            <a:ext cx="9144000" cy="819559"/>
          </a:xfrm>
        </p:spPr>
        <p:txBody>
          <a:bodyPr>
            <a:normAutofit fontScale="90000"/>
          </a:bodyPr>
          <a:lstStyle/>
          <a:p>
            <a:br>
              <a:rPr lang="en-GB" dirty="0"/>
            </a:br>
            <a:endParaRPr lang="en-IN" sz="7300" dirty="0">
              <a:solidFill>
                <a:srgbClr val="0070C0"/>
              </a:solidFill>
              <a:latin typeface="Britannic Bold" panose="020B09030607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BEEFE8-2B34-663E-6F8A-E44C08F0BEC9}"/>
              </a:ext>
            </a:extLst>
          </p:cNvPr>
          <p:cNvSpPr txBox="1"/>
          <p:nvPr/>
        </p:nvSpPr>
        <p:spPr>
          <a:xfrm>
            <a:off x="407710" y="1328099"/>
            <a:ext cx="609442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600" b="1" dirty="0">
                <a:solidFill>
                  <a:srgbClr val="0070C0"/>
                </a:solidFill>
                <a:latin typeface="Segoe UI" panose="020B0502040204020203" pitchFamily="34" charset="0"/>
              </a:rPr>
              <a:t>Topics</a:t>
            </a:r>
            <a:endParaRPr lang="en-IN" sz="6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8886C5-D130-B0C5-935D-4E7D7375D140}"/>
              </a:ext>
            </a:extLst>
          </p:cNvPr>
          <p:cNvSpPr txBox="1"/>
          <p:nvPr/>
        </p:nvSpPr>
        <p:spPr>
          <a:xfrm>
            <a:off x="0" y="0"/>
            <a:ext cx="12192000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</a:rPr>
              <a:t>Data Science Batch</a:t>
            </a:r>
          </a:p>
          <a:p>
            <a:pPr algn="ct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</a:rPr>
              <a:t> Module 1 : Introduction to Data Science</a:t>
            </a:r>
            <a:endParaRPr lang="en-IN" sz="2800" b="1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1CD414-B4C6-E9ED-EA66-E16B4F256F00}"/>
              </a:ext>
            </a:extLst>
          </p:cNvPr>
          <p:cNvSpPr txBox="1"/>
          <p:nvPr/>
        </p:nvSpPr>
        <p:spPr>
          <a:xfrm>
            <a:off x="407710" y="2521059"/>
            <a:ext cx="80549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Introduction to Data Science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Introduction to Programming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Introduction to Python: Installation and Running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Jupyter Notebook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Running .py file from terminal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Google Colab</a:t>
            </a:r>
          </a:p>
        </p:txBody>
      </p:sp>
    </p:spTree>
    <p:extLst>
      <p:ext uri="{BB962C8B-B14F-4D97-AF65-F5344CB8AC3E}">
        <p14:creationId xmlns:p14="http://schemas.microsoft.com/office/powerpoint/2010/main" val="1420783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8D2FE7-6BD9-5AAE-5083-5822EEDF66DC}"/>
              </a:ext>
            </a:extLst>
          </p:cNvPr>
          <p:cNvSpPr txBox="1"/>
          <p:nvPr/>
        </p:nvSpPr>
        <p:spPr>
          <a:xfrm>
            <a:off x="132368" y="2659738"/>
            <a:ext cx="70441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>
                <a:latin typeface="Britannic Bold" panose="020B0903060703020204" pitchFamily="34" charset="0"/>
              </a:rPr>
              <a:t>Introduction to Data Science?</a:t>
            </a:r>
          </a:p>
        </p:txBody>
      </p:sp>
    </p:spTree>
    <p:extLst>
      <p:ext uri="{BB962C8B-B14F-4D97-AF65-F5344CB8AC3E}">
        <p14:creationId xmlns:p14="http://schemas.microsoft.com/office/powerpoint/2010/main" val="2712190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1E0F879-728C-EF80-1932-BBEF5498F2FF}"/>
              </a:ext>
            </a:extLst>
          </p:cNvPr>
          <p:cNvGrpSpPr/>
          <p:nvPr/>
        </p:nvGrpSpPr>
        <p:grpSpPr>
          <a:xfrm>
            <a:off x="83633" y="399770"/>
            <a:ext cx="12192000" cy="5915025"/>
            <a:chOff x="0" y="471488"/>
            <a:chExt cx="12192000" cy="5915025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1D6147AA-FC39-1746-47E8-5C6A2588DD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471488"/>
              <a:ext cx="12192000" cy="5915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A82247D-0B9E-9417-5A1B-BEE9890A656C}"/>
                </a:ext>
              </a:extLst>
            </p:cNvPr>
            <p:cNvSpPr txBox="1"/>
            <p:nvPr/>
          </p:nvSpPr>
          <p:spPr>
            <a:xfrm>
              <a:off x="4132613" y="4281055"/>
              <a:ext cx="1199408" cy="855023"/>
            </a:xfrm>
            <a:prstGeom prst="rect">
              <a:avLst/>
            </a:prstGeom>
            <a:solidFill>
              <a:srgbClr val="FEE3AE"/>
            </a:solidFill>
          </p:spPr>
          <p:txBody>
            <a:bodyPr wrap="square" rtlCol="0">
              <a:spAutoFit/>
            </a:bodyPr>
            <a:lstStyle/>
            <a:p>
              <a:endParaRPr lang="en-IN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1ABC832-34EE-4E53-A7C6-384D854B8705}"/>
                </a:ext>
              </a:extLst>
            </p:cNvPr>
            <p:cNvSpPr txBox="1"/>
            <p:nvPr/>
          </p:nvSpPr>
          <p:spPr>
            <a:xfrm>
              <a:off x="3871356" y="3978234"/>
              <a:ext cx="146066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b="1" dirty="0">
                  <a:latin typeface="+mj-lt"/>
                </a:rPr>
                <a:t>Computer Science</a:t>
              </a:r>
              <a:endParaRPr lang="en-IN" sz="2000" b="1" dirty="0">
                <a:latin typeface="+mj-lt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372120B-14AE-5098-ECDA-4AA655102A9E}"/>
                </a:ext>
              </a:extLst>
            </p:cNvPr>
            <p:cNvSpPr txBox="1"/>
            <p:nvPr/>
          </p:nvSpPr>
          <p:spPr>
            <a:xfrm>
              <a:off x="6614556" y="4199232"/>
              <a:ext cx="1508166" cy="646331"/>
            </a:xfrm>
            <a:prstGeom prst="rect">
              <a:avLst/>
            </a:prstGeom>
            <a:solidFill>
              <a:srgbClr val="E5BCE5"/>
            </a:solidFill>
          </p:spPr>
          <p:txBody>
            <a:bodyPr wrap="square" rtlCol="0">
              <a:spAutoFit/>
            </a:bodyPr>
            <a:lstStyle/>
            <a:p>
              <a:r>
                <a:rPr lang="en-GB" dirty="0"/>
                <a:t>Mathematics &amp; Statistics</a:t>
              </a:r>
              <a:endParaRPr lang="en-IN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1B48EE9-FC3E-529E-9A79-38609931904B}"/>
                </a:ext>
              </a:extLst>
            </p:cNvPr>
            <p:cNvSpPr txBox="1"/>
            <p:nvPr/>
          </p:nvSpPr>
          <p:spPr>
            <a:xfrm>
              <a:off x="5332021" y="1229096"/>
              <a:ext cx="1460665" cy="1261884"/>
            </a:xfrm>
            <a:prstGeom prst="rect">
              <a:avLst/>
            </a:prstGeom>
            <a:solidFill>
              <a:srgbClr val="D1E2F2"/>
            </a:solidFill>
          </p:spPr>
          <p:txBody>
            <a:bodyPr wrap="square" rtlCol="0">
              <a:spAutoFit/>
            </a:bodyPr>
            <a:lstStyle/>
            <a:p>
              <a:r>
                <a:rPr lang="en-GB" sz="2000" dirty="0"/>
                <a:t>Domain Knowledge</a:t>
              </a:r>
            </a:p>
            <a:p>
              <a:endParaRPr lang="en-GB" dirty="0"/>
            </a:p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958509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DD2BED-3B94-412B-3989-34DFA8791D10}"/>
              </a:ext>
            </a:extLst>
          </p:cNvPr>
          <p:cNvSpPr txBox="1"/>
          <p:nvPr/>
        </p:nvSpPr>
        <p:spPr>
          <a:xfrm>
            <a:off x="3416756" y="349624"/>
            <a:ext cx="53584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rgbClr val="0070C0"/>
                </a:solidFill>
              </a:rPr>
              <a:t>Why Data Science?</a:t>
            </a:r>
            <a:endParaRPr lang="en-IN" sz="4400" b="1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481BE1-84E3-5FDE-E74B-58BD215B66E6}"/>
              </a:ext>
            </a:extLst>
          </p:cNvPr>
          <p:cNvSpPr txBox="1"/>
          <p:nvPr/>
        </p:nvSpPr>
        <p:spPr>
          <a:xfrm>
            <a:off x="432851" y="2084120"/>
            <a:ext cx="1126494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Every year, the world creates huge amounts of data that’s only accelerating.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Companies now have access to unprecedented amounts of data, which they need to process and understand.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Data scientists are responsible for transforming this growing ocean of data into valuable and actionable information.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b="0" i="0" dirty="0">
                <a:solidFill>
                  <a:srgbClr val="1A1D26"/>
                </a:solidFill>
                <a:effectLst/>
                <a:latin typeface="Roboto" panose="02000000000000000000" pitchFamily="2" charset="0"/>
              </a:rPr>
              <a:t>The Bureau of Labor Statistics projects 31.4 percent employment growth for data scientists between 2020 and 2030. In that period, an estimated 19,800 jobs should open up.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276231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A73B6A-EBE9-FBFF-754F-BDD32BED4026}"/>
              </a:ext>
            </a:extLst>
          </p:cNvPr>
          <p:cNvSpPr txBox="1"/>
          <p:nvPr/>
        </p:nvSpPr>
        <p:spPr>
          <a:xfrm>
            <a:off x="479394" y="1070800"/>
            <a:ext cx="3939688" cy="5583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Top Skills for Data Scientists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extBox 2">
            <a:extLst>
              <a:ext uri="{FF2B5EF4-FFF2-40B4-BE49-F238E27FC236}">
                <a16:creationId xmlns:a16="http://schemas.microsoft.com/office/drawing/2014/main" id="{C8715A6B-7C38-98CA-6E6E-B9237E1C8C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8436629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4657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A73B6A-EBE9-FBFF-754F-BDD32BED4026}"/>
              </a:ext>
            </a:extLst>
          </p:cNvPr>
          <p:cNvSpPr txBox="1"/>
          <p:nvPr/>
        </p:nvSpPr>
        <p:spPr>
          <a:xfrm>
            <a:off x="1371599" y="294538"/>
            <a:ext cx="9895951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Roles and Responsibilities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871B67-8CF7-22A7-90E2-5AA610C4CDC4}"/>
              </a:ext>
            </a:extLst>
          </p:cNvPr>
          <p:cNvSpPr txBox="1"/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On a more technical level, the core job responsibilities of a data scientists include: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Using database tools and programming languages to obtain, manipulate and analyse data.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Creating machine learning algorithms across traditional and deep learning.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Analysing historical data to identify trends and support optimal decision-making.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Communicating with both technical and non-technical stakeholders.</a:t>
            </a:r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Keeping up-to-date with advancements in technology.</a:t>
            </a:r>
          </a:p>
        </p:txBody>
      </p:sp>
    </p:spTree>
    <p:extLst>
      <p:ext uri="{BB962C8B-B14F-4D97-AF65-F5344CB8AC3E}">
        <p14:creationId xmlns:p14="http://schemas.microsoft.com/office/powerpoint/2010/main" val="1111818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6B2449-FF07-47FC-AA19-DB68D98F3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94261F-1ED3-4E90-88E6-134791440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716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8D2FE7-6BD9-5AAE-5083-5822EEDF66DC}"/>
              </a:ext>
            </a:extLst>
          </p:cNvPr>
          <p:cNvSpPr txBox="1"/>
          <p:nvPr/>
        </p:nvSpPr>
        <p:spPr>
          <a:xfrm>
            <a:off x="1578043" y="590062"/>
            <a:ext cx="5347266" cy="28389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Introduction to Programming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6052961-5ADC-4465-9B95-E6D4A490D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3696" y="1606411"/>
            <a:ext cx="465456" cy="581432"/>
            <a:chOff x="653696" y="1606411"/>
            <a:chExt cx="465456" cy="581432"/>
          </a:xfrm>
          <a:solidFill>
            <a:srgbClr val="FFFFFF"/>
          </a:solidFill>
        </p:grpSpPr>
        <p:sp>
          <p:nvSpPr>
            <p:cNvPr id="16" name="Graphic 13">
              <a:extLst>
                <a:ext uri="{FF2B5EF4-FFF2-40B4-BE49-F238E27FC236}">
                  <a16:creationId xmlns:a16="http://schemas.microsoft.com/office/drawing/2014/main" id="{C5CB530E-515E-412C-9DF1-5F8FFBD6F3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69236" y="1606411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7" name="Graphic 12">
              <a:extLst>
                <a:ext uri="{FF2B5EF4-FFF2-40B4-BE49-F238E27FC236}">
                  <a16:creationId xmlns:a16="http://schemas.microsoft.com/office/drawing/2014/main" id="{712D4376-A578-4FF1-94FC-245E7A6A4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014" y="1835705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grpFill/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AEA7509D-F04F-40CB-A0B3-EEF16499C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3696" y="2060130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 descr="Help">
            <a:extLst>
              <a:ext uri="{FF2B5EF4-FFF2-40B4-BE49-F238E27FC236}">
                <a16:creationId xmlns:a16="http://schemas.microsoft.com/office/drawing/2014/main" id="{F330C164-6FC1-5ABA-F6E4-DAD4ADA88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54411" y="1430208"/>
            <a:ext cx="3997583" cy="3997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12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5B5C11-7FF7-2E7C-1F5A-1F77EA538474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</a:rPr>
              <a:t>What is Programming Language</a:t>
            </a:r>
            <a:endParaRPr lang="en-IN" sz="2800" b="1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188833-FFA0-645E-CA2C-36BEFFFC4BA1}"/>
              </a:ext>
            </a:extLst>
          </p:cNvPr>
          <p:cNvSpPr txBox="1"/>
          <p:nvPr/>
        </p:nvSpPr>
        <p:spPr>
          <a:xfrm>
            <a:off x="487051" y="1383358"/>
            <a:ext cx="1093509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27323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 Programming language is a set of rules that provides a way of telling a computer what operations to perform</a:t>
            </a:r>
            <a:r>
              <a:rPr lang="en-GB" b="0" i="0" dirty="0">
                <a:solidFill>
                  <a:srgbClr val="27323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GB" b="0" i="0" dirty="0">
              <a:solidFill>
                <a:srgbClr val="27323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program is set of instructions that is executed by a computer to accomplish a particular task.</a:t>
            </a:r>
          </a:p>
          <a:p>
            <a:endParaRPr lang="en-GB" sz="2400" dirty="0">
              <a:solidFill>
                <a:srgbClr val="27323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Provides a linguistic framework for describing computations.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0" i="0" dirty="0">
              <a:solidFill>
                <a:srgbClr val="27323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set of rules for communicating an algorithm</a:t>
            </a:r>
          </a:p>
          <a:p>
            <a:endParaRPr lang="en-GB" sz="2400" dirty="0">
              <a:solidFill>
                <a:srgbClr val="27323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It is a notational system for describing computation in a machine readable and human readable form.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rgbClr val="27323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400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5B5C11-7FF7-2E7C-1F5A-1F77EA538474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</a:rPr>
              <a:t>What is Programming Language</a:t>
            </a:r>
            <a:endParaRPr lang="en-IN" sz="2800" b="1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188833-FFA0-645E-CA2C-36BEFFFC4BA1}"/>
              </a:ext>
            </a:extLst>
          </p:cNvPr>
          <p:cNvSpPr txBox="1"/>
          <p:nvPr/>
        </p:nvSpPr>
        <p:spPr>
          <a:xfrm>
            <a:off x="487051" y="1383358"/>
            <a:ext cx="1093509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27323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Any Common human language has words, vocabulary</a:t>
            </a:r>
            <a:r>
              <a:rPr lang="en-GB" sz="2400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symbols and Grammatical rules.</a:t>
            </a:r>
            <a:endParaRPr lang="en-GB" b="0" i="0" dirty="0">
              <a:solidFill>
                <a:srgbClr val="27323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27323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27323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Programming languages also have words, vocabulary</a:t>
            </a:r>
            <a:r>
              <a:rPr lang="en-GB" sz="2400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symbols and Grammatical rules.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rgbClr val="27323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i="0" dirty="0">
                <a:solidFill>
                  <a:srgbClr val="27323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GB" sz="2400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 grammatical rules are called as syntax.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b="0" i="0" dirty="0">
              <a:solidFill>
                <a:srgbClr val="27323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 programming language has a different set of syntax rules.</a:t>
            </a:r>
          </a:p>
          <a:p>
            <a:endParaRPr lang="en-IN" sz="2400" dirty="0">
              <a:solidFill>
                <a:srgbClr val="27323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7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5B5C11-7FF7-2E7C-1F5A-1F77EA538474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</a:rPr>
              <a:t>What is Programming Language</a:t>
            </a:r>
            <a:endParaRPr lang="en-IN" sz="2800" b="1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188833-FFA0-645E-CA2C-36BEFFFC4BA1}"/>
              </a:ext>
            </a:extLst>
          </p:cNvPr>
          <p:cNvSpPr txBox="1"/>
          <p:nvPr/>
        </p:nvSpPr>
        <p:spPr>
          <a:xfrm>
            <a:off x="628453" y="902591"/>
            <a:ext cx="10935093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Computer Programmer</a:t>
            </a:r>
          </a:p>
          <a:p>
            <a:r>
              <a:rPr lang="en-GB" sz="2400" b="0" i="0" dirty="0">
                <a:solidFill>
                  <a:srgbClr val="000000"/>
                </a:solidFill>
                <a:effectLst/>
                <a:latin typeface="Nunito" panose="00000500000000000000" pitchFamily="2" charset="0"/>
              </a:rPr>
              <a:t>Someone who can write computer programs or in other words, someone who can do computer programming is called a Computer Programmer.</a:t>
            </a:r>
            <a:endParaRPr lang="en-GB" sz="2400" dirty="0">
              <a:solidFill>
                <a:srgbClr val="27323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400" dirty="0">
              <a:solidFill>
                <a:srgbClr val="27323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Algorithm</a:t>
            </a:r>
          </a:p>
          <a:p>
            <a:r>
              <a:rPr lang="en-GB" sz="2400" dirty="0">
                <a:solidFill>
                  <a:srgbClr val="000000"/>
                </a:solidFill>
                <a:latin typeface="Nunito" panose="00000500000000000000" pitchFamily="2" charset="0"/>
              </a:rPr>
              <a:t>A</a:t>
            </a:r>
            <a:r>
              <a:rPr lang="en-GB" sz="2400" b="0" i="0" dirty="0">
                <a:solidFill>
                  <a:srgbClr val="000000"/>
                </a:solidFill>
                <a:effectLst/>
                <a:latin typeface="Nunito" panose="00000500000000000000" pitchFamily="2" charset="0"/>
              </a:rPr>
              <a:t>n </a:t>
            </a:r>
            <a:r>
              <a:rPr lang="en-GB" sz="2400" b="1" i="0" dirty="0">
                <a:solidFill>
                  <a:srgbClr val="000000"/>
                </a:solidFill>
                <a:effectLst/>
                <a:latin typeface="Nunito" panose="00000500000000000000" pitchFamily="2" charset="0"/>
              </a:rPr>
              <a:t>algorithm</a:t>
            </a:r>
            <a:r>
              <a:rPr lang="en-GB" sz="2400" b="0" i="0" dirty="0">
                <a:solidFill>
                  <a:srgbClr val="000000"/>
                </a:solidFill>
                <a:effectLst/>
                <a:latin typeface="Nunito" panose="00000500000000000000" pitchFamily="2" charset="0"/>
              </a:rPr>
              <a:t> is a step-by-step procedure to resolve any problem. An algorithm is an effective method expressed as a finite set of well-defined instructions.</a:t>
            </a:r>
            <a:endParaRPr lang="en-GB" sz="2400" dirty="0">
              <a:solidFill>
                <a:srgbClr val="27323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>
              <a:solidFill>
                <a:srgbClr val="27323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400" b="1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Let a1,a2,a3,….,a100 be any random number selected between 1 and 100.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a1 is prime then add to a list called as </a:t>
            </a:r>
            <a:r>
              <a:rPr lang="en-IN" dirty="0" err="1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list_prime</a:t>
            </a:r>
            <a:r>
              <a:rPr lang="en-IN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If a1 is composite then add to a list called as </a:t>
            </a:r>
            <a:r>
              <a:rPr lang="en-IN" dirty="0" err="1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list_composite</a:t>
            </a:r>
            <a:r>
              <a:rPr lang="en-IN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Skip to next number.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Find out sum of numbers in the </a:t>
            </a:r>
            <a:r>
              <a:rPr lang="en-IN" dirty="0" err="1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list_prime</a:t>
            </a:r>
            <a:r>
              <a:rPr lang="en-IN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Find out sum of numbers in the </a:t>
            </a:r>
            <a:r>
              <a:rPr lang="en-IN" dirty="0" err="1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list_composite</a:t>
            </a:r>
            <a:r>
              <a:rPr lang="en-IN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4574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8D2FE7-6BD9-5AAE-5083-5822EEDF66DC}"/>
              </a:ext>
            </a:extLst>
          </p:cNvPr>
          <p:cNvSpPr txBox="1"/>
          <p:nvPr/>
        </p:nvSpPr>
        <p:spPr>
          <a:xfrm>
            <a:off x="130057" y="3690609"/>
            <a:ext cx="69310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>
                <a:latin typeface="Britannic Bold" panose="020B0903060703020204" pitchFamily="34" charset="0"/>
              </a:rPr>
              <a:t>What is Python 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779B13-DA94-FD64-F18F-B6AB849F780D}"/>
              </a:ext>
            </a:extLst>
          </p:cNvPr>
          <p:cNvSpPr/>
          <p:nvPr/>
        </p:nvSpPr>
        <p:spPr>
          <a:xfrm>
            <a:off x="0" y="4706272"/>
            <a:ext cx="12192000" cy="215172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67687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1A5F8-D18B-9954-E1A0-27B30E307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97539"/>
            <a:ext cx="9144000" cy="819559"/>
          </a:xfrm>
        </p:spPr>
        <p:txBody>
          <a:bodyPr>
            <a:normAutofit fontScale="90000"/>
          </a:bodyPr>
          <a:lstStyle/>
          <a:p>
            <a:br>
              <a:rPr lang="en-GB" dirty="0"/>
            </a:br>
            <a:endParaRPr lang="en-IN" sz="7300" dirty="0">
              <a:solidFill>
                <a:srgbClr val="0070C0"/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0A5574-EBA7-449B-2AE3-F7D7FA3CD525}"/>
              </a:ext>
            </a:extLst>
          </p:cNvPr>
          <p:cNvSpPr txBox="1"/>
          <p:nvPr/>
        </p:nvSpPr>
        <p:spPr>
          <a:xfrm>
            <a:off x="628451" y="1825178"/>
            <a:ext cx="1093509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27323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Python is a high-level, general-purpose and a very popular programming language. </a:t>
            </a:r>
          </a:p>
          <a:p>
            <a:r>
              <a:rPr lang="en-GB" b="0" i="0" dirty="0">
                <a:solidFill>
                  <a:srgbClr val="27323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Python programming language (latest Python 3) is being used in web development, Machine Learning applications, along with all cutting edge technology in Software Industry. </a:t>
            </a:r>
          </a:p>
          <a:p>
            <a:endParaRPr lang="en-GB" b="0" i="0" dirty="0">
              <a:solidFill>
                <a:srgbClr val="27323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GB" b="1" dirty="0">
                <a:solidFill>
                  <a:srgbClr val="0070C0"/>
                </a:solidFill>
                <a:latin typeface="Segoe UI" panose="020B0502040204020203" pitchFamily="34" charset="0"/>
              </a:rPr>
              <a:t>Advantages of Python</a:t>
            </a:r>
            <a:endParaRPr lang="en-GB" b="1" i="0" dirty="0">
              <a:solidFill>
                <a:srgbClr val="0070C0"/>
              </a:solidFill>
              <a:effectLst/>
              <a:latin typeface="Segoe UI" panose="020B0502040204020203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Works on different platforms (Windows, Mac, Linux, Raspberry Pi, etc).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Simple syntax similar to the English language.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Syntax that allows developers to write programs with fewer lines than some other programming languages.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Runs on an interpreter system, meaning that code can be executed as soon as it is written. This means that prototyping can be very quick.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Supports functional and structured programming methods as well as OOP.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Provides very high-level dynamic data types and supports dynamic type checking.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 be easily integrated with Other Languages.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BAA4D2-4A95-6551-22D7-2F41F57BF8BF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</a:rPr>
              <a:t>Python</a:t>
            </a:r>
            <a:endParaRPr lang="en-IN" sz="2800" b="1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pic>
        <p:nvPicPr>
          <p:cNvPr id="2050" name="Picture 2" descr="Python - Wikiversity">
            <a:extLst>
              <a:ext uri="{FF2B5EF4-FFF2-40B4-BE49-F238E27FC236}">
                <a16:creationId xmlns:a16="http://schemas.microsoft.com/office/drawing/2014/main" id="{820F1BD1-9946-129B-B80E-90E7933848C7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5596" y="1005618"/>
            <a:ext cx="820800" cy="82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3361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8D2FE7-6BD9-5AAE-5083-5822EEDF66DC}"/>
              </a:ext>
            </a:extLst>
          </p:cNvPr>
          <p:cNvSpPr txBox="1"/>
          <p:nvPr/>
        </p:nvSpPr>
        <p:spPr>
          <a:xfrm>
            <a:off x="0" y="2830068"/>
            <a:ext cx="102280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latin typeface="Britannic Bold" panose="020B0903060703020204" pitchFamily="34" charset="0"/>
              </a:rPr>
              <a:t>Why Python is preferred in Data Science ?</a:t>
            </a:r>
            <a:endParaRPr lang="en-GB" sz="6000" dirty="0">
              <a:latin typeface="Britannic Bold" panose="020B0903060703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8C8F79-640E-3517-9A74-5D0E4C01F9C8}"/>
              </a:ext>
            </a:extLst>
          </p:cNvPr>
          <p:cNvSpPr/>
          <p:nvPr/>
        </p:nvSpPr>
        <p:spPr>
          <a:xfrm>
            <a:off x="0" y="4706272"/>
            <a:ext cx="12192000" cy="215172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23630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1E19BB-9C76-0608-66D3-042AE228A93A}"/>
              </a:ext>
            </a:extLst>
          </p:cNvPr>
          <p:cNvSpPr txBox="1"/>
          <p:nvPr/>
        </p:nvSpPr>
        <p:spPr>
          <a:xfrm>
            <a:off x="443060" y="1028343"/>
            <a:ext cx="10803118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0" i="0" dirty="0">
                <a:solidFill>
                  <a:srgbClr val="292929"/>
                </a:solidFill>
                <a:effectLst/>
                <a:latin typeface="charter"/>
              </a:rPr>
              <a:t>As a new Data Scientist, you know that your path begins with programming languages you need to learn.</a:t>
            </a:r>
          </a:p>
          <a:p>
            <a:r>
              <a:rPr lang="en-GB" b="0" i="0" dirty="0">
                <a:solidFill>
                  <a:srgbClr val="292929"/>
                </a:solidFill>
                <a:effectLst/>
                <a:latin typeface="charter"/>
              </a:rPr>
              <a:t>Python is the most popular language for all Data Scientists.  </a:t>
            </a:r>
          </a:p>
          <a:p>
            <a:r>
              <a:rPr lang="en-GB" sz="3200" b="1" dirty="0">
                <a:solidFill>
                  <a:srgbClr val="FF0000"/>
                </a:solidFill>
                <a:latin typeface="Charter"/>
              </a:rPr>
              <a:t>But Why is this?</a:t>
            </a:r>
          </a:p>
          <a:p>
            <a:endParaRPr lang="en-IN" dirty="0">
              <a:solidFill>
                <a:srgbClr val="292929"/>
              </a:solidFill>
              <a:latin typeface="charter"/>
            </a:endParaRPr>
          </a:p>
          <a:p>
            <a:endParaRPr lang="en-IN" dirty="0">
              <a:solidFill>
                <a:srgbClr val="292929"/>
              </a:solidFill>
              <a:latin typeface="charter"/>
            </a:endParaRPr>
          </a:p>
          <a:p>
            <a:endParaRPr lang="en-IN" dirty="0">
              <a:solidFill>
                <a:srgbClr val="292929"/>
              </a:solidFill>
              <a:latin typeface="charter"/>
            </a:endParaRPr>
          </a:p>
          <a:p>
            <a:r>
              <a:rPr lang="en-IN" sz="2400" b="1" dirty="0">
                <a:solidFill>
                  <a:srgbClr val="0070C0"/>
                </a:solidFill>
                <a:latin typeface="Charter"/>
              </a:rPr>
              <a:t>R</a:t>
            </a:r>
            <a:r>
              <a:rPr lang="en-IN" sz="2400" b="1" i="0" dirty="0">
                <a:solidFill>
                  <a:srgbClr val="0070C0"/>
                </a:solidFill>
                <a:effectLst/>
                <a:latin typeface="Charter"/>
              </a:rPr>
              <a:t>easons behind Python's popularity in Data Science</a:t>
            </a:r>
            <a:endParaRPr lang="en-GB" sz="2400" b="1" i="0" dirty="0">
              <a:solidFill>
                <a:srgbClr val="0070C0"/>
              </a:solidFill>
              <a:effectLst/>
              <a:latin typeface="Charter"/>
            </a:endParaRP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92929"/>
                </a:solidFill>
                <a:effectLst/>
                <a:latin typeface="charter"/>
              </a:rPr>
              <a:t>Python is a free and open-source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Simple Syntax as compared to other languages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Availability of large number of libraries and frameworks (NumPy, Pandas ,matplotlib 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Scalability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Efficient Deep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Huge Community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Jobs and Growth in market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E0F85D-9270-E39D-350E-AF275B033069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</a:rPr>
              <a:t>Python in Data Science</a:t>
            </a:r>
            <a:endParaRPr lang="en-IN" sz="2800" b="1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998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8D2FE7-6BD9-5AAE-5083-5822EEDF66DC}"/>
              </a:ext>
            </a:extLst>
          </p:cNvPr>
          <p:cNvSpPr txBox="1"/>
          <p:nvPr/>
        </p:nvSpPr>
        <p:spPr>
          <a:xfrm>
            <a:off x="77869" y="3690609"/>
            <a:ext cx="53243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>
                <a:latin typeface="Britannic Bold" panose="020B0903060703020204" pitchFamily="34" charset="0"/>
              </a:rPr>
              <a:t>Installation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41C347-C3B9-26DD-1C9B-98A2B4122C6C}"/>
              </a:ext>
            </a:extLst>
          </p:cNvPr>
          <p:cNvSpPr/>
          <p:nvPr/>
        </p:nvSpPr>
        <p:spPr>
          <a:xfrm>
            <a:off x="0" y="4706272"/>
            <a:ext cx="12192000" cy="215172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42626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2D1921-1A94-8C56-A4F2-1B40DC062944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</a:rPr>
              <a:t>Steps of installation</a:t>
            </a:r>
            <a:endParaRPr lang="en-IN" sz="2800" b="1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1E87A7-6756-198E-5A73-FFCF2F365E16}"/>
              </a:ext>
            </a:extLst>
          </p:cNvPr>
          <p:cNvSpPr txBox="1"/>
          <p:nvPr/>
        </p:nvSpPr>
        <p:spPr>
          <a:xfrm>
            <a:off x="520045" y="727840"/>
            <a:ext cx="488308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0070C0"/>
                </a:solidFill>
              </a:rPr>
              <a:t>Step 1) </a:t>
            </a:r>
          </a:p>
          <a:p>
            <a:r>
              <a:rPr lang="en-GB" dirty="0"/>
              <a:t>Go to </a:t>
            </a:r>
          </a:p>
          <a:p>
            <a:r>
              <a:rPr lang="en-IN" dirty="0">
                <a:hlinkClick r:id="rId3"/>
              </a:rPr>
              <a:t>https://www.anaconda.com/products/distribution</a:t>
            </a:r>
            <a:endParaRPr lang="en-IN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68A25E-8FE4-04F2-9EBD-77C0473624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2189" y="1954038"/>
            <a:ext cx="9007621" cy="417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634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2D1921-1A94-8C56-A4F2-1B40DC062944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</a:rPr>
              <a:t>Steps of installation</a:t>
            </a:r>
            <a:endParaRPr lang="en-IN" sz="2800" b="1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1E87A7-6756-198E-5A73-FFCF2F365E16}"/>
              </a:ext>
            </a:extLst>
          </p:cNvPr>
          <p:cNvSpPr txBox="1"/>
          <p:nvPr/>
        </p:nvSpPr>
        <p:spPr>
          <a:xfrm>
            <a:off x="520045" y="727840"/>
            <a:ext cx="111691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</a:rPr>
              <a:t>Step 2) </a:t>
            </a:r>
          </a:p>
          <a:p>
            <a:r>
              <a:rPr lang="en-GB" sz="2400" dirty="0"/>
              <a:t>Select Your Operating System (Default download link is for windows operating system.)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CF8AD0D-626D-0874-F059-37BDC97C1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37286"/>
            <a:ext cx="12192000" cy="482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7421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2D1921-1A94-8C56-A4F2-1B40DC062944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</a:rPr>
              <a:t>Steps of installation</a:t>
            </a:r>
            <a:endParaRPr lang="en-IN" sz="2800" b="1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1E87A7-6756-198E-5A73-FFCF2F365E16}"/>
              </a:ext>
            </a:extLst>
          </p:cNvPr>
          <p:cNvSpPr txBox="1"/>
          <p:nvPr/>
        </p:nvSpPr>
        <p:spPr>
          <a:xfrm>
            <a:off x="520045" y="727840"/>
            <a:ext cx="111691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</a:rPr>
              <a:t>Step 3) </a:t>
            </a:r>
          </a:p>
          <a:p>
            <a:r>
              <a:rPr lang="en-GB" sz="2400" dirty="0"/>
              <a:t>Once you have selected your operating system click on download button.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F9AA9E-191B-A8FA-E1A7-6E7D84926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37286"/>
            <a:ext cx="12192000" cy="482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32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2D1921-1A94-8C56-A4F2-1B40DC062944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</a:rPr>
              <a:t>Steps of installation</a:t>
            </a:r>
            <a:endParaRPr lang="en-IN" sz="2800" b="1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1E87A7-6756-198E-5A73-FFCF2F365E16}"/>
              </a:ext>
            </a:extLst>
          </p:cNvPr>
          <p:cNvSpPr txBox="1"/>
          <p:nvPr/>
        </p:nvSpPr>
        <p:spPr>
          <a:xfrm>
            <a:off x="520045" y="727840"/>
            <a:ext cx="111691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</a:rPr>
              <a:t>Step 4) </a:t>
            </a:r>
          </a:p>
          <a:p>
            <a:r>
              <a:rPr lang="en-GB" sz="2400" dirty="0"/>
              <a:t>Select the directory where you want to download your software and your download will start.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3EB9B6-375B-E860-F5A2-7B436F867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45" y="2008554"/>
            <a:ext cx="5806943" cy="44609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228370-ECBB-275E-569D-E85AD99EDC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434" y="2884123"/>
            <a:ext cx="4343776" cy="108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9105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2D1921-1A94-8C56-A4F2-1B40DC062944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</a:rPr>
              <a:t>Steps of installation</a:t>
            </a:r>
            <a:endParaRPr lang="en-IN" sz="2800" b="1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1E87A7-6756-198E-5A73-FFCF2F365E16}"/>
              </a:ext>
            </a:extLst>
          </p:cNvPr>
          <p:cNvSpPr txBox="1"/>
          <p:nvPr/>
        </p:nvSpPr>
        <p:spPr>
          <a:xfrm>
            <a:off x="520045" y="727840"/>
            <a:ext cx="111691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</a:rPr>
              <a:t>Step 5) </a:t>
            </a:r>
          </a:p>
          <a:p>
            <a:r>
              <a:rPr lang="en-GB" sz="2400" dirty="0"/>
              <a:t>Open your setup file which you have downloaded and select your default settings at each step and at last click on finish.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92F10B-74CD-A141-9E61-545A29D38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861" y="2401319"/>
            <a:ext cx="4694327" cy="365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8377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8D2FE7-6BD9-5AAE-5083-5822EEDF66DC}"/>
              </a:ext>
            </a:extLst>
          </p:cNvPr>
          <p:cNvSpPr txBox="1"/>
          <p:nvPr/>
        </p:nvSpPr>
        <p:spPr>
          <a:xfrm>
            <a:off x="105473" y="2695563"/>
            <a:ext cx="70441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>
                <a:latin typeface="Britannic Bold" panose="020B0903060703020204" pitchFamily="34" charset="0"/>
              </a:rPr>
              <a:t>Introduction to Jupyter Notebook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B9C418-C2CF-E13D-28D1-59E02AC3C7C6}"/>
              </a:ext>
            </a:extLst>
          </p:cNvPr>
          <p:cNvSpPr/>
          <p:nvPr/>
        </p:nvSpPr>
        <p:spPr>
          <a:xfrm>
            <a:off x="0" y="4706272"/>
            <a:ext cx="12192000" cy="215172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751279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1A5F8-D18B-9954-E1A0-27B30E307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97539"/>
            <a:ext cx="9144000" cy="819559"/>
          </a:xfrm>
        </p:spPr>
        <p:txBody>
          <a:bodyPr>
            <a:normAutofit fontScale="90000"/>
          </a:bodyPr>
          <a:lstStyle/>
          <a:p>
            <a:br>
              <a:rPr lang="en-GB" dirty="0"/>
            </a:br>
            <a:endParaRPr lang="en-IN" sz="7300" dirty="0">
              <a:solidFill>
                <a:srgbClr val="0070C0"/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0A5574-EBA7-449B-2AE3-F7D7FA3CD525}"/>
              </a:ext>
            </a:extLst>
          </p:cNvPr>
          <p:cNvSpPr txBox="1"/>
          <p:nvPr/>
        </p:nvSpPr>
        <p:spPr>
          <a:xfrm>
            <a:off x="622168" y="1938314"/>
            <a:ext cx="1093509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 Jupyter Notebook is an open source web application that allows data scientists to create and share documents that include live code, equations, and other multimedia resources.</a:t>
            </a:r>
          </a:p>
          <a:p>
            <a:endParaRPr lang="en-GB" b="0" i="0" dirty="0">
              <a:solidFill>
                <a:srgbClr val="27323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b="0" i="0" dirty="0">
              <a:solidFill>
                <a:srgbClr val="27323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GB" dirty="0">
                <a:solidFill>
                  <a:srgbClr val="0070C0"/>
                </a:solidFill>
                <a:latin typeface="Segoe UI" panose="020B0502040204020203" pitchFamily="34" charset="0"/>
              </a:rPr>
              <a:t>Use of Jupyter Notebook</a:t>
            </a:r>
            <a:r>
              <a:rPr lang="en-GB" b="1" dirty="0">
                <a:solidFill>
                  <a:srgbClr val="0070C0"/>
                </a:solidFill>
                <a:latin typeface="Segoe UI" panose="020B0502040204020203" pitchFamily="34" charset="0"/>
              </a:rPr>
              <a:t>:</a:t>
            </a:r>
          </a:p>
          <a:p>
            <a:pPr algn="l"/>
            <a:r>
              <a:rPr lang="en-GB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Jupyter notebooks are used for all sorts of data science tasks such as exploratory data analysis (EDA), data cleaning and transformation, data visualization, statistical modeling, machine learning, and deep learning.</a:t>
            </a:r>
          </a:p>
          <a:p>
            <a:endParaRPr lang="en-IN" dirty="0"/>
          </a:p>
          <a:p>
            <a:r>
              <a:rPr lang="en-IN" dirty="0">
                <a:solidFill>
                  <a:srgbClr val="0070C0"/>
                </a:solidFill>
                <a:latin typeface="Segoe UI" panose="020B0502040204020203" pitchFamily="34" charset="0"/>
              </a:rPr>
              <a:t>Advantage of Using Jupyter Notebook </a:t>
            </a:r>
            <a:r>
              <a:rPr lang="en-IN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Useful for "showing the work"  through a combination of code, markdown, links, and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Jupyter notebooks can also be converted to a number of standard output formats (HTML, PowerPoint, LaTeX, PDF, Restructured Text, Markdown, Python)</a:t>
            </a:r>
            <a:endParaRPr lang="en-IN" dirty="0">
              <a:solidFill>
                <a:srgbClr val="27323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Project Jupyter - Wikipedia">
            <a:extLst>
              <a:ext uri="{FF2B5EF4-FFF2-40B4-BE49-F238E27FC236}">
                <a16:creationId xmlns:a16="http://schemas.microsoft.com/office/drawing/2014/main" id="{249E912F-721D-2D68-73D8-38C4DA661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5882" y="1187100"/>
            <a:ext cx="1112196" cy="632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396071-F5EF-DD7D-0635-30004B308D3E}"/>
              </a:ext>
            </a:extLst>
          </p:cNvPr>
          <p:cNvSpPr txBox="1"/>
          <p:nvPr/>
        </p:nvSpPr>
        <p:spPr>
          <a:xfrm>
            <a:off x="0" y="0"/>
            <a:ext cx="12192000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</a:rPr>
              <a:t>Jupyter Notebooks </a:t>
            </a:r>
            <a:endParaRPr lang="en-IN" sz="2800" b="1" dirty="0">
              <a:solidFill>
                <a:schemeClr val="bg1"/>
              </a:solidFill>
              <a:latin typeface="Segoe UI" panose="020B0502040204020203" pitchFamily="34" charset="0"/>
            </a:endParaRPr>
          </a:p>
          <a:p>
            <a:pPr algn="ctr"/>
            <a:endParaRPr lang="en-IN" sz="2800" b="1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8141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8D2FE7-6BD9-5AAE-5083-5822EEDF66DC}"/>
              </a:ext>
            </a:extLst>
          </p:cNvPr>
          <p:cNvSpPr txBox="1"/>
          <p:nvPr/>
        </p:nvSpPr>
        <p:spPr>
          <a:xfrm>
            <a:off x="89648" y="2867415"/>
            <a:ext cx="70441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>
                <a:latin typeface="Britannic Bold" panose="020B0903060703020204" pitchFamily="34" charset="0"/>
              </a:rPr>
              <a:t>Working of Jupyter Notebook</a:t>
            </a:r>
            <a:endParaRPr lang="en-IN" sz="6000" dirty="0">
              <a:latin typeface="Britannic Bold" panose="020B0903060703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B9C418-C2CF-E13D-28D1-59E02AC3C7C6}"/>
              </a:ext>
            </a:extLst>
          </p:cNvPr>
          <p:cNvSpPr/>
          <p:nvPr/>
        </p:nvSpPr>
        <p:spPr>
          <a:xfrm>
            <a:off x="0" y="4706272"/>
            <a:ext cx="12192000" cy="215172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45217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1A5F8-D18B-9954-E1A0-27B30E307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396" y="788113"/>
            <a:ext cx="11843208" cy="1021833"/>
          </a:xfrm>
        </p:spPr>
        <p:txBody>
          <a:bodyPr>
            <a:normAutofit/>
          </a:bodyPr>
          <a:lstStyle/>
          <a:p>
            <a:pPr algn="l"/>
            <a:r>
              <a:rPr lang="en-GB" sz="2000" dirty="0">
                <a:solidFill>
                  <a:srgbClr val="273239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Step 1) Open Jupyter Notebook from apps</a:t>
            </a:r>
            <a:br>
              <a:rPr lang="en-GB" sz="2000" dirty="0">
                <a:solidFill>
                  <a:srgbClr val="273239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</a:br>
            <a:r>
              <a:rPr lang="en-GB" sz="2000" dirty="0">
                <a:solidFill>
                  <a:srgbClr val="273239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Step 2) In your default browser a web page will open like this and default directory will be C drive of your system.</a:t>
            </a:r>
            <a:endParaRPr lang="en-IN" sz="2000" dirty="0">
              <a:solidFill>
                <a:srgbClr val="273239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396071-F5EF-DD7D-0635-30004B308D3E}"/>
              </a:ext>
            </a:extLst>
          </p:cNvPr>
          <p:cNvSpPr txBox="1"/>
          <p:nvPr/>
        </p:nvSpPr>
        <p:spPr>
          <a:xfrm>
            <a:off x="0" y="0"/>
            <a:ext cx="12192000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</a:rPr>
              <a:t>Working of Jupyter Notebooks </a:t>
            </a:r>
            <a:endParaRPr lang="en-IN" sz="2800" b="1" dirty="0">
              <a:solidFill>
                <a:schemeClr val="bg1"/>
              </a:solidFill>
              <a:latin typeface="Segoe UI" panose="020B0502040204020203" pitchFamily="34" charset="0"/>
            </a:endParaRPr>
          </a:p>
          <a:p>
            <a:pPr algn="ctr"/>
            <a:endParaRPr lang="en-IN" sz="2800" b="1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71819C-C792-5B26-7827-6C2600102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86" y="1979629"/>
            <a:ext cx="9153428" cy="425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9663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396071-F5EF-DD7D-0635-30004B308D3E}"/>
              </a:ext>
            </a:extLst>
          </p:cNvPr>
          <p:cNvSpPr txBox="1"/>
          <p:nvPr/>
        </p:nvSpPr>
        <p:spPr>
          <a:xfrm>
            <a:off x="0" y="0"/>
            <a:ext cx="12192000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</a:rPr>
              <a:t>Working of Jupyter Notebooks </a:t>
            </a:r>
            <a:endParaRPr lang="en-IN" sz="2800" b="1" dirty="0">
              <a:solidFill>
                <a:schemeClr val="bg1"/>
              </a:solidFill>
              <a:latin typeface="Segoe UI" panose="020B0502040204020203" pitchFamily="34" charset="0"/>
            </a:endParaRPr>
          </a:p>
          <a:p>
            <a:pPr algn="ctr"/>
            <a:endParaRPr lang="en-IN" sz="2800" b="1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624FF3-B5CD-A237-FBD8-B678811CF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02" y="2723595"/>
            <a:ext cx="4854361" cy="18899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FE84EF-FC71-9AB9-A085-452634EAB804}"/>
              </a:ext>
            </a:extLst>
          </p:cNvPr>
          <p:cNvSpPr txBox="1"/>
          <p:nvPr/>
        </p:nvSpPr>
        <p:spPr>
          <a:xfrm>
            <a:off x="322302" y="1100187"/>
            <a:ext cx="97078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solidFill>
                  <a:srgbClr val="273239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Step 3) If you want to run and save your code in other directory then follow these steps:</a:t>
            </a:r>
            <a:br>
              <a:rPr lang="en-GB" sz="1800" dirty="0">
                <a:solidFill>
                  <a:srgbClr val="273239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</a:br>
            <a:r>
              <a:rPr lang="en-GB" sz="1800" dirty="0">
                <a:solidFill>
                  <a:srgbClr val="273239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	</a:t>
            </a:r>
          </a:p>
          <a:p>
            <a:r>
              <a:rPr lang="en-GB" dirty="0">
                <a:solidFill>
                  <a:srgbClr val="27323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1) </a:t>
            </a:r>
            <a:r>
              <a:rPr lang="en-GB" sz="1800" dirty="0">
                <a:solidFill>
                  <a:srgbClr val="273239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Open Anaconda Prompt (anaconda3) from start menu.</a:t>
            </a:r>
            <a:br>
              <a:rPr lang="en-GB" sz="1800" dirty="0">
                <a:solidFill>
                  <a:srgbClr val="273239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</a:br>
            <a:r>
              <a:rPr lang="en-GB" sz="1800" dirty="0">
                <a:solidFill>
                  <a:srgbClr val="273239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	2) Type the directory name followed by colon (</a:t>
            </a:r>
            <a:r>
              <a:rPr lang="en-GB" sz="1800" dirty="0">
                <a:solidFill>
                  <a:srgbClr val="273239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:) and then press Enter  (Example – </a:t>
            </a:r>
            <a:r>
              <a:rPr lang="en-GB" sz="1800" dirty="0">
                <a:solidFill>
                  <a:srgbClr val="FF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d:</a:t>
            </a:r>
            <a:r>
              <a:rPr lang="en-GB" sz="1800" dirty="0">
                <a:solidFill>
                  <a:srgbClr val="273239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)</a:t>
            </a:r>
            <a:br>
              <a:rPr lang="en-GB" sz="1800" dirty="0">
                <a:solidFill>
                  <a:srgbClr val="273239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</a:br>
            <a:r>
              <a:rPr lang="en-GB" sz="1800" dirty="0">
                <a:solidFill>
                  <a:srgbClr val="273239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	3) Type </a:t>
            </a:r>
            <a:r>
              <a:rPr lang="en-GB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j</a:t>
            </a:r>
            <a:r>
              <a:rPr lang="en-GB" sz="1800" b="1" dirty="0" err="1">
                <a:solidFill>
                  <a:srgbClr val="FF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upyter</a:t>
            </a:r>
            <a:r>
              <a:rPr lang="en-GB" sz="1800" b="1" dirty="0">
                <a:solidFill>
                  <a:srgbClr val="FF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 notebook</a:t>
            </a:r>
            <a:r>
              <a:rPr lang="en-GB" sz="1800" dirty="0">
                <a:solidFill>
                  <a:srgbClr val="FF0000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en-GB" sz="1800" dirty="0">
                <a:solidFill>
                  <a:srgbClr val="273239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Wingdings" panose="05000000000000000000" pitchFamily="2" charset="2"/>
              </a:rPr>
              <a:t>and then Enter.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C5CF3E-97FC-59B8-44ED-91AA441C2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02" y="4934781"/>
            <a:ext cx="4854360" cy="175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324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1A5F8-D18B-9954-E1A0-27B30E307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396" y="1121790"/>
            <a:ext cx="11843208" cy="405352"/>
          </a:xfrm>
        </p:spPr>
        <p:txBody>
          <a:bodyPr>
            <a:normAutofit/>
          </a:bodyPr>
          <a:lstStyle/>
          <a:p>
            <a:pPr algn="l"/>
            <a:r>
              <a:rPr lang="en-GB" sz="2000" dirty="0">
                <a:solidFill>
                  <a:srgbClr val="273239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Step 4) Open your preferred folder and then click on New -&gt; Python 3.</a:t>
            </a:r>
            <a:endParaRPr lang="en-IN" sz="2000" dirty="0">
              <a:solidFill>
                <a:srgbClr val="273239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396071-F5EF-DD7D-0635-30004B308D3E}"/>
              </a:ext>
            </a:extLst>
          </p:cNvPr>
          <p:cNvSpPr txBox="1"/>
          <p:nvPr/>
        </p:nvSpPr>
        <p:spPr>
          <a:xfrm>
            <a:off x="0" y="0"/>
            <a:ext cx="12192000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</a:rPr>
              <a:t>Working of Jupyter Notebooks </a:t>
            </a:r>
            <a:endParaRPr lang="en-IN" sz="2800" b="1" dirty="0">
              <a:solidFill>
                <a:schemeClr val="bg1"/>
              </a:solidFill>
              <a:latin typeface="Segoe UI" panose="020B0502040204020203" pitchFamily="34" charset="0"/>
            </a:endParaRPr>
          </a:p>
          <a:p>
            <a:pPr algn="ctr"/>
            <a:endParaRPr lang="en-IN" sz="2800" b="1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C81906-87E5-519C-2202-FE4F08566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606" y="1694825"/>
            <a:ext cx="9514788" cy="485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1869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1A5F8-D18B-9954-E1A0-27B30E307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396" y="1121790"/>
            <a:ext cx="11843208" cy="405352"/>
          </a:xfrm>
        </p:spPr>
        <p:txBody>
          <a:bodyPr>
            <a:normAutofit/>
          </a:bodyPr>
          <a:lstStyle/>
          <a:p>
            <a:pPr algn="l"/>
            <a:r>
              <a:rPr lang="en-GB" sz="2000" dirty="0">
                <a:solidFill>
                  <a:srgbClr val="273239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Step 5) A new notebook will be opened with name ‘Untitled.ipynb’ and you can run your code here.</a:t>
            </a:r>
            <a:endParaRPr lang="en-IN" sz="2000" dirty="0">
              <a:solidFill>
                <a:srgbClr val="273239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396071-F5EF-DD7D-0635-30004B308D3E}"/>
              </a:ext>
            </a:extLst>
          </p:cNvPr>
          <p:cNvSpPr txBox="1"/>
          <p:nvPr/>
        </p:nvSpPr>
        <p:spPr>
          <a:xfrm>
            <a:off x="0" y="0"/>
            <a:ext cx="12192000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</a:rPr>
              <a:t>Working of Jupyter Notebooks </a:t>
            </a:r>
            <a:endParaRPr lang="en-IN" sz="2800" b="1" dirty="0">
              <a:solidFill>
                <a:schemeClr val="bg1"/>
              </a:solidFill>
              <a:latin typeface="Segoe UI" panose="020B0502040204020203" pitchFamily="34" charset="0"/>
            </a:endParaRPr>
          </a:p>
          <a:p>
            <a:pPr algn="ctr"/>
            <a:endParaRPr lang="en-IN" sz="2800" b="1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20E7E9-D67C-417C-5A69-794741118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0557"/>
            <a:ext cx="12192000" cy="261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4826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396071-F5EF-DD7D-0635-30004B308D3E}"/>
              </a:ext>
            </a:extLst>
          </p:cNvPr>
          <p:cNvSpPr txBox="1"/>
          <p:nvPr/>
        </p:nvSpPr>
        <p:spPr>
          <a:xfrm>
            <a:off x="0" y="0"/>
            <a:ext cx="12192000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</a:rPr>
              <a:t>Commands and Shortcut of Jupyter Notebooks </a:t>
            </a:r>
            <a:endParaRPr lang="en-IN" sz="2800" b="1" dirty="0">
              <a:solidFill>
                <a:schemeClr val="bg1"/>
              </a:solidFill>
              <a:latin typeface="Segoe UI" panose="020B0502040204020203" pitchFamily="34" charset="0"/>
            </a:endParaRPr>
          </a:p>
          <a:p>
            <a:pPr algn="ctr"/>
            <a:endParaRPr lang="en-IN" sz="2800" b="1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E0CD521-2F6A-75A6-56BD-174C78BFB154}"/>
              </a:ext>
            </a:extLst>
          </p:cNvPr>
          <p:cNvGraphicFramePr>
            <a:graphicFrameLocks noGrp="1"/>
          </p:cNvGraphicFramePr>
          <p:nvPr/>
        </p:nvGraphicFramePr>
        <p:xfrm>
          <a:off x="1392025" y="1491477"/>
          <a:ext cx="9407950" cy="374040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055872">
                  <a:extLst>
                    <a:ext uri="{9D8B030D-6E8A-4147-A177-3AD203B41FA5}">
                      <a16:colId xmlns:a16="http://schemas.microsoft.com/office/drawing/2014/main" val="330479946"/>
                    </a:ext>
                  </a:extLst>
                </a:gridCol>
                <a:gridCol w="3240516">
                  <a:extLst>
                    <a:ext uri="{9D8B030D-6E8A-4147-A177-3AD203B41FA5}">
                      <a16:colId xmlns:a16="http://schemas.microsoft.com/office/drawing/2014/main" val="1825196543"/>
                    </a:ext>
                  </a:extLst>
                </a:gridCol>
                <a:gridCol w="2111562">
                  <a:extLst>
                    <a:ext uri="{9D8B030D-6E8A-4147-A177-3AD203B41FA5}">
                      <a16:colId xmlns:a16="http://schemas.microsoft.com/office/drawing/2014/main" val="1432382955"/>
                    </a:ext>
                  </a:extLst>
                </a:gridCol>
              </a:tblGrid>
              <a:tr h="38693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Action</a:t>
                      </a:r>
                      <a:endParaRPr lang="en-IN" sz="1600" b="1" i="0" u="none" strike="noStrike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Menu</a:t>
                      </a:r>
                      <a:endParaRPr lang="en-IN" sz="1600" b="1" i="0" u="none" strike="noStrike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Keyboard Shortcuts</a:t>
                      </a:r>
                      <a:endParaRPr lang="en-IN" sz="1600" b="1" i="0" u="none" strike="noStrike" dirty="0">
                        <a:solidFill>
                          <a:schemeClr val="bg1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735524"/>
                  </a:ext>
                </a:extLst>
              </a:tr>
              <a:tr h="4191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Run selected cells</a:t>
                      </a:r>
                      <a:endParaRPr lang="en-IN" sz="1600" b="0" i="0" u="none" strike="noStrike" dirty="0">
                        <a:solidFill>
                          <a:srgbClr val="292929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Cell -&gt; Run Cells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Light" panose="020F0302020204030204" pitchFamily="34" charset="0"/>
                        </a:rPr>
                        <a:t>Ctrl + Enter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948209"/>
                  </a:ext>
                </a:extLst>
              </a:tr>
              <a:tr h="41918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Run the current cell and go down</a:t>
                      </a:r>
                      <a:endParaRPr lang="en-GB" sz="1600" b="0" i="0" u="none" strike="noStrike" dirty="0">
                        <a:solidFill>
                          <a:srgbClr val="292929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Cell -&gt; Run Cells and Select Below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Shift + Enter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965068"/>
                  </a:ext>
                </a:extLst>
              </a:tr>
              <a:tr h="4191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Save and checkpoint</a:t>
                      </a:r>
                      <a:endParaRPr lang="en-IN" sz="1600" b="0" i="0" u="none" strike="noStrike" dirty="0">
                        <a:solidFill>
                          <a:srgbClr val="292929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File -&gt; Save and Checkpoint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Ctrl + S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634611"/>
                  </a:ext>
                </a:extLst>
              </a:tr>
              <a:tr h="4191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Insert cell above</a:t>
                      </a:r>
                      <a:endParaRPr lang="en-IN" sz="1600" b="0" i="0" u="none" strike="noStrike" dirty="0">
                        <a:solidFill>
                          <a:srgbClr val="292929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>
                          <a:effectLst/>
                        </a:rPr>
                        <a:t>Insert -&gt; Insert Cell Above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A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978542"/>
                  </a:ext>
                </a:extLst>
              </a:tr>
              <a:tr h="4191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Insert cell below</a:t>
                      </a:r>
                      <a:endParaRPr lang="en-IN" sz="1600" b="0" i="0" u="none" strike="noStrike" dirty="0">
                        <a:solidFill>
                          <a:srgbClr val="292929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Insert -&gt; Insert Cell Below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B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343462"/>
                  </a:ext>
                </a:extLst>
              </a:tr>
              <a:tr h="41918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Change the cell type to Code</a:t>
                      </a:r>
                      <a:endParaRPr lang="en-GB" sz="1600" b="0" i="0" u="none" strike="noStrike" dirty="0">
                        <a:solidFill>
                          <a:srgbClr val="292929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Cell -&gt; Cell Type -&gt; Code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>
                          <a:effectLst/>
                        </a:rPr>
                        <a:t>Y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853073"/>
                  </a:ext>
                </a:extLst>
              </a:tr>
              <a:tr h="419183">
                <a:tc>
                  <a:txBody>
                    <a:bodyPr/>
                    <a:lstStyle/>
                    <a:p>
                      <a:pPr algn="ctr" fontAlgn="b"/>
                      <a:r>
                        <a:rPr lang="en-GB" sz="1600" u="none" strike="noStrike" dirty="0">
                          <a:effectLst/>
                        </a:rPr>
                        <a:t>Change the cell type to Markdown</a:t>
                      </a:r>
                      <a:endParaRPr lang="en-GB" sz="1600" b="0" i="0" u="none" strike="noStrike" dirty="0">
                        <a:solidFill>
                          <a:srgbClr val="292929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Cell -&gt; Cell Type -&gt; Markdown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M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490096"/>
                  </a:ext>
                </a:extLst>
              </a:tr>
              <a:tr h="4191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Code completion or indent</a:t>
                      </a:r>
                      <a:endParaRPr lang="en-IN" sz="1600" b="0" i="0" u="none" strike="noStrike" dirty="0">
                        <a:solidFill>
                          <a:srgbClr val="292929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u="none" strike="noStrike" dirty="0">
                          <a:effectLst/>
                        </a:rPr>
                        <a:t>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u="none" strike="noStrike" dirty="0">
                          <a:effectLst/>
                        </a:rPr>
                        <a:t>Tab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 Light" panose="020F03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0767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55674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8D2FE7-6BD9-5AAE-5083-5822EEDF66DC}"/>
              </a:ext>
            </a:extLst>
          </p:cNvPr>
          <p:cNvSpPr txBox="1"/>
          <p:nvPr/>
        </p:nvSpPr>
        <p:spPr>
          <a:xfrm>
            <a:off x="134470" y="2847926"/>
            <a:ext cx="70441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0" dirty="0">
                <a:latin typeface="Britannic Bold" panose="020B0903060703020204" pitchFamily="34" charset="0"/>
              </a:rPr>
              <a:t>How to run .py file</a:t>
            </a:r>
          </a:p>
          <a:p>
            <a:r>
              <a:rPr lang="en-GB" sz="6000" dirty="0">
                <a:latin typeface="Britannic Bold" panose="020B0903060703020204" pitchFamily="34" charset="0"/>
              </a:rPr>
              <a:t>from Terminal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B9C418-C2CF-E13D-28D1-59E02AC3C7C6}"/>
              </a:ext>
            </a:extLst>
          </p:cNvPr>
          <p:cNvSpPr/>
          <p:nvPr/>
        </p:nvSpPr>
        <p:spPr>
          <a:xfrm>
            <a:off x="0" y="4706272"/>
            <a:ext cx="12192000" cy="215172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572720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1A5F8-D18B-9954-E1A0-27B30E307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97539"/>
            <a:ext cx="9144000" cy="819559"/>
          </a:xfrm>
        </p:spPr>
        <p:txBody>
          <a:bodyPr>
            <a:normAutofit fontScale="90000"/>
          </a:bodyPr>
          <a:lstStyle/>
          <a:p>
            <a:br>
              <a:rPr lang="en-GB" dirty="0"/>
            </a:br>
            <a:endParaRPr lang="en-IN" sz="7300" dirty="0">
              <a:solidFill>
                <a:srgbClr val="0070C0"/>
              </a:solidFill>
              <a:latin typeface="Britannic Bold" panose="020B09030607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396071-F5EF-DD7D-0635-30004B308D3E}"/>
              </a:ext>
            </a:extLst>
          </p:cNvPr>
          <p:cNvSpPr txBox="1"/>
          <p:nvPr/>
        </p:nvSpPr>
        <p:spPr>
          <a:xfrm>
            <a:off x="0" y="0"/>
            <a:ext cx="12192000" cy="523220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</a:rPr>
              <a:t>Spyder</a:t>
            </a:r>
            <a:endParaRPr lang="en-IN" sz="2800" b="1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pic>
        <p:nvPicPr>
          <p:cNvPr id="3074" name="Picture 2" descr="Spyder IDE - Home | Facebook">
            <a:extLst>
              <a:ext uri="{FF2B5EF4-FFF2-40B4-BE49-F238E27FC236}">
                <a16:creationId xmlns:a16="http://schemas.microsoft.com/office/drawing/2014/main" id="{B4F02A19-B24A-5BCB-053C-F2B5D6CB3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3384" y="523220"/>
            <a:ext cx="1285231" cy="930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AF7F44-F4E6-D7A0-E7C3-6E23EC94AE0A}"/>
              </a:ext>
            </a:extLst>
          </p:cNvPr>
          <p:cNvSpPr txBox="1"/>
          <p:nvPr/>
        </p:nvSpPr>
        <p:spPr>
          <a:xfrm>
            <a:off x="320511" y="1617098"/>
            <a:ext cx="1085025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0070C0"/>
                </a:solidFill>
              </a:rPr>
              <a:t>Steps to Run .py scripts</a:t>
            </a:r>
          </a:p>
          <a:p>
            <a:endParaRPr lang="en-GB" dirty="0"/>
          </a:p>
          <a:p>
            <a:pPr marL="342900" indent="-342900">
              <a:buAutoNum type="arabicParenR"/>
            </a:pPr>
            <a:r>
              <a:rPr lang="en-GB" sz="2400" dirty="0"/>
              <a:t>Open Spyder from apps installed in your system.</a:t>
            </a:r>
          </a:p>
          <a:p>
            <a:pPr marL="342900" indent="-342900">
              <a:buAutoNum type="arabicParenR"/>
            </a:pPr>
            <a:r>
              <a:rPr lang="en-GB" sz="2400" dirty="0"/>
              <a:t>Write and save your code in your preferred directory, it will be saved as .py extension.</a:t>
            </a:r>
          </a:p>
          <a:p>
            <a:pPr marL="342900" indent="-342900">
              <a:buAutoNum type="arabicParenR"/>
            </a:pPr>
            <a:r>
              <a:rPr lang="en-GB" sz="2400" dirty="0"/>
              <a:t>Open Anaconda Command Prompt.</a:t>
            </a:r>
          </a:p>
          <a:p>
            <a:pPr marL="342900" indent="-342900">
              <a:buAutoNum type="arabicParenR"/>
            </a:pPr>
            <a:r>
              <a:rPr lang="en-GB" sz="2400" dirty="0"/>
              <a:t>Go to the directory in which you have saved the .py file using below command</a:t>
            </a:r>
          </a:p>
          <a:p>
            <a:r>
              <a:rPr lang="en-GB" sz="2400" dirty="0"/>
              <a:t>     </a:t>
            </a:r>
            <a:r>
              <a:rPr lang="en-GB" sz="2400" dirty="0">
                <a:solidFill>
                  <a:srgbClr val="FF0000"/>
                </a:solidFill>
              </a:rPr>
              <a:t>cd </a:t>
            </a:r>
            <a:r>
              <a:rPr lang="en-GB" sz="2400" dirty="0" err="1">
                <a:solidFill>
                  <a:srgbClr val="FF0000"/>
                </a:solidFill>
              </a:rPr>
              <a:t>path_to_directory</a:t>
            </a:r>
            <a:endParaRPr lang="en-GB" sz="2400" dirty="0">
              <a:solidFill>
                <a:srgbClr val="FF0000"/>
              </a:solidFill>
            </a:endParaRPr>
          </a:p>
          <a:p>
            <a:r>
              <a:rPr lang="en-GB" sz="2400" dirty="0"/>
              <a:t>5) Run your script using below command:</a:t>
            </a:r>
          </a:p>
          <a:p>
            <a:r>
              <a:rPr lang="en-GB" sz="2400" dirty="0">
                <a:solidFill>
                  <a:srgbClr val="FF0000"/>
                </a:solidFill>
              </a:rPr>
              <a:t>     Python scriptname.py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01720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8D2FE7-6BD9-5AAE-5083-5822EEDF66DC}"/>
              </a:ext>
            </a:extLst>
          </p:cNvPr>
          <p:cNvSpPr txBox="1"/>
          <p:nvPr/>
        </p:nvSpPr>
        <p:spPr>
          <a:xfrm>
            <a:off x="80682" y="3690609"/>
            <a:ext cx="70441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latin typeface="Britannic Bold" panose="020B0903060703020204" pitchFamily="34" charset="0"/>
              </a:rPr>
              <a:t>Google Colab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B9C418-C2CF-E13D-28D1-59E02AC3C7C6}"/>
              </a:ext>
            </a:extLst>
          </p:cNvPr>
          <p:cNvSpPr/>
          <p:nvPr/>
        </p:nvSpPr>
        <p:spPr>
          <a:xfrm>
            <a:off x="-17930" y="4706272"/>
            <a:ext cx="12192000" cy="215172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21551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1A5F8-D18B-9954-E1A0-27B30E307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97539"/>
            <a:ext cx="9144000" cy="819559"/>
          </a:xfrm>
        </p:spPr>
        <p:txBody>
          <a:bodyPr>
            <a:normAutofit fontScale="90000"/>
          </a:bodyPr>
          <a:lstStyle/>
          <a:p>
            <a:br>
              <a:rPr lang="en-GB" dirty="0"/>
            </a:br>
            <a:endParaRPr lang="en-IN" sz="7300" dirty="0">
              <a:solidFill>
                <a:srgbClr val="0070C0"/>
              </a:solidFill>
              <a:latin typeface="Britannic Bold" panose="020B0903060703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0A5574-EBA7-449B-2AE3-F7D7FA3CD525}"/>
              </a:ext>
            </a:extLst>
          </p:cNvPr>
          <p:cNvSpPr txBox="1"/>
          <p:nvPr/>
        </p:nvSpPr>
        <p:spPr>
          <a:xfrm>
            <a:off x="622166" y="1994874"/>
            <a:ext cx="109350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  <a:latin typeface="+mj-lt"/>
              </a:rPr>
              <a:t>Colab is a free Jupyter notebook environment that runs entirely in the cloud.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+mj-lt"/>
              </a:rPr>
              <a:t>I</a:t>
            </a:r>
            <a:r>
              <a:rPr lang="en-GB" b="0" i="0" dirty="0">
                <a:solidFill>
                  <a:srgbClr val="000000"/>
                </a:solidFill>
                <a:effectLst/>
                <a:latin typeface="+mj-lt"/>
              </a:rPr>
              <a:t>t does not require a setup.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+mj-lt"/>
              </a:rPr>
              <a:t>N</a:t>
            </a:r>
            <a:r>
              <a:rPr lang="en-GB" b="0" i="0" dirty="0">
                <a:solidFill>
                  <a:srgbClr val="000000"/>
                </a:solidFill>
                <a:effectLst/>
                <a:latin typeface="+mj-lt"/>
              </a:rPr>
              <a:t>otebooks that you create can be simultaneously edited.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0000"/>
                </a:solidFill>
                <a:latin typeface="+mj-lt"/>
              </a:rPr>
              <a:t>S</a:t>
            </a:r>
            <a:r>
              <a:rPr lang="en-GB" b="0" i="0" dirty="0">
                <a:solidFill>
                  <a:srgbClr val="000000"/>
                </a:solidFill>
                <a:effectLst/>
                <a:latin typeface="+mj-lt"/>
              </a:rPr>
              <a:t>upports many popular machine learning libraries which can be easily loaded in your notebook.</a:t>
            </a:r>
            <a:endParaRPr lang="en-IN" dirty="0">
              <a:solidFill>
                <a:srgbClr val="273239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396071-F5EF-DD7D-0635-30004B308D3E}"/>
              </a:ext>
            </a:extLst>
          </p:cNvPr>
          <p:cNvSpPr txBox="1"/>
          <p:nvPr/>
        </p:nvSpPr>
        <p:spPr>
          <a:xfrm>
            <a:off x="0" y="0"/>
            <a:ext cx="12192000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</a:rPr>
              <a:t>Google Colab </a:t>
            </a:r>
          </a:p>
          <a:p>
            <a:pPr algn="ctr"/>
            <a:endParaRPr lang="en-IN" sz="2800" b="1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pic>
        <p:nvPicPr>
          <p:cNvPr id="4" name="Picture 2" descr="Google Colab tutorial for Data Science | Erich Hohenstein | Level Up Coding">
            <a:extLst>
              <a:ext uri="{FF2B5EF4-FFF2-40B4-BE49-F238E27FC236}">
                <a16:creationId xmlns:a16="http://schemas.microsoft.com/office/drawing/2014/main" id="{A56DE47E-0D4E-8513-2FCD-32DD50E32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8942" y="986892"/>
            <a:ext cx="2441543" cy="819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ECD19F-2E1C-5EF3-119A-A5D5C56EFFBD}"/>
              </a:ext>
            </a:extLst>
          </p:cNvPr>
          <p:cNvSpPr txBox="1"/>
          <p:nvPr/>
        </p:nvSpPr>
        <p:spPr>
          <a:xfrm>
            <a:off x="622166" y="3429000"/>
            <a:ext cx="1014324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IN" b="0" i="0" dirty="0">
                <a:solidFill>
                  <a:srgbClr val="0070C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 can perform the following using Google </a:t>
            </a:r>
            <a:r>
              <a:rPr lang="en-I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Colab:</a:t>
            </a:r>
          </a:p>
          <a:p>
            <a:pPr algn="just"/>
            <a:endParaRPr lang="en-IN" b="0" i="0" dirty="0">
              <a:solidFill>
                <a:srgbClr val="000000"/>
              </a:solidFill>
              <a:effectLst/>
              <a:latin typeface="Nunito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  <a:latin typeface="+mj-lt"/>
              </a:rPr>
              <a:t>Write and execute code in 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  <a:latin typeface="+mj-lt"/>
              </a:rPr>
              <a:t>Create/Upload/Share notebooks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  <a:latin typeface="+mj-lt"/>
              </a:rPr>
              <a:t>Import/Save notebooks from/to Google Drive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  <a:latin typeface="+mj-lt"/>
              </a:rPr>
              <a:t>Import/Publish notebooks from GitHub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  <a:latin typeface="+mj-lt"/>
              </a:rPr>
              <a:t>Import external datasets e.g. from Kaggle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  <a:latin typeface="+mj-lt"/>
              </a:rPr>
              <a:t>Integrate PyTorch, TensorFlow, Keras, OpenCV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0000"/>
                </a:solidFill>
                <a:latin typeface="+mj-lt"/>
              </a:rPr>
              <a:t>Free Cloud service with free GPU/TPU.</a:t>
            </a:r>
          </a:p>
        </p:txBody>
      </p:sp>
    </p:spTree>
    <p:extLst>
      <p:ext uri="{BB962C8B-B14F-4D97-AF65-F5344CB8AC3E}">
        <p14:creationId xmlns:p14="http://schemas.microsoft.com/office/powerpoint/2010/main" val="31803070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1A5F8-D18B-9954-E1A0-27B30E307B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97539"/>
            <a:ext cx="9144000" cy="819559"/>
          </a:xfrm>
        </p:spPr>
        <p:txBody>
          <a:bodyPr>
            <a:normAutofit fontScale="90000"/>
          </a:bodyPr>
          <a:lstStyle/>
          <a:p>
            <a:br>
              <a:rPr lang="en-GB" dirty="0"/>
            </a:br>
            <a:endParaRPr lang="en-IN" sz="7300" dirty="0">
              <a:solidFill>
                <a:srgbClr val="0070C0"/>
              </a:solidFill>
              <a:latin typeface="Britannic Bold" panose="020B09030607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396071-F5EF-DD7D-0635-30004B308D3E}"/>
              </a:ext>
            </a:extLst>
          </p:cNvPr>
          <p:cNvSpPr txBox="1"/>
          <p:nvPr/>
        </p:nvSpPr>
        <p:spPr>
          <a:xfrm>
            <a:off x="0" y="0"/>
            <a:ext cx="12192000" cy="954107"/>
          </a:xfrm>
          <a:prstGeom prst="rect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  <a:latin typeface="Segoe UI" panose="020B0502040204020203" pitchFamily="34" charset="0"/>
              </a:rPr>
              <a:t>Google Colab </a:t>
            </a:r>
          </a:p>
          <a:p>
            <a:pPr algn="ctr"/>
            <a:endParaRPr lang="en-IN" sz="2800" b="1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CD19F-2E1C-5EF3-119A-A5D5C56EFFBD}"/>
              </a:ext>
            </a:extLst>
          </p:cNvPr>
          <p:cNvSpPr txBox="1"/>
          <p:nvPr/>
        </p:nvSpPr>
        <p:spPr>
          <a:xfrm>
            <a:off x="524756" y="1318083"/>
            <a:ext cx="1014324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Steps to use Google Colab</a:t>
            </a:r>
          </a:p>
          <a:p>
            <a:pPr algn="just"/>
            <a:endParaRPr lang="en-IN" b="0" i="0" dirty="0">
              <a:solidFill>
                <a:srgbClr val="000000"/>
              </a:solidFill>
              <a:effectLst/>
              <a:latin typeface="Nunito" panose="00000500000000000000" pitchFamily="2" charset="0"/>
            </a:endParaRPr>
          </a:p>
          <a:p>
            <a:pPr algn="just"/>
            <a:r>
              <a:rPr lang="en-I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1 ) 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+mj-lt"/>
              </a:rPr>
              <a:t>Log in to your Google account in your browser.</a:t>
            </a:r>
          </a:p>
          <a:p>
            <a:pPr algn="just"/>
            <a:endParaRPr lang="en-IN" dirty="0">
              <a:solidFill>
                <a:srgbClr val="000000"/>
              </a:solidFill>
              <a:latin typeface="+mj-lt"/>
            </a:endParaRPr>
          </a:p>
          <a:p>
            <a:pPr algn="just"/>
            <a:r>
              <a:rPr lang="en-I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2 ) </a:t>
            </a:r>
          </a:p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+mj-lt"/>
              </a:rPr>
              <a:t>Open the following link : </a:t>
            </a:r>
            <a:r>
              <a:rPr lang="en-IN" b="0" i="0" u="sng" dirty="0">
                <a:effectLst/>
                <a:latin typeface="+mj-lt"/>
                <a:hlinkClick r:id="rId2"/>
              </a:rPr>
              <a:t>https://colab.research.google.com</a:t>
            </a:r>
            <a:endParaRPr lang="en-IN" u="sng" dirty="0">
              <a:latin typeface="+mj-lt"/>
            </a:endParaRPr>
          </a:p>
          <a:p>
            <a:pPr algn="just"/>
            <a:r>
              <a:rPr lang="en-IN" dirty="0">
                <a:solidFill>
                  <a:srgbClr val="000000"/>
                </a:solidFill>
                <a:latin typeface="+mj-lt"/>
              </a:rPr>
              <a:t>Once you open this link a demo notebook will be opened. </a:t>
            </a:r>
          </a:p>
          <a:p>
            <a:pPr algn="just"/>
            <a:endParaRPr lang="en-IN" dirty="0">
              <a:solidFill>
                <a:srgbClr val="000000"/>
              </a:solidFill>
              <a:latin typeface="+mj-lt"/>
            </a:endParaRPr>
          </a:p>
          <a:p>
            <a:pPr algn="just"/>
            <a:r>
              <a:rPr lang="en-I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3) 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+mj-lt"/>
              </a:rPr>
              <a:t>Go to </a:t>
            </a:r>
            <a:r>
              <a:rPr lang="en-IN" dirty="0">
                <a:solidFill>
                  <a:srgbClr val="FF0000"/>
                </a:solidFill>
                <a:latin typeface="+mj-lt"/>
              </a:rPr>
              <a:t>File -&gt; New Notebook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+mj-lt"/>
              </a:rPr>
              <a:t>A new notebook will open similar to Jupyter Notebook.</a:t>
            </a:r>
          </a:p>
          <a:p>
            <a:pPr algn="just"/>
            <a:endParaRPr lang="en-IN" dirty="0">
              <a:solidFill>
                <a:srgbClr val="000000"/>
              </a:solidFill>
              <a:latin typeface="+mj-lt"/>
            </a:endParaRPr>
          </a:p>
          <a:p>
            <a:pPr algn="just"/>
            <a:r>
              <a:rPr lang="en-I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4) 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+mj-lt"/>
              </a:rPr>
              <a:t>Write your code and Save it.</a:t>
            </a:r>
          </a:p>
          <a:p>
            <a:pPr algn="just"/>
            <a:r>
              <a:rPr lang="en-IN" dirty="0">
                <a:solidFill>
                  <a:srgbClr val="000000"/>
                </a:solidFill>
                <a:latin typeface="+mj-lt"/>
              </a:rPr>
              <a:t>It will be saved in your Google Drive.</a:t>
            </a:r>
          </a:p>
          <a:p>
            <a:pPr algn="just"/>
            <a:endParaRPr lang="en-IN" dirty="0">
              <a:solidFill>
                <a:srgbClr val="000000"/>
              </a:solidFill>
              <a:latin typeface="+mj-lt"/>
            </a:endParaRPr>
          </a:p>
          <a:p>
            <a:pPr algn="just"/>
            <a:r>
              <a:rPr lang="en-IN" b="1" dirty="0">
                <a:solidFill>
                  <a:srgbClr val="000000"/>
                </a:solidFill>
                <a:latin typeface="+mj-lt"/>
              </a:rPr>
              <a:t>Note : </a:t>
            </a:r>
            <a:r>
              <a:rPr lang="en-IN" dirty="0">
                <a:solidFill>
                  <a:srgbClr val="000000"/>
                </a:solidFill>
                <a:latin typeface="+mj-lt"/>
              </a:rPr>
              <a:t>If you want to find the location of your file then Go to </a:t>
            </a:r>
            <a:r>
              <a:rPr lang="en-IN" dirty="0">
                <a:solidFill>
                  <a:srgbClr val="FF0000"/>
                </a:solidFill>
                <a:latin typeface="+mj-lt"/>
              </a:rPr>
              <a:t>File -&gt; Locate in Drive </a:t>
            </a:r>
          </a:p>
        </p:txBody>
      </p:sp>
    </p:spTree>
    <p:extLst>
      <p:ext uri="{BB962C8B-B14F-4D97-AF65-F5344CB8AC3E}">
        <p14:creationId xmlns:p14="http://schemas.microsoft.com/office/powerpoint/2010/main" val="41555724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7" name="Rectangle 1036">
            <a:extLst>
              <a:ext uri="{FF2B5EF4-FFF2-40B4-BE49-F238E27FC236}">
                <a16:creationId xmlns:a16="http://schemas.microsoft.com/office/drawing/2014/main" id="{C3862298-AF85-4572-BED3-52E573EB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Freeform: Shape 1038">
            <a:extLst>
              <a:ext uri="{FF2B5EF4-FFF2-40B4-BE49-F238E27FC236}">
                <a16:creationId xmlns:a16="http://schemas.microsoft.com/office/drawing/2014/main" id="{03E485DD-0C12-45BC-A361-28152A03B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4207" y="0"/>
            <a:ext cx="2472664" cy="6858000"/>
          </a:xfrm>
          <a:custGeom>
            <a:avLst/>
            <a:gdLst>
              <a:gd name="connsiteX0" fmla="*/ 1056708 w 2472664"/>
              <a:gd name="connsiteY0" fmla="*/ 0 h 6858000"/>
              <a:gd name="connsiteX1" fmla="*/ 2472664 w 2472664"/>
              <a:gd name="connsiteY1" fmla="*/ 0 h 6858000"/>
              <a:gd name="connsiteX2" fmla="*/ 2400427 w 2472664"/>
              <a:gd name="connsiteY2" fmla="*/ 75768 h 6858000"/>
              <a:gd name="connsiteX3" fmla="*/ 1104861 w 2472664"/>
              <a:gd name="connsiteY3" fmla="*/ 3429000 h 6858000"/>
              <a:gd name="connsiteX4" fmla="*/ 2400427 w 2472664"/>
              <a:gd name="connsiteY4" fmla="*/ 6782233 h 6858000"/>
              <a:gd name="connsiteX5" fmla="*/ 2472664 w 2472664"/>
              <a:gd name="connsiteY5" fmla="*/ 6858000 h 6858000"/>
              <a:gd name="connsiteX6" fmla="*/ 1056708 w 2472664"/>
              <a:gd name="connsiteY6" fmla="*/ 6858000 h 6858000"/>
              <a:gd name="connsiteX7" fmla="*/ 1040416 w 2472664"/>
              <a:gd name="connsiteY7" fmla="*/ 6835090 h 6858000"/>
              <a:gd name="connsiteX8" fmla="*/ 0 w 2472664"/>
              <a:gd name="connsiteY8" fmla="*/ 3429000 h 6858000"/>
              <a:gd name="connsiteX9" fmla="*/ 1040416 w 2472664"/>
              <a:gd name="connsiteY9" fmla="*/ 2291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2664" h="6858000">
                <a:moveTo>
                  <a:pt x="1056708" y="0"/>
                </a:moveTo>
                <a:lnTo>
                  <a:pt x="2472664" y="0"/>
                </a:lnTo>
                <a:lnTo>
                  <a:pt x="2400427" y="75768"/>
                </a:lnTo>
                <a:cubicBezTo>
                  <a:pt x="1595469" y="961418"/>
                  <a:pt x="1104861" y="2137915"/>
                  <a:pt x="1104861" y="3429000"/>
                </a:cubicBezTo>
                <a:cubicBezTo>
                  <a:pt x="1104861" y="4720086"/>
                  <a:pt x="1595469" y="5896583"/>
                  <a:pt x="2400427" y="6782233"/>
                </a:cubicBezTo>
                <a:lnTo>
                  <a:pt x="2472664" y="6858000"/>
                </a:lnTo>
                <a:lnTo>
                  <a:pt x="1056708" y="6858000"/>
                </a:lnTo>
                <a:lnTo>
                  <a:pt x="1040416" y="6835090"/>
                </a:lnTo>
                <a:cubicBezTo>
                  <a:pt x="383551" y="5862802"/>
                  <a:pt x="0" y="4690693"/>
                  <a:pt x="0" y="3429000"/>
                </a:cubicBezTo>
                <a:cubicBezTo>
                  <a:pt x="0" y="2167308"/>
                  <a:pt x="383551" y="995199"/>
                  <a:pt x="1040416" y="22911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32" name="Picture 8" descr="Thank you PowerPoint Presentation and Slides | SlideTeam">
            <a:extLst>
              <a:ext uri="{FF2B5EF4-FFF2-40B4-BE49-F238E27FC236}">
                <a16:creationId xmlns:a16="http://schemas.microsoft.com/office/drawing/2014/main" id="{04A4988E-EEBA-C57E-DE70-0D39451DB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10947" y="1114425"/>
            <a:ext cx="5798881" cy="462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1" name="Freeform: Shape 1040">
            <a:extLst>
              <a:ext uri="{FF2B5EF4-FFF2-40B4-BE49-F238E27FC236}">
                <a16:creationId xmlns:a16="http://schemas.microsoft.com/office/drawing/2014/main" id="{6D6B998F-CA62-4EE6-B7E7-046377D4F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03038" y="1992863"/>
            <a:ext cx="1488962" cy="2872274"/>
          </a:xfrm>
          <a:custGeom>
            <a:avLst/>
            <a:gdLst>
              <a:gd name="connsiteX0" fmla="*/ 1436137 w 1488962"/>
              <a:gd name="connsiteY0" fmla="*/ 0 h 2872274"/>
              <a:gd name="connsiteX1" fmla="*/ 1488962 w 1488962"/>
              <a:gd name="connsiteY1" fmla="*/ 2668 h 2872274"/>
              <a:gd name="connsiteX2" fmla="*/ 1488962 w 1488962"/>
              <a:gd name="connsiteY2" fmla="*/ 2869607 h 2872274"/>
              <a:gd name="connsiteX3" fmla="*/ 1436137 w 1488962"/>
              <a:gd name="connsiteY3" fmla="*/ 2872274 h 2872274"/>
              <a:gd name="connsiteX4" fmla="*/ 0 w 1488962"/>
              <a:gd name="connsiteY4" fmla="*/ 1436137 h 2872274"/>
              <a:gd name="connsiteX5" fmla="*/ 1436137 w 1488962"/>
              <a:gd name="connsiteY5" fmla="*/ 0 h 287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8962" h="2872274">
                <a:moveTo>
                  <a:pt x="1436137" y="0"/>
                </a:moveTo>
                <a:lnTo>
                  <a:pt x="1488962" y="2668"/>
                </a:lnTo>
                <a:lnTo>
                  <a:pt x="1488962" y="2869607"/>
                </a:lnTo>
                <a:lnTo>
                  <a:pt x="1436137" y="2872274"/>
                </a:lnTo>
                <a:cubicBezTo>
                  <a:pt x="642980" y="2872274"/>
                  <a:pt x="0" y="2229294"/>
                  <a:pt x="0" y="1436137"/>
                </a:cubicBezTo>
                <a:cubicBezTo>
                  <a:pt x="0" y="642980"/>
                  <a:pt x="642980" y="0"/>
                  <a:pt x="1436137" y="0"/>
                </a:cubicBezTo>
                <a:close/>
              </a:path>
            </a:pathLst>
          </a:custGeom>
          <a:solidFill>
            <a:schemeClr val="accent6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643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1541</Words>
  <Application>Microsoft Office PowerPoint</Application>
  <PresentationFormat>Widescreen</PresentationFormat>
  <Paragraphs>220</Paragraphs>
  <Slides>35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Arial</vt:lpstr>
      <vt:lpstr>Britannic Bold</vt:lpstr>
      <vt:lpstr>Calibri</vt:lpstr>
      <vt:lpstr>Calibri Light</vt:lpstr>
      <vt:lpstr>Charter</vt:lpstr>
      <vt:lpstr>Charter</vt:lpstr>
      <vt:lpstr>Nunito</vt:lpstr>
      <vt:lpstr>Roboto</vt:lpstr>
      <vt:lpstr>Segoe UI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Step 1) Open Jupyter Notebook from apps Step 2) In your default browser a web page will open like this and default directory will be C drive of your system.</vt:lpstr>
      <vt:lpstr>PowerPoint Presentation</vt:lpstr>
      <vt:lpstr>Step 4) Open your preferred folder and then click on New -&gt; Python 3.</vt:lpstr>
      <vt:lpstr>Step 5) A new notebook will be opened with name ‘Untitled.ipynb’ and you can run your code here.</vt:lpstr>
      <vt:lpstr>PowerPoint Presentation</vt:lpstr>
      <vt:lpstr>PowerPoint Presentation</vt:lpstr>
      <vt:lpstr> </vt:lpstr>
      <vt:lpstr>PowerPoint Presentation</vt:lpstr>
      <vt:lpstr> </vt:lpstr>
      <vt:lpstr>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Roshan Sharma</dc:creator>
  <cp:lastModifiedBy>kamal korlakunta</cp:lastModifiedBy>
  <cp:revision>28</cp:revision>
  <dcterms:created xsi:type="dcterms:W3CDTF">2022-07-08T10:51:48Z</dcterms:created>
  <dcterms:modified xsi:type="dcterms:W3CDTF">2023-10-02T13:30:23Z</dcterms:modified>
</cp:coreProperties>
</file>